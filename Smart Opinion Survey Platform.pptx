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2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2" r:id="rId10"/>
    <p:sldId id="265" r:id="rId11"/>
    <p:sldId id="268" r:id="rId12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10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F3E957-1C76-BB63-C202-BCF2E3888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336A8E6-1093-E487-E0BF-3CC0FBF14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03E4D22-04D9-0E5E-5C63-D129AD27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B88D1B4-9E5D-6395-5549-BE2D7FCA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43EE8A5-13E4-F03F-A228-3E8CB265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804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FA433B2-A226-F119-DAC1-8CD45422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4068328-1686-6FE4-6032-D4A56D6E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A077FAF-1589-8E4D-9F12-8FDD9B0F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C583B27-95F5-2B58-FF3C-75D66DF0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5BE3BBC-A668-A53E-9591-E9A3FF98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14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B28B023-0246-D85F-7258-50A88E6F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E55503F-B3F9-3BD3-2595-1F140CFE1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2695CBD-DFC8-35CA-4D77-284D8098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1900813-C161-D8F2-1719-F0C065AB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FC24FEE-16B9-23D5-5634-188678AC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802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A0A96E1-4883-00EC-56A5-D2AE5713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5034E36-CFED-19CC-9762-1440B4E26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6AABB04-9765-FB2E-E935-97185CF7C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248EA6C-D421-1EB5-0D95-915EC64E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06F8FB0-31E8-62BA-E96F-D949DD12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9139043-CA3C-1A2D-051B-DC5BD9EF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7807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0C295EF-27F3-DCEF-32E0-4C5F0EED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20999BE-2B88-26DD-664D-468C356C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3D51DFA-EF3F-A3A3-23BE-93F4D3CAB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38C5B6A6-D4C2-5160-0A1A-EF13FF1E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C8A85D16-E389-D0B8-991D-7DAAF6B1C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1CF1148-3766-B0F2-B7D4-59079AF3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BFFADB6-4F56-625B-C7C9-F0886D52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50F17430-22F1-0700-525D-1C8B3EF8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738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37901A0-D1FB-5222-FF68-96CE6324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265C04BC-6BC6-A2C8-95E7-61008A7D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4E5F52C9-E04B-F2A4-3FB4-D030F5F5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9832D75-9CAF-1A4A-A573-97F4FDEC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6422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B05531B-0D51-4845-D04C-230DFA54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34A2299-E4CE-0556-6BCA-ECE551E6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A1791E1-3A9D-5BF4-50E6-737DF5B7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5343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DA2A992-CF3F-FAA7-11DD-11D1DD3E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0AE71DE-143A-BC45-FE76-5F54D923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5D85B43-175E-750C-A36C-01A6074CE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1EC6905-39BD-5FAC-A929-B2E6EFF8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64BA39F-8C75-0D80-7DD8-AABE7021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68381F1-B263-8D8C-C71F-044DA7A6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7763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B1E241A-E4B1-0F4D-6F76-18AA4028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03AC795-CEA2-CF65-9A4C-40100CD76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CF58445-FE9F-F88D-196B-31BC6B2BC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45B29FB-AA65-BC3A-B124-055165D9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8A1D51D-23F6-C834-AAD1-979A463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FE52BFD-B399-8A00-DA33-F9737A80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3013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BE52FAC-85A4-CEE8-0E1C-613CA1E2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BECCA8A-7CF2-CFA9-8108-F6162AE5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754E377-9D39-7AB5-8BCE-A64763D9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7B8A41B-E122-ACDA-DE8C-C578F06D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121FCF-4F3E-8F41-80C1-92ED0EA0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861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04E7B3E-F722-785E-6FD0-CE66C9E74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0539051-7380-9AFA-823E-0ECC676F7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E21C35B-8792-2B4C-4872-71274B0D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5F5DEBF-653E-4A08-47AE-87B5802B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22D891-CE28-DADD-9024-FE2F3850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852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0F9F872-F359-F40A-96AC-DEC7C4E5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71C26D8-F5C6-BD67-5341-D680DDBC8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4ED1FE4-675E-44BC-13BA-FA6FA2B1C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A8431-2457-4B17-8EAD-CB7DD7790385}" type="datetimeFigureOut">
              <a:rPr lang="ar-SA" smtClean="0"/>
              <a:t>24/09/47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2149F8-4E2D-4499-DF13-6D295FD7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5C5E447-E496-DCB7-0786-DA22081D7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8318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97CECF-7ADF-2D94-EFCE-B95249009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5092"/>
            <a:ext cx="9144000" cy="2306637"/>
          </a:xfrm>
        </p:spPr>
        <p:txBody>
          <a:bodyPr>
            <a:normAutofit/>
          </a:bodyPr>
          <a:lstStyle/>
          <a:p>
            <a:pPr rtl="1">
              <a:lnSpc>
                <a:spcPct val="150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Smart Opinion </a:t>
            </a:r>
            <a:r>
              <a:rPr lang="en-US" sz="3200" b="1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Survey Platform</a:t>
            </a:r>
            <a:b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ar-SA" sz="3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منصة استبيانات الآراء الذكية </a:t>
            </a:r>
            <a:b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ar-SA" sz="8800" b="1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60B78EE-156F-C89C-4518-9C9BB60A84BC}"/>
              </a:ext>
            </a:extLst>
          </p:cNvPr>
          <p:cNvSpPr>
            <a:spLocks/>
          </p:cNvSpPr>
          <p:nvPr/>
        </p:nvSpPr>
        <p:spPr>
          <a:xfrm>
            <a:off x="1524000" y="2816579"/>
            <a:ext cx="9144001" cy="13039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8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إعداد الطلاب: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يمان بسام المطر   |  حسن عبد الرحمن يحيى  |   يوسف احمد الزعبي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0AFB1FE-9D71-6A78-F94B-288E66A4F5B6}"/>
              </a:ext>
            </a:extLst>
          </p:cNvPr>
          <p:cNvSpPr>
            <a:spLocks/>
          </p:cNvSpPr>
          <p:nvPr/>
        </p:nvSpPr>
        <p:spPr>
          <a:xfrm>
            <a:off x="2325499" y="4608700"/>
            <a:ext cx="7541002" cy="2033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8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إشراف: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م. شادي بليدي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م. مايا الأحمد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Picture 50">
            <a:extLst>
              <a:ext uri="{FF2B5EF4-FFF2-40B4-BE49-F238E27FC236}">
                <a16:creationId xmlns:a16="http://schemas.microsoft.com/office/drawing/2014/main" id="{1221C0D0-4679-D5A3-CF19-712E805FEB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7096" t="14058" r="7395" b="12127"/>
          <a:stretch/>
        </p:blipFill>
        <p:spPr bwMode="auto">
          <a:xfrm>
            <a:off x="0" y="0"/>
            <a:ext cx="2489187" cy="1857958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16">
            <a:extLst>
              <a:ext uri="{FF2B5EF4-FFF2-40B4-BE49-F238E27FC236}">
                <a16:creationId xmlns:a16="http://schemas.microsoft.com/office/drawing/2014/main" id="{76CE22C2-6123-D1A8-2E06-140C3C095A6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02813" y="0"/>
            <a:ext cx="2489187" cy="17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0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2C805033-01BB-B597-EB43-512C596003EC}"/>
              </a:ext>
            </a:extLst>
          </p:cNvPr>
          <p:cNvSpPr txBox="1"/>
          <p:nvPr/>
        </p:nvSpPr>
        <p:spPr>
          <a:xfrm>
            <a:off x="352229" y="552186"/>
            <a:ext cx="10921480" cy="16209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</a:pPr>
            <a:r>
              <a:rPr lang="ar-SA" sz="2400" b="1" dirty="0">
                <a:solidFill>
                  <a:srgbClr val="2F5496"/>
                </a:solidFill>
                <a:effectLst/>
                <a:latin typeface="Simplified Arabic" panose="02020603050405020304" pitchFamily="18" charset="-78"/>
                <a:ea typeface="Times New Roman" panose="02020603050405020304" pitchFamily="18" charset="0"/>
              </a:rPr>
              <a:t>مقدمة عن المشروع</a:t>
            </a:r>
            <a:endParaRPr lang="en-US" sz="2400" b="1" dirty="0">
              <a:solidFill>
                <a:srgbClr val="2F5496"/>
              </a:solidFill>
              <a:effectLst/>
              <a:latin typeface="Simplified Arabic" panose="02020603050405020304" pitchFamily="18" charset="-78"/>
              <a:ea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التغذية الراجعة:</a:t>
            </a:r>
            <a:r>
              <a:rPr lang="ar-SA" sz="2000" dirty="0"/>
              <a:t> الركيزة الأساسية لنجاح المنتجات والخدمات في العصر الرقمي.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نهاية التخمين:</a:t>
            </a:r>
            <a:r>
              <a:rPr lang="ar-SA" sz="2000" dirty="0"/>
              <a:t> بناء القرارات الاستراتيجية على بيانات دقيقة تعكس احتياجات السوق، وليس على التوقعات.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الابتكار الذكي:</a:t>
            </a:r>
            <a:r>
              <a:rPr lang="ar-SA" sz="2000" dirty="0"/>
              <a:t> تجاوز الطرق التقليدية لجمع الآراء عبر دمج تقنيات الذكاء الاصطناعي لفهم الجمهور أسرع.</a:t>
            </a: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BBC53761-F6DE-9BD3-BC04-4637616D78F7}"/>
              </a:ext>
            </a:extLst>
          </p:cNvPr>
          <p:cNvSpPr txBox="1"/>
          <p:nvPr/>
        </p:nvSpPr>
        <p:spPr>
          <a:xfrm>
            <a:off x="475861" y="2804345"/>
            <a:ext cx="1079784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</a:rPr>
              <a:t>مشكلة البحث</a:t>
            </a:r>
            <a:endParaRPr lang="ar-SA" sz="2400" dirty="0">
              <a:solidFill>
                <a:schemeClr val="accent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عشوائية العينة:</a:t>
            </a:r>
            <a:r>
              <a:rPr lang="ar-SA" sz="2000" dirty="0"/>
              <a:t> نشر الاستبيانات عبر روابط مفتوحة يجلب بيانات مشوهة وغير دقيقة.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هدر الموارد:</a:t>
            </a:r>
            <a:r>
              <a:rPr lang="ar-SA" sz="2000" dirty="0"/>
              <a:t> اتخاذ قرارات خاطئة نتيجة مشاركة أشخاص غير معنيين بالخدمة.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بطء التحليل:</a:t>
            </a:r>
            <a:r>
              <a:rPr lang="ar-SA" sz="2000" dirty="0"/>
              <a:t> قراءة وتحليل الإجابات النصية يدوياً يستهلك وقتاً طويلاً ومُعرض لـ "التحيز البشري".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4BBCADA-6067-E778-BE2F-0922FF31AD4B}"/>
              </a:ext>
            </a:extLst>
          </p:cNvPr>
          <p:cNvSpPr txBox="1"/>
          <p:nvPr/>
        </p:nvSpPr>
        <p:spPr>
          <a:xfrm>
            <a:off x="1467236" y="5005207"/>
            <a:ext cx="98064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000" b="1" dirty="0">
                <a:solidFill>
                  <a:schemeClr val="accent1"/>
                </a:solidFill>
              </a:rPr>
              <a:t>فكرة المشروع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منصة ثنائية الأطراف:</a:t>
            </a:r>
            <a:r>
              <a:rPr lang="ar-SA" sz="2000" dirty="0"/>
              <a:t> بيئة ذكية تربط بين صُناع القرار والمُجيبين المستهدفين.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فلترة مسبقة:</a:t>
            </a:r>
            <a:r>
              <a:rPr lang="ar-SA" sz="2000" dirty="0"/>
              <a:t> عرض الاستبيانات حصرياً للفئة التي تطابق الشروط الديموغرافية (عبر محرك استهداف ذكي).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b="1" dirty="0"/>
              <a:t> تحليل ذكي:</a:t>
            </a:r>
            <a:r>
              <a:rPr lang="ar-SA" sz="2000" dirty="0"/>
              <a:t> دمج الذكاء الاصطناعي (</a:t>
            </a:r>
            <a:r>
              <a:rPr lang="en-US" sz="2000" dirty="0"/>
              <a:t> (AI</a:t>
            </a:r>
            <a:r>
              <a:rPr lang="ar-SA" sz="2000" dirty="0"/>
              <a:t>لتصنيف مشاعر الإجابات المفتوحة آلياً.</a:t>
            </a:r>
          </a:p>
        </p:txBody>
      </p:sp>
    </p:spTree>
    <p:extLst>
      <p:ext uri="{BB962C8B-B14F-4D97-AF65-F5344CB8AC3E}">
        <p14:creationId xmlns:p14="http://schemas.microsoft.com/office/powerpoint/2010/main" val="13885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BE6D38B9-69CF-A5A8-89D6-C7C802977493}"/>
              </a:ext>
            </a:extLst>
          </p:cNvPr>
          <p:cNvSpPr txBox="1"/>
          <p:nvPr/>
        </p:nvSpPr>
        <p:spPr>
          <a:xfrm>
            <a:off x="1826441" y="149290"/>
            <a:ext cx="9325776" cy="22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Bef>
                <a:spcPts val="800"/>
              </a:spcBef>
              <a:spcAft>
                <a:spcPts val="400"/>
              </a:spcAft>
            </a:pPr>
            <a:r>
              <a:rPr lang="ar-SA" sz="2000" b="1" dirty="0">
                <a:solidFill>
                  <a:srgbClr val="2F5496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أهداف المشروع </a:t>
            </a:r>
            <a:endParaRPr lang="en-US" sz="2000" b="1" dirty="0">
              <a:solidFill>
                <a:srgbClr val="2F5496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 بناء بيئة رقمية تربط مقدمي الخدمات بالمستخدمين الفعليين.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 القضاء على العشوائية عبر محرك الاستهداف </a:t>
            </a:r>
            <a:r>
              <a:rPr lang="en-US" dirty="0"/>
              <a:t>.(Targeting Engine)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 أتمتة تحليل النصوص </a:t>
            </a:r>
            <a:r>
              <a:rPr lang="en-US" dirty="0"/>
              <a:t> (NLP)</a:t>
            </a:r>
            <a:r>
              <a:rPr lang="ar-SA" dirty="0"/>
              <a:t>لاستخراج التوجهات العامة للجمهور.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 توفير لوحات تحكم </a:t>
            </a:r>
            <a:r>
              <a:rPr lang="en-US" dirty="0"/>
              <a:t> (Dashboards) </a:t>
            </a:r>
            <a:r>
              <a:rPr lang="ar-SA" dirty="0"/>
              <a:t>تفاعلية لدعم اتخاذ القرارات.</a:t>
            </a:r>
          </a:p>
        </p:txBody>
      </p:sp>
      <p:sp>
        <p:nvSpPr>
          <p:cNvPr id="2" name="مربع نص 1">
            <a:extLst>
              <a:ext uri="{FF2B5EF4-FFF2-40B4-BE49-F238E27FC236}">
                <a16:creationId xmlns:a16="http://schemas.microsoft.com/office/drawing/2014/main" id="{F7F6FF3F-29D5-9A78-3217-E0B14D6F14C4}"/>
              </a:ext>
            </a:extLst>
          </p:cNvPr>
          <p:cNvSpPr txBox="1"/>
          <p:nvPr/>
        </p:nvSpPr>
        <p:spPr>
          <a:xfrm>
            <a:off x="1899043" y="4773959"/>
            <a:ext cx="925317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</a:rPr>
              <a:t>نطاق المشروع</a:t>
            </a:r>
            <a:endParaRPr lang="en-US" sz="2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b="1" dirty="0"/>
              <a:t>الفئات المشمولة:</a:t>
            </a:r>
            <a:r>
              <a:rPr lang="ar-SA" dirty="0"/>
              <a:t> مقدمو الخدمات (لإنشاء الاستبيان) والمستخدمون (كعينة للإجابة).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b="1" dirty="0"/>
              <a:t>النطاق الوظيفي:</a:t>
            </a:r>
            <a:r>
              <a:rPr lang="ar-SA" dirty="0"/>
              <a:t> أداة بناء الاستبيانات، محرك المطابقة، تحليل المشاعر، ولوحات تحكم إحصائية.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b="1" dirty="0"/>
              <a:t>النطاق التقني:</a:t>
            </a:r>
            <a:r>
              <a:rPr lang="ar-SA" dirty="0"/>
              <a:t> تطبيق ويب</a:t>
            </a:r>
            <a:r>
              <a:rPr lang="en-US" dirty="0"/>
              <a:t> (Web App) </a:t>
            </a:r>
            <a:r>
              <a:rPr lang="ar-SA" dirty="0"/>
              <a:t>واستخدام نماذج ذكاء اصطناعي.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b="1" dirty="0"/>
              <a:t>خارج النطاق:</a:t>
            </a:r>
            <a:r>
              <a:rPr lang="ar-SA" dirty="0"/>
              <a:t> تطبيقات الموبايل، أو تدريب نماذج لغوية من الصفر.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B69BDC5-440E-97CE-FDDC-A2DD8FB1EBC1}"/>
              </a:ext>
            </a:extLst>
          </p:cNvPr>
          <p:cNvSpPr txBox="1"/>
          <p:nvPr/>
        </p:nvSpPr>
        <p:spPr>
          <a:xfrm>
            <a:off x="1826441" y="2606434"/>
            <a:ext cx="932577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000" b="1" dirty="0">
                <a:solidFill>
                  <a:schemeClr val="accent1"/>
                </a:solidFill>
              </a:rPr>
              <a:t>المفاهيم الأساسية 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SA" sz="2000" b="1" dirty="0"/>
              <a:t>منصة ثنائية الأطراف:</a:t>
            </a:r>
            <a:r>
              <a:rPr lang="ar-SA" sz="2000" dirty="0"/>
              <a:t> ربط مباشر يعتمد على تأثير الشبكة.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SA" sz="2000" b="1" dirty="0"/>
              <a:t>الاستهداف الآلي:</a:t>
            </a:r>
            <a:r>
              <a:rPr lang="ar-SA" sz="2000" dirty="0"/>
              <a:t> خوارزميات لمنع "تحيز العينة" (</a:t>
            </a:r>
            <a:r>
              <a:rPr lang="en-US" sz="2000" dirty="0"/>
              <a:t>.(Sample Bias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SA" sz="2000" b="1" dirty="0"/>
              <a:t>معالجة اللغات</a:t>
            </a:r>
            <a:r>
              <a:rPr lang="en-US" sz="2000" b="1" dirty="0"/>
              <a:t>NLP)</a:t>
            </a:r>
            <a:r>
              <a:rPr lang="ar-SA" sz="2000" b="1" dirty="0"/>
              <a:t>): </a:t>
            </a:r>
            <a:r>
              <a:rPr lang="ar-SA" sz="2000" dirty="0"/>
              <a:t>تحويل النصوص غير المهيكلة إلى بيانات قابلة للقياس.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ar-SA" sz="2000" b="1" dirty="0"/>
              <a:t>تحليل المشاعر:</a:t>
            </a:r>
            <a:r>
              <a:rPr lang="ar-SA" sz="2000" dirty="0"/>
              <a:t> تصنيف الردود عاطفياً (إيجابي، سلبي، محايد).</a:t>
            </a:r>
          </a:p>
        </p:txBody>
      </p:sp>
    </p:spTree>
    <p:extLst>
      <p:ext uri="{BB962C8B-B14F-4D97-AF65-F5344CB8AC3E}">
        <p14:creationId xmlns:p14="http://schemas.microsoft.com/office/powerpoint/2010/main" val="244556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4FBF6A0A-C59A-595C-077B-309D8FBEDF45}"/>
              </a:ext>
            </a:extLst>
          </p:cNvPr>
          <p:cNvSpPr txBox="1"/>
          <p:nvPr/>
        </p:nvSpPr>
        <p:spPr>
          <a:xfrm>
            <a:off x="-758891" y="162521"/>
            <a:ext cx="1219200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000" b="1" dirty="0">
                <a:solidFill>
                  <a:schemeClr val="accent1"/>
                </a:solidFill>
              </a:rPr>
              <a:t>الدراسة المرجعية </a:t>
            </a:r>
            <a:endParaRPr lang="en-US" sz="2000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b="1" dirty="0"/>
              <a:t>الأنظمة التقليدية:</a:t>
            </a:r>
            <a:r>
              <a:rPr lang="ar-SA" dirty="0"/>
              <a:t> تعاني من تحيز العينة بسبب النشر العشوائي.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b="1" dirty="0"/>
              <a:t>أنظمة الـ </a:t>
            </a:r>
            <a:r>
              <a:rPr lang="en-US" b="1" dirty="0"/>
              <a:t>AI </a:t>
            </a:r>
            <a:r>
              <a:rPr lang="ar-SA" b="1" dirty="0"/>
              <a:t>الحالية:</a:t>
            </a:r>
            <a:r>
              <a:rPr lang="ar-SA" dirty="0"/>
              <a:t> تفصل بين مرحلتي جمع البيانات وتحليلها.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b="1" dirty="0"/>
              <a:t>مساهمة مشروعنا:</a:t>
            </a:r>
            <a:r>
              <a:rPr lang="ar-SA" dirty="0"/>
              <a:t> تقديم حل هندسي يدمج محرك الاستهداف الذكي مع نماذج الذكاء الاصطناعي في منصة واحدة متكاملة.</a:t>
            </a: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F41C8213-FFEC-4A5E-3240-A95F4B57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633664"/>
              </p:ext>
            </p:extLst>
          </p:nvPr>
        </p:nvGraphicFramePr>
        <p:xfrm>
          <a:off x="758888" y="2565918"/>
          <a:ext cx="10674221" cy="3651919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236854">
                  <a:extLst>
                    <a:ext uri="{9D8B030D-6E8A-4147-A177-3AD203B41FA5}">
                      <a16:colId xmlns:a16="http://schemas.microsoft.com/office/drawing/2014/main" val="1950653663"/>
                    </a:ext>
                  </a:extLst>
                </a:gridCol>
                <a:gridCol w="2220604">
                  <a:extLst>
                    <a:ext uri="{9D8B030D-6E8A-4147-A177-3AD203B41FA5}">
                      <a16:colId xmlns:a16="http://schemas.microsoft.com/office/drawing/2014/main" val="3310257874"/>
                    </a:ext>
                  </a:extLst>
                </a:gridCol>
                <a:gridCol w="2501616">
                  <a:extLst>
                    <a:ext uri="{9D8B030D-6E8A-4147-A177-3AD203B41FA5}">
                      <a16:colId xmlns:a16="http://schemas.microsoft.com/office/drawing/2014/main" val="1449973089"/>
                    </a:ext>
                  </a:extLst>
                </a:gridCol>
                <a:gridCol w="3715147">
                  <a:extLst>
                    <a:ext uri="{9D8B030D-6E8A-4147-A177-3AD203B41FA5}">
                      <a16:colId xmlns:a16="http://schemas.microsoft.com/office/drawing/2014/main" val="3274840695"/>
                    </a:ext>
                  </a:extLst>
                </a:gridCol>
              </a:tblGrid>
              <a:tr h="58971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معيار المقارنة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نماذج جوجل</a:t>
                      </a:r>
                      <a:r>
                        <a:rPr lang="en-US" sz="1400" kern="100">
                          <a:effectLst/>
                        </a:rPr>
                        <a:t> (Google Forms)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منصة </a:t>
                      </a:r>
                      <a:r>
                        <a:rPr lang="ar-SA" sz="1400" kern="100" dirty="0" err="1">
                          <a:effectLst/>
                        </a:rPr>
                        <a:t>سيرفي</a:t>
                      </a:r>
                      <a:r>
                        <a:rPr lang="ar-SA" sz="1400" kern="100" dirty="0">
                          <a:effectLst/>
                        </a:rPr>
                        <a:t> </a:t>
                      </a:r>
                      <a:r>
                        <a:rPr lang="ar-SA" sz="1400" kern="100" dirty="0" err="1">
                          <a:effectLst/>
                        </a:rPr>
                        <a:t>مونكي</a:t>
                      </a:r>
                      <a:r>
                        <a:rPr lang="en-US" sz="1400" kern="100" dirty="0">
                          <a:effectLst/>
                        </a:rPr>
                        <a:t> (SurveyMonkey)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المنصة المقترحة (منصة استبيانات الآراء الذكية)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1723467"/>
                  </a:ext>
                </a:extLst>
              </a:tr>
              <a:tr h="604167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آلية الوصول للجمهور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نشر يدوي للرابط (عينة عشوائية)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مدفوعة الثمن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استهداف ذكي ومجاني بناءً على ملفات المستخدمين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7327789"/>
                  </a:ext>
                </a:extLst>
              </a:tr>
              <a:tr h="651074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أتمتة تحليل النصوص</a:t>
                      </a:r>
                      <a:r>
                        <a:rPr lang="en-US" sz="1400" kern="100">
                          <a:effectLst/>
                        </a:rPr>
                        <a:t> (AI)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غير متوفرة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متوفرة في الخطط المدفوعة المتقدمة فقط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مدمجة أساسياً لتحليل المشاعر واستخراج الكلمات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6195494"/>
                  </a:ext>
                </a:extLst>
              </a:tr>
              <a:tr h="602322">
                <a:tc>
                  <a:txBody>
                    <a:bodyPr/>
                    <a:lstStyle/>
                    <a:p>
                      <a:pPr indent="45720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بيئة ثنائية الأطراف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لا (منصة من طرف واحد)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لا (منصة من طرف واحد)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نعم (تجمع مقدم الخدمة والمجيب في نفس البيئة)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3788431"/>
                  </a:ext>
                </a:extLst>
              </a:tr>
              <a:tr h="60232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التحقق من ديموغرافية المجيب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معدوم (إلا إذا سُأل يدوياً)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متوفر بشروط مسبقة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دقيق وآلي عبر بيانات الملف الشخصي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1537844"/>
                  </a:ext>
                </a:extLst>
              </a:tr>
              <a:tr h="60232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لوحات التحكم</a:t>
                      </a:r>
                      <a:r>
                        <a:rPr lang="en-US" sz="1400" kern="100">
                          <a:effectLst/>
                        </a:rPr>
                        <a:t> (Dashboards)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أساسية جداً للأسئلة المغلقة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>
                          <a:effectLst/>
                        </a:rPr>
                        <a:t>متقدمة واحترافية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-SA" sz="1400" kern="100" dirty="0">
                          <a:effectLst/>
                        </a:rPr>
                        <a:t>دقيق وآلي عبر بيانات الملف الشخصي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8666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D41E96A-93C9-D995-438A-F66E1DB2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642" y="6295418"/>
            <a:ext cx="4563274" cy="4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>
            <a:lvl1pPr indent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6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جدول: مقارنة بين المنصة المقترحة والأنظمة الحالية</a:t>
            </a:r>
            <a:endParaRPr kumimoji="0" lang="en-US" altLang="ar-SA" sz="16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13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497CAC-B470-A997-F27B-A3823B1E2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71" y="1980173"/>
            <a:ext cx="10907658" cy="2897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المنهجية المتبعة: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إطار العمل الرشيق</a:t>
            </a:r>
            <a:r>
              <a:rPr kumimoji="0" lang="ar-SA" altLang="ar-SA" sz="2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 (Agile)</a:t>
            </a:r>
          </a:p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SA" altLang="ar-S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أسباب الاختيار:</a:t>
            </a:r>
            <a:endParaRPr kumimoji="0" lang="ar-SA" altLang="ar-SA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المرونة العالية: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التكيف السريع لتعديل وتحسين دقة نموذج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(NLP)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أثناء العمل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التطوير المرحلي (Sprints):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بناء النظام على مراحل متدرجة (إدارة الحسابات ⬅️ محرك المطابقة ⬅️ تحليل المشاعر)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التقييم المستمر: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استعراض الأجزاء المنجزة دورياً مع المشرف لتفادي تراكم الأخطاء برمجياً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ar-SA" altLang="ar-S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إدارة الوقت: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ضمان تسليم المشروع بالكامل ضمن الإطار الزمني المحدد للفصل الدراسي</a:t>
            </a:r>
            <a:r>
              <a:rPr kumimoji="0" lang="ar-SA" altLang="ar-SA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180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91AAB6-8E48-1559-583A-D5828114B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67" y="606491"/>
            <a:ext cx="12080033" cy="611155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0676D18-D5E8-BC30-F6F6-C2E419602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930" y="0"/>
            <a:ext cx="33201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مخطط غانت - </a:t>
            </a:r>
            <a:r>
              <a:rPr kumimoji="0" lang="en-US" altLang="ar-SA" sz="24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Gantt chart</a:t>
            </a:r>
            <a:endParaRPr kumimoji="0" lang="ar-SA" altLang="ar-SA" sz="24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76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2FB54EBE-E44C-C5CD-12BF-287427556F84}"/>
              </a:ext>
            </a:extLst>
          </p:cNvPr>
          <p:cNvSpPr txBox="1"/>
          <p:nvPr/>
        </p:nvSpPr>
        <p:spPr>
          <a:xfrm>
            <a:off x="273611" y="1714011"/>
            <a:ext cx="11644777" cy="290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>
                <a:solidFill>
                  <a:schemeClr val="accent1"/>
                </a:solidFill>
              </a:rPr>
              <a:t>الأدوات والتقنيات المستخدمة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b="1" dirty="0"/>
              <a:t>الواجهة الخلفية (</a:t>
            </a:r>
            <a:r>
              <a:rPr lang="en-US" sz="2000" b="1" dirty="0"/>
              <a:t> :(Backend</a:t>
            </a:r>
            <a:r>
              <a:rPr lang="ar-SA" sz="2000" dirty="0"/>
              <a:t>لغة البرمجة </a:t>
            </a:r>
            <a:r>
              <a:rPr lang="en-US" sz="2000" b="1" dirty="0"/>
              <a:t>Python</a:t>
            </a:r>
            <a:r>
              <a:rPr lang="en-US" sz="2000" dirty="0"/>
              <a:t> </a:t>
            </a:r>
            <a:r>
              <a:rPr lang="ar-SA" sz="2000" dirty="0"/>
              <a:t> بالاعتماد على إطار العمل </a:t>
            </a:r>
            <a:r>
              <a:rPr lang="en-US" sz="2000" dirty="0"/>
              <a:t> (</a:t>
            </a:r>
            <a:r>
              <a:rPr lang="en-US" sz="2000" b="1" dirty="0"/>
              <a:t>Django)</a:t>
            </a:r>
            <a:r>
              <a:rPr lang="ar-SA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b="1" dirty="0"/>
              <a:t> قواعد البيانات </a:t>
            </a:r>
            <a:r>
              <a:rPr lang="en-US" sz="2000" b="1" dirty="0"/>
              <a:t> :(Database)</a:t>
            </a:r>
            <a:r>
              <a:rPr lang="ar-SA" sz="2000" dirty="0"/>
              <a:t>قواعد بيانات علائقية</a:t>
            </a:r>
            <a:r>
              <a:rPr lang="en-US" sz="2000" dirty="0"/>
              <a:t> (</a:t>
            </a:r>
            <a:r>
              <a:rPr lang="en-US" sz="2000" b="1" dirty="0"/>
              <a:t>SQL) </a:t>
            </a:r>
            <a:r>
              <a:rPr lang="ar-SA" sz="2000" dirty="0"/>
              <a:t>للدقة والموثوقية.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b="1" dirty="0"/>
              <a:t>الواجهة الأمامية (</a:t>
            </a:r>
            <a:r>
              <a:rPr lang="en-US" sz="2000" b="1" dirty="0"/>
              <a:t>Frontend</a:t>
            </a:r>
            <a:r>
              <a:rPr lang="ar-SA" sz="2000" b="1" dirty="0"/>
              <a:t>): </a:t>
            </a:r>
            <a:r>
              <a:rPr lang="ar-SA" sz="2000" dirty="0"/>
              <a:t>تقنيات الويب القياسية </a:t>
            </a:r>
            <a:r>
              <a:rPr lang="en-US" sz="2000" dirty="0"/>
              <a:t> (HTML, CSS, JavaScript)</a:t>
            </a:r>
            <a:r>
              <a:rPr lang="ar-SA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b="1" dirty="0"/>
              <a:t>الذكاء الاصطناعي (</a:t>
            </a:r>
            <a:r>
              <a:rPr lang="en-US" sz="2000" b="1" dirty="0"/>
              <a:t> :(AI &amp; NLP</a:t>
            </a:r>
            <a:r>
              <a:rPr lang="ar-SA" sz="2000" dirty="0"/>
              <a:t>مكتبات ونماذج (</a:t>
            </a:r>
            <a:r>
              <a:rPr lang="en-US" sz="2000" dirty="0"/>
              <a:t> (NLP</a:t>
            </a:r>
            <a:r>
              <a:rPr lang="ar-SA" sz="2000" dirty="0"/>
              <a:t>عبر بيئة </a:t>
            </a:r>
            <a:r>
              <a:rPr lang="en-US" sz="2000" dirty="0"/>
              <a:t>.Python</a:t>
            </a:r>
            <a:endParaRPr lang="ar-SA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b="1" dirty="0"/>
              <a:t>بيئة العمل الجماعي (</a:t>
            </a:r>
            <a:r>
              <a:rPr lang="en-US" sz="2000" b="1" dirty="0"/>
              <a:t>Version Control</a:t>
            </a:r>
            <a:r>
              <a:rPr lang="ar-SA" sz="2000" b="1" dirty="0"/>
              <a:t>): </a:t>
            </a:r>
            <a:r>
              <a:rPr lang="ar-SA" sz="2000" dirty="0"/>
              <a:t>استخدام </a:t>
            </a:r>
            <a:r>
              <a:rPr lang="en-US" sz="2000" b="1" dirty="0"/>
              <a:t>GitHub</a:t>
            </a:r>
            <a:r>
              <a:rPr lang="ar-SA" sz="2000" dirty="0"/>
              <a:t> لتنظيم العمل المشترك بين أعضاء الفريق.</a:t>
            </a:r>
          </a:p>
        </p:txBody>
      </p:sp>
    </p:spTree>
    <p:extLst>
      <p:ext uri="{BB962C8B-B14F-4D97-AF65-F5344CB8AC3E}">
        <p14:creationId xmlns:p14="http://schemas.microsoft.com/office/powerpoint/2010/main" val="480215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F8542F93-70F0-31CE-132C-ADEF151D2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303656"/>
              </p:ext>
            </p:extLst>
          </p:nvPr>
        </p:nvGraphicFramePr>
        <p:xfrm>
          <a:off x="670770" y="781490"/>
          <a:ext cx="11187402" cy="4832047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5593701">
                  <a:extLst>
                    <a:ext uri="{9D8B030D-6E8A-4147-A177-3AD203B41FA5}">
                      <a16:colId xmlns:a16="http://schemas.microsoft.com/office/drawing/2014/main" val="3535453323"/>
                    </a:ext>
                  </a:extLst>
                </a:gridCol>
                <a:gridCol w="5593701">
                  <a:extLst>
                    <a:ext uri="{9D8B030D-6E8A-4147-A177-3AD203B41FA5}">
                      <a16:colId xmlns:a16="http://schemas.microsoft.com/office/drawing/2014/main" val="2621474338"/>
                    </a:ext>
                  </a:extLst>
                </a:gridCol>
              </a:tblGrid>
              <a:tr h="76841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dirty="0">
                          <a:solidFill>
                            <a:schemeClr val="bg1"/>
                          </a:solidFill>
                        </a:rPr>
                        <a:t>المتطلبات الوظيفية</a:t>
                      </a:r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400" b="1" dirty="0">
                          <a:solidFill>
                            <a:schemeClr val="bg1"/>
                          </a:solidFill>
                        </a:rPr>
                        <a:t>المتطلبات غير وظيفية</a:t>
                      </a:r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437834"/>
                  </a:ext>
                </a:extLst>
              </a:tr>
              <a:tr h="779616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وحدة إدارة الحسابات والمصادقة </a:t>
                      </a:r>
                      <a:r>
                        <a:rPr kumimoji="0" lang="en-US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Authentication &amp; User Management)</a:t>
                      </a: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/>
                        <a:t> الأداء والسرعة (</a:t>
                      </a:r>
                      <a:r>
                        <a:rPr lang="en-US" b="1" dirty="0"/>
                        <a:t>(Performance</a:t>
                      </a:r>
                      <a:endParaRPr lang="en-US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937021"/>
                  </a:ext>
                </a:extLst>
              </a:tr>
              <a:tr h="771946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وحدة إدارة الاستبيانات (</a:t>
                      </a:r>
                      <a:r>
                        <a:rPr kumimoji="0" lang="en-US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- Survey Management </a:t>
                      </a: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لمقدم الخدمة)</a:t>
                      </a:r>
                      <a:endParaRPr kumimoji="0" lang="ar-SA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/>
                        <a:t> الدقة (</a:t>
                      </a:r>
                      <a:r>
                        <a:rPr lang="en-US" b="1" dirty="0"/>
                        <a:t>Accuracy</a:t>
                      </a:r>
                      <a:r>
                        <a:rPr lang="ar-SA" b="1" dirty="0"/>
                        <a:t>)</a:t>
                      </a:r>
                      <a:endParaRPr lang="en-US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672691"/>
                  </a:ext>
                </a:extLst>
              </a:tr>
              <a:tr h="771946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وحدة محرك المطابقة (</a:t>
                      </a:r>
                      <a:r>
                        <a:rPr kumimoji="0" lang="en-US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- Targeting Engine </a:t>
                      </a: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النظام الأساسي)</a:t>
                      </a:r>
                      <a:endParaRPr kumimoji="0" lang="ar-SA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/>
                        <a:t>الأمان والخصوصية </a:t>
                      </a:r>
                      <a:r>
                        <a:rPr lang="en-US" b="1" dirty="0"/>
                        <a:t>(Security &amp; Privacy)</a:t>
                      </a:r>
                      <a:endParaRPr lang="en-US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052897"/>
                  </a:ext>
                </a:extLst>
              </a:tr>
              <a:tr h="779616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وحدة الإجابات والذكاء الاصطناعي (</a:t>
                      </a:r>
                      <a:r>
                        <a:rPr kumimoji="0" lang="en-US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Responses &amp; AI Integration</a:t>
                      </a: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)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/>
                        <a:t>قابلية الاستخدام (</a:t>
                      </a:r>
                      <a:r>
                        <a:rPr lang="en-US" b="1" dirty="0"/>
                        <a:t>Usability</a:t>
                      </a:r>
                      <a:r>
                        <a:rPr lang="ar-SA" b="1" dirty="0"/>
                        <a:t>)</a:t>
                      </a:r>
                      <a:endParaRPr lang="en-US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387070"/>
                  </a:ext>
                </a:extLst>
              </a:tr>
              <a:tr h="960513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وحدة التقارير ولوحات التحكم (</a:t>
                      </a:r>
                      <a:r>
                        <a:rPr kumimoji="0" lang="en-US" sz="15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(Dashboards &amp; Reporting</a:t>
                      </a:r>
                      <a:endParaRPr kumimoji="0" lang="en-US" sz="1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b="1" dirty="0"/>
                        <a:t> التوافرية وقابلية التوسع (</a:t>
                      </a:r>
                      <a:r>
                        <a:rPr lang="en-US" b="1" dirty="0"/>
                        <a:t>Availability &amp; Scalability</a:t>
                      </a:r>
                      <a:r>
                        <a:rPr lang="ar-SA" b="1" dirty="0"/>
                        <a:t>)</a:t>
                      </a:r>
                      <a:endParaRPr lang="en-US" b="1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740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457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7396CD-93E4-6723-EC5E-95EAED088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220" y="761522"/>
            <a:ext cx="9213973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مقدم الخدمة / الباحث (Survey Creator):</a:t>
            </a:r>
            <a:r>
              <a:rPr lang="ar-SA" altLang="ar-SA" dirty="0">
                <a:latin typeface="Arial" panose="020B0604020202020204" pitchFamily="34" charset="0"/>
              </a:rPr>
              <a:t> 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الجهة المستفيدة من المنصة لجمع البيانات.</a:t>
            </a:r>
            <a:endParaRPr kumimoji="0" lang="ar-SA" altLang="ar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المستخدم المُجيب (Respondent): 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الفرد المستهدف للإجابة على الاستبيانات.</a:t>
            </a:r>
            <a:endParaRPr kumimoji="0" lang="ar-SA" altLang="ar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مدير النظام (System Administrator):</a:t>
            </a:r>
            <a:r>
              <a:rPr lang="ar-SA" altLang="ar-SA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r-SA" altLang="ar-SA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المشرف التقني على المنصة.</a:t>
            </a:r>
            <a:endParaRPr kumimoji="0" lang="ar-SA" altLang="ar-SA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2015423A-1BA5-AA35-708F-4B3914C45213}"/>
              </a:ext>
            </a:extLst>
          </p:cNvPr>
          <p:cNvSpPr txBox="1"/>
          <p:nvPr/>
        </p:nvSpPr>
        <p:spPr>
          <a:xfrm>
            <a:off x="9038252" y="156517"/>
            <a:ext cx="301378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Actors</a:t>
            </a:r>
            <a:endParaRPr lang="ar-SA" b="1" dirty="0">
              <a:solidFill>
                <a:schemeClr val="accent1"/>
              </a:solidFill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73906974-904E-BDCD-A93D-E3B9C0E1FF56}"/>
              </a:ext>
            </a:extLst>
          </p:cNvPr>
          <p:cNvSpPr txBox="1"/>
          <p:nvPr/>
        </p:nvSpPr>
        <p:spPr>
          <a:xfrm>
            <a:off x="7785619" y="3255526"/>
            <a:ext cx="3533574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b="1" dirty="0"/>
              <a:t>مقدم الخدمة (الشركة / الباحث):</a:t>
            </a:r>
            <a:endParaRPr lang="ar-SA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إنشاء حساب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إدارة الاستبيانات (تشمل الإنشاء والتعديل)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تحديد شروط الاستهداف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استعراض نتائج تحليل المشاعر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تسجيل الدخول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dirty="0"/>
              <a:t> تسجيل الخروج</a:t>
            </a:r>
          </a:p>
          <a:p>
            <a:pPr>
              <a:lnSpc>
                <a:spcPct val="150000"/>
              </a:lnSpc>
            </a:pPr>
            <a:endParaRPr lang="ar-SA" dirty="0"/>
          </a:p>
        </p:txBody>
      </p:sp>
      <p:sp>
        <p:nvSpPr>
          <p:cNvPr id="9" name="مربع نص 8">
            <a:extLst>
              <a:ext uri="{FF2B5EF4-FFF2-40B4-BE49-F238E27FC236}">
                <a16:creationId xmlns:a16="http://schemas.microsoft.com/office/drawing/2014/main" id="{EFCD7154-06EF-7EF3-D731-6FB4A357D155}"/>
              </a:ext>
            </a:extLst>
          </p:cNvPr>
          <p:cNvSpPr txBox="1"/>
          <p:nvPr/>
        </p:nvSpPr>
        <p:spPr>
          <a:xfrm>
            <a:off x="3890865" y="2606335"/>
            <a:ext cx="7428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400" b="1" dirty="0">
                <a:solidFill>
                  <a:schemeClr val="accent1"/>
                </a:solidFill>
              </a:rPr>
              <a:t>حالات الاستخدام حسب الفاعلين (</a:t>
            </a:r>
            <a:r>
              <a:rPr lang="en-US" sz="2400" b="1" dirty="0">
                <a:solidFill>
                  <a:schemeClr val="accent1"/>
                </a:solidFill>
              </a:rPr>
              <a:t>(Use Cases by Actors</a:t>
            </a:r>
            <a:endParaRPr lang="ar-SA" sz="2400" b="1" dirty="0">
              <a:solidFill>
                <a:schemeClr val="accent1"/>
              </a:solidFill>
            </a:endParaRP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CE8152E0-698A-86B7-7B47-C9999DE2B867}"/>
              </a:ext>
            </a:extLst>
          </p:cNvPr>
          <p:cNvSpPr txBox="1"/>
          <p:nvPr/>
        </p:nvSpPr>
        <p:spPr>
          <a:xfrm>
            <a:off x="831009" y="3260620"/>
            <a:ext cx="3725246" cy="280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000" b="1" dirty="0"/>
              <a:t>المُجيب (المستخدم):</a:t>
            </a:r>
            <a:endParaRPr lang="ar-SA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إنشاء حساب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إدارة الملف الديموغرافي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الإجابة على الاستبيانات المطابقة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تسجيل الدخول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 تسجيل الخروج</a:t>
            </a:r>
          </a:p>
        </p:txBody>
      </p:sp>
      <p:sp>
        <p:nvSpPr>
          <p:cNvPr id="14" name="مربع نص 13">
            <a:extLst>
              <a:ext uri="{FF2B5EF4-FFF2-40B4-BE49-F238E27FC236}">
                <a16:creationId xmlns:a16="http://schemas.microsoft.com/office/drawing/2014/main" id="{0DB0DE35-0EE9-AC75-31FC-364187A3F4C7}"/>
              </a:ext>
            </a:extLst>
          </p:cNvPr>
          <p:cNvSpPr txBox="1"/>
          <p:nvPr/>
        </p:nvSpPr>
        <p:spPr>
          <a:xfrm>
            <a:off x="5221639" y="3260620"/>
            <a:ext cx="2514215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000" b="1" dirty="0"/>
              <a:t>مدير النظام (</a:t>
            </a:r>
            <a:r>
              <a:rPr lang="en-US" sz="2000" b="1" dirty="0"/>
              <a:t>(Admin</a:t>
            </a:r>
            <a:endParaRPr lang="en-US" sz="20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إدارة الحسابات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استخراج تقارير الأداء العام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تسجيل الدخول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 تسجيل الخروج</a:t>
            </a:r>
          </a:p>
        </p:txBody>
      </p:sp>
    </p:spTree>
    <p:extLst>
      <p:ext uri="{BB962C8B-B14F-4D97-AF65-F5344CB8AC3E}">
        <p14:creationId xmlns:p14="http://schemas.microsoft.com/office/powerpoint/2010/main" val="244173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DD57BF0-A466-1E14-8F00-579B0A9C3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261" y="0"/>
            <a:ext cx="1024501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364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0CE5F3-9BF6-0139-3D36-E258C0CB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142" y="1730708"/>
            <a:ext cx="11308703" cy="2995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المراجع الرئيسية (Key References)</a:t>
            </a:r>
            <a:endParaRPr kumimoji="0" lang="ar-SA" altLang="ar-S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في منهجية الاستبيانات ومشاكل العينة (Survey Methodology):</a:t>
            </a: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Groves, R. M., et al. (2011). Survey Methodology. John Wiley &amp; Sons.</a:t>
            </a: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في الذكاء الاصطناعي وتحليل المشاعر (AI &amp; Sentiment Analysis):</a:t>
            </a: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Liu, B. (2020). </a:t>
            </a:r>
            <a:r>
              <a:rPr lang="en-US" i="1" dirty="0"/>
              <a:t>Sentiment Analysis: Mining Opinions, Sentiments, and Emotions</a:t>
            </a:r>
            <a:r>
              <a:rPr lang="en-US" dirty="0"/>
              <a:t>. Cambridge University Press.</a:t>
            </a: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في هندسة البرمجيات ومنهجية Agile (Software Engineering):</a:t>
            </a: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ar-SA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Sommerville, I. (2015). Software Engineering (10th ed.). Pearson.</a:t>
            </a:r>
            <a:endParaRPr kumimoji="0" lang="ar-SA" altLang="ar-SA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861852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978</Words>
  <Application>Microsoft Office PowerPoint</Application>
  <PresentationFormat>شاشة عريضة</PresentationFormat>
  <Paragraphs>117</Paragraphs>
  <Slides>11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Simplified Arabic</vt:lpstr>
      <vt:lpstr>Times New Roman</vt:lpstr>
      <vt:lpstr>نسق Office</vt:lpstr>
      <vt:lpstr>Smart Opinion Survey Platform منصة استبيانات الآراء الذكية   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YAMAN BASAM</dc:creator>
  <cp:lastModifiedBy>YAMAN BASAM</cp:lastModifiedBy>
  <cp:revision>7</cp:revision>
  <dcterms:created xsi:type="dcterms:W3CDTF">2026-03-06T14:39:01Z</dcterms:created>
  <dcterms:modified xsi:type="dcterms:W3CDTF">2026-03-12T11:52:34Z</dcterms:modified>
</cp:coreProperties>
</file>