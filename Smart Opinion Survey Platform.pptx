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bookmarkIdSeed="2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2" r:id="rId10"/>
    <p:sldId id="265" r:id="rId11"/>
  </p:sldIdLst>
  <p:sldSz cx="12192000" cy="6858000"/>
  <p:notesSz cx="6858000" cy="9144000"/>
  <p:defaultTextStyle>
    <a:defPPr>
      <a:defRPr lang="ar-SA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نمط متوسط 2 - تميي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6102" autoAdjust="0"/>
    <p:restoredTop sz="94660"/>
  </p:normalViewPr>
  <p:slideViewPr>
    <p:cSldViewPr snapToGrid="0">
      <p:cViewPr varScale="1">
        <p:scale>
          <a:sx n="82" d="100"/>
          <a:sy n="82" d="100"/>
        </p:scale>
        <p:origin x="76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شريحة عنوا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94F3E957-1C76-BB63-C202-BCF2E38887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وان فرعي 2">
            <a:extLst>
              <a:ext uri="{FF2B5EF4-FFF2-40B4-BE49-F238E27FC236}">
                <a16:creationId xmlns:a16="http://schemas.microsoft.com/office/drawing/2014/main" id="{5336A8E6-1093-E487-E0BF-3CC0FBF14C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ar-SA"/>
              <a:t>انقر لتحرير نمط العنوان الفرعي للشكل الرئيسي</a:t>
            </a:r>
          </a:p>
        </p:txBody>
      </p:sp>
      <p:sp>
        <p:nvSpPr>
          <p:cNvPr id="4" name="عنصر نائب للتاريخ 3">
            <a:extLst>
              <a:ext uri="{FF2B5EF4-FFF2-40B4-BE49-F238E27FC236}">
                <a16:creationId xmlns:a16="http://schemas.microsoft.com/office/drawing/2014/main" id="{C03E4D22-04D9-0E5E-5C63-D129AD27F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19/09/47</a:t>
            </a:fld>
            <a:endParaRPr lang="ar-SA"/>
          </a:p>
        </p:txBody>
      </p:sp>
      <p:sp>
        <p:nvSpPr>
          <p:cNvPr id="5" name="عنصر نائب للتذييل 4">
            <a:extLst>
              <a:ext uri="{FF2B5EF4-FFF2-40B4-BE49-F238E27FC236}">
                <a16:creationId xmlns:a16="http://schemas.microsoft.com/office/drawing/2014/main" id="{FB88D1B4-9E5D-6395-5549-BE2D7FCAB5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عنصر نائب لرقم الشريحة 5">
            <a:extLst>
              <a:ext uri="{FF2B5EF4-FFF2-40B4-BE49-F238E27FC236}">
                <a16:creationId xmlns:a16="http://schemas.microsoft.com/office/drawing/2014/main" id="{543EE8A5-13E4-F03F-A228-3E8CB2653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5804599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عنوان ومحتو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2FA433B2-A226-F119-DAC1-8CD454226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محتوى 2">
            <a:extLst>
              <a:ext uri="{FF2B5EF4-FFF2-40B4-BE49-F238E27FC236}">
                <a16:creationId xmlns:a16="http://schemas.microsoft.com/office/drawing/2014/main" id="{94068328-1686-6FE4-6032-D4A56D6E43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4" name="عنصر نائب للتاريخ 3">
            <a:extLst>
              <a:ext uri="{FF2B5EF4-FFF2-40B4-BE49-F238E27FC236}">
                <a16:creationId xmlns:a16="http://schemas.microsoft.com/office/drawing/2014/main" id="{8A077FAF-1589-8E4D-9F12-8FDD9B0FEF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19/09/47</a:t>
            </a:fld>
            <a:endParaRPr lang="ar-SA"/>
          </a:p>
        </p:txBody>
      </p:sp>
      <p:sp>
        <p:nvSpPr>
          <p:cNvPr id="5" name="عنصر نائب للتذييل 4">
            <a:extLst>
              <a:ext uri="{FF2B5EF4-FFF2-40B4-BE49-F238E27FC236}">
                <a16:creationId xmlns:a16="http://schemas.microsoft.com/office/drawing/2014/main" id="{9C583B27-95F5-2B58-FF3C-75D66DF011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عنصر نائب لرقم الشريحة 5">
            <a:extLst>
              <a:ext uri="{FF2B5EF4-FFF2-40B4-BE49-F238E27FC236}">
                <a16:creationId xmlns:a16="http://schemas.microsoft.com/office/drawing/2014/main" id="{15BE3BBC-A668-A53E-9591-E9A3FF981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221468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عنوان المقط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8B28B023-0246-D85F-7258-50A88E6FE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نص 2">
            <a:extLst>
              <a:ext uri="{FF2B5EF4-FFF2-40B4-BE49-F238E27FC236}">
                <a16:creationId xmlns:a16="http://schemas.microsoft.com/office/drawing/2014/main" id="{9E55503F-B3F9-3BD3-2595-1F140CFE10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ar-SA"/>
              <a:t>انقر لتحرير أنماط نص الشكل الرئيسي</a:t>
            </a:r>
          </a:p>
        </p:txBody>
      </p:sp>
      <p:sp>
        <p:nvSpPr>
          <p:cNvPr id="4" name="عنصر نائب للتاريخ 3">
            <a:extLst>
              <a:ext uri="{FF2B5EF4-FFF2-40B4-BE49-F238E27FC236}">
                <a16:creationId xmlns:a16="http://schemas.microsoft.com/office/drawing/2014/main" id="{C2695CBD-DFC8-35CA-4D77-284D80986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19/09/47</a:t>
            </a:fld>
            <a:endParaRPr lang="ar-SA"/>
          </a:p>
        </p:txBody>
      </p:sp>
      <p:sp>
        <p:nvSpPr>
          <p:cNvPr id="5" name="عنصر نائب للتذييل 4">
            <a:extLst>
              <a:ext uri="{FF2B5EF4-FFF2-40B4-BE49-F238E27FC236}">
                <a16:creationId xmlns:a16="http://schemas.microsoft.com/office/drawing/2014/main" id="{A1900813-C161-D8F2-1719-F0C065ABA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عنصر نائب لرقم الشريحة 5">
            <a:extLst>
              <a:ext uri="{FF2B5EF4-FFF2-40B4-BE49-F238E27FC236}">
                <a16:creationId xmlns:a16="http://schemas.microsoft.com/office/drawing/2014/main" id="{FFC24FEE-16B9-23D5-5634-188678AC2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2380238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محتويا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FA0A96E1-4883-00EC-56A5-D2AE57131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محتوى 2">
            <a:extLst>
              <a:ext uri="{FF2B5EF4-FFF2-40B4-BE49-F238E27FC236}">
                <a16:creationId xmlns:a16="http://schemas.microsoft.com/office/drawing/2014/main" id="{B5034E36-CFED-19CC-9762-1440B4E268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4" name="عنصر نائب للمحتوى 3">
            <a:extLst>
              <a:ext uri="{FF2B5EF4-FFF2-40B4-BE49-F238E27FC236}">
                <a16:creationId xmlns:a16="http://schemas.microsoft.com/office/drawing/2014/main" id="{16AABB04-9765-FB2E-E935-97185CF7C5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5" name="عنصر نائب للتاريخ 4">
            <a:extLst>
              <a:ext uri="{FF2B5EF4-FFF2-40B4-BE49-F238E27FC236}">
                <a16:creationId xmlns:a16="http://schemas.microsoft.com/office/drawing/2014/main" id="{F248EA6C-D421-1EB5-0D95-915EC64E8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19/09/47</a:t>
            </a:fld>
            <a:endParaRPr lang="ar-SA"/>
          </a:p>
        </p:txBody>
      </p:sp>
      <p:sp>
        <p:nvSpPr>
          <p:cNvPr id="6" name="عنصر نائب للتذييل 5">
            <a:extLst>
              <a:ext uri="{FF2B5EF4-FFF2-40B4-BE49-F238E27FC236}">
                <a16:creationId xmlns:a16="http://schemas.microsoft.com/office/drawing/2014/main" id="{F06F8FB0-31E8-62BA-E96F-D949DD124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7" name="عنصر نائب لرقم الشريحة 6">
            <a:extLst>
              <a:ext uri="{FF2B5EF4-FFF2-40B4-BE49-F238E27FC236}">
                <a16:creationId xmlns:a16="http://schemas.microsoft.com/office/drawing/2014/main" id="{A9139043-CA3C-1A2D-051B-DC5BD9EF8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21780797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مقارن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D0C295EF-27F3-DCEF-32E0-4C5F0EED2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نص 2">
            <a:extLst>
              <a:ext uri="{FF2B5EF4-FFF2-40B4-BE49-F238E27FC236}">
                <a16:creationId xmlns:a16="http://schemas.microsoft.com/office/drawing/2014/main" id="{A20999BE-2B88-26DD-664D-468C356CF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ar-SA"/>
              <a:t>انقر لتحرير أنماط نص الشكل الرئيسي</a:t>
            </a:r>
          </a:p>
        </p:txBody>
      </p:sp>
      <p:sp>
        <p:nvSpPr>
          <p:cNvPr id="4" name="عنصر نائب للمحتوى 3">
            <a:extLst>
              <a:ext uri="{FF2B5EF4-FFF2-40B4-BE49-F238E27FC236}">
                <a16:creationId xmlns:a16="http://schemas.microsoft.com/office/drawing/2014/main" id="{43D51DFA-EF3F-A3A3-23BE-93F4D3CABF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5" name="عنصر نائب للنص 4">
            <a:extLst>
              <a:ext uri="{FF2B5EF4-FFF2-40B4-BE49-F238E27FC236}">
                <a16:creationId xmlns:a16="http://schemas.microsoft.com/office/drawing/2014/main" id="{38C5B6A6-D4C2-5160-0A1A-EF13FF1EFC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ar-SA"/>
              <a:t>انقر لتحرير أنماط نص الشكل الرئيسي</a:t>
            </a:r>
          </a:p>
        </p:txBody>
      </p:sp>
      <p:sp>
        <p:nvSpPr>
          <p:cNvPr id="6" name="عنصر نائب للمحتوى 5">
            <a:extLst>
              <a:ext uri="{FF2B5EF4-FFF2-40B4-BE49-F238E27FC236}">
                <a16:creationId xmlns:a16="http://schemas.microsoft.com/office/drawing/2014/main" id="{C8A85D16-E389-D0B8-991D-7DAAF6B1CB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7" name="عنصر نائب للتاريخ 6">
            <a:extLst>
              <a:ext uri="{FF2B5EF4-FFF2-40B4-BE49-F238E27FC236}">
                <a16:creationId xmlns:a16="http://schemas.microsoft.com/office/drawing/2014/main" id="{A1CF1148-3766-B0F2-B7D4-59079AF378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19/09/47</a:t>
            </a:fld>
            <a:endParaRPr lang="ar-SA"/>
          </a:p>
        </p:txBody>
      </p:sp>
      <p:sp>
        <p:nvSpPr>
          <p:cNvPr id="8" name="عنصر نائب للتذييل 7">
            <a:extLst>
              <a:ext uri="{FF2B5EF4-FFF2-40B4-BE49-F238E27FC236}">
                <a16:creationId xmlns:a16="http://schemas.microsoft.com/office/drawing/2014/main" id="{9BFFADB6-4F56-625B-C7C9-F0886D5240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9" name="عنصر نائب لرقم الشريحة 8">
            <a:extLst>
              <a:ext uri="{FF2B5EF4-FFF2-40B4-BE49-F238E27FC236}">
                <a16:creationId xmlns:a16="http://schemas.microsoft.com/office/drawing/2014/main" id="{50F17430-22F1-0700-525D-1C8B3EF8E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28273864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عنوان فق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337901A0-D1FB-5222-FF68-96CE63242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تاريخ 2">
            <a:extLst>
              <a:ext uri="{FF2B5EF4-FFF2-40B4-BE49-F238E27FC236}">
                <a16:creationId xmlns:a16="http://schemas.microsoft.com/office/drawing/2014/main" id="{265C04BC-6BC6-A2C8-95E7-61008A7D0C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19/09/47</a:t>
            </a:fld>
            <a:endParaRPr lang="ar-SA"/>
          </a:p>
        </p:txBody>
      </p:sp>
      <p:sp>
        <p:nvSpPr>
          <p:cNvPr id="4" name="عنصر نائب للتذييل 3">
            <a:extLst>
              <a:ext uri="{FF2B5EF4-FFF2-40B4-BE49-F238E27FC236}">
                <a16:creationId xmlns:a16="http://schemas.microsoft.com/office/drawing/2014/main" id="{4E5F52C9-E04B-F2A4-3FB4-D030F5F54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5" name="عنصر نائب لرقم الشريحة 4">
            <a:extLst>
              <a:ext uri="{FF2B5EF4-FFF2-40B4-BE49-F238E27FC236}">
                <a16:creationId xmlns:a16="http://schemas.microsoft.com/office/drawing/2014/main" id="{79832D75-9CAF-1A4A-A573-97F4FDEC7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564228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فار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صر نائب للتاريخ 1">
            <a:extLst>
              <a:ext uri="{FF2B5EF4-FFF2-40B4-BE49-F238E27FC236}">
                <a16:creationId xmlns:a16="http://schemas.microsoft.com/office/drawing/2014/main" id="{7B05531B-0D51-4845-D04C-230DFA54E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19/09/47</a:t>
            </a:fld>
            <a:endParaRPr lang="ar-SA"/>
          </a:p>
        </p:txBody>
      </p:sp>
      <p:sp>
        <p:nvSpPr>
          <p:cNvPr id="3" name="عنصر نائب للتذييل 2">
            <a:extLst>
              <a:ext uri="{FF2B5EF4-FFF2-40B4-BE49-F238E27FC236}">
                <a16:creationId xmlns:a16="http://schemas.microsoft.com/office/drawing/2014/main" id="{934A2299-E4CE-0556-6BCA-ECE551E62A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4" name="عنصر نائب لرقم الشريحة 3">
            <a:extLst>
              <a:ext uri="{FF2B5EF4-FFF2-40B4-BE49-F238E27FC236}">
                <a16:creationId xmlns:a16="http://schemas.microsoft.com/office/drawing/2014/main" id="{1A1791E1-3A9D-5BF4-50E6-737DF5B7D3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22534361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محتوى مع تسمية توضيحي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DDA2A992-CF3F-FAA7-11DD-11D1DD3EB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محتوى 2">
            <a:extLst>
              <a:ext uri="{FF2B5EF4-FFF2-40B4-BE49-F238E27FC236}">
                <a16:creationId xmlns:a16="http://schemas.microsoft.com/office/drawing/2014/main" id="{70AE71DE-143A-BC45-FE76-5F54D9234F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4" name="عنصر نائب للنص 3">
            <a:extLst>
              <a:ext uri="{FF2B5EF4-FFF2-40B4-BE49-F238E27FC236}">
                <a16:creationId xmlns:a16="http://schemas.microsoft.com/office/drawing/2014/main" id="{C5D85B43-175E-750C-A36C-01A6074CED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ar-SA"/>
              <a:t>انقر لتحرير أنماط نص الشكل الرئيسي</a:t>
            </a:r>
          </a:p>
        </p:txBody>
      </p:sp>
      <p:sp>
        <p:nvSpPr>
          <p:cNvPr id="5" name="عنصر نائب للتاريخ 4">
            <a:extLst>
              <a:ext uri="{FF2B5EF4-FFF2-40B4-BE49-F238E27FC236}">
                <a16:creationId xmlns:a16="http://schemas.microsoft.com/office/drawing/2014/main" id="{21EC6905-39BD-5FAC-A929-B2E6EFF862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19/09/47</a:t>
            </a:fld>
            <a:endParaRPr lang="ar-SA"/>
          </a:p>
        </p:txBody>
      </p:sp>
      <p:sp>
        <p:nvSpPr>
          <p:cNvPr id="6" name="عنصر نائب للتذييل 5">
            <a:extLst>
              <a:ext uri="{FF2B5EF4-FFF2-40B4-BE49-F238E27FC236}">
                <a16:creationId xmlns:a16="http://schemas.microsoft.com/office/drawing/2014/main" id="{164BA39F-8C75-0D80-7DD8-AABE70216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7" name="عنصر نائب لرقم الشريحة 6">
            <a:extLst>
              <a:ext uri="{FF2B5EF4-FFF2-40B4-BE49-F238E27FC236}">
                <a16:creationId xmlns:a16="http://schemas.microsoft.com/office/drawing/2014/main" id="{568381F1-B263-8D8C-C71F-044DA7A60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8776311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صورة مع تسمية توضيحي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AB1E241A-E4B1-0F4D-6F76-18AA4028C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صورة 2">
            <a:extLst>
              <a:ext uri="{FF2B5EF4-FFF2-40B4-BE49-F238E27FC236}">
                <a16:creationId xmlns:a16="http://schemas.microsoft.com/office/drawing/2014/main" id="{903AC795-CEA2-CF65-9A4C-40100CD769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ar-SA"/>
          </a:p>
        </p:txBody>
      </p:sp>
      <p:sp>
        <p:nvSpPr>
          <p:cNvPr id="4" name="عنصر نائب للنص 3">
            <a:extLst>
              <a:ext uri="{FF2B5EF4-FFF2-40B4-BE49-F238E27FC236}">
                <a16:creationId xmlns:a16="http://schemas.microsoft.com/office/drawing/2014/main" id="{8CF58445-FE9F-F88D-196B-31BC6B2BC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ar-SA"/>
              <a:t>انقر لتحرير أنماط نص الشكل الرئيسي</a:t>
            </a:r>
          </a:p>
        </p:txBody>
      </p:sp>
      <p:sp>
        <p:nvSpPr>
          <p:cNvPr id="5" name="عنصر نائب للتاريخ 4">
            <a:extLst>
              <a:ext uri="{FF2B5EF4-FFF2-40B4-BE49-F238E27FC236}">
                <a16:creationId xmlns:a16="http://schemas.microsoft.com/office/drawing/2014/main" id="{945B29FB-AA65-BC3A-B124-055165D9BD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19/09/47</a:t>
            </a:fld>
            <a:endParaRPr lang="ar-SA"/>
          </a:p>
        </p:txBody>
      </p:sp>
      <p:sp>
        <p:nvSpPr>
          <p:cNvPr id="6" name="عنصر نائب للتذييل 5">
            <a:extLst>
              <a:ext uri="{FF2B5EF4-FFF2-40B4-BE49-F238E27FC236}">
                <a16:creationId xmlns:a16="http://schemas.microsoft.com/office/drawing/2014/main" id="{E8A1D51D-23F6-C834-AAD1-979A463EB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7" name="عنصر نائب لرقم الشريحة 6">
            <a:extLst>
              <a:ext uri="{FF2B5EF4-FFF2-40B4-BE49-F238E27FC236}">
                <a16:creationId xmlns:a16="http://schemas.microsoft.com/office/drawing/2014/main" id="{CFE52BFD-B399-8A00-DA33-F9737A804A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5301310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عنوان ونص عمود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BBE52FAC-85A4-CEE8-0E1C-613CA1E2C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عنوان العمودي 2">
            <a:extLst>
              <a:ext uri="{FF2B5EF4-FFF2-40B4-BE49-F238E27FC236}">
                <a16:creationId xmlns:a16="http://schemas.microsoft.com/office/drawing/2014/main" id="{FBECCA8A-7CF2-CFA9-8108-F6162AE51D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4" name="عنصر نائب للتاريخ 3">
            <a:extLst>
              <a:ext uri="{FF2B5EF4-FFF2-40B4-BE49-F238E27FC236}">
                <a16:creationId xmlns:a16="http://schemas.microsoft.com/office/drawing/2014/main" id="{C754E377-9D39-7AB5-8BCE-A64763D9E7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19/09/47</a:t>
            </a:fld>
            <a:endParaRPr lang="ar-SA"/>
          </a:p>
        </p:txBody>
      </p:sp>
      <p:sp>
        <p:nvSpPr>
          <p:cNvPr id="5" name="عنصر نائب للتذييل 4">
            <a:extLst>
              <a:ext uri="{FF2B5EF4-FFF2-40B4-BE49-F238E27FC236}">
                <a16:creationId xmlns:a16="http://schemas.microsoft.com/office/drawing/2014/main" id="{27B8A41B-E122-ACDA-DE8C-C578F06D39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عنصر نائب لرقم الشريحة 5">
            <a:extLst>
              <a:ext uri="{FF2B5EF4-FFF2-40B4-BE49-F238E27FC236}">
                <a16:creationId xmlns:a16="http://schemas.microsoft.com/office/drawing/2014/main" id="{4E121FCF-4F3E-8F41-80C1-92ED0EA09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21861338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عنوان ونص عموديا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عمودي 1">
            <a:extLst>
              <a:ext uri="{FF2B5EF4-FFF2-40B4-BE49-F238E27FC236}">
                <a16:creationId xmlns:a16="http://schemas.microsoft.com/office/drawing/2014/main" id="{904E7B3E-F722-785E-6FD0-CE66C9E741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عنوان العمودي 2">
            <a:extLst>
              <a:ext uri="{FF2B5EF4-FFF2-40B4-BE49-F238E27FC236}">
                <a16:creationId xmlns:a16="http://schemas.microsoft.com/office/drawing/2014/main" id="{E0539051-7380-9AFA-823E-0ECC676F74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4" name="عنصر نائب للتاريخ 3">
            <a:extLst>
              <a:ext uri="{FF2B5EF4-FFF2-40B4-BE49-F238E27FC236}">
                <a16:creationId xmlns:a16="http://schemas.microsoft.com/office/drawing/2014/main" id="{8E21C35B-8792-2B4C-4872-71274B0D1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19/09/47</a:t>
            </a:fld>
            <a:endParaRPr lang="ar-SA"/>
          </a:p>
        </p:txBody>
      </p:sp>
      <p:sp>
        <p:nvSpPr>
          <p:cNvPr id="5" name="عنصر نائب للتذييل 4">
            <a:extLst>
              <a:ext uri="{FF2B5EF4-FFF2-40B4-BE49-F238E27FC236}">
                <a16:creationId xmlns:a16="http://schemas.microsoft.com/office/drawing/2014/main" id="{55F5DEBF-653E-4A08-47AE-87B5802B37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عنصر نائب لرقم الشريحة 5">
            <a:extLst>
              <a:ext uri="{FF2B5EF4-FFF2-40B4-BE49-F238E27FC236}">
                <a16:creationId xmlns:a16="http://schemas.microsoft.com/office/drawing/2014/main" id="{4E22D891-CE28-DADD-9024-FE2F38506C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9685227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صر نائب للعنوان 1">
            <a:extLst>
              <a:ext uri="{FF2B5EF4-FFF2-40B4-BE49-F238E27FC236}">
                <a16:creationId xmlns:a16="http://schemas.microsoft.com/office/drawing/2014/main" id="{B0F9F872-F359-F40A-96AC-DEC7C4E553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1" anchor="ctr">
            <a:normAutofit/>
          </a:bodyPr>
          <a:lstStyle/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نص 2">
            <a:extLst>
              <a:ext uri="{FF2B5EF4-FFF2-40B4-BE49-F238E27FC236}">
                <a16:creationId xmlns:a16="http://schemas.microsoft.com/office/drawing/2014/main" id="{671C26D8-F5C6-BD67-5341-D680DDBC80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4" name="عنصر نائب للتاريخ 3">
            <a:extLst>
              <a:ext uri="{FF2B5EF4-FFF2-40B4-BE49-F238E27FC236}">
                <a16:creationId xmlns:a16="http://schemas.microsoft.com/office/drawing/2014/main" id="{84ED1FE4-675E-44BC-13BA-FA6FA2B1C1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6A8431-2457-4B17-8EAD-CB7DD7790385}" type="datetimeFigureOut">
              <a:rPr lang="ar-SA" smtClean="0"/>
              <a:t>19/09/47</a:t>
            </a:fld>
            <a:endParaRPr lang="ar-SA"/>
          </a:p>
        </p:txBody>
      </p:sp>
      <p:sp>
        <p:nvSpPr>
          <p:cNvPr id="5" name="عنصر نائب للتذييل 4">
            <a:extLst>
              <a:ext uri="{FF2B5EF4-FFF2-40B4-BE49-F238E27FC236}">
                <a16:creationId xmlns:a16="http://schemas.microsoft.com/office/drawing/2014/main" id="{052149F8-4E2D-4499-DF13-6D295FD7A9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ar-SA"/>
          </a:p>
        </p:txBody>
      </p:sp>
      <p:sp>
        <p:nvSpPr>
          <p:cNvPr id="6" name="عنصر نائب لرقم الشريحة 5">
            <a:extLst>
              <a:ext uri="{FF2B5EF4-FFF2-40B4-BE49-F238E27FC236}">
                <a16:creationId xmlns:a16="http://schemas.microsoft.com/office/drawing/2014/main" id="{A5C5E447-E496-DCB7-0786-DA22081D78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0831834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1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ar-SA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D797CECF-7ADF-2D94-EFCE-B952490096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716060"/>
            <a:ext cx="9144000" cy="2306637"/>
          </a:xfrm>
        </p:spPr>
        <p:txBody>
          <a:bodyPr>
            <a:normAutofit/>
          </a:bodyPr>
          <a:lstStyle/>
          <a:p>
            <a:pPr rtl="1">
              <a:lnSpc>
                <a:spcPct val="150000"/>
              </a:lnSpc>
              <a:spcAft>
                <a:spcPts val="800"/>
              </a:spcAft>
            </a:pPr>
            <a:r>
              <a:rPr lang="en-US" sz="3200" b="1" dirty="0">
                <a:solidFill>
                  <a:srgbClr val="222A3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Smart Opinion </a:t>
            </a:r>
            <a:r>
              <a:rPr lang="en-US" sz="3200" b="1">
                <a:solidFill>
                  <a:srgbClr val="222A3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Survey Platform</a:t>
            </a:r>
            <a:br>
              <a:rPr lang="en-US" sz="3200" b="1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</a:br>
            <a:r>
              <a:rPr lang="ar-SA" sz="3200" b="1" dirty="0">
                <a:solidFill>
                  <a:srgbClr val="222A35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منصة استبيانات الآراء الذكية </a:t>
            </a:r>
            <a:br>
              <a:rPr lang="en-US" sz="3200" b="1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</a:br>
            <a:r>
              <a:rPr lang="en-US" sz="3200" b="1" dirty="0">
                <a:solidFill>
                  <a:srgbClr val="222A3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 </a:t>
            </a:r>
            <a:endParaRPr lang="ar-SA" sz="8800" b="1" dirty="0"/>
          </a:p>
        </p:txBody>
      </p:sp>
      <p:sp>
        <p:nvSpPr>
          <p:cNvPr id="4" name="Text Box 2">
            <a:extLst>
              <a:ext uri="{FF2B5EF4-FFF2-40B4-BE49-F238E27FC236}">
                <a16:creationId xmlns:a16="http://schemas.microsoft.com/office/drawing/2014/main" id="{460B78EE-156F-C89C-4518-9C9BB60A84BC}"/>
              </a:ext>
            </a:extLst>
          </p:cNvPr>
          <p:cNvSpPr>
            <a:spLocks/>
          </p:cNvSpPr>
          <p:nvPr/>
        </p:nvSpPr>
        <p:spPr>
          <a:xfrm>
            <a:off x="1523999" y="2545991"/>
            <a:ext cx="9144001" cy="13039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anchor="t">
            <a:noAutofit/>
          </a:bodyPr>
          <a:lstStyle/>
          <a:p>
            <a:pPr algn="ctr" rtl="1">
              <a:lnSpc>
                <a:spcPct val="150000"/>
              </a:lnSpc>
              <a:spcAft>
                <a:spcPts val="800"/>
              </a:spcAft>
            </a:pPr>
            <a:r>
              <a:rPr lang="ar-SA" sz="2800" b="1" dirty="0">
                <a:solidFill>
                  <a:srgbClr val="222A35"/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إعداد الطلاب:</a:t>
            </a:r>
            <a:endParaRPr lang="en-US" sz="1400" dirty="0">
              <a:effectLst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algn="ctr" rtl="1">
              <a:lnSpc>
                <a:spcPct val="150000"/>
              </a:lnSpc>
              <a:spcAft>
                <a:spcPts val="800"/>
              </a:spcAft>
            </a:pPr>
            <a:r>
              <a:rPr lang="ar-SA" sz="2400" b="1" dirty="0">
                <a:solidFill>
                  <a:srgbClr val="222A35"/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يمان بسام المطر   |  حسن عبد الرحمن يحيى  |   يوسف احمد الزعبي</a:t>
            </a:r>
            <a:endParaRPr lang="en-US" sz="1400" dirty="0">
              <a:effectLst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5" name="Text Box 2">
            <a:extLst>
              <a:ext uri="{FF2B5EF4-FFF2-40B4-BE49-F238E27FC236}">
                <a16:creationId xmlns:a16="http://schemas.microsoft.com/office/drawing/2014/main" id="{F0AFB1FE-9D71-6A78-F94B-288E66A4F5B6}"/>
              </a:ext>
            </a:extLst>
          </p:cNvPr>
          <p:cNvSpPr>
            <a:spLocks/>
          </p:cNvSpPr>
          <p:nvPr/>
        </p:nvSpPr>
        <p:spPr>
          <a:xfrm>
            <a:off x="2325498" y="4338112"/>
            <a:ext cx="7541002" cy="20339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anchor="t">
            <a:noAutofit/>
          </a:bodyPr>
          <a:lstStyle/>
          <a:p>
            <a:pPr algn="ctr" rtl="1">
              <a:lnSpc>
                <a:spcPct val="150000"/>
              </a:lnSpc>
              <a:spcAft>
                <a:spcPts val="800"/>
              </a:spcAft>
            </a:pPr>
            <a:r>
              <a:rPr lang="ar-SA" sz="2800" b="1" dirty="0">
                <a:solidFill>
                  <a:srgbClr val="222A35"/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إشراف:</a:t>
            </a:r>
            <a:endParaRPr lang="en-US" sz="1400" dirty="0">
              <a:effectLst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algn="ctr" rtl="1">
              <a:lnSpc>
                <a:spcPct val="150000"/>
              </a:lnSpc>
              <a:spcAft>
                <a:spcPts val="800"/>
              </a:spcAft>
            </a:pPr>
            <a:r>
              <a:rPr lang="ar-SA" sz="2400" b="1" dirty="0">
                <a:solidFill>
                  <a:srgbClr val="222A35"/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م. شادي بليدي</a:t>
            </a:r>
            <a:endParaRPr lang="en-US" sz="1400" dirty="0">
              <a:effectLst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algn="ctr" rtl="1">
              <a:lnSpc>
                <a:spcPct val="150000"/>
              </a:lnSpc>
              <a:spcAft>
                <a:spcPts val="800"/>
              </a:spcAft>
            </a:pPr>
            <a:r>
              <a:rPr lang="ar-SA" sz="2400" b="1" dirty="0">
                <a:solidFill>
                  <a:srgbClr val="222A35"/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م. مايا الأحمد</a:t>
            </a:r>
            <a:endParaRPr lang="en-US" sz="1400" dirty="0">
              <a:effectLst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algn="ctr" rtl="1">
              <a:lnSpc>
                <a:spcPct val="150000"/>
              </a:lnSpc>
              <a:spcAft>
                <a:spcPts val="800"/>
              </a:spcAft>
            </a:pPr>
            <a:endParaRPr lang="en-US" sz="1400" dirty="0">
              <a:effectLst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86060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مربع نص 3">
            <a:extLst>
              <a:ext uri="{FF2B5EF4-FFF2-40B4-BE49-F238E27FC236}">
                <a16:creationId xmlns:a16="http://schemas.microsoft.com/office/drawing/2014/main" id="{2C805033-01BB-B597-EB43-512C596003EC}"/>
              </a:ext>
            </a:extLst>
          </p:cNvPr>
          <p:cNvSpPr txBox="1"/>
          <p:nvPr/>
        </p:nvSpPr>
        <p:spPr>
          <a:xfrm>
            <a:off x="746448" y="74645"/>
            <a:ext cx="10314991" cy="285058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>
              <a:lnSpc>
                <a:spcPct val="150000"/>
              </a:lnSpc>
              <a:spcBef>
                <a:spcPts val="800"/>
              </a:spcBef>
              <a:spcAft>
                <a:spcPts val="400"/>
              </a:spcAft>
            </a:pPr>
            <a:r>
              <a:rPr lang="ar-SA" sz="2000" b="1" dirty="0">
                <a:solidFill>
                  <a:srgbClr val="2F5496"/>
                </a:solidFill>
                <a:effectLst/>
                <a:latin typeface="Simplified Arabic" panose="02020603050405020304" pitchFamily="18" charset="-78"/>
                <a:ea typeface="Times New Roman" panose="02020603050405020304" pitchFamily="18" charset="0"/>
              </a:rPr>
              <a:t>مقدمة عن المشروع</a:t>
            </a:r>
            <a:endParaRPr lang="en-US" sz="2000" b="1" dirty="0">
              <a:solidFill>
                <a:srgbClr val="2F5496"/>
              </a:solidFill>
              <a:effectLst/>
              <a:latin typeface="Simplified Arabic" panose="02020603050405020304" pitchFamily="18" charset="-78"/>
              <a:ea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700" b="1" dirty="0">
                <a:latin typeface="Simplified Arabic" panose="02020603050405020304" pitchFamily="18" charset="-78"/>
              </a:rPr>
              <a:t>أهمية التغذية الراجعة </a:t>
            </a:r>
            <a:r>
              <a:rPr lang="en-US" sz="1700" b="1" dirty="0">
                <a:latin typeface="Simplified Arabic" panose="02020603050405020304" pitchFamily="18" charset="-78"/>
              </a:rPr>
              <a:t>(Feedback)</a:t>
            </a:r>
            <a:r>
              <a:rPr lang="ar-SA" sz="1700" b="1" dirty="0">
                <a:latin typeface="Simplified Arabic" panose="02020603050405020304" pitchFamily="18" charset="-78"/>
              </a:rPr>
              <a:t>: </a:t>
            </a:r>
            <a:r>
              <a:rPr lang="ar-SA" sz="1700" dirty="0">
                <a:latin typeface="Simplified Arabic" panose="02020603050405020304" pitchFamily="18" charset="-78"/>
              </a:rPr>
              <a:t>في عصر التحول الرقمي، أصبحت آراء المستخدمين الفعليين هي الركيزة الأساسية لنجاح أي خدمة أو منتج.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700" b="1" dirty="0">
                <a:latin typeface="Simplified Arabic" panose="02020603050405020304" pitchFamily="18" charset="-78"/>
              </a:rPr>
              <a:t>نهاية عصر التخمين الإداري:</a:t>
            </a:r>
            <a:r>
              <a:rPr lang="ar-SA" sz="1700" dirty="0">
                <a:latin typeface="Simplified Arabic" panose="02020603050405020304" pitchFamily="18" charset="-78"/>
              </a:rPr>
              <a:t> القرارات الاستراتيجية والتطويرية الناجحة لم تعد تُبنى على التوقعات، بل تتطلب بيانات دقيقة تعكس احتياجات السوق الحقيقية.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700" b="1" dirty="0">
                <a:latin typeface="Simplified Arabic" panose="02020603050405020304" pitchFamily="18" charset="-78"/>
              </a:rPr>
              <a:t>الحاجة لابتكار أدوات ذكية:</a:t>
            </a:r>
            <a:r>
              <a:rPr lang="ar-SA" sz="1700" dirty="0">
                <a:latin typeface="Simplified Arabic" panose="02020603050405020304" pitchFamily="18" charset="-78"/>
              </a:rPr>
              <a:t> مع التطور المتسارع للذكاء الاصطناعي وتقنيات الويب، أصبح من الضروري تجاوز الطرق التقليدية لجمع وتحليل الآراء، لفهم تطلعات الجمهور بطريقة علمية وسريعة.</a:t>
            </a:r>
          </a:p>
          <a:p>
            <a:pPr>
              <a:lnSpc>
                <a:spcPct val="150000"/>
              </a:lnSpc>
            </a:pPr>
            <a:endParaRPr lang="ar-SA" sz="1400" dirty="0">
              <a:latin typeface="Simplified Arabic" panose="02020603050405020304" pitchFamily="18" charset="-78"/>
            </a:endParaRPr>
          </a:p>
        </p:txBody>
      </p:sp>
      <p:sp>
        <p:nvSpPr>
          <p:cNvPr id="5" name="مربع نص 4">
            <a:extLst>
              <a:ext uri="{FF2B5EF4-FFF2-40B4-BE49-F238E27FC236}">
                <a16:creationId xmlns:a16="http://schemas.microsoft.com/office/drawing/2014/main" id="{BBC53761-F6DE-9BD3-BC04-4637616D78F7}"/>
              </a:ext>
            </a:extLst>
          </p:cNvPr>
          <p:cNvSpPr txBox="1"/>
          <p:nvPr/>
        </p:nvSpPr>
        <p:spPr>
          <a:xfrm>
            <a:off x="1562877" y="2792739"/>
            <a:ext cx="9498562" cy="1795363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>
              <a:lnSpc>
                <a:spcPct val="150000"/>
              </a:lnSpc>
            </a:pPr>
            <a:r>
              <a:rPr lang="ar-SA" sz="2000" b="1" dirty="0">
                <a:solidFill>
                  <a:schemeClr val="accent1"/>
                </a:solidFill>
              </a:rPr>
              <a:t>مشكلة البحث</a:t>
            </a:r>
            <a:endParaRPr lang="ar-SA" sz="2000" dirty="0">
              <a:solidFill>
                <a:schemeClr val="accent1"/>
              </a:solidFill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الاعتماد على الروابط المفتوحة يسبب "عشوائية العينة" وجمع بيانات مشوهة.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اتخاذ قرارات استراتيجية خاطئة وهدر للموارد بسبب مشاركة أشخاص غير معنيين بالخدمة.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التحليل اليدوي للنصوص يستهلك وقتاً طويلاً ويكون عرضة للتحيز البشري.</a:t>
            </a:r>
          </a:p>
        </p:txBody>
      </p:sp>
      <p:sp>
        <p:nvSpPr>
          <p:cNvPr id="7" name="مربع نص 6">
            <a:extLst>
              <a:ext uri="{FF2B5EF4-FFF2-40B4-BE49-F238E27FC236}">
                <a16:creationId xmlns:a16="http://schemas.microsoft.com/office/drawing/2014/main" id="{74BBCADA-6067-E778-BE2F-0922FF31AD4B}"/>
              </a:ext>
            </a:extLst>
          </p:cNvPr>
          <p:cNvSpPr txBox="1"/>
          <p:nvPr/>
        </p:nvSpPr>
        <p:spPr>
          <a:xfrm>
            <a:off x="1254966" y="4687967"/>
            <a:ext cx="9806473" cy="1758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ar-SA" sz="2000" b="1" dirty="0">
                <a:solidFill>
                  <a:schemeClr val="accent1"/>
                </a:solidFill>
              </a:rPr>
              <a:t>فكرة المشروع</a:t>
            </a:r>
            <a:endParaRPr lang="ar-SA" sz="2000" dirty="0">
              <a:solidFill>
                <a:schemeClr val="accent1"/>
              </a:solidFill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تطوير منصة استبيانات "ثنائية الأطراف" مزودة بمحرك استهداف ذكي.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فلترة مسبقة تضمن عرض الاستبيان حصراً للمطابقين للشروط الديموغرافية.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دمج تقنيات الذكاء الاصطناعي (</a:t>
            </a:r>
            <a:r>
              <a:rPr lang="en-US" dirty="0"/>
              <a:t>AI</a:t>
            </a:r>
            <a:r>
              <a:rPr lang="ar-SA" dirty="0"/>
              <a:t>) لتحليل الإجابات المفتوحة وتصنيف المشاعر آلياً.</a:t>
            </a:r>
          </a:p>
        </p:txBody>
      </p:sp>
    </p:spTree>
    <p:extLst>
      <p:ext uri="{BB962C8B-B14F-4D97-AF65-F5344CB8AC3E}">
        <p14:creationId xmlns:p14="http://schemas.microsoft.com/office/powerpoint/2010/main" val="1388519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مربع نص 2">
            <a:extLst>
              <a:ext uri="{FF2B5EF4-FFF2-40B4-BE49-F238E27FC236}">
                <a16:creationId xmlns:a16="http://schemas.microsoft.com/office/drawing/2014/main" id="{BE6D38B9-69CF-A5A8-89D6-C7C802977493}"/>
              </a:ext>
            </a:extLst>
          </p:cNvPr>
          <p:cNvSpPr txBox="1"/>
          <p:nvPr/>
        </p:nvSpPr>
        <p:spPr>
          <a:xfrm>
            <a:off x="483636" y="85708"/>
            <a:ext cx="11224725" cy="222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50000"/>
              </a:lnSpc>
              <a:spcBef>
                <a:spcPts val="800"/>
              </a:spcBef>
              <a:spcAft>
                <a:spcPts val="400"/>
              </a:spcAft>
            </a:pPr>
            <a:r>
              <a:rPr lang="ar-SA" sz="2000" b="1" dirty="0">
                <a:solidFill>
                  <a:srgbClr val="2F5496"/>
                </a:solidFill>
                <a:effectLst/>
                <a:latin typeface="Calibri Light" panose="020F03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أهداف المشروع </a:t>
            </a:r>
            <a:endParaRPr lang="en-US" sz="2000" b="1" dirty="0">
              <a:solidFill>
                <a:srgbClr val="2F5496"/>
              </a:solidFill>
              <a:effectLst/>
              <a:latin typeface="Calibri Light" panose="020F03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 بناء بيئة رقمية تربط مقدمي الخدمات بالمستخدمين الفعليين.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 القضاء على العشوائية عبر محرك الاستهداف </a:t>
            </a:r>
            <a:r>
              <a:rPr lang="en-US" dirty="0"/>
              <a:t>.(Targeting Engine)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 أتمتة تحليل النصوص </a:t>
            </a:r>
            <a:r>
              <a:rPr lang="en-US" dirty="0"/>
              <a:t> (NLP)</a:t>
            </a:r>
            <a:r>
              <a:rPr lang="ar-SA" dirty="0"/>
              <a:t>لاستخراج التوجهات العامة للجمهور.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 توفير لوحات تحكم </a:t>
            </a:r>
            <a:r>
              <a:rPr lang="en-US" dirty="0"/>
              <a:t> (Dashboards) </a:t>
            </a:r>
            <a:r>
              <a:rPr lang="ar-SA" dirty="0"/>
              <a:t>تفاعلية لدعم اتخاذ القرارات.</a:t>
            </a:r>
          </a:p>
        </p:txBody>
      </p:sp>
      <p:sp>
        <p:nvSpPr>
          <p:cNvPr id="2" name="مربع نص 1">
            <a:extLst>
              <a:ext uri="{FF2B5EF4-FFF2-40B4-BE49-F238E27FC236}">
                <a16:creationId xmlns:a16="http://schemas.microsoft.com/office/drawing/2014/main" id="{F7F6FF3F-29D5-9A78-3217-E0B14D6F14C4}"/>
              </a:ext>
            </a:extLst>
          </p:cNvPr>
          <p:cNvSpPr txBox="1"/>
          <p:nvPr/>
        </p:nvSpPr>
        <p:spPr>
          <a:xfrm>
            <a:off x="483636" y="2286000"/>
            <a:ext cx="11224725" cy="2542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ar-SA" b="1" dirty="0">
                <a:solidFill>
                  <a:schemeClr val="accent1"/>
                </a:solidFill>
              </a:rPr>
              <a:t>نطاق المشروع</a:t>
            </a:r>
            <a:endParaRPr lang="en-US" dirty="0">
              <a:solidFill>
                <a:schemeClr val="accent1"/>
              </a:solidFill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b="1" dirty="0"/>
              <a:t>الفئات المستهدفة:</a:t>
            </a:r>
            <a:r>
              <a:rPr lang="ar-SA" dirty="0"/>
              <a:t> يخدم النظام فئتين: "مقدمي الخدمات" (لإنشاء الاستبيانات الموجهة) و"المستخدمين المسجلين" بملفات تعريفية (كعينة دقيقة للإجابة).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b="1" dirty="0"/>
              <a:t>النطاق الوظيفي:</a:t>
            </a:r>
            <a:r>
              <a:rPr lang="ar-SA" dirty="0"/>
              <a:t> يشمل إدارة الحسابات، أداة بناء الاستبيانات المفلترة، تحليل المشاعر عبر الذكاء الاصطناعي </a:t>
            </a:r>
            <a:r>
              <a:rPr lang="en-US" dirty="0"/>
              <a:t>(NLP)، </a:t>
            </a:r>
            <a:r>
              <a:rPr lang="ar-SA" dirty="0"/>
              <a:t>وتوفير لوحات تحكم </a:t>
            </a:r>
            <a:r>
              <a:rPr lang="en-US" dirty="0"/>
              <a:t>   (Dashboards) </a:t>
            </a:r>
            <a:r>
              <a:rPr lang="ar-SA" dirty="0"/>
              <a:t> إحصائية.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b="1" dirty="0"/>
              <a:t>النطاق التقني:</a:t>
            </a:r>
            <a:r>
              <a:rPr lang="ar-SA" dirty="0"/>
              <a:t> بناء النظام كـ "تطبيق ويب"</a:t>
            </a:r>
            <a:r>
              <a:rPr lang="en-US" dirty="0"/>
              <a:t>Web App) </a:t>
            </a:r>
            <a:r>
              <a:rPr lang="ar-SA" dirty="0"/>
              <a:t>) متجاوب، والاعتماد على نماذج ذكاء اصطناعي مدربة مسبقاً</a:t>
            </a:r>
            <a:r>
              <a:rPr lang="en-US" dirty="0"/>
              <a:t>APIs) </a:t>
            </a:r>
            <a:r>
              <a:rPr lang="ar-SA" dirty="0"/>
              <a:t>) لتحليل النصوص.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b="1" dirty="0"/>
              <a:t>خارج النطاق:</a:t>
            </a:r>
            <a:r>
              <a:rPr lang="ar-SA" dirty="0"/>
              <a:t> النظام لا يشمل برمجة تطبيق خاص للهواتف الذكية (</a:t>
            </a:r>
            <a:r>
              <a:rPr lang="en-US" dirty="0"/>
              <a:t>(Mobile App، </a:t>
            </a:r>
            <a:r>
              <a:rPr lang="ar-SA" dirty="0"/>
              <a:t>ولن يتم تدريب نماذج لغوية للذكاء الاصطناعي من الصفر.</a:t>
            </a:r>
          </a:p>
        </p:txBody>
      </p:sp>
    </p:spTree>
    <p:extLst>
      <p:ext uri="{BB962C8B-B14F-4D97-AF65-F5344CB8AC3E}">
        <p14:creationId xmlns:p14="http://schemas.microsoft.com/office/powerpoint/2010/main" val="24455660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مربع نص 3">
            <a:extLst>
              <a:ext uri="{FF2B5EF4-FFF2-40B4-BE49-F238E27FC236}">
                <a16:creationId xmlns:a16="http://schemas.microsoft.com/office/drawing/2014/main" id="{624C8765-612E-7110-7F73-5DB30F0569D7}"/>
              </a:ext>
            </a:extLst>
          </p:cNvPr>
          <p:cNvSpPr txBox="1"/>
          <p:nvPr/>
        </p:nvSpPr>
        <p:spPr>
          <a:xfrm>
            <a:off x="352425" y="0"/>
            <a:ext cx="11180211" cy="3004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ar-SA" sz="2000" b="1" dirty="0">
                <a:solidFill>
                  <a:schemeClr val="accent1"/>
                </a:solidFill>
              </a:rPr>
              <a:t>المفاهيم الأساسية </a:t>
            </a:r>
            <a:endParaRPr lang="en-US" sz="2000" dirty="0">
              <a:solidFill>
                <a:schemeClr val="accent1"/>
              </a:solidFill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b="1" dirty="0"/>
              <a:t>المنصات ثنائية الأطراف </a:t>
            </a:r>
            <a:r>
              <a:rPr lang="en-US" b="1" dirty="0"/>
              <a:t>Two-Sided Platforms)</a:t>
            </a:r>
            <a:r>
              <a:rPr lang="ar-SA" b="1" dirty="0"/>
              <a:t>): </a:t>
            </a:r>
            <a:r>
              <a:rPr lang="ar-SA" dirty="0"/>
              <a:t>بيئات رقمية تربط "صناع القرار" مع "المجيبين المستهدفين" مباشرة، وتعتمد على تأثير الشبكة لزيادة قيمتها.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b="1" dirty="0"/>
              <a:t>الاستهداف الديموغرافي والفلترة الآلية:</a:t>
            </a:r>
            <a:r>
              <a:rPr lang="ar-SA" dirty="0"/>
              <a:t> استخدام خوارزميات مطابقة لمنع "تحيز العينة" عبر توجيه الاستبيان للشريحة المطابقة فقط (عبر حقول الملف الشخصي).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b="1" dirty="0"/>
              <a:t>معالجة اللغات الطبيعية (</a:t>
            </a:r>
            <a:r>
              <a:rPr lang="en-US" b="1" dirty="0"/>
              <a:t> (NLP</a:t>
            </a:r>
            <a:r>
              <a:rPr lang="ar-SA" dirty="0"/>
              <a:t>تقنية ذكاء اصطناعي (</a:t>
            </a:r>
            <a:r>
              <a:rPr lang="en-US" dirty="0"/>
              <a:t> (AI</a:t>
            </a:r>
            <a:r>
              <a:rPr lang="ar-SA" dirty="0"/>
              <a:t>لتحويل "البيانات غير المهيكلة" (كالإجابات النصية) إلى بيانات كمية قابلة للقياس والتحليل.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b="1" dirty="0"/>
              <a:t>تحليل المشاعر (</a:t>
            </a:r>
            <a:r>
              <a:rPr lang="en-US" b="1" dirty="0"/>
              <a:t> (Sentiment Analysis</a:t>
            </a:r>
            <a:r>
              <a:rPr lang="ar-SA" dirty="0"/>
              <a:t>قراءة النصوص آلياً وتصنيفها عاطفياً (إيجابية، سلبية، محايدة) لاستخراج توجهات الجمهور بسرعة ودقة.</a:t>
            </a:r>
          </a:p>
        </p:txBody>
      </p:sp>
      <p:sp>
        <p:nvSpPr>
          <p:cNvPr id="6" name="مربع نص 5">
            <a:extLst>
              <a:ext uri="{FF2B5EF4-FFF2-40B4-BE49-F238E27FC236}">
                <a16:creationId xmlns:a16="http://schemas.microsoft.com/office/drawing/2014/main" id="{4FBF6A0A-C59A-595C-077B-309D8FBEDF45}"/>
              </a:ext>
            </a:extLst>
          </p:cNvPr>
          <p:cNvSpPr txBox="1"/>
          <p:nvPr/>
        </p:nvSpPr>
        <p:spPr>
          <a:xfrm>
            <a:off x="0" y="3004540"/>
            <a:ext cx="11532636" cy="3826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ar-SA" sz="2000" b="1" dirty="0">
                <a:solidFill>
                  <a:schemeClr val="accent1"/>
                </a:solidFill>
              </a:rPr>
              <a:t>الدراسة المرجعية </a:t>
            </a:r>
            <a:endParaRPr lang="en-US" sz="2000" dirty="0">
              <a:solidFill>
                <a:schemeClr val="accent1"/>
              </a:solidFill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b="1" dirty="0"/>
              <a:t>النهج التقليدي في الأبحاث السابقة:</a:t>
            </a:r>
            <a:r>
              <a:rPr lang="ar-SA" dirty="0"/>
              <a:t> ركزت معظم الدراسات السابقة على بناء استبيانات إلكترونية تقليدية تعتمد على النشر العشوائي للروابط، مما أدى إلى نتائج تعاني من "تحيز العينة" (</a:t>
            </a:r>
            <a:r>
              <a:rPr lang="en-US" dirty="0"/>
              <a:t>.(Sample Bias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b="1" dirty="0"/>
              <a:t>الدراسات المعتمدة على الذكاء الاصطناعي:</a:t>
            </a:r>
            <a:r>
              <a:rPr lang="ar-SA" dirty="0"/>
              <a:t> الأبحاث الحديثة التي استخدمت معالجة اللغات الطبيعية (</a:t>
            </a:r>
            <a:r>
              <a:rPr lang="en-US" dirty="0"/>
              <a:t>(NLP</a:t>
            </a:r>
            <a:r>
              <a:rPr lang="ar-SA" dirty="0"/>
              <a:t> لتحليل الاستبيانات، غالباً ما كانت تطبق التحليل كـ "مرحلة منفصلة" (</a:t>
            </a:r>
            <a:r>
              <a:rPr lang="en-US" dirty="0"/>
              <a:t>Post-processing </a:t>
            </a:r>
            <a:r>
              <a:rPr lang="ar-SA" dirty="0"/>
              <a:t>) بعد جمع البيانات، وليست مدمجة في صلب المنصة.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b="1" dirty="0"/>
              <a:t>الفجوة البحثية (</a:t>
            </a:r>
            <a:r>
              <a:rPr lang="en-US" b="1" dirty="0"/>
              <a:t> (Research Gap</a:t>
            </a:r>
            <a:r>
              <a:rPr lang="ar-SA" dirty="0"/>
              <a:t>تفتقر الدراسات والأنظمة الحالية إلى وجود </a:t>
            </a:r>
            <a:r>
              <a:rPr lang="ar-SA" b="1" dirty="0"/>
              <a:t>"بيئة ثنائية الأطراف متكاملة"</a:t>
            </a:r>
            <a:r>
              <a:rPr lang="ar-SA" dirty="0"/>
              <a:t> تجمع بين: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الاستهداف الآلي والمسبق للمجيبين (لضمان دقة العينة).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التحليل الآلي والفوري للمشاعر (</a:t>
            </a:r>
            <a:r>
              <a:rPr lang="en-US" dirty="0"/>
              <a:t>NLP </a:t>
            </a:r>
            <a:r>
              <a:rPr lang="ar-SA" dirty="0"/>
              <a:t>) داخل نفس النظام.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b="1" dirty="0"/>
              <a:t>مساهمة مشروعنا:</a:t>
            </a:r>
            <a:r>
              <a:rPr lang="ar-SA" dirty="0"/>
              <a:t> تقديم حل هندسي يدمج محرك الاستهداف الذكي مع نماذج الذكاء الاصطناعي في منصة واحدة متكاملة.</a:t>
            </a:r>
          </a:p>
        </p:txBody>
      </p:sp>
    </p:spTree>
    <p:extLst>
      <p:ext uri="{BB962C8B-B14F-4D97-AF65-F5344CB8AC3E}">
        <p14:creationId xmlns:p14="http://schemas.microsoft.com/office/powerpoint/2010/main" val="22181344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مربع نص 2">
            <a:extLst>
              <a:ext uri="{FF2B5EF4-FFF2-40B4-BE49-F238E27FC236}">
                <a16:creationId xmlns:a16="http://schemas.microsoft.com/office/drawing/2014/main" id="{590F3AF2-F4E8-4B17-0D30-4D06D9D13AB2}"/>
              </a:ext>
            </a:extLst>
          </p:cNvPr>
          <p:cNvSpPr txBox="1"/>
          <p:nvPr/>
        </p:nvSpPr>
        <p:spPr>
          <a:xfrm>
            <a:off x="130629" y="3862308"/>
            <a:ext cx="10991634" cy="2995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ar-SA" sz="2000" b="1" dirty="0">
                <a:solidFill>
                  <a:schemeClr val="accent1"/>
                </a:solidFill>
              </a:rPr>
              <a:t>الأدوات والتقنيات المستخدمة </a:t>
            </a:r>
          </a:p>
          <a:p>
            <a:pPr>
              <a:lnSpc>
                <a:spcPct val="150000"/>
              </a:lnSpc>
            </a:pPr>
            <a:r>
              <a:rPr lang="ar-SA" b="1" dirty="0"/>
              <a:t>الواجهة الخلفية (</a:t>
            </a:r>
            <a:r>
              <a:rPr lang="en-US" b="1" dirty="0"/>
              <a:t> :(Backend</a:t>
            </a:r>
            <a:r>
              <a:rPr lang="ar-SA" dirty="0"/>
              <a:t>لغة البرمجة </a:t>
            </a:r>
            <a:r>
              <a:rPr lang="en-US" b="1" dirty="0"/>
              <a:t>Python</a:t>
            </a:r>
            <a:r>
              <a:rPr lang="en-US" dirty="0"/>
              <a:t> </a:t>
            </a:r>
            <a:r>
              <a:rPr lang="ar-SA" dirty="0"/>
              <a:t> بالاعتماد على إطار العمل </a:t>
            </a:r>
            <a:r>
              <a:rPr lang="en-US" dirty="0"/>
              <a:t> (</a:t>
            </a:r>
            <a:r>
              <a:rPr lang="en-US" b="1" dirty="0"/>
              <a:t>Django)</a:t>
            </a:r>
            <a:r>
              <a:rPr lang="ar-SA" dirty="0"/>
              <a:t>لبناء بنية تحتية قوية، آمنة، وقابلة للتوسع.</a:t>
            </a:r>
          </a:p>
          <a:p>
            <a:pPr>
              <a:lnSpc>
                <a:spcPct val="150000"/>
              </a:lnSpc>
            </a:pPr>
            <a:r>
              <a:rPr lang="ar-SA" b="1" dirty="0"/>
              <a:t> قواعد البيانات </a:t>
            </a:r>
            <a:r>
              <a:rPr lang="en-US" b="1" dirty="0"/>
              <a:t> :(Database)</a:t>
            </a:r>
            <a:r>
              <a:rPr lang="ar-SA" dirty="0"/>
              <a:t>قواعد بيانات علائقية</a:t>
            </a:r>
            <a:r>
              <a:rPr lang="en-US" dirty="0"/>
              <a:t> (</a:t>
            </a:r>
            <a:r>
              <a:rPr lang="en-US" b="1" dirty="0"/>
              <a:t>SQL) </a:t>
            </a:r>
            <a:r>
              <a:rPr lang="ar-SA" dirty="0"/>
              <a:t>لإدارة الملفات الشخصية، شروط الاستهداف، والردود بدقة وموثوقية.</a:t>
            </a:r>
          </a:p>
          <a:p>
            <a:pPr>
              <a:lnSpc>
                <a:spcPct val="150000"/>
              </a:lnSpc>
            </a:pPr>
            <a:r>
              <a:rPr lang="ar-SA" b="1" dirty="0"/>
              <a:t> الواجهة الأمامية (</a:t>
            </a:r>
            <a:r>
              <a:rPr lang="en-US" b="1" dirty="0"/>
              <a:t>Frontend</a:t>
            </a:r>
            <a:r>
              <a:rPr lang="ar-SA" b="1" dirty="0"/>
              <a:t>): </a:t>
            </a:r>
            <a:r>
              <a:rPr lang="ar-SA" dirty="0"/>
              <a:t>تقنيات الويب القياسية </a:t>
            </a:r>
            <a:r>
              <a:rPr lang="en-US" dirty="0"/>
              <a:t> (HTML, CSS, JavaScript) </a:t>
            </a:r>
            <a:r>
              <a:rPr lang="ar-SA" dirty="0"/>
              <a:t>لتصميم واجهات مستخدم (</a:t>
            </a:r>
            <a:r>
              <a:rPr lang="en-US" dirty="0"/>
              <a:t>UI</a:t>
            </a:r>
            <a:r>
              <a:rPr lang="ar-SA" dirty="0"/>
              <a:t>) متجاوبة وسهلة الاستخدام.</a:t>
            </a:r>
          </a:p>
          <a:p>
            <a:pPr>
              <a:lnSpc>
                <a:spcPct val="150000"/>
              </a:lnSpc>
            </a:pPr>
            <a:r>
              <a:rPr lang="ar-SA" b="1" dirty="0"/>
              <a:t> الذكاء الاصطناعي (</a:t>
            </a:r>
            <a:r>
              <a:rPr lang="en-US" b="1" dirty="0"/>
              <a:t> :(AI &amp; NLP</a:t>
            </a:r>
            <a:r>
              <a:rPr lang="ar-SA" dirty="0"/>
              <a:t>استغلال بيئة </a:t>
            </a:r>
            <a:r>
              <a:rPr lang="en-US" dirty="0"/>
              <a:t> Python </a:t>
            </a:r>
            <a:r>
              <a:rPr lang="ar-SA" dirty="0"/>
              <a:t>لدمج مكتبات ونماذج معالجة اللغات الطبيعية (لتحليل المشاعر واستخراج التوجهات).</a:t>
            </a:r>
          </a:p>
          <a:p>
            <a:pPr>
              <a:lnSpc>
                <a:spcPct val="150000"/>
              </a:lnSpc>
            </a:pPr>
            <a:r>
              <a:rPr lang="ar-SA" b="1" dirty="0"/>
              <a:t>بيئة العمل الجماعي (</a:t>
            </a:r>
            <a:r>
              <a:rPr lang="en-US" b="1" dirty="0"/>
              <a:t>Version Control</a:t>
            </a:r>
            <a:r>
              <a:rPr lang="ar-SA" b="1" dirty="0"/>
              <a:t>): </a:t>
            </a:r>
            <a:r>
              <a:rPr lang="ar-SA" dirty="0"/>
              <a:t>استخدام </a:t>
            </a:r>
            <a:r>
              <a:rPr lang="en-US" b="1" dirty="0"/>
              <a:t>GitHub</a:t>
            </a:r>
            <a:r>
              <a:rPr lang="ar-SA" dirty="0"/>
              <a:t> لإدارة الأكواد وتنظيم العمل المشترك بين أعضاء الفريق.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ar-SA" dirty="0"/>
          </a:p>
        </p:txBody>
      </p:sp>
      <p:graphicFrame>
        <p:nvGraphicFramePr>
          <p:cNvPr id="2" name="جدول 1">
            <a:extLst>
              <a:ext uri="{FF2B5EF4-FFF2-40B4-BE49-F238E27FC236}">
                <a16:creationId xmlns:a16="http://schemas.microsoft.com/office/drawing/2014/main" id="{5BD70ED0-19DD-4D96-8DEF-CDAFF24FDA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2978139"/>
              </p:ext>
            </p:extLst>
          </p:nvPr>
        </p:nvGraphicFramePr>
        <p:xfrm>
          <a:off x="1847461" y="93306"/>
          <a:ext cx="9079983" cy="3278981"/>
        </p:xfrm>
        <a:graphic>
          <a:graphicData uri="http://schemas.openxmlformats.org/drawingml/2006/table">
            <a:tbl>
              <a:tblPr rtl="1" firstRow="1" firstCol="1" bandRow="1">
                <a:tableStyleId>{5C22544A-7EE6-4342-B048-85BDC9FD1C3A}</a:tableStyleId>
              </a:tblPr>
              <a:tblGrid>
                <a:gridCol w="1902771">
                  <a:extLst>
                    <a:ext uri="{9D8B030D-6E8A-4147-A177-3AD203B41FA5}">
                      <a16:colId xmlns:a16="http://schemas.microsoft.com/office/drawing/2014/main" val="1950653663"/>
                    </a:ext>
                  </a:extLst>
                </a:gridCol>
                <a:gridCol w="1888948">
                  <a:extLst>
                    <a:ext uri="{9D8B030D-6E8A-4147-A177-3AD203B41FA5}">
                      <a16:colId xmlns:a16="http://schemas.microsoft.com/office/drawing/2014/main" val="3310257874"/>
                    </a:ext>
                  </a:extLst>
                </a:gridCol>
                <a:gridCol w="2127989">
                  <a:extLst>
                    <a:ext uri="{9D8B030D-6E8A-4147-A177-3AD203B41FA5}">
                      <a16:colId xmlns:a16="http://schemas.microsoft.com/office/drawing/2014/main" val="1449973089"/>
                    </a:ext>
                  </a:extLst>
                </a:gridCol>
                <a:gridCol w="3160275">
                  <a:extLst>
                    <a:ext uri="{9D8B030D-6E8A-4147-A177-3AD203B41FA5}">
                      <a16:colId xmlns:a16="http://schemas.microsoft.com/office/drawing/2014/main" val="3274840695"/>
                    </a:ext>
                  </a:extLst>
                </a:gridCol>
              </a:tblGrid>
              <a:tr h="529490"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>
                          <a:effectLst/>
                        </a:rPr>
                        <a:t>معيار المقارنة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>
                          <a:effectLst/>
                        </a:rPr>
                        <a:t>نماذج جوجل</a:t>
                      </a:r>
                      <a:r>
                        <a:rPr lang="en-US" sz="1400" kern="100">
                          <a:effectLst/>
                        </a:rPr>
                        <a:t> (Google Forms)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منصة </a:t>
                      </a:r>
                      <a:r>
                        <a:rPr lang="ar-SA" sz="1400" kern="100" dirty="0" err="1">
                          <a:effectLst/>
                        </a:rPr>
                        <a:t>سيرفي</a:t>
                      </a:r>
                      <a:r>
                        <a:rPr lang="ar-SA" sz="1400" kern="100" dirty="0">
                          <a:effectLst/>
                        </a:rPr>
                        <a:t> </a:t>
                      </a:r>
                      <a:r>
                        <a:rPr lang="ar-SA" sz="1400" kern="100" dirty="0" err="1">
                          <a:effectLst/>
                        </a:rPr>
                        <a:t>مونكي</a:t>
                      </a:r>
                      <a:r>
                        <a:rPr lang="en-US" sz="1400" kern="100" dirty="0">
                          <a:effectLst/>
                        </a:rPr>
                        <a:t> (SurveyMonkey)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المنصة المقترحة (منصة استبيانات الآراء الذكية)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51723467"/>
                  </a:ext>
                </a:extLst>
              </a:tr>
              <a:tr h="542467"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آلية الوصول للجمهور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نشر يدوي للرابط (عينة عشوائية)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مدفوعة الثمن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>
                          <a:effectLst/>
                        </a:rPr>
                        <a:t>استهداف ذكي ومجاني بناءً على ملفات المستخدمين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77327789"/>
                  </a:ext>
                </a:extLst>
              </a:tr>
              <a:tr h="584585"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>
                          <a:effectLst/>
                        </a:rPr>
                        <a:t>أتمتة تحليل النصوص</a:t>
                      </a:r>
                      <a:r>
                        <a:rPr lang="en-US" sz="1400" kern="100">
                          <a:effectLst/>
                        </a:rPr>
                        <a:t> (AI)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غير متوفرة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متوفرة في الخطط المدفوعة المتقدمة فقط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>
                          <a:effectLst/>
                        </a:rPr>
                        <a:t>مدمجة أساسياً لتحليل المشاعر واستخراج الكلمات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26195494"/>
                  </a:ext>
                </a:extLst>
              </a:tr>
              <a:tr h="540813">
                <a:tc>
                  <a:txBody>
                    <a:bodyPr/>
                    <a:lstStyle/>
                    <a:p>
                      <a:pPr indent="457200" algn="l" rtl="0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بيئة ثنائية الأطراف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لا (منصة من طرف واحد)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لا (منصة من طرف واحد)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>
                          <a:effectLst/>
                        </a:rPr>
                        <a:t>نعم (تجمع مقدم الخدمة والمجيب في نفس البيئة)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13788431"/>
                  </a:ext>
                </a:extLst>
              </a:tr>
              <a:tr h="540813"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>
                          <a:effectLst/>
                        </a:rPr>
                        <a:t>التحقق من ديموغرافية المجيب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معدوم (إلا إذا سُأل يدوياً)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>
                          <a:effectLst/>
                        </a:rPr>
                        <a:t>متوفر بشروط مسبقة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>
                          <a:effectLst/>
                        </a:rPr>
                        <a:t>دقيق وآلي عبر بيانات الملف الشخصي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81537844"/>
                  </a:ext>
                </a:extLst>
              </a:tr>
              <a:tr h="540813"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>
                          <a:effectLst/>
                        </a:rPr>
                        <a:t>لوحات التحكم</a:t>
                      </a:r>
                      <a:r>
                        <a:rPr lang="en-US" sz="1400" kern="100">
                          <a:effectLst/>
                        </a:rPr>
                        <a:t> (Dashboards)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>
                          <a:effectLst/>
                        </a:rPr>
                        <a:t>أساسية جداً للأسئلة المغلقة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>
                          <a:effectLst/>
                        </a:rPr>
                        <a:t>متقدمة واحترافية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دقيق وآلي عبر بيانات الملف الشخصي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21866674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5C8CD114-3F11-4178-619F-7DA26E5A59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8366" y="3372288"/>
            <a:ext cx="3615267" cy="3692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101568" rIns="91440" bIns="50784" numCol="1" anchor="ctr" anchorCtr="0" compatLnSpc="1">
            <a:prstTxWarp prst="textNoShape">
              <a:avLst/>
            </a:prstTxWarp>
            <a:spAutoFit/>
          </a:bodyPr>
          <a:lstStyle>
            <a:lvl1pPr indent="457200" algn="l" rtl="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algn="l" rtl="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algn="l" rtl="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algn="l" rtl="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algn="l" rtl="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457200" algn="l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ar-SA" altLang="ar-SA" sz="1400" b="0" i="0" u="none" strike="noStrike" cap="none" normalizeH="0" baseline="0" dirty="0" bmk="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جدول: مقارنة بين المنصة المقترحة والأنظمة الحالية</a:t>
            </a:r>
            <a:endParaRPr kumimoji="0" lang="en-US" altLang="ar-SA" sz="1400" b="0" i="0" u="none" strike="noStrike" cap="none" normalizeH="0" baseline="0" dirty="0">
              <a:ln>
                <a:noFill/>
              </a:ln>
              <a:solidFill>
                <a:srgbClr val="2F5496"/>
              </a:solidFill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18053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6B91AAB6-8E48-1559-583A-D5828114BF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290" y="112450"/>
            <a:ext cx="11905861" cy="6605592"/>
          </a:xfrm>
          <a:prstGeom prst="rect">
            <a:avLst/>
          </a:prstGeom>
          <a:ln w="889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307659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مربع نص 2">
            <a:extLst>
              <a:ext uri="{FF2B5EF4-FFF2-40B4-BE49-F238E27FC236}">
                <a16:creationId xmlns:a16="http://schemas.microsoft.com/office/drawing/2014/main" id="{5FD39E78-D41F-8236-E1E0-A3D88CC477E0}"/>
              </a:ext>
            </a:extLst>
          </p:cNvPr>
          <p:cNvSpPr txBox="1"/>
          <p:nvPr/>
        </p:nvSpPr>
        <p:spPr>
          <a:xfrm>
            <a:off x="502299" y="0"/>
            <a:ext cx="11467321" cy="62820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ar-SA" sz="1500" b="1" dirty="0">
                <a:solidFill>
                  <a:schemeClr val="accent1"/>
                </a:solidFill>
              </a:rPr>
              <a:t>المتطلبات الوظيفية</a:t>
            </a:r>
          </a:p>
          <a:p>
            <a:pPr>
              <a:lnSpc>
                <a:spcPct val="150000"/>
              </a:lnSpc>
            </a:pPr>
            <a:r>
              <a:rPr lang="ar-SA" sz="1500" b="1" dirty="0"/>
              <a:t>1. وحدة إدارة الحسابات والمصادقة (</a:t>
            </a:r>
            <a:r>
              <a:rPr lang="en-US" sz="1500" b="1" dirty="0"/>
              <a:t>Authentication &amp; User Management)</a:t>
            </a:r>
            <a:endParaRPr lang="en-US" sz="1500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500" dirty="0"/>
              <a:t>يجب أن يتيح النظام إنشاء حسابات جديدة بتحديد نوع المستخدم (مقدم خدمة/باحث أو مُجيب).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500" dirty="0"/>
              <a:t>يجب أن يوفر النظام آلية لتسجيل الدخول الآمن واستعادة كلمة المرور.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500" dirty="0"/>
              <a:t>يجب أن يسمح النظام للمُجيبين بإدخال وتحديث بياناتهم الديموغرافية (العمر، الجنس، الموقع، الاهتمامات) في ملفاتهم الشخصية.</a:t>
            </a:r>
          </a:p>
          <a:p>
            <a:pPr>
              <a:lnSpc>
                <a:spcPct val="150000"/>
              </a:lnSpc>
            </a:pPr>
            <a:r>
              <a:rPr lang="ar-SA" sz="1500" b="1" dirty="0"/>
              <a:t>2. وحدة إدارة الاستبيانات (</a:t>
            </a:r>
            <a:r>
              <a:rPr lang="en-US" sz="1500" b="1" dirty="0"/>
              <a:t> - Survey Management </a:t>
            </a:r>
            <a:r>
              <a:rPr lang="ar-SA" sz="1500" b="1" dirty="0"/>
              <a:t>لمقدم الخدمة)</a:t>
            </a:r>
            <a:endParaRPr lang="ar-SA" sz="1500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500" dirty="0"/>
              <a:t>يجب أن يمكن النظام مقدم الخدمة من إنشاء استبيان جديد وإضافة أسئلة متنوعة (نصية مفتوحة، خيارات متعددة).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500" dirty="0"/>
              <a:t>يجب أن يتيح النظام لمقدم الخدمة تحديد "شروط الاستهداف" (</a:t>
            </a:r>
            <a:r>
              <a:rPr lang="en-US" sz="1500" dirty="0"/>
              <a:t>Targeting Criteria) </a:t>
            </a:r>
            <a:r>
              <a:rPr lang="ar-SA" sz="1500" dirty="0"/>
              <a:t>لكل استبيان بناءً على البيانات الديموغرافية.</a:t>
            </a:r>
          </a:p>
          <a:p>
            <a:pPr>
              <a:lnSpc>
                <a:spcPct val="150000"/>
              </a:lnSpc>
            </a:pPr>
            <a:r>
              <a:rPr lang="ar-SA" sz="1500" b="1" dirty="0"/>
              <a:t>3. وحدة محرك المطابقة (</a:t>
            </a:r>
            <a:r>
              <a:rPr lang="en-US" sz="1500" b="1" dirty="0"/>
              <a:t> - Targeting Engine </a:t>
            </a:r>
            <a:r>
              <a:rPr lang="ar-SA" sz="1500" b="1" dirty="0"/>
              <a:t>النظام الأساسي)</a:t>
            </a:r>
            <a:endParaRPr lang="ar-SA" sz="1500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500" dirty="0"/>
              <a:t>يجب أن يقوم النظام بمطابقة شروط الاستبيان مع قاعدة بيانات المُجيبين بشكل تلقائي.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500" dirty="0"/>
              <a:t>يجب أن يعرض النظام الاستبيانات المتاحة فقط للمُجيبين الذين تتطابق بياناتهم مع شروط الاستهداف.</a:t>
            </a:r>
          </a:p>
          <a:p>
            <a:pPr>
              <a:lnSpc>
                <a:spcPct val="150000"/>
              </a:lnSpc>
            </a:pPr>
            <a:r>
              <a:rPr lang="ar-SA" sz="1500" b="1" dirty="0"/>
              <a:t>4. وحدة الإجابات والذكاء الاصطناعي (</a:t>
            </a:r>
            <a:r>
              <a:rPr lang="en-US" sz="1500" b="1" dirty="0"/>
              <a:t>Responses &amp; AI Integration</a:t>
            </a:r>
            <a:r>
              <a:rPr lang="ar-SA" sz="1500" b="1" dirty="0"/>
              <a:t>)</a:t>
            </a:r>
            <a:endParaRPr lang="en-US" sz="1500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500" dirty="0"/>
              <a:t>يجب أن يتيح النظام للمُجيبين إرسال إجاباتهم وحفظها في قاعدة البيانات.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500" dirty="0"/>
              <a:t>يجب أن يقوم النظام بتمرير الإجابات النصية المفتوحة إلى نموذج معالجة اللغات الطبيعية </a:t>
            </a:r>
            <a:r>
              <a:rPr lang="en-US" sz="1500" dirty="0"/>
              <a:t>.(NLP)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500" dirty="0"/>
              <a:t>يجب أن يصنف النظام الإجابات النصية تلقائياً إلى مشاعر (إيجابية، سلبية، محايدة).</a:t>
            </a:r>
          </a:p>
          <a:p>
            <a:pPr>
              <a:lnSpc>
                <a:spcPct val="150000"/>
              </a:lnSpc>
            </a:pPr>
            <a:r>
              <a:rPr lang="ar-SA" sz="1500" b="1" dirty="0"/>
              <a:t>5. وحدة التقارير ولوحات التحكم (</a:t>
            </a:r>
            <a:r>
              <a:rPr lang="en-US" sz="1500" b="1" dirty="0"/>
              <a:t>(Dashboards &amp; Reporting</a:t>
            </a:r>
            <a:endParaRPr lang="en-US" sz="1500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500" dirty="0"/>
              <a:t>يجب أن يوفر النظام لوحة تحكم لمقدم الخدمة تعرض إحصائيات حية لعدد المجيبين.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500" dirty="0"/>
              <a:t>يجب أن يعرض النظام نتائج تحليل المشاعر (الذكاء الاصطناعي) على شكل رسوم بيانية تفاعلية.</a:t>
            </a:r>
          </a:p>
        </p:txBody>
      </p:sp>
    </p:spTree>
    <p:extLst>
      <p:ext uri="{BB962C8B-B14F-4D97-AF65-F5344CB8AC3E}">
        <p14:creationId xmlns:p14="http://schemas.microsoft.com/office/powerpoint/2010/main" val="24844572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مربع نص 3">
            <a:extLst>
              <a:ext uri="{FF2B5EF4-FFF2-40B4-BE49-F238E27FC236}">
                <a16:creationId xmlns:a16="http://schemas.microsoft.com/office/drawing/2014/main" id="{94FE766C-8414-B6D3-12B6-103F4AC3BA32}"/>
              </a:ext>
            </a:extLst>
          </p:cNvPr>
          <p:cNvSpPr txBox="1"/>
          <p:nvPr/>
        </p:nvSpPr>
        <p:spPr>
          <a:xfrm>
            <a:off x="342122" y="0"/>
            <a:ext cx="11849878" cy="5909823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>
              <a:lnSpc>
                <a:spcPct val="150000"/>
              </a:lnSpc>
            </a:pPr>
            <a:r>
              <a:rPr lang="ar-SA" sz="2000" b="1" dirty="0">
                <a:solidFill>
                  <a:schemeClr val="accent1"/>
                </a:solidFill>
              </a:rPr>
              <a:t>المتطلبات غير وظيفية</a:t>
            </a:r>
          </a:p>
          <a:p>
            <a:pPr>
              <a:lnSpc>
                <a:spcPct val="150000"/>
              </a:lnSpc>
            </a:pPr>
            <a:r>
              <a:rPr lang="ar-SA" b="1" dirty="0"/>
              <a:t>1.  الأداء والسرعة (</a:t>
            </a:r>
            <a:r>
              <a:rPr lang="en-US" b="1" dirty="0"/>
              <a:t>(Performance</a:t>
            </a:r>
            <a:endParaRPr lang="en-US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600" dirty="0"/>
              <a:t>يجب ألا يتجاوز زمن استجابة النظام لتمرير الإجابات لنموذج الذكاء الاصطناعي (</a:t>
            </a:r>
            <a:r>
              <a:rPr lang="en-US" sz="1600" dirty="0"/>
              <a:t> (NLP</a:t>
            </a:r>
            <a:r>
              <a:rPr lang="ar-SA" sz="1600" dirty="0"/>
              <a:t>وتحليلها 3 إلى 5 ثوانٍ.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600" dirty="0"/>
              <a:t>يجب تحميل صفحات الواجهة الأمامية بسرعة لضمان عدم ملل المستخدم أثناء الإجابة.</a:t>
            </a:r>
          </a:p>
          <a:p>
            <a:pPr>
              <a:lnSpc>
                <a:spcPct val="150000"/>
              </a:lnSpc>
            </a:pPr>
            <a:r>
              <a:rPr lang="ar-SA" b="1" dirty="0"/>
              <a:t>2. الدقة (</a:t>
            </a:r>
            <a:r>
              <a:rPr lang="en-US" b="1" dirty="0"/>
              <a:t>Accuracy</a:t>
            </a:r>
            <a:r>
              <a:rPr lang="ar-SA" b="1" dirty="0"/>
              <a:t>)</a:t>
            </a:r>
            <a:endParaRPr lang="en-US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600" dirty="0"/>
              <a:t>يجب أن يحقق نموذج معالجة اللغات الطبيعية دقة تتراوح بين 75% إلى 80% في تصنيف المشاعر (إيجابي، سلبي، محايد) بشكل صحيح.</a:t>
            </a:r>
          </a:p>
          <a:p>
            <a:pPr>
              <a:lnSpc>
                <a:spcPct val="150000"/>
              </a:lnSpc>
            </a:pPr>
            <a:r>
              <a:rPr lang="ar-SA" b="1" dirty="0"/>
              <a:t>3. الأمان والخصوصية </a:t>
            </a:r>
            <a:r>
              <a:rPr lang="en-US" b="1" dirty="0"/>
              <a:t>(Security &amp; Privacy)</a:t>
            </a:r>
            <a:endParaRPr lang="en-US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600" dirty="0"/>
              <a:t>يجب تشفير كلمات مرور المستخدمين في قاعدة البيانات ولا تُحفظ كنصوص مكشوفة (</a:t>
            </a:r>
            <a:r>
              <a:rPr lang="en-US" sz="1600" dirty="0"/>
              <a:t>(Hashing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600" dirty="0"/>
              <a:t>يجب حماية البيانات الديموغرافية للمجيبين ومنع الوصول غير المصرح به إليها، وحماية النظام من ثغرات الحقن (</a:t>
            </a:r>
            <a:r>
              <a:rPr lang="en-US" sz="1600" dirty="0"/>
              <a:t>(SQL Injection</a:t>
            </a:r>
          </a:p>
          <a:p>
            <a:pPr>
              <a:lnSpc>
                <a:spcPct val="150000"/>
              </a:lnSpc>
            </a:pPr>
            <a:r>
              <a:rPr lang="en-US" b="1" dirty="0"/>
              <a:t> </a:t>
            </a:r>
            <a:r>
              <a:rPr lang="ar-SA" b="1" dirty="0"/>
              <a:t>4</a:t>
            </a:r>
            <a:r>
              <a:rPr lang="en-US" b="1" dirty="0"/>
              <a:t>.</a:t>
            </a:r>
            <a:r>
              <a:rPr lang="ar-SA" b="1" dirty="0"/>
              <a:t>  قابلية الاستخدام (</a:t>
            </a:r>
            <a:r>
              <a:rPr lang="en-US" b="1" dirty="0"/>
              <a:t>Usability</a:t>
            </a:r>
            <a:r>
              <a:rPr lang="ar-SA" b="1" dirty="0"/>
              <a:t>)</a:t>
            </a:r>
            <a:endParaRPr lang="en-US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600" dirty="0"/>
              <a:t>يجب أن تكون واجهات المنصة متجاوبة (</a:t>
            </a:r>
            <a:r>
              <a:rPr lang="en-US" sz="1600" dirty="0"/>
              <a:t>Responsive</a:t>
            </a:r>
            <a:r>
              <a:rPr lang="ar-SA" sz="1600" dirty="0"/>
              <a:t>) وتعمل بكفاءة على شاشات الحواسيب والهواتف المحمولة.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600" dirty="0"/>
              <a:t>يجب أن يكون مسار المستخدم بديهياً لتمكين الشركة أو الباحث من تصميم ونشر استبيان بخطوات واضحة وبسيطة.</a:t>
            </a:r>
          </a:p>
          <a:p>
            <a:pPr>
              <a:lnSpc>
                <a:spcPct val="150000"/>
              </a:lnSpc>
            </a:pPr>
            <a:r>
              <a:rPr lang="ar-SA" b="1" dirty="0"/>
              <a:t>5. التوافرية وقابلية التوسع (</a:t>
            </a:r>
            <a:r>
              <a:rPr lang="en-US" b="1" dirty="0"/>
              <a:t>Availability &amp; Scalability</a:t>
            </a:r>
            <a:r>
              <a:rPr lang="ar-SA" b="1" dirty="0"/>
              <a:t>)</a:t>
            </a:r>
            <a:endParaRPr lang="en-US" b="1" dirty="0"/>
          </a:p>
          <a:p>
            <a:pPr>
              <a:lnSpc>
                <a:spcPct val="150000"/>
              </a:lnSpc>
            </a:pPr>
            <a:r>
              <a:rPr lang="ar-SA" sz="1600" dirty="0"/>
              <a:t>يجب أن يتحمل النظام دخول عدد محدد من المستخدمين (مثلاً 50 مستخدماً) في نفس الوقت للإجابة على استبيان واحد دون تعطل الخادم (وهو رقم واقعي لاختبار مشروع جامعي).</a:t>
            </a:r>
          </a:p>
          <a:p>
            <a:pPr>
              <a:lnSpc>
                <a:spcPct val="150000"/>
              </a:lnSpc>
            </a:pPr>
            <a:endParaRPr lang="ar-SA" sz="1600" dirty="0"/>
          </a:p>
        </p:txBody>
      </p:sp>
    </p:spTree>
    <p:extLst>
      <p:ext uri="{BB962C8B-B14F-4D97-AF65-F5344CB8AC3E}">
        <p14:creationId xmlns:p14="http://schemas.microsoft.com/office/powerpoint/2010/main" val="26626155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77396CD-93E4-6723-EC5E-95EAED088D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05220" y="761522"/>
            <a:ext cx="9213973" cy="12875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ar-SA" altLang="ar-SA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مقدم الخدمة / الباحث (Survey Creator):</a:t>
            </a:r>
            <a:r>
              <a:rPr lang="ar-SA" altLang="ar-SA" dirty="0">
                <a:latin typeface="Arial" panose="020B0604020202020204" pitchFamily="34" charset="0"/>
              </a:rPr>
              <a:t> </a:t>
            </a:r>
            <a:r>
              <a:rPr kumimoji="0" lang="ar-SA" altLang="ar-SA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الجهة المستفيدة من المنصة لجمع البيانات.</a:t>
            </a:r>
            <a:endParaRPr kumimoji="0" lang="ar-SA" altLang="ar-S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ar-SA" altLang="ar-SA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المستخدم المُجيب (Respondent): </a:t>
            </a:r>
            <a:r>
              <a:rPr kumimoji="0" lang="ar-SA" altLang="ar-SA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الفرد المستهدف للإجابة على الاستبيانات.</a:t>
            </a:r>
            <a:endParaRPr kumimoji="0" lang="ar-SA" altLang="ar-S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ar-SA" altLang="ar-SA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مدير النظام (System Administrator):</a:t>
            </a:r>
            <a:r>
              <a:rPr lang="ar-SA" altLang="ar-SA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ar-SA" altLang="ar-SA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المشرف التقني على المنصة.</a:t>
            </a:r>
            <a:endParaRPr kumimoji="0" lang="ar-SA" altLang="ar-S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مربع نص 2">
            <a:extLst>
              <a:ext uri="{FF2B5EF4-FFF2-40B4-BE49-F238E27FC236}">
                <a16:creationId xmlns:a16="http://schemas.microsoft.com/office/drawing/2014/main" id="{2015423A-1BA5-AA35-708F-4B3914C45213}"/>
              </a:ext>
            </a:extLst>
          </p:cNvPr>
          <p:cNvSpPr txBox="1"/>
          <p:nvPr/>
        </p:nvSpPr>
        <p:spPr>
          <a:xfrm>
            <a:off x="9038252" y="156517"/>
            <a:ext cx="3013788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en-US" sz="3200" b="1" dirty="0">
                <a:solidFill>
                  <a:schemeClr val="accent1"/>
                </a:solidFill>
              </a:rPr>
              <a:t>Actors</a:t>
            </a:r>
            <a:endParaRPr lang="ar-SA" b="1" dirty="0">
              <a:solidFill>
                <a:schemeClr val="accent1"/>
              </a:solidFill>
            </a:endParaRPr>
          </a:p>
        </p:txBody>
      </p:sp>
      <p:sp>
        <p:nvSpPr>
          <p:cNvPr id="7" name="مربع نص 6">
            <a:extLst>
              <a:ext uri="{FF2B5EF4-FFF2-40B4-BE49-F238E27FC236}">
                <a16:creationId xmlns:a16="http://schemas.microsoft.com/office/drawing/2014/main" id="{73906974-904E-BDCD-A93D-E3B9C0E1FF56}"/>
              </a:ext>
            </a:extLst>
          </p:cNvPr>
          <p:cNvSpPr txBox="1"/>
          <p:nvPr/>
        </p:nvSpPr>
        <p:spPr>
          <a:xfrm>
            <a:off x="7785619" y="3255526"/>
            <a:ext cx="3533574" cy="3365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ar-SA" b="1" dirty="0"/>
              <a:t>مقدم الخدمة (الشركة / الباحث):</a:t>
            </a:r>
            <a:endParaRPr lang="ar-SA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إنشاء حساب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إدارة الاستبيانات (تشمل الإنشاء والتعديل)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تحديد شروط الاستهداف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استعراض نتائج تحليل المشاعر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تسجيل الدخول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 تسجيل الخروج</a:t>
            </a:r>
          </a:p>
          <a:p>
            <a:pPr>
              <a:lnSpc>
                <a:spcPct val="150000"/>
              </a:lnSpc>
            </a:pPr>
            <a:endParaRPr lang="ar-SA" dirty="0"/>
          </a:p>
        </p:txBody>
      </p:sp>
      <p:sp>
        <p:nvSpPr>
          <p:cNvPr id="9" name="مربع نص 8">
            <a:extLst>
              <a:ext uri="{FF2B5EF4-FFF2-40B4-BE49-F238E27FC236}">
                <a16:creationId xmlns:a16="http://schemas.microsoft.com/office/drawing/2014/main" id="{EFCD7154-06EF-7EF3-D731-6FB4A357D155}"/>
              </a:ext>
            </a:extLst>
          </p:cNvPr>
          <p:cNvSpPr txBox="1"/>
          <p:nvPr/>
        </p:nvSpPr>
        <p:spPr>
          <a:xfrm>
            <a:off x="3890865" y="2606335"/>
            <a:ext cx="74283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SA" sz="2400" b="1" dirty="0">
                <a:solidFill>
                  <a:schemeClr val="accent1"/>
                </a:solidFill>
              </a:rPr>
              <a:t>حالات الاستخدام حسب الفاعلين (</a:t>
            </a:r>
            <a:r>
              <a:rPr lang="en-US" sz="2400" b="1" dirty="0">
                <a:solidFill>
                  <a:schemeClr val="accent1"/>
                </a:solidFill>
              </a:rPr>
              <a:t>(Use Cases by Actors</a:t>
            </a:r>
            <a:endParaRPr lang="ar-SA" sz="2400" b="1" dirty="0">
              <a:solidFill>
                <a:schemeClr val="accent1"/>
              </a:solidFill>
            </a:endParaRPr>
          </a:p>
        </p:txBody>
      </p:sp>
      <p:sp>
        <p:nvSpPr>
          <p:cNvPr id="11" name="مربع نص 10">
            <a:extLst>
              <a:ext uri="{FF2B5EF4-FFF2-40B4-BE49-F238E27FC236}">
                <a16:creationId xmlns:a16="http://schemas.microsoft.com/office/drawing/2014/main" id="{CE8152E0-698A-86B7-7B47-C9999DE2B867}"/>
              </a:ext>
            </a:extLst>
          </p:cNvPr>
          <p:cNvSpPr txBox="1"/>
          <p:nvPr/>
        </p:nvSpPr>
        <p:spPr>
          <a:xfrm>
            <a:off x="831009" y="3260620"/>
            <a:ext cx="3725246" cy="280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ar-SA" sz="2000" b="1" dirty="0"/>
              <a:t>المُجيب (المستخدم):</a:t>
            </a:r>
            <a:endParaRPr lang="ar-SA" sz="2000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2000" dirty="0"/>
              <a:t>إنشاء حساب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2000" dirty="0"/>
              <a:t>إدارة الملف الديموغرافي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2000" dirty="0"/>
              <a:t>الإجابة على الاستبيانات المطابقة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2000" dirty="0"/>
              <a:t>تسجيل الدخول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2000" dirty="0"/>
              <a:t> تسجيل الخروج</a:t>
            </a:r>
          </a:p>
        </p:txBody>
      </p:sp>
      <p:sp>
        <p:nvSpPr>
          <p:cNvPr id="14" name="مربع نص 13">
            <a:extLst>
              <a:ext uri="{FF2B5EF4-FFF2-40B4-BE49-F238E27FC236}">
                <a16:creationId xmlns:a16="http://schemas.microsoft.com/office/drawing/2014/main" id="{0DB0DE35-0EE9-AC75-31FC-364187A3F4C7}"/>
              </a:ext>
            </a:extLst>
          </p:cNvPr>
          <p:cNvSpPr txBox="1"/>
          <p:nvPr/>
        </p:nvSpPr>
        <p:spPr>
          <a:xfrm>
            <a:off x="5221639" y="3260620"/>
            <a:ext cx="2514215" cy="2343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ar-SA" sz="2000" b="1" dirty="0"/>
              <a:t>مدير النظام (</a:t>
            </a:r>
            <a:r>
              <a:rPr lang="en-US" sz="2000" b="1" dirty="0"/>
              <a:t>(Admin</a:t>
            </a:r>
            <a:endParaRPr lang="en-US" sz="2000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2000" dirty="0"/>
              <a:t>إدارة الحسابات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2000" dirty="0"/>
              <a:t>استخراج تقارير الأداء العام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2000" dirty="0"/>
              <a:t>تسجيل الدخول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2000" dirty="0"/>
              <a:t> تسجيل الخروج</a:t>
            </a:r>
          </a:p>
        </p:txBody>
      </p:sp>
    </p:spTree>
    <p:extLst>
      <p:ext uri="{BB962C8B-B14F-4D97-AF65-F5344CB8AC3E}">
        <p14:creationId xmlns:p14="http://schemas.microsoft.com/office/powerpoint/2010/main" val="2441737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8DD57BF0-A466-1E14-8F00-579B0A9C3D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0261" y="0"/>
            <a:ext cx="10245011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8364110"/>
      </p:ext>
    </p:extLst>
  </p:cSld>
  <p:clrMapOvr>
    <a:masterClrMapping/>
  </p:clrMapOvr>
</p:sld>
</file>

<file path=ppt/theme/theme1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531</TotalTime>
  <Words>1432</Words>
  <Application>Microsoft Office PowerPoint</Application>
  <PresentationFormat>شاشة عريضة</PresentationFormat>
  <Paragraphs>126</Paragraphs>
  <Slides>10</Slides>
  <Notes>0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7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10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Calibri Light</vt:lpstr>
      <vt:lpstr>Simplified Arabic</vt:lpstr>
      <vt:lpstr>Times New Roman</vt:lpstr>
      <vt:lpstr>نسق Office</vt:lpstr>
      <vt:lpstr>Smart Opinion Survey Platform منصة استبيانات الآراء الذكية   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YAMAN BASAM</dc:creator>
  <cp:lastModifiedBy>YAMAN BASAM</cp:lastModifiedBy>
  <cp:revision>5</cp:revision>
  <dcterms:created xsi:type="dcterms:W3CDTF">2026-03-06T14:39:01Z</dcterms:created>
  <dcterms:modified xsi:type="dcterms:W3CDTF">2026-03-07T18:24:45Z</dcterms:modified>
</cp:coreProperties>
</file>