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ar-SA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00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شريحة عنو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94F3E957-1C76-BB63-C202-BCF2E38887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وان فرعي 2">
            <a:extLst>
              <a:ext uri="{FF2B5EF4-FFF2-40B4-BE49-F238E27FC236}">
                <a16:creationId xmlns:a16="http://schemas.microsoft.com/office/drawing/2014/main" id="{5336A8E6-1093-E487-E0BF-3CC0FBF14C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/>
              <a:t>انقر لتحرير نمط العنوان الفرعي للشكل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03E4D22-04D9-0E5E-5C63-D129AD27F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FB88D1B4-9E5D-6395-5549-BE2D7FCAB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543EE8A5-13E4-F03F-A228-3E8CB2653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80459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عنوان ومحتو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2FA433B2-A226-F119-DAC1-8CD454226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94068328-1686-6FE4-6032-D4A56D6E4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A077FAF-1589-8E4D-9F12-8FDD9B0FE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9C583B27-95F5-2B58-FF3C-75D66DF0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15BE3BBC-A668-A53E-9591-E9A3FF981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21468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عنوان المقط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8B28B023-0246-D85F-7258-50A88E6FE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9E55503F-B3F9-3BD3-2595-1F140CFE1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2695CBD-DFC8-35CA-4D77-284D80986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A1900813-C161-D8F2-1719-F0C065ABA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FFC24FEE-16B9-23D5-5634-188678AC2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38023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محتو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FA0A96E1-4883-00EC-56A5-D2AE5713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B5034E36-CFED-19CC-9762-1440B4E26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16AABB04-9765-FB2E-E935-97185CF7C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F248EA6C-D421-1EB5-0D95-915EC64E8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F06F8FB0-31E8-62BA-E96F-D949DD124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A9139043-CA3C-1A2D-051B-DC5BD9EF8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78079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مقارن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0C295EF-27F3-DCEF-32E0-4C5F0EED2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20999BE-2B88-26DD-664D-468C356CF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43D51DFA-EF3F-A3A3-23BE-93F4D3CABF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5" name="عنصر نائب للنص 4">
            <a:extLst>
              <a:ext uri="{FF2B5EF4-FFF2-40B4-BE49-F238E27FC236}">
                <a16:creationId xmlns:a16="http://schemas.microsoft.com/office/drawing/2014/main" id="{38C5B6A6-D4C2-5160-0A1A-EF13FF1EFC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6" name="عنصر نائب للمحتوى 5">
            <a:extLst>
              <a:ext uri="{FF2B5EF4-FFF2-40B4-BE49-F238E27FC236}">
                <a16:creationId xmlns:a16="http://schemas.microsoft.com/office/drawing/2014/main" id="{C8A85D16-E389-D0B8-991D-7DAAF6B1CB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7" name="عنصر نائب للتاريخ 6">
            <a:extLst>
              <a:ext uri="{FF2B5EF4-FFF2-40B4-BE49-F238E27FC236}">
                <a16:creationId xmlns:a16="http://schemas.microsoft.com/office/drawing/2014/main" id="{A1CF1148-3766-B0F2-B7D4-59079AF37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8" name="عنصر نائب للتذييل 7">
            <a:extLst>
              <a:ext uri="{FF2B5EF4-FFF2-40B4-BE49-F238E27FC236}">
                <a16:creationId xmlns:a16="http://schemas.microsoft.com/office/drawing/2014/main" id="{9BFFADB6-4F56-625B-C7C9-F0886D524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عنصر نائب لرقم الشريحة 8">
            <a:extLst>
              <a:ext uri="{FF2B5EF4-FFF2-40B4-BE49-F238E27FC236}">
                <a16:creationId xmlns:a16="http://schemas.microsoft.com/office/drawing/2014/main" id="{50F17430-22F1-0700-525D-1C8B3EF8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827386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عنوان فق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337901A0-D1FB-5222-FF68-96CE63242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تاريخ 2">
            <a:extLst>
              <a:ext uri="{FF2B5EF4-FFF2-40B4-BE49-F238E27FC236}">
                <a16:creationId xmlns:a16="http://schemas.microsoft.com/office/drawing/2014/main" id="{265C04BC-6BC6-A2C8-95E7-61008A7D0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4" name="عنصر نائب للتذييل 3">
            <a:extLst>
              <a:ext uri="{FF2B5EF4-FFF2-40B4-BE49-F238E27FC236}">
                <a16:creationId xmlns:a16="http://schemas.microsoft.com/office/drawing/2014/main" id="{4E5F52C9-E04B-F2A4-3FB4-D030F5F5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عنصر نائب لرقم الشريحة 4">
            <a:extLst>
              <a:ext uri="{FF2B5EF4-FFF2-40B4-BE49-F238E27FC236}">
                <a16:creationId xmlns:a16="http://schemas.microsoft.com/office/drawing/2014/main" id="{79832D75-9CAF-1A4A-A573-97F4FDEC7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6422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فار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تاريخ 1">
            <a:extLst>
              <a:ext uri="{FF2B5EF4-FFF2-40B4-BE49-F238E27FC236}">
                <a16:creationId xmlns:a16="http://schemas.microsoft.com/office/drawing/2014/main" id="{7B05531B-0D51-4845-D04C-230DFA54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3" name="عنصر نائب للتذييل 2">
            <a:extLst>
              <a:ext uri="{FF2B5EF4-FFF2-40B4-BE49-F238E27FC236}">
                <a16:creationId xmlns:a16="http://schemas.microsoft.com/office/drawing/2014/main" id="{934A2299-E4CE-0556-6BCA-ECE551E62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عنصر نائب لرقم الشريحة 3">
            <a:extLst>
              <a:ext uri="{FF2B5EF4-FFF2-40B4-BE49-F238E27FC236}">
                <a16:creationId xmlns:a16="http://schemas.microsoft.com/office/drawing/2014/main" id="{1A1791E1-3A9D-5BF4-50E6-737DF5B7D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53436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محتوى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DA2A992-CF3F-FAA7-11DD-11D1DD3EB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70AE71DE-143A-BC45-FE76-5F54D9234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C5D85B43-175E-750C-A36C-01A6074CED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21EC6905-39BD-5FAC-A929-B2E6EFF86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164BA39F-8C75-0D80-7DD8-AABE70216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568381F1-B263-8D8C-C71F-044DA7A60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877631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صورة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AB1E241A-E4B1-0F4D-6F76-18AA4028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صورة 2">
            <a:extLst>
              <a:ext uri="{FF2B5EF4-FFF2-40B4-BE49-F238E27FC236}">
                <a16:creationId xmlns:a16="http://schemas.microsoft.com/office/drawing/2014/main" id="{903AC795-CEA2-CF65-9A4C-40100CD76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8CF58445-FE9F-F88D-196B-31BC6B2BC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945B29FB-AA65-BC3A-B124-055165D9B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E8A1D51D-23F6-C834-AAD1-979A463E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CFE52BFD-B399-8A00-DA33-F9737A80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3013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عنوان ونص عمود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BBE52FAC-85A4-CEE8-0E1C-613CA1E2C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FBECCA8A-7CF2-CFA9-8108-F6162AE51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754E377-9D39-7AB5-8BCE-A64763D9E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27B8A41B-E122-ACDA-DE8C-C578F06D3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4E121FCF-4F3E-8F41-80C1-92ED0EA09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8613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عنوان ونص عمود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عمودي 1">
            <a:extLst>
              <a:ext uri="{FF2B5EF4-FFF2-40B4-BE49-F238E27FC236}">
                <a16:creationId xmlns:a16="http://schemas.microsoft.com/office/drawing/2014/main" id="{904E7B3E-F722-785E-6FD0-CE66C9E741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E0539051-7380-9AFA-823E-0ECC676F7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E21C35B-8792-2B4C-4872-71274B0D1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55F5DEBF-653E-4A08-47AE-87B5802B3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4E22D891-CE28-DADD-9024-FE2F38506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968522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عنوان 1">
            <a:extLst>
              <a:ext uri="{FF2B5EF4-FFF2-40B4-BE49-F238E27FC236}">
                <a16:creationId xmlns:a16="http://schemas.microsoft.com/office/drawing/2014/main" id="{B0F9F872-F359-F40A-96AC-DEC7C4E55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671C26D8-F5C6-BD67-5341-D680DDBC8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4ED1FE4-675E-44BC-13BA-FA6FA2B1C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052149F8-4E2D-4499-DF13-6D295FD7A9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A5C5E447-E496-DCB7-0786-DA22081D78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083183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797CECF-7ADF-2D94-EFCE-B95249009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716060"/>
            <a:ext cx="9144000" cy="2306637"/>
          </a:xfrm>
        </p:spPr>
        <p:txBody>
          <a:bodyPr>
            <a:normAutofit/>
          </a:bodyPr>
          <a:lstStyle/>
          <a:p>
            <a:pPr rtl="1">
              <a:lnSpc>
                <a:spcPct val="150000"/>
              </a:lnSpc>
              <a:spcAft>
                <a:spcPts val="800"/>
              </a:spcAft>
            </a:pPr>
            <a:r>
              <a:rPr lang="en-US" sz="3200" b="1" dirty="0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Smart Opinion </a:t>
            </a:r>
            <a:r>
              <a:rPr lang="en-US" sz="3200" b="1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Survey Platform</a:t>
            </a:r>
            <a:br>
              <a:rPr lang="en-US" sz="3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3200" b="1" dirty="0">
                <a:solidFill>
                  <a:srgbClr val="222A3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منصة استبيانات الآراء الذكية </a:t>
            </a:r>
            <a:br>
              <a:rPr lang="en-US" sz="3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en-US" sz="3200" b="1" dirty="0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 </a:t>
            </a:r>
            <a:endParaRPr lang="ar-SA" sz="8800" b="1" dirty="0"/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460B78EE-156F-C89C-4518-9C9BB60A84BC}"/>
              </a:ext>
            </a:extLst>
          </p:cNvPr>
          <p:cNvSpPr>
            <a:spLocks/>
          </p:cNvSpPr>
          <p:nvPr/>
        </p:nvSpPr>
        <p:spPr>
          <a:xfrm>
            <a:off x="1523999" y="2545991"/>
            <a:ext cx="9144001" cy="13039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noAutofit/>
          </a:bodyPr>
          <a:lstStyle/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8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إعداد الطلاب: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يمان بسام المطر   |  حسن عبد الرحمن يحيى  |   يوسف احمد الزعبي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F0AFB1FE-9D71-6A78-F94B-288E66A4F5B6}"/>
              </a:ext>
            </a:extLst>
          </p:cNvPr>
          <p:cNvSpPr>
            <a:spLocks/>
          </p:cNvSpPr>
          <p:nvPr/>
        </p:nvSpPr>
        <p:spPr>
          <a:xfrm>
            <a:off x="2325498" y="4338112"/>
            <a:ext cx="7541002" cy="20339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noAutofit/>
          </a:bodyPr>
          <a:lstStyle/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8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إشراف: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م. شادي بليدي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م. مايا الأحمد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606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ربع نص 3">
            <a:extLst>
              <a:ext uri="{FF2B5EF4-FFF2-40B4-BE49-F238E27FC236}">
                <a16:creationId xmlns:a16="http://schemas.microsoft.com/office/drawing/2014/main" id="{2C805033-01BB-B597-EB43-512C596003EC}"/>
              </a:ext>
            </a:extLst>
          </p:cNvPr>
          <p:cNvSpPr txBox="1"/>
          <p:nvPr/>
        </p:nvSpPr>
        <p:spPr>
          <a:xfrm>
            <a:off x="746448" y="74645"/>
            <a:ext cx="10314991" cy="281743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lnSpc>
                <a:spcPct val="150000"/>
              </a:lnSpc>
              <a:spcBef>
                <a:spcPts val="800"/>
              </a:spcBef>
              <a:spcAft>
                <a:spcPts val="400"/>
              </a:spcAft>
            </a:pPr>
            <a:r>
              <a:rPr lang="ar-SA" b="1" dirty="0">
                <a:solidFill>
                  <a:srgbClr val="2F5496"/>
                </a:solidFill>
                <a:effectLst/>
                <a:latin typeface="Simplified Arabic" panose="02020603050405020304" pitchFamily="18" charset="-78"/>
                <a:ea typeface="Times New Roman" panose="02020603050405020304" pitchFamily="18" charset="0"/>
              </a:rPr>
              <a:t>مقدمة عن المشروع</a:t>
            </a:r>
            <a:endParaRPr lang="en-US" b="1" dirty="0">
              <a:solidFill>
                <a:srgbClr val="2F5496"/>
              </a:solidFill>
              <a:effectLst/>
              <a:latin typeface="Simplified Arabic" panose="02020603050405020304" pitchFamily="18" charset="-78"/>
              <a:ea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أهمية التغذية الراجعة </a:t>
            </a:r>
            <a:r>
              <a:rPr lang="en-US" sz="1700" b="1" dirty="0">
                <a:latin typeface="Simplified Arabic" panose="02020603050405020304" pitchFamily="18" charset="-78"/>
              </a:rPr>
              <a:t>(Feedback)</a:t>
            </a:r>
            <a:r>
              <a:rPr lang="ar-SA" sz="1700" b="1" dirty="0">
                <a:latin typeface="Simplified Arabic" panose="02020603050405020304" pitchFamily="18" charset="-78"/>
              </a:rPr>
              <a:t>: </a:t>
            </a:r>
            <a:r>
              <a:rPr lang="ar-SA" sz="1700" dirty="0">
                <a:latin typeface="Simplified Arabic" panose="02020603050405020304" pitchFamily="18" charset="-78"/>
              </a:rPr>
              <a:t>في عصر التحول الرقمي، أصبحت آراء المستخدمين الفعليين هي الركيزة الأساسية لنجاح أي خدمة أو منتج.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نهاية عصر التخمين الإداري:</a:t>
            </a:r>
            <a:r>
              <a:rPr lang="ar-SA" sz="1700" dirty="0">
                <a:latin typeface="Simplified Arabic" panose="02020603050405020304" pitchFamily="18" charset="-78"/>
              </a:rPr>
              <a:t> القرارات الاستراتيجية والتطويرية الناجحة لم تعد تُبنى على التوقعات، بل تتطلب بيانات دقيقة تعكس احتياجات السوق الحقيقية.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الحاجة لابتكار أدوات ذكية:</a:t>
            </a:r>
            <a:r>
              <a:rPr lang="ar-SA" sz="1700" dirty="0">
                <a:latin typeface="Simplified Arabic" panose="02020603050405020304" pitchFamily="18" charset="-78"/>
              </a:rPr>
              <a:t> مع التطور المتسارع للذكاء الاصطناعي وتقنيات الويب، أصبح من الضروري تجاوز الطرق التقليدية لجمع وتحليل الآراء، لفهم تطلعات الجمهور بطريقة علمية وسريعة.</a:t>
            </a:r>
          </a:p>
          <a:p>
            <a:pPr>
              <a:lnSpc>
                <a:spcPct val="150000"/>
              </a:lnSpc>
            </a:pPr>
            <a:endParaRPr lang="ar-SA" sz="1400" dirty="0">
              <a:latin typeface="Simplified Arabic" panose="02020603050405020304" pitchFamily="18" charset="-78"/>
            </a:endParaRP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BBC53761-F6DE-9BD3-BC04-4637616D78F7}"/>
              </a:ext>
            </a:extLst>
          </p:cNvPr>
          <p:cNvSpPr txBox="1"/>
          <p:nvPr/>
        </p:nvSpPr>
        <p:spPr>
          <a:xfrm>
            <a:off x="1562877" y="2792739"/>
            <a:ext cx="9498562" cy="174919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مشكلة البحث</a:t>
            </a:r>
            <a:endParaRPr lang="ar-SA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الاعتماد على الروابط المفتوحة يسبب "عشوائية العينة" وجمع بيانات مشوهة.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اتخاذ قرارات استراتيجية خاطئة وهدر للموارد بسبب مشاركة أشخاص غير معنيين بالخدمة.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التحليل اليدوي للنصوص يستهلك وقتاً طويلاً ويكون عرضة للتحيز البشري.</a:t>
            </a:r>
          </a:p>
        </p:txBody>
      </p:sp>
      <p:sp>
        <p:nvSpPr>
          <p:cNvPr id="7" name="مربع نص 6">
            <a:extLst>
              <a:ext uri="{FF2B5EF4-FFF2-40B4-BE49-F238E27FC236}">
                <a16:creationId xmlns:a16="http://schemas.microsoft.com/office/drawing/2014/main" id="{74BBCADA-6067-E778-BE2F-0922FF31AD4B}"/>
              </a:ext>
            </a:extLst>
          </p:cNvPr>
          <p:cNvSpPr txBox="1"/>
          <p:nvPr/>
        </p:nvSpPr>
        <p:spPr>
          <a:xfrm>
            <a:off x="1254966" y="4687967"/>
            <a:ext cx="9806473" cy="1758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فكرة المشروع</a:t>
            </a:r>
            <a:endParaRPr lang="ar-SA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تطوير منصة استبيانات "ثنائية الأطراف" مزودة بمحرك استهداف ذكي.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فلترة مسبقة تضمن عرض الاستبيان حصراً للمطابقين للشروط الديموغرافية.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دمج تقنيات الذكاء الاصطناعي (</a:t>
            </a:r>
            <a:r>
              <a:rPr lang="en-US" dirty="0"/>
              <a:t>AI</a:t>
            </a:r>
            <a:r>
              <a:rPr lang="ar-SA" dirty="0"/>
              <a:t>) لتحليل الإجابات المفتوحة وتصنيف المشاعر آلياً.</a:t>
            </a:r>
          </a:p>
        </p:txBody>
      </p:sp>
    </p:spTree>
    <p:extLst>
      <p:ext uri="{BB962C8B-B14F-4D97-AF65-F5344CB8AC3E}">
        <p14:creationId xmlns:p14="http://schemas.microsoft.com/office/powerpoint/2010/main" val="1388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مربع نص 2">
            <a:extLst>
              <a:ext uri="{FF2B5EF4-FFF2-40B4-BE49-F238E27FC236}">
                <a16:creationId xmlns:a16="http://schemas.microsoft.com/office/drawing/2014/main" id="{BE6D38B9-69CF-A5A8-89D6-C7C802977493}"/>
              </a:ext>
            </a:extLst>
          </p:cNvPr>
          <p:cNvSpPr txBox="1"/>
          <p:nvPr/>
        </p:nvSpPr>
        <p:spPr>
          <a:xfrm>
            <a:off x="483636" y="85708"/>
            <a:ext cx="11224725" cy="22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50000"/>
              </a:lnSpc>
              <a:spcBef>
                <a:spcPts val="800"/>
              </a:spcBef>
              <a:spcAft>
                <a:spcPts val="400"/>
              </a:spcAft>
            </a:pPr>
            <a:r>
              <a:rPr lang="ar-SA" sz="2000" b="1" dirty="0">
                <a:solidFill>
                  <a:srgbClr val="2F5496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أهداف المشروع </a:t>
            </a:r>
            <a:endParaRPr lang="en-US" sz="2000" b="1" dirty="0">
              <a:solidFill>
                <a:srgbClr val="2F5496"/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بناء بيئة رقمية تربط مقدمي الخدمات بالمستخدمين الفعليين.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القضاء على العشوائية عبر محرك الاستهداف </a:t>
            </a:r>
            <a:r>
              <a:rPr lang="en-US" dirty="0"/>
              <a:t>.(Targeting Engine)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أتمتة تحليل النصوص </a:t>
            </a:r>
            <a:r>
              <a:rPr lang="en-US" dirty="0"/>
              <a:t> (NLP)</a:t>
            </a:r>
            <a:r>
              <a:rPr lang="ar-SA" dirty="0"/>
              <a:t>لاستخراج التوجهات العامة للجمهور.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توفير لوحات تحكم </a:t>
            </a:r>
            <a:r>
              <a:rPr lang="en-US" dirty="0"/>
              <a:t> (Dashboards) </a:t>
            </a:r>
            <a:r>
              <a:rPr lang="ar-SA" dirty="0"/>
              <a:t>تفاعلية لدعم اتخاذ القرارات.</a:t>
            </a:r>
          </a:p>
        </p:txBody>
      </p:sp>
      <p:sp>
        <p:nvSpPr>
          <p:cNvPr id="2" name="مربع نص 1">
            <a:extLst>
              <a:ext uri="{FF2B5EF4-FFF2-40B4-BE49-F238E27FC236}">
                <a16:creationId xmlns:a16="http://schemas.microsoft.com/office/drawing/2014/main" id="{F7F6FF3F-29D5-9A78-3217-E0B14D6F14C4}"/>
              </a:ext>
            </a:extLst>
          </p:cNvPr>
          <p:cNvSpPr txBox="1"/>
          <p:nvPr/>
        </p:nvSpPr>
        <p:spPr>
          <a:xfrm>
            <a:off x="483636" y="2286000"/>
            <a:ext cx="11224725" cy="2542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b="1" dirty="0">
                <a:solidFill>
                  <a:schemeClr val="accent1"/>
                </a:solidFill>
              </a:rPr>
              <a:t>نطاق المشروع</a:t>
            </a:r>
            <a:endParaRPr lang="en-US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الفئات المستهدفة:</a:t>
            </a:r>
            <a:r>
              <a:rPr lang="ar-SA" dirty="0"/>
              <a:t> يخدم النظام فئتين: "مقدمي الخدمات" (لإنشاء الاستبيانات الموجهة) و"المستخدمين المسجلين" بملفات تعريفية (كعينة دقيقة للإجابة).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النطاق الوظيفي:</a:t>
            </a:r>
            <a:r>
              <a:rPr lang="ar-SA" dirty="0"/>
              <a:t> يشمل إدارة الحسابات، أداة بناء الاستبيانات المفلترة، تحليل المشاعر عبر الذكاء الاصطناعي </a:t>
            </a:r>
            <a:r>
              <a:rPr lang="en-US" dirty="0"/>
              <a:t>(NLP)، </a:t>
            </a:r>
            <a:r>
              <a:rPr lang="ar-SA" dirty="0"/>
              <a:t>وتوفير لوحات تحكم </a:t>
            </a:r>
            <a:r>
              <a:rPr lang="en-US" dirty="0"/>
              <a:t>   (Dashboards) </a:t>
            </a:r>
            <a:r>
              <a:rPr lang="ar-SA" dirty="0"/>
              <a:t> إحصائية.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النطاق التقني:</a:t>
            </a:r>
            <a:r>
              <a:rPr lang="ar-SA" dirty="0"/>
              <a:t> بناء النظام كـ "تطبيق ويب" (</a:t>
            </a:r>
            <a:r>
              <a:rPr lang="en-US" dirty="0"/>
              <a:t>Web App) </a:t>
            </a:r>
            <a:r>
              <a:rPr lang="ar-SA" dirty="0"/>
              <a:t>متجاوب، والاعتماد على نماذج ذكاء اصطناعي مدربة مسبقاً (</a:t>
            </a:r>
            <a:r>
              <a:rPr lang="en-US" dirty="0"/>
              <a:t>APIs) </a:t>
            </a:r>
            <a:r>
              <a:rPr lang="ar-SA" dirty="0"/>
              <a:t>لتحليل النصوص.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خارج النطاق:</a:t>
            </a:r>
            <a:r>
              <a:rPr lang="ar-SA" dirty="0"/>
              <a:t> النظام لا يشمل برمجة تطبيق خاص للهواتف الذكية (</a:t>
            </a:r>
            <a:r>
              <a:rPr lang="en-US" dirty="0"/>
              <a:t>Mobile App)، </a:t>
            </a:r>
            <a:r>
              <a:rPr lang="ar-SA" dirty="0"/>
              <a:t>ولن يتم تدريب نماذج لغوية للذكاء الاصطناعي من الصفر.</a:t>
            </a:r>
          </a:p>
        </p:txBody>
      </p:sp>
    </p:spTree>
    <p:extLst>
      <p:ext uri="{BB962C8B-B14F-4D97-AF65-F5344CB8AC3E}">
        <p14:creationId xmlns:p14="http://schemas.microsoft.com/office/powerpoint/2010/main" val="2445566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ربع نص 3">
            <a:extLst>
              <a:ext uri="{FF2B5EF4-FFF2-40B4-BE49-F238E27FC236}">
                <a16:creationId xmlns:a16="http://schemas.microsoft.com/office/drawing/2014/main" id="{624C8765-612E-7110-7F73-5DB30F0569D7}"/>
              </a:ext>
            </a:extLst>
          </p:cNvPr>
          <p:cNvSpPr txBox="1"/>
          <p:nvPr/>
        </p:nvSpPr>
        <p:spPr>
          <a:xfrm>
            <a:off x="1324946" y="0"/>
            <a:ext cx="10207690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المفاهيم الأساسية </a:t>
            </a:r>
            <a:endParaRPr lang="en-US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المنصات ثنائية الأطراف </a:t>
            </a:r>
            <a:r>
              <a:rPr lang="en-US" b="1" dirty="0"/>
              <a:t>Two-Sided Platforms)</a:t>
            </a:r>
            <a:r>
              <a:rPr lang="ar-SA" b="1" dirty="0"/>
              <a:t>): </a:t>
            </a:r>
            <a:r>
              <a:rPr lang="ar-SA" dirty="0"/>
              <a:t>بيئات رقمية تربط "صناع القرار" مع "المجيبين المستهدفين" مباشرة، وتعتمد على تأثير الشبكة لزيادة قيمتها.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الاستهداف الديموغرافي والفلترة الآلية:</a:t>
            </a:r>
            <a:r>
              <a:rPr lang="ar-SA" dirty="0"/>
              <a:t> استخدام خوارزميات مطابقة لمنع "تحيز العينة" عبر توجيه الاستبيان للشريحة المطابقة فقط (عبر حقول الملف الشخصي).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معالجة اللغات الطبيعية (</a:t>
            </a:r>
            <a:r>
              <a:rPr lang="en-US" b="1" dirty="0"/>
              <a:t> (NLP</a:t>
            </a:r>
            <a:r>
              <a:rPr lang="ar-SA" dirty="0"/>
              <a:t>تقنية ذكاء اصطناعي (</a:t>
            </a:r>
            <a:r>
              <a:rPr lang="en-US" dirty="0"/>
              <a:t> (AI</a:t>
            </a:r>
            <a:r>
              <a:rPr lang="ar-SA" dirty="0"/>
              <a:t>لتحويل "البيانات غير المهيكلة" (كالإجابات النصية) إلى بيانات كمية قابلة للقياس والتحليل.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تحليل المشاعر (</a:t>
            </a:r>
            <a:r>
              <a:rPr lang="en-US" b="1" dirty="0"/>
              <a:t> (Sentiment Analysis</a:t>
            </a:r>
            <a:r>
              <a:rPr lang="ar-SA" dirty="0"/>
              <a:t>قراءة النصوص آلياً وتصنيفها عاطفياً (إيجابية، سلبية، محايدة) لاستخراج توجهات الجمهور بسرعة ودقة.</a:t>
            </a:r>
          </a:p>
        </p:txBody>
      </p:sp>
    </p:spTree>
    <p:extLst>
      <p:ext uri="{BB962C8B-B14F-4D97-AF65-F5344CB8AC3E}">
        <p14:creationId xmlns:p14="http://schemas.microsoft.com/office/powerpoint/2010/main" val="2218134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1805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765992"/>
      </p:ext>
    </p:extLst>
  </p:cSld>
  <p:clrMapOvr>
    <a:masterClrMapping/>
  </p:clrMapOvr>
</p:sld>
</file>

<file path=ppt/theme/theme1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462</Words>
  <Application>Microsoft Office PowerPoint</Application>
  <PresentationFormat>شاشة عريضة</PresentationFormat>
  <Paragraphs>33</Paragraphs>
  <Slides>6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6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Calibri Light</vt:lpstr>
      <vt:lpstr>Simplified Arabic</vt:lpstr>
      <vt:lpstr>Times New Roman</vt:lpstr>
      <vt:lpstr>نسق Office</vt:lpstr>
      <vt:lpstr>Smart Opinion Survey Platform منصة استبيانات الآراء الذكية   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YAMAN BASAM</dc:creator>
  <cp:lastModifiedBy>YAMAN BASAM</cp:lastModifiedBy>
  <cp:revision>3</cp:revision>
  <dcterms:created xsi:type="dcterms:W3CDTF">2026-03-06T14:39:01Z</dcterms:created>
  <dcterms:modified xsi:type="dcterms:W3CDTF">2026-03-06T19:10:15Z</dcterms:modified>
</cp:coreProperties>
</file>