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bookmarkIdSeed="2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3" r:id="rId9"/>
    <p:sldId id="262" r:id="rId10"/>
    <p:sldId id="265" r:id="rId11"/>
    <p:sldId id="268" r:id="rId12"/>
  </p:sldIdLst>
  <p:sldSz cx="12192000" cy="6858000"/>
  <p:notesSz cx="6858000" cy="9144000"/>
  <p:defaultTextStyle>
    <a:defPPr>
      <a:defRPr lang="ar-SA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نمط متوسط 2 - تميي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النمط المتوسط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10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6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شريحة عنو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94F3E957-1C76-BB63-C202-BCF2E38887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وان فرعي 2">
            <a:extLst>
              <a:ext uri="{FF2B5EF4-FFF2-40B4-BE49-F238E27FC236}">
                <a16:creationId xmlns:a16="http://schemas.microsoft.com/office/drawing/2014/main" id="{5336A8E6-1093-E487-E0BF-3CC0FBF14C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/>
              <a:t>انقر لتحرير نمط العنوان الفرعي للشكل الرئيسي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C03E4D22-04D9-0E5E-5C63-D129AD27F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27/09/47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FB88D1B4-9E5D-6395-5549-BE2D7FCAB5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543EE8A5-13E4-F03F-A228-3E8CB2653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580459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عنوان ومحتو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2FA433B2-A226-F119-DAC1-8CD454226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94068328-1686-6FE4-6032-D4A56D6E4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8A077FAF-1589-8E4D-9F12-8FDD9B0FE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27/09/47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9C583B27-95F5-2B58-FF3C-75D66DF01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15BE3BBC-A668-A53E-9591-E9A3FF981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221468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عنوان المقط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8B28B023-0246-D85F-7258-50A88E6FE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9E55503F-B3F9-3BD3-2595-1F140CFE10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C2695CBD-DFC8-35CA-4D77-284D80986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27/09/47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A1900813-C161-D8F2-1719-F0C065ABA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FFC24FEE-16B9-23D5-5634-188678AC2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238023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محتوي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FA0A96E1-4883-00EC-56A5-D2AE57131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B5034E36-CFED-19CC-9762-1440B4E268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محتوى 3">
            <a:extLst>
              <a:ext uri="{FF2B5EF4-FFF2-40B4-BE49-F238E27FC236}">
                <a16:creationId xmlns:a16="http://schemas.microsoft.com/office/drawing/2014/main" id="{16AABB04-9765-FB2E-E935-97185CF7C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F248EA6C-D421-1EB5-0D95-915EC64E8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27/09/47</a:t>
            </a:fld>
            <a:endParaRPr lang="ar-SA"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F06F8FB0-31E8-62BA-E96F-D949DD124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عنصر نائب لرقم الشريحة 6">
            <a:extLst>
              <a:ext uri="{FF2B5EF4-FFF2-40B4-BE49-F238E27FC236}">
                <a16:creationId xmlns:a16="http://schemas.microsoft.com/office/drawing/2014/main" id="{A9139043-CA3C-1A2D-051B-DC5BD9EF8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178079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مقارن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D0C295EF-27F3-DCEF-32E0-4C5F0EED2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A20999BE-2B88-26DD-664D-468C356CF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4" name="عنصر نائب للمحتوى 3">
            <a:extLst>
              <a:ext uri="{FF2B5EF4-FFF2-40B4-BE49-F238E27FC236}">
                <a16:creationId xmlns:a16="http://schemas.microsoft.com/office/drawing/2014/main" id="{43D51DFA-EF3F-A3A3-23BE-93F4D3CABF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5" name="عنصر نائب للنص 4">
            <a:extLst>
              <a:ext uri="{FF2B5EF4-FFF2-40B4-BE49-F238E27FC236}">
                <a16:creationId xmlns:a16="http://schemas.microsoft.com/office/drawing/2014/main" id="{38C5B6A6-D4C2-5160-0A1A-EF13FF1EFC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6" name="عنصر نائب للمحتوى 5">
            <a:extLst>
              <a:ext uri="{FF2B5EF4-FFF2-40B4-BE49-F238E27FC236}">
                <a16:creationId xmlns:a16="http://schemas.microsoft.com/office/drawing/2014/main" id="{C8A85D16-E389-D0B8-991D-7DAAF6B1CB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7" name="عنصر نائب للتاريخ 6">
            <a:extLst>
              <a:ext uri="{FF2B5EF4-FFF2-40B4-BE49-F238E27FC236}">
                <a16:creationId xmlns:a16="http://schemas.microsoft.com/office/drawing/2014/main" id="{A1CF1148-3766-B0F2-B7D4-59079AF37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27/09/47</a:t>
            </a:fld>
            <a:endParaRPr lang="ar-SA"/>
          </a:p>
        </p:txBody>
      </p:sp>
      <p:sp>
        <p:nvSpPr>
          <p:cNvPr id="8" name="عنصر نائب للتذييل 7">
            <a:extLst>
              <a:ext uri="{FF2B5EF4-FFF2-40B4-BE49-F238E27FC236}">
                <a16:creationId xmlns:a16="http://schemas.microsoft.com/office/drawing/2014/main" id="{9BFFADB6-4F56-625B-C7C9-F0886D524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9" name="عنصر نائب لرقم الشريحة 8">
            <a:extLst>
              <a:ext uri="{FF2B5EF4-FFF2-40B4-BE49-F238E27FC236}">
                <a16:creationId xmlns:a16="http://schemas.microsoft.com/office/drawing/2014/main" id="{50F17430-22F1-0700-525D-1C8B3EF8E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827386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عنوان فق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337901A0-D1FB-5222-FF68-96CE63242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تاريخ 2">
            <a:extLst>
              <a:ext uri="{FF2B5EF4-FFF2-40B4-BE49-F238E27FC236}">
                <a16:creationId xmlns:a16="http://schemas.microsoft.com/office/drawing/2014/main" id="{265C04BC-6BC6-A2C8-95E7-61008A7D0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27/09/47</a:t>
            </a:fld>
            <a:endParaRPr lang="ar-SA"/>
          </a:p>
        </p:txBody>
      </p:sp>
      <p:sp>
        <p:nvSpPr>
          <p:cNvPr id="4" name="عنصر نائب للتذييل 3">
            <a:extLst>
              <a:ext uri="{FF2B5EF4-FFF2-40B4-BE49-F238E27FC236}">
                <a16:creationId xmlns:a16="http://schemas.microsoft.com/office/drawing/2014/main" id="{4E5F52C9-E04B-F2A4-3FB4-D030F5F54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5" name="عنصر نائب لرقم الشريحة 4">
            <a:extLst>
              <a:ext uri="{FF2B5EF4-FFF2-40B4-BE49-F238E27FC236}">
                <a16:creationId xmlns:a16="http://schemas.microsoft.com/office/drawing/2014/main" id="{79832D75-9CAF-1A4A-A573-97F4FDEC7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56422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فار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تاريخ 1">
            <a:extLst>
              <a:ext uri="{FF2B5EF4-FFF2-40B4-BE49-F238E27FC236}">
                <a16:creationId xmlns:a16="http://schemas.microsoft.com/office/drawing/2014/main" id="{7B05531B-0D51-4845-D04C-230DFA54E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27/09/47</a:t>
            </a:fld>
            <a:endParaRPr lang="ar-SA"/>
          </a:p>
        </p:txBody>
      </p:sp>
      <p:sp>
        <p:nvSpPr>
          <p:cNvPr id="3" name="عنصر نائب للتذييل 2">
            <a:extLst>
              <a:ext uri="{FF2B5EF4-FFF2-40B4-BE49-F238E27FC236}">
                <a16:creationId xmlns:a16="http://schemas.microsoft.com/office/drawing/2014/main" id="{934A2299-E4CE-0556-6BCA-ECE551E62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4" name="عنصر نائب لرقم الشريحة 3">
            <a:extLst>
              <a:ext uri="{FF2B5EF4-FFF2-40B4-BE49-F238E27FC236}">
                <a16:creationId xmlns:a16="http://schemas.microsoft.com/office/drawing/2014/main" id="{1A1791E1-3A9D-5BF4-50E6-737DF5B7D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2534361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محتوى مع تسمية توضيحي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DDA2A992-CF3F-FAA7-11DD-11D1DD3EB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70AE71DE-143A-BC45-FE76-5F54D9234F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نص 3">
            <a:extLst>
              <a:ext uri="{FF2B5EF4-FFF2-40B4-BE49-F238E27FC236}">
                <a16:creationId xmlns:a16="http://schemas.microsoft.com/office/drawing/2014/main" id="{C5D85B43-175E-750C-A36C-01A6074CED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21EC6905-39BD-5FAC-A929-B2E6EFF86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27/09/47</a:t>
            </a:fld>
            <a:endParaRPr lang="ar-SA"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164BA39F-8C75-0D80-7DD8-AABE70216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عنصر نائب لرقم الشريحة 6">
            <a:extLst>
              <a:ext uri="{FF2B5EF4-FFF2-40B4-BE49-F238E27FC236}">
                <a16:creationId xmlns:a16="http://schemas.microsoft.com/office/drawing/2014/main" id="{568381F1-B263-8D8C-C71F-044DA7A60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877631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صورة مع تسمية توضيحي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AB1E241A-E4B1-0F4D-6F76-18AA4028C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صورة 2">
            <a:extLst>
              <a:ext uri="{FF2B5EF4-FFF2-40B4-BE49-F238E27FC236}">
                <a16:creationId xmlns:a16="http://schemas.microsoft.com/office/drawing/2014/main" id="{903AC795-CEA2-CF65-9A4C-40100CD769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ar-SA"/>
          </a:p>
        </p:txBody>
      </p:sp>
      <p:sp>
        <p:nvSpPr>
          <p:cNvPr id="4" name="عنصر نائب للنص 3">
            <a:extLst>
              <a:ext uri="{FF2B5EF4-FFF2-40B4-BE49-F238E27FC236}">
                <a16:creationId xmlns:a16="http://schemas.microsoft.com/office/drawing/2014/main" id="{8CF58445-FE9F-F88D-196B-31BC6B2BC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945B29FB-AA65-BC3A-B124-055165D9B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27/09/47</a:t>
            </a:fld>
            <a:endParaRPr lang="ar-SA"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E8A1D51D-23F6-C834-AAD1-979A463E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عنصر نائب لرقم الشريحة 6">
            <a:extLst>
              <a:ext uri="{FF2B5EF4-FFF2-40B4-BE49-F238E27FC236}">
                <a16:creationId xmlns:a16="http://schemas.microsoft.com/office/drawing/2014/main" id="{CFE52BFD-B399-8A00-DA33-F9737A804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530131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عنوان ونص عمود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BBE52FAC-85A4-CEE8-0E1C-613CA1E2C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عنوان العمودي 2">
            <a:extLst>
              <a:ext uri="{FF2B5EF4-FFF2-40B4-BE49-F238E27FC236}">
                <a16:creationId xmlns:a16="http://schemas.microsoft.com/office/drawing/2014/main" id="{FBECCA8A-7CF2-CFA9-8108-F6162AE51D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C754E377-9D39-7AB5-8BCE-A64763D9E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27/09/47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27B8A41B-E122-ACDA-DE8C-C578F06D3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4E121FCF-4F3E-8F41-80C1-92ED0EA09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186133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عنوان ونص عمودي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عمودي 1">
            <a:extLst>
              <a:ext uri="{FF2B5EF4-FFF2-40B4-BE49-F238E27FC236}">
                <a16:creationId xmlns:a16="http://schemas.microsoft.com/office/drawing/2014/main" id="{904E7B3E-F722-785E-6FD0-CE66C9E741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عنوان العمودي 2">
            <a:extLst>
              <a:ext uri="{FF2B5EF4-FFF2-40B4-BE49-F238E27FC236}">
                <a16:creationId xmlns:a16="http://schemas.microsoft.com/office/drawing/2014/main" id="{E0539051-7380-9AFA-823E-0ECC676F74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8E21C35B-8792-2B4C-4872-71274B0D1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27/09/47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55F5DEBF-653E-4A08-47AE-87B5802B3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4E22D891-CE28-DADD-9024-FE2F38506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968522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عنوان 1">
            <a:extLst>
              <a:ext uri="{FF2B5EF4-FFF2-40B4-BE49-F238E27FC236}">
                <a16:creationId xmlns:a16="http://schemas.microsoft.com/office/drawing/2014/main" id="{B0F9F872-F359-F40A-96AC-DEC7C4E55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671C26D8-F5C6-BD67-5341-D680DDBC80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84ED1FE4-675E-44BC-13BA-FA6FA2B1C1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6A8431-2457-4B17-8EAD-CB7DD7790385}" type="datetimeFigureOut">
              <a:rPr lang="ar-SA" smtClean="0"/>
              <a:t>27/09/47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052149F8-4E2D-4499-DF13-6D295FD7A9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A5C5E447-E496-DCB7-0786-DA22081D78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083183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ar-SA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D797CECF-7ADF-2D94-EFCE-B952490096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75092"/>
            <a:ext cx="9144000" cy="2306637"/>
          </a:xfrm>
        </p:spPr>
        <p:txBody>
          <a:bodyPr>
            <a:normAutofit/>
          </a:bodyPr>
          <a:lstStyle/>
          <a:p>
            <a:pPr rtl="1">
              <a:lnSpc>
                <a:spcPct val="150000"/>
              </a:lnSpc>
              <a:spcAft>
                <a:spcPts val="800"/>
              </a:spcAft>
            </a:pPr>
            <a:r>
              <a:rPr lang="en-US" sz="3200" b="1" dirty="0">
                <a:solidFill>
                  <a:srgbClr val="222A3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Smart Opinion </a:t>
            </a:r>
            <a:r>
              <a:rPr lang="en-US" sz="3200" b="1">
                <a:solidFill>
                  <a:srgbClr val="222A3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Survey Platform</a:t>
            </a:r>
            <a:br>
              <a:rPr lang="en-US" sz="3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ar-SA" sz="3200" b="1" dirty="0">
                <a:solidFill>
                  <a:srgbClr val="222A35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منصة استبيانات الآراء الذكية </a:t>
            </a:r>
            <a:br>
              <a:rPr lang="en-US" sz="3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en-US" sz="3200" b="1" dirty="0">
                <a:solidFill>
                  <a:srgbClr val="222A3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 </a:t>
            </a:r>
            <a:endParaRPr lang="ar-SA" sz="8800" b="1" dirty="0"/>
          </a:p>
        </p:txBody>
      </p:sp>
      <p:sp>
        <p:nvSpPr>
          <p:cNvPr id="4" name="Text Box 2">
            <a:extLst>
              <a:ext uri="{FF2B5EF4-FFF2-40B4-BE49-F238E27FC236}">
                <a16:creationId xmlns:a16="http://schemas.microsoft.com/office/drawing/2014/main" id="{460B78EE-156F-C89C-4518-9C9BB60A84BC}"/>
              </a:ext>
            </a:extLst>
          </p:cNvPr>
          <p:cNvSpPr>
            <a:spLocks/>
          </p:cNvSpPr>
          <p:nvPr/>
        </p:nvSpPr>
        <p:spPr>
          <a:xfrm>
            <a:off x="1524000" y="2816579"/>
            <a:ext cx="9144001" cy="13039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noAutofit/>
          </a:bodyPr>
          <a:lstStyle/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8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إعداد الطلاب: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4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يمان بسام المطر   |  حسن عبد الرحمن يحيى  |   يوسف احمد الزعبي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F0AFB1FE-9D71-6A78-F94B-288E66A4F5B6}"/>
              </a:ext>
            </a:extLst>
          </p:cNvPr>
          <p:cNvSpPr>
            <a:spLocks/>
          </p:cNvSpPr>
          <p:nvPr/>
        </p:nvSpPr>
        <p:spPr>
          <a:xfrm>
            <a:off x="2325499" y="4608700"/>
            <a:ext cx="7541002" cy="20339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noAutofit/>
          </a:bodyPr>
          <a:lstStyle/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8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إشراف: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4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م. شادي بليدي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4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م. مايا الأحمد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pic>
        <p:nvPicPr>
          <p:cNvPr id="6" name="Picture 50">
            <a:extLst>
              <a:ext uri="{FF2B5EF4-FFF2-40B4-BE49-F238E27FC236}">
                <a16:creationId xmlns:a16="http://schemas.microsoft.com/office/drawing/2014/main" id="{1221C0D0-4679-D5A3-CF19-712E805FEB2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00000"/>
                    </a14:imgEffect>
                  </a14:imgLayer>
                </a14:imgProps>
              </a:ext>
            </a:extLst>
          </a:blip>
          <a:srcRect l="7096" t="14058" r="7395" b="12127"/>
          <a:stretch/>
        </p:blipFill>
        <p:spPr bwMode="auto">
          <a:xfrm>
            <a:off x="0" y="0"/>
            <a:ext cx="2489187" cy="1857958"/>
          </a:xfrm>
          <a:prstGeom prst="rect">
            <a:avLst/>
          </a:prstGeom>
          <a:ln>
            <a:noFill/>
          </a:ln>
          <a:effectLst/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Image 16">
            <a:extLst>
              <a:ext uri="{FF2B5EF4-FFF2-40B4-BE49-F238E27FC236}">
                <a16:creationId xmlns:a16="http://schemas.microsoft.com/office/drawing/2014/main" id="{76CE22C2-6123-D1A8-2E06-140C3C095A66}"/>
              </a:ext>
            </a:extLst>
          </p:cNvPr>
          <p:cNvPicPr>
            <a:picLocks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9702813" y="0"/>
            <a:ext cx="2489187" cy="1716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606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مربع نص 3">
            <a:extLst>
              <a:ext uri="{FF2B5EF4-FFF2-40B4-BE49-F238E27FC236}">
                <a16:creationId xmlns:a16="http://schemas.microsoft.com/office/drawing/2014/main" id="{2C805033-01BB-B597-EB43-512C596003EC}"/>
              </a:ext>
            </a:extLst>
          </p:cNvPr>
          <p:cNvSpPr txBox="1"/>
          <p:nvPr/>
        </p:nvSpPr>
        <p:spPr>
          <a:xfrm>
            <a:off x="352229" y="552186"/>
            <a:ext cx="10921480" cy="162095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>
              <a:lnSpc>
                <a:spcPct val="150000"/>
              </a:lnSpc>
              <a:spcBef>
                <a:spcPts val="800"/>
              </a:spcBef>
              <a:spcAft>
                <a:spcPts val="400"/>
              </a:spcAft>
            </a:pPr>
            <a:r>
              <a:rPr lang="ar-SA" sz="2400" b="1" dirty="0">
                <a:solidFill>
                  <a:srgbClr val="2F5496"/>
                </a:solidFill>
                <a:effectLst/>
                <a:latin typeface="Simplified Arabic" panose="02020603050405020304" pitchFamily="18" charset="-78"/>
                <a:ea typeface="Times New Roman" panose="02020603050405020304" pitchFamily="18" charset="0"/>
              </a:rPr>
              <a:t>مقدمة عن المشروع</a:t>
            </a:r>
            <a:endParaRPr lang="en-US" sz="2400" b="1" dirty="0">
              <a:solidFill>
                <a:srgbClr val="2F5496"/>
              </a:solidFill>
              <a:effectLst/>
              <a:latin typeface="Simplified Arabic" panose="02020603050405020304" pitchFamily="18" charset="-78"/>
              <a:ea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ar-SA" sz="2000" b="1" dirty="0"/>
              <a:t> التغذية الراجعة</a:t>
            </a:r>
            <a:r>
              <a:rPr lang="en-US" sz="2000" b="1" dirty="0"/>
              <a:t> (Feedback) </a:t>
            </a:r>
            <a:r>
              <a:rPr lang="ar-SA" sz="2000" b="1" dirty="0"/>
              <a:t>:</a:t>
            </a:r>
            <a:r>
              <a:rPr lang="ar-SA" sz="2000" dirty="0"/>
              <a:t> الركيزة الأساسية لنجاح المنتجات والخدمات في العصر الرقمي.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ar-SA" sz="2000" b="1" dirty="0"/>
              <a:t> نهاية التخمين:</a:t>
            </a:r>
            <a:r>
              <a:rPr lang="ar-SA" sz="2000" dirty="0"/>
              <a:t> بناء القرارات الاستراتيجية على بيانات دقيقة تعكس احتياجات السوق، وليس على التوقعات.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ar-SA" sz="2000" b="1" dirty="0"/>
              <a:t> الابتكار الذكي:</a:t>
            </a:r>
            <a:r>
              <a:rPr lang="ar-SA" sz="2000" dirty="0"/>
              <a:t> تجاوز الطرق التقليدية لجمع الآراء عبر دمج تقنيات الذكاء الاصطناعي لفهم الجمهور أسرع.</a:t>
            </a:r>
          </a:p>
        </p:txBody>
      </p:sp>
      <p:sp>
        <p:nvSpPr>
          <p:cNvPr id="5" name="مربع نص 4">
            <a:extLst>
              <a:ext uri="{FF2B5EF4-FFF2-40B4-BE49-F238E27FC236}">
                <a16:creationId xmlns:a16="http://schemas.microsoft.com/office/drawing/2014/main" id="{BBC53761-F6DE-9BD3-BC04-4637616D78F7}"/>
              </a:ext>
            </a:extLst>
          </p:cNvPr>
          <p:cNvSpPr txBox="1"/>
          <p:nvPr/>
        </p:nvSpPr>
        <p:spPr>
          <a:xfrm>
            <a:off x="475861" y="2804345"/>
            <a:ext cx="10797848" cy="156966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400" b="1" dirty="0">
                <a:solidFill>
                  <a:schemeClr val="accent1"/>
                </a:solidFill>
              </a:rPr>
              <a:t>مشكلة البحث</a:t>
            </a:r>
            <a:endParaRPr lang="ar-SA" sz="2400" dirty="0">
              <a:solidFill>
                <a:schemeClr val="accent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ar-SA" sz="2000" b="1" dirty="0"/>
              <a:t> عشوائية العينة:</a:t>
            </a:r>
            <a:r>
              <a:rPr lang="ar-SA" sz="2000" dirty="0"/>
              <a:t> نشر الاستبيانات عبر روابط مفتوحة يجلب بيانات مشوهة وغير دقيقة.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ar-SA" sz="2000" b="1" dirty="0"/>
              <a:t> هدر الموارد:</a:t>
            </a:r>
            <a:r>
              <a:rPr lang="ar-SA" sz="2000" dirty="0"/>
              <a:t> اتخاذ قرارات خاطئة نتيجة مشاركة أشخاص غير معنيين بالخدمة.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ar-SA" sz="2000" b="1" dirty="0"/>
              <a:t> بطء التحليل:</a:t>
            </a:r>
            <a:r>
              <a:rPr lang="ar-SA" sz="2000" dirty="0"/>
              <a:t> قراءة وتحليل الإجابات النصية يدوياً يستهلك وقتاً طويلاً ومُعرض لـ "التحيز البشري".</a:t>
            </a:r>
          </a:p>
        </p:txBody>
      </p:sp>
      <p:sp>
        <p:nvSpPr>
          <p:cNvPr id="7" name="مربع نص 6">
            <a:extLst>
              <a:ext uri="{FF2B5EF4-FFF2-40B4-BE49-F238E27FC236}">
                <a16:creationId xmlns:a16="http://schemas.microsoft.com/office/drawing/2014/main" id="{74BBCADA-6067-E778-BE2F-0922FF31AD4B}"/>
              </a:ext>
            </a:extLst>
          </p:cNvPr>
          <p:cNvSpPr txBox="1"/>
          <p:nvPr/>
        </p:nvSpPr>
        <p:spPr>
          <a:xfrm>
            <a:off x="1467236" y="5005207"/>
            <a:ext cx="98064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فكرة المشروع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ar-SA" sz="2000" b="1" dirty="0"/>
              <a:t> منصة ثنائية الأطراف:</a:t>
            </a:r>
            <a:r>
              <a:rPr lang="ar-SA" sz="2000" dirty="0"/>
              <a:t> بيئة ذكية تربط بين صُناع القرار والمُجيبين المستهدفين.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ar-SA" sz="2000" b="1" dirty="0"/>
              <a:t> فلترة مسبقة:</a:t>
            </a:r>
            <a:r>
              <a:rPr lang="ar-SA" sz="2000" dirty="0"/>
              <a:t> عرض الاستبيانات حصرياً للفئة التي تطابق الشروط الديموغرافية (عبر محرك استهداف ذكي).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ar-SA" sz="2000" b="1" dirty="0"/>
              <a:t> تحليل ذكي:</a:t>
            </a:r>
            <a:r>
              <a:rPr lang="ar-SA" sz="2000" dirty="0"/>
              <a:t> دمج الذكاء الاصطناعي (</a:t>
            </a:r>
            <a:r>
              <a:rPr lang="en-US" sz="2000" dirty="0"/>
              <a:t> (AI</a:t>
            </a:r>
            <a:r>
              <a:rPr lang="ar-SA" sz="2000" dirty="0"/>
              <a:t>لتصنيف مشاعر الإجابات المفتوحة آلياً.</a:t>
            </a:r>
          </a:p>
        </p:txBody>
      </p:sp>
    </p:spTree>
    <p:extLst>
      <p:ext uri="{BB962C8B-B14F-4D97-AF65-F5344CB8AC3E}">
        <p14:creationId xmlns:p14="http://schemas.microsoft.com/office/powerpoint/2010/main" val="138851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مربع نص 2">
            <a:extLst>
              <a:ext uri="{FF2B5EF4-FFF2-40B4-BE49-F238E27FC236}">
                <a16:creationId xmlns:a16="http://schemas.microsoft.com/office/drawing/2014/main" id="{BE6D38B9-69CF-A5A8-89D6-C7C802977493}"/>
              </a:ext>
            </a:extLst>
          </p:cNvPr>
          <p:cNvSpPr txBox="1"/>
          <p:nvPr/>
        </p:nvSpPr>
        <p:spPr>
          <a:xfrm>
            <a:off x="1826441" y="149290"/>
            <a:ext cx="9325776" cy="222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50000"/>
              </a:lnSpc>
              <a:spcBef>
                <a:spcPts val="800"/>
              </a:spcBef>
              <a:spcAft>
                <a:spcPts val="400"/>
              </a:spcAft>
            </a:pPr>
            <a:r>
              <a:rPr lang="ar-SA" sz="2000" b="1" dirty="0">
                <a:solidFill>
                  <a:srgbClr val="2F5496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أهداف المشروع </a:t>
            </a:r>
            <a:endParaRPr lang="en-US" sz="2000" b="1" dirty="0">
              <a:solidFill>
                <a:srgbClr val="2F5496"/>
              </a:solidFill>
              <a:effectLst/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بناء بيئة رقمية تربط مقدمي الخدمات بالمستخدمين الفعليين.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القضاء على العشوائية عبر محرك الاستهداف </a:t>
            </a:r>
            <a:r>
              <a:rPr lang="en-US" dirty="0"/>
              <a:t>.(Targeting Engine)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أتمتة تحليل النصوص </a:t>
            </a:r>
            <a:r>
              <a:rPr lang="en-US" dirty="0"/>
              <a:t> (NLP)</a:t>
            </a:r>
            <a:r>
              <a:rPr lang="ar-SA" dirty="0"/>
              <a:t>لاستخراج التوجهات العامة للجمهور.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توفير لوحات تحكم </a:t>
            </a:r>
            <a:r>
              <a:rPr lang="en-US" dirty="0"/>
              <a:t> (Dashboards) </a:t>
            </a:r>
            <a:r>
              <a:rPr lang="ar-SA" dirty="0"/>
              <a:t>تفاعلية لدعم اتخاذ القرارات.</a:t>
            </a:r>
          </a:p>
        </p:txBody>
      </p:sp>
      <p:sp>
        <p:nvSpPr>
          <p:cNvPr id="2" name="مربع نص 1">
            <a:extLst>
              <a:ext uri="{FF2B5EF4-FFF2-40B4-BE49-F238E27FC236}">
                <a16:creationId xmlns:a16="http://schemas.microsoft.com/office/drawing/2014/main" id="{F7F6FF3F-29D5-9A78-3217-E0B14D6F14C4}"/>
              </a:ext>
            </a:extLst>
          </p:cNvPr>
          <p:cNvSpPr txBox="1"/>
          <p:nvPr/>
        </p:nvSpPr>
        <p:spPr>
          <a:xfrm>
            <a:off x="1899043" y="4773959"/>
            <a:ext cx="925317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400" b="1" dirty="0">
                <a:solidFill>
                  <a:schemeClr val="accent1"/>
                </a:solidFill>
              </a:rPr>
              <a:t>نطاق المشروع</a:t>
            </a:r>
            <a:endParaRPr lang="en-US" sz="2400" dirty="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ar-SA" b="1" dirty="0"/>
              <a:t>الفئات المشمولة:</a:t>
            </a:r>
            <a:r>
              <a:rPr lang="ar-SA" dirty="0"/>
              <a:t> مقدمو الخدمات (لإنشاء الاستبيان) والمستخدمون (كعينة للإجابة).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ar-SA" b="1" dirty="0"/>
              <a:t>النطاق الوظيفي:</a:t>
            </a:r>
            <a:r>
              <a:rPr lang="ar-SA" dirty="0"/>
              <a:t> أداة بناء الاستبيانات، محرك المطابقة، تحليل المشاعر، ولوحات تحكم إحصائية.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ar-SA" b="1" dirty="0"/>
              <a:t>النطاق التقني:</a:t>
            </a:r>
            <a:r>
              <a:rPr lang="ar-SA" dirty="0"/>
              <a:t> تطبيق ويب</a:t>
            </a:r>
            <a:r>
              <a:rPr lang="en-US" dirty="0"/>
              <a:t> (Web App) </a:t>
            </a:r>
            <a:r>
              <a:rPr lang="ar-SA" dirty="0"/>
              <a:t>واستخدام نماذج ذكاء اصطناعي.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ar-SA" b="1" dirty="0"/>
              <a:t>خارج النطاق:</a:t>
            </a:r>
            <a:r>
              <a:rPr lang="ar-SA" dirty="0"/>
              <a:t> تطبيقات الموبايل، أو تدريب نماذج لغوية من الصفر.</a:t>
            </a:r>
          </a:p>
        </p:txBody>
      </p:sp>
      <p:sp>
        <p:nvSpPr>
          <p:cNvPr id="4" name="مربع نص 3">
            <a:extLst>
              <a:ext uri="{FF2B5EF4-FFF2-40B4-BE49-F238E27FC236}">
                <a16:creationId xmlns:a16="http://schemas.microsoft.com/office/drawing/2014/main" id="{BB69BDC5-440E-97CE-FDDC-A2DD8FB1EBC1}"/>
              </a:ext>
            </a:extLst>
          </p:cNvPr>
          <p:cNvSpPr txBox="1"/>
          <p:nvPr/>
        </p:nvSpPr>
        <p:spPr>
          <a:xfrm>
            <a:off x="1826441" y="2606434"/>
            <a:ext cx="9325776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المفاهيم الأساسية </a:t>
            </a:r>
            <a:endParaRPr lang="en-US" sz="2000" b="1" dirty="0">
              <a:solidFill>
                <a:schemeClr val="accent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r-SA" sz="2000" b="1" dirty="0"/>
              <a:t>منصة ثنائية الأطراف:</a:t>
            </a:r>
            <a:r>
              <a:rPr lang="ar-SA" sz="2000" dirty="0"/>
              <a:t> ربط مباشر يعتمد على تأثير الشبكة.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r-SA" sz="2000" b="1" dirty="0"/>
              <a:t>الاستهداف الآلي:</a:t>
            </a:r>
            <a:r>
              <a:rPr lang="ar-SA" sz="2000" dirty="0"/>
              <a:t> خوارزميات لمنع "تحيز العينة" (</a:t>
            </a:r>
            <a:r>
              <a:rPr lang="en-US" sz="2000" dirty="0"/>
              <a:t>.(Sample Bias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r-SA" sz="2000" b="1" dirty="0"/>
              <a:t>معالجة اللغات</a:t>
            </a:r>
            <a:r>
              <a:rPr lang="en-US" sz="2000" b="1" dirty="0"/>
              <a:t>NLP)</a:t>
            </a:r>
            <a:r>
              <a:rPr lang="ar-SA" sz="2000" b="1" dirty="0"/>
              <a:t>): </a:t>
            </a:r>
            <a:r>
              <a:rPr lang="ar-SA" sz="2000" dirty="0"/>
              <a:t>تحويل النصوص غير المهيكلة إلى بيانات قابلة للقياس.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r-SA" sz="2000" b="1" dirty="0"/>
              <a:t>تحليل المشاعر:</a:t>
            </a:r>
            <a:r>
              <a:rPr lang="ar-SA" sz="2000" dirty="0"/>
              <a:t> تصنيف الردود عاطفياً (إيجابي، سلبي، محايد).</a:t>
            </a:r>
          </a:p>
        </p:txBody>
      </p:sp>
    </p:spTree>
    <p:extLst>
      <p:ext uri="{BB962C8B-B14F-4D97-AF65-F5344CB8AC3E}">
        <p14:creationId xmlns:p14="http://schemas.microsoft.com/office/powerpoint/2010/main" val="2445566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مربع نص 5">
            <a:extLst>
              <a:ext uri="{FF2B5EF4-FFF2-40B4-BE49-F238E27FC236}">
                <a16:creationId xmlns:a16="http://schemas.microsoft.com/office/drawing/2014/main" id="{4FBF6A0A-C59A-595C-077B-309D8FBEDF45}"/>
              </a:ext>
            </a:extLst>
          </p:cNvPr>
          <p:cNvSpPr txBox="1"/>
          <p:nvPr/>
        </p:nvSpPr>
        <p:spPr>
          <a:xfrm>
            <a:off x="-758891" y="162521"/>
            <a:ext cx="12192000" cy="1749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الدراسة المرجعية </a:t>
            </a:r>
            <a:endParaRPr lang="en-US" sz="2000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الأنظمة التقليدية:</a:t>
            </a:r>
            <a:r>
              <a:rPr lang="ar-SA" dirty="0"/>
              <a:t> تعاني من تحيز العينة بسبب النشر العشوائي.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أنظمة الـ </a:t>
            </a:r>
            <a:r>
              <a:rPr lang="en-US" b="1" dirty="0"/>
              <a:t>AI </a:t>
            </a:r>
            <a:r>
              <a:rPr lang="ar-SA" b="1" dirty="0"/>
              <a:t>الحالية:</a:t>
            </a:r>
            <a:r>
              <a:rPr lang="ar-SA" dirty="0"/>
              <a:t> تفصل بين مرحلتي جمع البيانات وتحليلها.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مساهمة مشروعنا:</a:t>
            </a:r>
            <a:r>
              <a:rPr lang="ar-SA" dirty="0"/>
              <a:t> تقديم حل هندسي يدمج محرك الاستهداف الذكي مع نماذج الذكاء الاصطناعي في منصة واحدة متكاملة.</a:t>
            </a:r>
          </a:p>
        </p:txBody>
      </p:sp>
      <p:graphicFrame>
        <p:nvGraphicFramePr>
          <p:cNvPr id="3" name="جدول 2">
            <a:extLst>
              <a:ext uri="{FF2B5EF4-FFF2-40B4-BE49-F238E27FC236}">
                <a16:creationId xmlns:a16="http://schemas.microsoft.com/office/drawing/2014/main" id="{F41C8213-FFEC-4A5E-3240-A95F4B57A9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633664"/>
              </p:ext>
            </p:extLst>
          </p:nvPr>
        </p:nvGraphicFramePr>
        <p:xfrm>
          <a:off x="758888" y="2565918"/>
          <a:ext cx="10674221" cy="3651919"/>
        </p:xfrm>
        <a:graphic>
          <a:graphicData uri="http://schemas.openxmlformats.org/drawingml/2006/table">
            <a:tbl>
              <a:tblPr rtl="1" firstRow="1" firstCol="1" bandRow="1">
                <a:tableStyleId>{5C22544A-7EE6-4342-B048-85BDC9FD1C3A}</a:tableStyleId>
              </a:tblPr>
              <a:tblGrid>
                <a:gridCol w="2236854">
                  <a:extLst>
                    <a:ext uri="{9D8B030D-6E8A-4147-A177-3AD203B41FA5}">
                      <a16:colId xmlns:a16="http://schemas.microsoft.com/office/drawing/2014/main" val="1950653663"/>
                    </a:ext>
                  </a:extLst>
                </a:gridCol>
                <a:gridCol w="2220604">
                  <a:extLst>
                    <a:ext uri="{9D8B030D-6E8A-4147-A177-3AD203B41FA5}">
                      <a16:colId xmlns:a16="http://schemas.microsoft.com/office/drawing/2014/main" val="3310257874"/>
                    </a:ext>
                  </a:extLst>
                </a:gridCol>
                <a:gridCol w="2501616">
                  <a:extLst>
                    <a:ext uri="{9D8B030D-6E8A-4147-A177-3AD203B41FA5}">
                      <a16:colId xmlns:a16="http://schemas.microsoft.com/office/drawing/2014/main" val="1449973089"/>
                    </a:ext>
                  </a:extLst>
                </a:gridCol>
                <a:gridCol w="3715147">
                  <a:extLst>
                    <a:ext uri="{9D8B030D-6E8A-4147-A177-3AD203B41FA5}">
                      <a16:colId xmlns:a16="http://schemas.microsoft.com/office/drawing/2014/main" val="3274840695"/>
                    </a:ext>
                  </a:extLst>
                </a:gridCol>
              </a:tblGrid>
              <a:tr h="589712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معيار المقارنة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نماذج جوجل</a:t>
                      </a:r>
                      <a:r>
                        <a:rPr lang="en-US" sz="1400" kern="100">
                          <a:effectLst/>
                        </a:rPr>
                        <a:t> (Google Forms)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منصة </a:t>
                      </a:r>
                      <a:r>
                        <a:rPr lang="ar-SA" sz="1400" kern="100" dirty="0" err="1">
                          <a:effectLst/>
                        </a:rPr>
                        <a:t>سيرفي</a:t>
                      </a:r>
                      <a:r>
                        <a:rPr lang="ar-SA" sz="1400" kern="100" dirty="0">
                          <a:effectLst/>
                        </a:rPr>
                        <a:t> </a:t>
                      </a:r>
                      <a:r>
                        <a:rPr lang="ar-SA" sz="1400" kern="100" dirty="0" err="1">
                          <a:effectLst/>
                        </a:rPr>
                        <a:t>مونكي</a:t>
                      </a:r>
                      <a:r>
                        <a:rPr lang="en-US" sz="1400" kern="100" dirty="0">
                          <a:effectLst/>
                        </a:rPr>
                        <a:t> (SurveyMonkey)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المنصة المقترحة (منصة استبيانات الآراء الذكية)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51723467"/>
                  </a:ext>
                </a:extLst>
              </a:tr>
              <a:tr h="604167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آلية الوصول للجمهور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نشر يدوي للرابط (عينة عشوائية)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مدفوعة الثمن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استهداف ذكي ومجاني بناءً على ملفات المستخدمين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77327789"/>
                  </a:ext>
                </a:extLst>
              </a:tr>
              <a:tr h="651074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أتمتة تحليل النصوص</a:t>
                      </a:r>
                      <a:r>
                        <a:rPr lang="en-US" sz="1400" kern="100">
                          <a:effectLst/>
                        </a:rPr>
                        <a:t> (AI)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غير متوفرة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متوفرة في الخطط المدفوعة المتقدمة فقط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مدمجة أساسياً لتحليل المشاعر واستخراج الكلمات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6195494"/>
                  </a:ext>
                </a:extLst>
              </a:tr>
              <a:tr h="602322">
                <a:tc>
                  <a:txBody>
                    <a:bodyPr/>
                    <a:lstStyle/>
                    <a:p>
                      <a:pPr indent="457200" algn="l" rtl="0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بيئة ثنائية الأطراف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لا (منصة من طرف واحد)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لا (منصة من طرف واحد)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نعم (تجمع مقدم الخدمة والمجيب في نفس البيئة)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13788431"/>
                  </a:ext>
                </a:extLst>
              </a:tr>
              <a:tr h="602322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التحقق من ديموغرافية المجيب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معدوم (إلا إذا سُأل يدوياً)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متوفر بشروط مسبقة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دقيق وآلي عبر بيانات الملف الشخصي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81537844"/>
                  </a:ext>
                </a:extLst>
              </a:tr>
              <a:tr h="602322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لوحات التحكم</a:t>
                      </a:r>
                      <a:r>
                        <a:rPr lang="en-US" sz="1400" kern="100">
                          <a:effectLst/>
                        </a:rPr>
                        <a:t> (Dashboards)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أساسية جداً للأسئلة المغلقة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متقدمة واحترافية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دقيق وآلي عبر بيانات الملف الشخصي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21866674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DD41E96A-93C9-D995-438A-F66E1DB2CD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7642" y="6295418"/>
            <a:ext cx="4563274" cy="4000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101568" rIns="91440" bIns="50784" numCol="1" anchor="ctr" anchorCtr="0" compatLnSpc="1">
            <a:prstTxWarp prst="textNoShape">
              <a:avLst/>
            </a:prstTxWarp>
            <a:spAutoFit/>
          </a:bodyPr>
          <a:lstStyle>
            <a:lvl1pPr indent="457200"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7200" algn="l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SA" altLang="ar-SA" sz="1600" b="1" i="0" u="none" strike="noStrike" cap="none" normalizeH="0" baseline="0" dirty="0" bmk="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جدول: مقارنة بين المنصة المقترحة والأنظمة الحالية</a:t>
            </a:r>
            <a:endParaRPr kumimoji="0" lang="en-US" altLang="ar-SA" sz="1600" b="1" i="0" u="none" strike="noStrike" cap="none" normalizeH="0" baseline="0" dirty="0">
              <a:ln>
                <a:noFill/>
              </a:ln>
              <a:solidFill>
                <a:srgbClr val="2F5496"/>
              </a:solidFill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8134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16497CAC-B470-A997-F27B-A3823B1E2F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2171" y="1980173"/>
            <a:ext cx="10907658" cy="2897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ar-SA" altLang="ar-SA" sz="2400" b="1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المنهجية المتبعة:</a:t>
            </a:r>
            <a:r>
              <a:rPr kumimoji="0" lang="ar-SA" altLang="ar-SA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ar-SA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إطار العمل الرشيق</a:t>
            </a:r>
            <a:r>
              <a:rPr kumimoji="0" lang="ar-SA" altLang="ar-SA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</a:rPr>
              <a:t> (Agile)</a:t>
            </a:r>
          </a:p>
          <a:p>
            <a:pPr marL="0" marR="0" lvl="0" indent="0" algn="r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ar-SA" altLang="ar-SA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أسباب الاختيار:</a:t>
            </a:r>
            <a:endParaRPr kumimoji="0" lang="ar-SA" altLang="ar-SA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r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ar-SA" altLang="ar-SA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المرونة العالية:</a:t>
            </a:r>
            <a:r>
              <a:rPr kumimoji="0" lang="ar-SA" altLang="ar-S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ar-S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التكيف السريع لتعديل وتحسين دقة نموذج </a:t>
            </a:r>
            <a:r>
              <a:rPr kumimoji="0" lang="ar-SA" altLang="ar-S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(NLP) </a:t>
            </a:r>
            <a:r>
              <a:rPr kumimoji="0" lang="ar-SA" altLang="ar-S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أثناء العمل</a:t>
            </a:r>
            <a:r>
              <a:rPr kumimoji="0" lang="ar-SA" altLang="ar-S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342900" marR="0" lvl="0" indent="-342900" algn="r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ar-SA" altLang="ar-SA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التطوير المرحلي (Sprints):</a:t>
            </a:r>
            <a:r>
              <a:rPr kumimoji="0" lang="ar-SA" altLang="ar-S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ar-S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بناء النظام على مراحل متدرجة (إدارة الحسابات ⬅️ محرك المطابقة ⬅️ تحليل المشاعر)</a:t>
            </a:r>
            <a:r>
              <a:rPr kumimoji="0" lang="ar-SA" altLang="ar-S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342900" marR="0" lvl="0" indent="-342900" algn="r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ar-SA" altLang="ar-SA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التقييم المستمر:</a:t>
            </a:r>
            <a:r>
              <a:rPr kumimoji="0" lang="ar-SA" altLang="ar-S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ar-S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استعراض الأجزاء المنجزة دورياً مع المشرف لتفادي تراكم الأخطاء برمجياً</a:t>
            </a:r>
            <a:r>
              <a:rPr kumimoji="0" lang="ar-SA" altLang="ar-S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342900" marR="0" lvl="0" indent="-342900" algn="r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ar-SA" altLang="ar-SA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إدارة الوقت:</a:t>
            </a:r>
            <a:r>
              <a:rPr kumimoji="0" lang="ar-SA" altLang="ar-S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SA" altLang="ar-S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ضمان تسليم المشروع بالكامل ضمن الإطار الزمني المحدد للفصل الدراسي</a:t>
            </a:r>
            <a:r>
              <a:rPr kumimoji="0" lang="ar-SA" altLang="ar-S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41805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B91AAB6-8E48-1559-583A-D5828114BF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967" y="606491"/>
            <a:ext cx="12080033" cy="6111552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80676D18-D5E8-BC30-F6F6-C2E4196021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5930" y="0"/>
            <a:ext cx="332014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SA" altLang="ar-SA" sz="2400" b="1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</a:rPr>
              <a:t>مخطط غانت - </a:t>
            </a:r>
            <a:r>
              <a:rPr kumimoji="0" lang="en-US" altLang="ar-SA" sz="2400" b="1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</a:rPr>
              <a:t>Gantt chart</a:t>
            </a:r>
            <a:endParaRPr kumimoji="0" lang="ar-SA" altLang="ar-SA" sz="2400" b="1" i="0" u="none" strike="noStrike" cap="none" normalizeH="0" baseline="0" dirty="0">
              <a:ln>
                <a:noFill/>
              </a:ln>
              <a:solidFill>
                <a:schemeClr val="accent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07659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مربع نص 1">
            <a:extLst>
              <a:ext uri="{FF2B5EF4-FFF2-40B4-BE49-F238E27FC236}">
                <a16:creationId xmlns:a16="http://schemas.microsoft.com/office/drawing/2014/main" id="{2FB54EBE-E44C-C5CD-12BF-287427556F84}"/>
              </a:ext>
            </a:extLst>
          </p:cNvPr>
          <p:cNvSpPr txBox="1"/>
          <p:nvPr/>
        </p:nvSpPr>
        <p:spPr>
          <a:xfrm>
            <a:off x="273611" y="1714011"/>
            <a:ext cx="11644777" cy="2907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400" b="1" dirty="0">
                <a:solidFill>
                  <a:schemeClr val="accent1"/>
                </a:solidFill>
              </a:rPr>
              <a:t>الأدوات والتقنيات المستخدمة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b="1" dirty="0"/>
              <a:t>الواجهة الخلفية (</a:t>
            </a:r>
            <a:r>
              <a:rPr lang="en-US" sz="2000" b="1" dirty="0"/>
              <a:t> :(Backend</a:t>
            </a:r>
            <a:r>
              <a:rPr lang="ar-SA" sz="2000" dirty="0"/>
              <a:t>لغة البرمجة </a:t>
            </a:r>
            <a:r>
              <a:rPr lang="en-US" sz="2000" b="1" dirty="0"/>
              <a:t>Python</a:t>
            </a:r>
            <a:r>
              <a:rPr lang="en-US" sz="2000" dirty="0"/>
              <a:t> </a:t>
            </a:r>
            <a:r>
              <a:rPr lang="ar-SA" sz="2000" dirty="0"/>
              <a:t> بالاعتماد على إطار العمل </a:t>
            </a:r>
            <a:r>
              <a:rPr lang="en-US" sz="2000" dirty="0"/>
              <a:t> (</a:t>
            </a:r>
            <a:r>
              <a:rPr lang="en-US" sz="2000" b="1" dirty="0"/>
              <a:t>Django)</a:t>
            </a:r>
            <a:r>
              <a:rPr lang="ar-SA" sz="2000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b="1" dirty="0"/>
              <a:t> قواعد البيانات </a:t>
            </a:r>
            <a:r>
              <a:rPr lang="en-US" sz="2000" b="1" dirty="0"/>
              <a:t> :(Database)</a:t>
            </a:r>
            <a:r>
              <a:rPr lang="ar-SA" sz="2000" dirty="0"/>
              <a:t>قواعد بيانات علائقية</a:t>
            </a:r>
            <a:r>
              <a:rPr lang="en-US" sz="2000" dirty="0"/>
              <a:t> (</a:t>
            </a:r>
            <a:r>
              <a:rPr lang="en-US" sz="2000" b="1" dirty="0"/>
              <a:t>SQL) </a:t>
            </a:r>
            <a:r>
              <a:rPr lang="ar-SA" sz="2000" dirty="0"/>
              <a:t>للدقة والموثوقية.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b="1" dirty="0"/>
              <a:t>الواجهة الأمامية (</a:t>
            </a:r>
            <a:r>
              <a:rPr lang="en-US" sz="2000" b="1" dirty="0"/>
              <a:t>Frontend</a:t>
            </a:r>
            <a:r>
              <a:rPr lang="ar-SA" sz="2000" b="1" dirty="0"/>
              <a:t>): </a:t>
            </a:r>
            <a:r>
              <a:rPr lang="ar-SA" sz="2000" dirty="0"/>
              <a:t>تقنيات الويب القياسية </a:t>
            </a:r>
            <a:r>
              <a:rPr lang="en-US" sz="2000" dirty="0"/>
              <a:t> (HTML, CSS, JavaScript)</a:t>
            </a:r>
            <a:r>
              <a:rPr lang="ar-SA" sz="2000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b="1" dirty="0"/>
              <a:t>الذكاء الاصطناعي (</a:t>
            </a:r>
            <a:r>
              <a:rPr lang="en-US" sz="2000" b="1" dirty="0"/>
              <a:t> :(AI &amp; NLP</a:t>
            </a:r>
            <a:r>
              <a:rPr lang="ar-SA" sz="2000" dirty="0"/>
              <a:t>مكتبات ونماذج (</a:t>
            </a:r>
            <a:r>
              <a:rPr lang="en-US" sz="2000" dirty="0"/>
              <a:t> (NLP</a:t>
            </a:r>
            <a:r>
              <a:rPr lang="ar-SA" sz="2000" dirty="0"/>
              <a:t>عبر بيئة </a:t>
            </a:r>
            <a:r>
              <a:rPr lang="en-US" sz="2000" dirty="0"/>
              <a:t>.Python</a:t>
            </a:r>
            <a:endParaRPr lang="ar-SA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b="1" dirty="0"/>
              <a:t>بيئة العمل الجماعي (</a:t>
            </a:r>
            <a:r>
              <a:rPr lang="en-US" sz="2000" b="1" dirty="0"/>
              <a:t>Version Control</a:t>
            </a:r>
            <a:r>
              <a:rPr lang="ar-SA" sz="2000" b="1" dirty="0"/>
              <a:t>): </a:t>
            </a:r>
            <a:r>
              <a:rPr lang="ar-SA" sz="2000" dirty="0"/>
              <a:t>استخدام </a:t>
            </a:r>
            <a:r>
              <a:rPr lang="en-US" sz="2000" b="1" dirty="0"/>
              <a:t>GitHub</a:t>
            </a:r>
            <a:r>
              <a:rPr lang="ar-SA" sz="2000" dirty="0"/>
              <a:t> لتنظيم العمل المشترك بين أعضاء الفريق.</a:t>
            </a:r>
          </a:p>
        </p:txBody>
      </p:sp>
    </p:spTree>
    <p:extLst>
      <p:ext uri="{BB962C8B-B14F-4D97-AF65-F5344CB8AC3E}">
        <p14:creationId xmlns:p14="http://schemas.microsoft.com/office/powerpoint/2010/main" val="480215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جدول 1">
            <a:extLst>
              <a:ext uri="{FF2B5EF4-FFF2-40B4-BE49-F238E27FC236}">
                <a16:creationId xmlns:a16="http://schemas.microsoft.com/office/drawing/2014/main" id="{F8542F93-70F0-31CE-132C-ADEF151D2F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0303656"/>
              </p:ext>
            </p:extLst>
          </p:nvPr>
        </p:nvGraphicFramePr>
        <p:xfrm>
          <a:off x="670770" y="781490"/>
          <a:ext cx="11187402" cy="4832047"/>
        </p:xfrm>
        <a:graphic>
          <a:graphicData uri="http://schemas.openxmlformats.org/drawingml/2006/table">
            <a:tbl>
              <a:tblPr rtl="1" firstRow="1" bandRow="1">
                <a:tableStyleId>{073A0DAA-6AF3-43AB-8588-CEC1D06C72B9}</a:tableStyleId>
              </a:tblPr>
              <a:tblGrid>
                <a:gridCol w="5593701">
                  <a:extLst>
                    <a:ext uri="{9D8B030D-6E8A-4147-A177-3AD203B41FA5}">
                      <a16:colId xmlns:a16="http://schemas.microsoft.com/office/drawing/2014/main" val="3535453323"/>
                    </a:ext>
                  </a:extLst>
                </a:gridCol>
                <a:gridCol w="5593701">
                  <a:extLst>
                    <a:ext uri="{9D8B030D-6E8A-4147-A177-3AD203B41FA5}">
                      <a16:colId xmlns:a16="http://schemas.microsoft.com/office/drawing/2014/main" val="2621474338"/>
                    </a:ext>
                  </a:extLst>
                </a:gridCol>
              </a:tblGrid>
              <a:tr h="768410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r-SA" sz="2400" b="1" dirty="0">
                          <a:solidFill>
                            <a:schemeClr val="bg1"/>
                          </a:solidFill>
                        </a:rPr>
                        <a:t>المتطلبات الوظيفية</a:t>
                      </a:r>
                    </a:p>
                    <a:p>
                      <a:pPr rtl="1"/>
                      <a:endParaRPr lang="ar-S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r-SA" sz="2400" b="1" dirty="0">
                          <a:solidFill>
                            <a:schemeClr val="bg1"/>
                          </a:solidFill>
                        </a:rPr>
                        <a:t>المتطلبات غير وظيفية</a:t>
                      </a:r>
                    </a:p>
                    <a:p>
                      <a:pPr rtl="1"/>
                      <a:endParaRPr lang="ar-S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4437834"/>
                  </a:ext>
                </a:extLst>
              </a:tr>
              <a:tr h="779616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5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وحدة إدارة الحسابات والمصادقة </a:t>
                      </a:r>
                      <a:r>
                        <a:rPr kumimoji="0" lang="en-US" sz="15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Authentication &amp; User Management)</a:t>
                      </a:r>
                      <a:r>
                        <a:rPr kumimoji="0" lang="ar-SA" sz="15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)</a:t>
                      </a:r>
                      <a:endParaRPr kumimoji="0" lang="en-US" sz="1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r-SA" b="1" dirty="0"/>
                        <a:t> الأداء والسرعة (</a:t>
                      </a:r>
                      <a:r>
                        <a:rPr lang="en-US" b="1" dirty="0"/>
                        <a:t>(Performance</a:t>
                      </a:r>
                      <a:endParaRPr lang="en-US" dirty="0"/>
                    </a:p>
                    <a:p>
                      <a:pPr rtl="1"/>
                      <a:endParaRPr lang="ar-S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937021"/>
                  </a:ext>
                </a:extLst>
              </a:tr>
              <a:tr h="771946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5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وحدة إدارة الاستبيانات (</a:t>
                      </a:r>
                      <a:r>
                        <a:rPr kumimoji="0" lang="en-US" sz="15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- Survey Management </a:t>
                      </a:r>
                      <a:r>
                        <a:rPr kumimoji="0" lang="ar-SA" sz="15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لمقدم الخدمة)</a:t>
                      </a:r>
                      <a:endParaRPr kumimoji="0" lang="ar-SA" sz="1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r-SA" b="1" dirty="0"/>
                        <a:t> الدقة (</a:t>
                      </a:r>
                      <a:r>
                        <a:rPr lang="en-US" b="1" dirty="0"/>
                        <a:t>Accuracy</a:t>
                      </a:r>
                      <a:r>
                        <a:rPr lang="ar-SA" b="1" dirty="0"/>
                        <a:t>)</a:t>
                      </a:r>
                      <a:endParaRPr lang="en-US" dirty="0"/>
                    </a:p>
                    <a:p>
                      <a:pPr rtl="1"/>
                      <a:endParaRPr lang="ar-S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672691"/>
                  </a:ext>
                </a:extLst>
              </a:tr>
              <a:tr h="771946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5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وحدة محرك المطابقة (</a:t>
                      </a:r>
                      <a:r>
                        <a:rPr kumimoji="0" lang="en-US" sz="15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- Targeting Engine </a:t>
                      </a:r>
                      <a:r>
                        <a:rPr kumimoji="0" lang="ar-SA" sz="15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النظام الأساسي)</a:t>
                      </a:r>
                      <a:endParaRPr kumimoji="0" lang="ar-SA" sz="1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r-SA" b="1" dirty="0"/>
                        <a:t>الأمان والخصوصية </a:t>
                      </a:r>
                      <a:r>
                        <a:rPr lang="en-US" b="1" dirty="0"/>
                        <a:t>(Security &amp; Privacy)</a:t>
                      </a:r>
                      <a:endParaRPr lang="en-US" dirty="0"/>
                    </a:p>
                    <a:p>
                      <a:pPr rtl="1"/>
                      <a:endParaRPr lang="ar-S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0052897"/>
                  </a:ext>
                </a:extLst>
              </a:tr>
              <a:tr h="779616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5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وحدة الإجابات والذكاء الاصطناعي (</a:t>
                      </a:r>
                      <a:r>
                        <a:rPr kumimoji="0" lang="en-US" sz="15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Responses &amp; AI Integration</a:t>
                      </a:r>
                      <a:r>
                        <a:rPr kumimoji="0" lang="ar-SA" sz="15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)</a:t>
                      </a:r>
                      <a:endParaRPr kumimoji="0" lang="en-US" sz="1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r-SA" b="1" dirty="0"/>
                        <a:t>قابلية الاستخدام (</a:t>
                      </a:r>
                      <a:r>
                        <a:rPr lang="en-US" b="1" dirty="0"/>
                        <a:t>Usability</a:t>
                      </a:r>
                      <a:r>
                        <a:rPr lang="ar-SA" b="1" dirty="0"/>
                        <a:t>)</a:t>
                      </a:r>
                      <a:endParaRPr lang="en-US" dirty="0"/>
                    </a:p>
                    <a:p>
                      <a:pPr rtl="1"/>
                      <a:endParaRPr lang="ar-S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0387070"/>
                  </a:ext>
                </a:extLst>
              </a:tr>
              <a:tr h="96051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5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وحدة التقارير ولوحات التحكم (</a:t>
                      </a:r>
                      <a:r>
                        <a:rPr kumimoji="0" lang="en-US" sz="15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(Dashboards &amp; Reporting</a:t>
                      </a:r>
                      <a:endParaRPr kumimoji="0" lang="en-US" sz="1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r-SA" b="1" dirty="0"/>
                        <a:t> التوافرية وقابلية التوسع (</a:t>
                      </a:r>
                      <a:r>
                        <a:rPr lang="en-US" b="1" dirty="0"/>
                        <a:t>Availability &amp; Scalability</a:t>
                      </a:r>
                      <a:r>
                        <a:rPr lang="ar-SA" b="1" dirty="0"/>
                        <a:t>)</a:t>
                      </a:r>
                      <a:endParaRPr lang="en-US" b="1" dirty="0"/>
                    </a:p>
                    <a:p>
                      <a:pPr rtl="1"/>
                      <a:endParaRPr lang="ar-S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6740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44572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7396CD-93E4-6723-EC5E-95EAED088D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5220" y="761522"/>
            <a:ext cx="9213973" cy="12875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مقدم الخدمة / الباحث (Survey Creator):</a:t>
            </a:r>
            <a:r>
              <a:rPr lang="ar-SA" altLang="ar-SA" dirty="0">
                <a:latin typeface="Arial" panose="020B0604020202020204" pitchFamily="34" charset="0"/>
              </a:rPr>
              <a:t> </a:t>
            </a:r>
            <a:r>
              <a:rPr kumimoji="0" lang="ar-SA" altLang="ar-SA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الجهة المستفيدة من المنصة لجمع البيانات.</a:t>
            </a:r>
            <a:endParaRPr kumimoji="0" lang="ar-SA" altLang="ar-S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المستخدم المُجيب (Respondent): </a:t>
            </a:r>
            <a:r>
              <a:rPr kumimoji="0" lang="ar-SA" altLang="ar-SA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الفرد المستهدف للإجابة على الاستبيانات.</a:t>
            </a:r>
            <a:endParaRPr kumimoji="0" lang="ar-SA" altLang="ar-S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مدير النظام (System Administrator):</a:t>
            </a:r>
            <a:r>
              <a:rPr lang="ar-SA" altLang="ar-SA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ar-SA" altLang="ar-SA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المشرف التقني على المنصة.</a:t>
            </a:r>
            <a:endParaRPr kumimoji="0" lang="ar-SA" altLang="ar-S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مربع نص 2">
            <a:extLst>
              <a:ext uri="{FF2B5EF4-FFF2-40B4-BE49-F238E27FC236}">
                <a16:creationId xmlns:a16="http://schemas.microsoft.com/office/drawing/2014/main" id="{2015423A-1BA5-AA35-708F-4B3914C45213}"/>
              </a:ext>
            </a:extLst>
          </p:cNvPr>
          <p:cNvSpPr txBox="1"/>
          <p:nvPr/>
        </p:nvSpPr>
        <p:spPr>
          <a:xfrm>
            <a:off x="9038252" y="156517"/>
            <a:ext cx="3013788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</a:rPr>
              <a:t>Actors</a:t>
            </a:r>
            <a:endParaRPr lang="ar-SA" b="1" dirty="0">
              <a:solidFill>
                <a:schemeClr val="accent1"/>
              </a:solidFill>
            </a:endParaRPr>
          </a:p>
        </p:txBody>
      </p:sp>
      <p:sp>
        <p:nvSpPr>
          <p:cNvPr id="7" name="مربع نص 6">
            <a:extLst>
              <a:ext uri="{FF2B5EF4-FFF2-40B4-BE49-F238E27FC236}">
                <a16:creationId xmlns:a16="http://schemas.microsoft.com/office/drawing/2014/main" id="{73906974-904E-BDCD-A93D-E3B9C0E1FF56}"/>
              </a:ext>
            </a:extLst>
          </p:cNvPr>
          <p:cNvSpPr txBox="1"/>
          <p:nvPr/>
        </p:nvSpPr>
        <p:spPr>
          <a:xfrm>
            <a:off x="7785619" y="3255526"/>
            <a:ext cx="3533574" cy="336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b="1" dirty="0"/>
              <a:t>مقدم الخدمة (الشركة / الباحث):</a:t>
            </a:r>
            <a:endParaRPr lang="ar-SA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إنشاء حساب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إدارة الاستبيانات (تشمل الإنشاء والتعديل)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تحديد شروط الاستهداف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استعراض نتائج تحليل المشاعر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تسجيل الدخول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تسجيل الخروج</a:t>
            </a:r>
          </a:p>
          <a:p>
            <a:pPr>
              <a:lnSpc>
                <a:spcPct val="150000"/>
              </a:lnSpc>
            </a:pPr>
            <a:endParaRPr lang="ar-SA" dirty="0"/>
          </a:p>
        </p:txBody>
      </p:sp>
      <p:sp>
        <p:nvSpPr>
          <p:cNvPr id="9" name="مربع نص 8">
            <a:extLst>
              <a:ext uri="{FF2B5EF4-FFF2-40B4-BE49-F238E27FC236}">
                <a16:creationId xmlns:a16="http://schemas.microsoft.com/office/drawing/2014/main" id="{EFCD7154-06EF-7EF3-D731-6FB4A357D155}"/>
              </a:ext>
            </a:extLst>
          </p:cNvPr>
          <p:cNvSpPr txBox="1"/>
          <p:nvPr/>
        </p:nvSpPr>
        <p:spPr>
          <a:xfrm>
            <a:off x="3890865" y="2606335"/>
            <a:ext cx="74283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SA" sz="2400" b="1" dirty="0">
                <a:solidFill>
                  <a:schemeClr val="accent1"/>
                </a:solidFill>
              </a:rPr>
              <a:t>حالات الاستخدام حسب الفاعلين (</a:t>
            </a:r>
            <a:r>
              <a:rPr lang="en-US" sz="2400" b="1" dirty="0">
                <a:solidFill>
                  <a:schemeClr val="accent1"/>
                </a:solidFill>
              </a:rPr>
              <a:t>(Use Cases by Actors</a:t>
            </a:r>
            <a:endParaRPr lang="ar-SA" sz="2400" b="1" dirty="0">
              <a:solidFill>
                <a:schemeClr val="accent1"/>
              </a:solidFill>
            </a:endParaRPr>
          </a:p>
        </p:txBody>
      </p:sp>
      <p:sp>
        <p:nvSpPr>
          <p:cNvPr id="11" name="مربع نص 10">
            <a:extLst>
              <a:ext uri="{FF2B5EF4-FFF2-40B4-BE49-F238E27FC236}">
                <a16:creationId xmlns:a16="http://schemas.microsoft.com/office/drawing/2014/main" id="{CE8152E0-698A-86B7-7B47-C9999DE2B867}"/>
              </a:ext>
            </a:extLst>
          </p:cNvPr>
          <p:cNvSpPr txBox="1"/>
          <p:nvPr/>
        </p:nvSpPr>
        <p:spPr>
          <a:xfrm>
            <a:off x="831009" y="3260620"/>
            <a:ext cx="3725246" cy="280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/>
              <a:t>المُجيب (المستخدم):</a:t>
            </a:r>
            <a:endParaRPr lang="ar-SA" sz="20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إنشاء حساب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إدارة الملف الديموغرافي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الإجابة على الاستبيانات المطابقة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تسجيل الدخول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 تسجيل الخروج</a:t>
            </a:r>
          </a:p>
        </p:txBody>
      </p:sp>
      <p:sp>
        <p:nvSpPr>
          <p:cNvPr id="14" name="مربع نص 13">
            <a:extLst>
              <a:ext uri="{FF2B5EF4-FFF2-40B4-BE49-F238E27FC236}">
                <a16:creationId xmlns:a16="http://schemas.microsoft.com/office/drawing/2014/main" id="{0DB0DE35-0EE9-AC75-31FC-364187A3F4C7}"/>
              </a:ext>
            </a:extLst>
          </p:cNvPr>
          <p:cNvSpPr txBox="1"/>
          <p:nvPr/>
        </p:nvSpPr>
        <p:spPr>
          <a:xfrm>
            <a:off x="5221639" y="3260620"/>
            <a:ext cx="2514215" cy="2343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/>
              <a:t>مدير النظام (</a:t>
            </a:r>
            <a:r>
              <a:rPr lang="en-US" sz="2000" b="1" dirty="0"/>
              <a:t>(Admin</a:t>
            </a:r>
            <a:endParaRPr lang="en-US" sz="20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إدارة الحسابات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استخراج تقارير الأداء العام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تسجيل الدخول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 تسجيل الخروج</a:t>
            </a:r>
          </a:p>
        </p:txBody>
      </p:sp>
    </p:spTree>
    <p:extLst>
      <p:ext uri="{BB962C8B-B14F-4D97-AF65-F5344CB8AC3E}">
        <p14:creationId xmlns:p14="http://schemas.microsoft.com/office/powerpoint/2010/main" val="244173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8DD57BF0-A466-1E14-8F00-579B0A9C3D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0261" y="0"/>
            <a:ext cx="10245011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8364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0CE5F3-9BF6-0139-3D36-E258C0CB38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3142" y="1730708"/>
            <a:ext cx="11308703" cy="29956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SA" altLang="ar-SA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المراجع الرئيسية (Key References)</a:t>
            </a:r>
            <a:endParaRPr kumimoji="0" lang="ar-SA" altLang="ar-SA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في منهجية الاستبيانات ومشاكل العينة (Survey Methodology):</a:t>
            </a:r>
            <a:endParaRPr kumimoji="0" lang="ar-SA" altLang="ar-S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ar-S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Groves, R. M., et al. (2011). Survey Methodology. John Wiley &amp; Sons.</a:t>
            </a:r>
            <a:endParaRPr kumimoji="0" lang="ar-SA" altLang="ar-S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في الذكاء الاصطناعي وتحليل المشاعر (AI &amp; Sentiment Analysis):</a:t>
            </a:r>
          </a:p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dirty="0"/>
              <a:t>Liu, B. (2020). </a:t>
            </a:r>
            <a:r>
              <a:rPr lang="en-US" i="1" dirty="0"/>
              <a:t>Sentiment Analysis: Mining Opinions, Sentiments, and Emotions</a:t>
            </a:r>
            <a:r>
              <a:rPr lang="en-US" dirty="0"/>
              <a:t>. Cambridge University Press.</a:t>
            </a:r>
            <a:endParaRPr kumimoji="0" lang="ar-SA" altLang="ar-S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في هندسة البرمجيات ومنهجية Agile (Software Engineering):</a:t>
            </a:r>
            <a:endParaRPr kumimoji="0" lang="ar-SA" altLang="ar-S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ar-S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Sommerville, I. (2015). Software Engineering (10th ed.). Pearson.</a:t>
            </a:r>
            <a:endParaRPr kumimoji="0" lang="ar-SA" altLang="ar-S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0861852"/>
      </p:ext>
    </p:extLst>
  </p:cSld>
  <p:clrMapOvr>
    <a:masterClrMapping/>
  </p:clrMapOvr>
</p:sld>
</file>

<file path=ppt/theme/theme1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1441</TotalTime>
  <Words>981</Words>
  <Application>Microsoft Office PowerPoint</Application>
  <PresentationFormat>شاشة عريضة</PresentationFormat>
  <Paragraphs>117</Paragraphs>
  <Slides>11</Slides>
  <Notes>0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7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11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Calibri Light</vt:lpstr>
      <vt:lpstr>Simplified Arabic</vt:lpstr>
      <vt:lpstr>Times New Roman</vt:lpstr>
      <vt:lpstr>نسق Office</vt:lpstr>
      <vt:lpstr>Smart Opinion Survey Platform منصة استبيانات الآراء الذكية   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YAMAN BASAM</dc:creator>
  <cp:lastModifiedBy>YAMAN BASAM</cp:lastModifiedBy>
  <cp:revision>8</cp:revision>
  <dcterms:created xsi:type="dcterms:W3CDTF">2026-03-06T14:39:01Z</dcterms:created>
  <dcterms:modified xsi:type="dcterms:W3CDTF">2026-03-15T20:06:30Z</dcterms:modified>
</cp:coreProperties>
</file>