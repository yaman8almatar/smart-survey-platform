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bookmarkIdSeed="2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ar-SA"/>
    </a:defPPr>
    <a:lvl1pPr marL="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نمط متوسط 2 - تميي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5005" autoAdjust="0"/>
    <p:restoredTop sz="94660"/>
  </p:normalViewPr>
  <p:slideViewPr>
    <p:cSldViewPr snapToGrid="0">
      <p:cViewPr>
        <p:scale>
          <a:sx n="90" d="100"/>
          <a:sy n="90" d="100"/>
        </p:scale>
        <p:origin x="398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شريحة عنوان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عنوان 1">
            <a:extLst>
              <a:ext uri="{FF2B5EF4-FFF2-40B4-BE49-F238E27FC236}">
                <a16:creationId xmlns:a16="http://schemas.microsoft.com/office/drawing/2014/main" id="{94F3E957-1C76-BB63-C202-BCF2E38887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ar-SA"/>
              <a:t>انقر لتحرير نمط عنوان الشكل الرئيسي</a:t>
            </a:r>
          </a:p>
        </p:txBody>
      </p:sp>
      <p:sp>
        <p:nvSpPr>
          <p:cNvPr id="3" name="عنوان فرعي 2">
            <a:extLst>
              <a:ext uri="{FF2B5EF4-FFF2-40B4-BE49-F238E27FC236}">
                <a16:creationId xmlns:a16="http://schemas.microsoft.com/office/drawing/2014/main" id="{5336A8E6-1093-E487-E0BF-3CC0FBF14CE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ar-SA"/>
              <a:t>انقر لتحرير نمط العنوان الفرعي للشكل الرئيسي</a:t>
            </a:r>
          </a:p>
        </p:txBody>
      </p:sp>
      <p:sp>
        <p:nvSpPr>
          <p:cNvPr id="4" name="عنصر نائب للتاريخ 3">
            <a:extLst>
              <a:ext uri="{FF2B5EF4-FFF2-40B4-BE49-F238E27FC236}">
                <a16:creationId xmlns:a16="http://schemas.microsoft.com/office/drawing/2014/main" id="{C03E4D22-04D9-0E5E-5C63-D129AD27F3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6A8431-2457-4B17-8EAD-CB7DD7790385}" type="datetimeFigureOut">
              <a:rPr lang="ar-SA" smtClean="0"/>
              <a:t>18/09/47</a:t>
            </a:fld>
            <a:endParaRPr lang="ar-SA"/>
          </a:p>
        </p:txBody>
      </p:sp>
      <p:sp>
        <p:nvSpPr>
          <p:cNvPr id="5" name="عنصر نائب للتذييل 4">
            <a:extLst>
              <a:ext uri="{FF2B5EF4-FFF2-40B4-BE49-F238E27FC236}">
                <a16:creationId xmlns:a16="http://schemas.microsoft.com/office/drawing/2014/main" id="{FB88D1B4-9E5D-6395-5549-BE2D7FCAB5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SA"/>
          </a:p>
        </p:txBody>
      </p:sp>
      <p:sp>
        <p:nvSpPr>
          <p:cNvPr id="6" name="عنصر نائب لرقم الشريحة 5">
            <a:extLst>
              <a:ext uri="{FF2B5EF4-FFF2-40B4-BE49-F238E27FC236}">
                <a16:creationId xmlns:a16="http://schemas.microsoft.com/office/drawing/2014/main" id="{543EE8A5-13E4-F03F-A228-3E8CB26532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6C7275-70AE-4EAC-9F52-438E3B9A04EE}" type="slidenum">
              <a:rPr lang="ar-SA" smtClean="0"/>
              <a:t>‹#›</a:t>
            </a:fld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5804599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عنوان ومحتو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عنوان 1">
            <a:extLst>
              <a:ext uri="{FF2B5EF4-FFF2-40B4-BE49-F238E27FC236}">
                <a16:creationId xmlns:a16="http://schemas.microsoft.com/office/drawing/2014/main" id="{2FA433B2-A226-F119-DAC1-8CD454226D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ar-SA"/>
              <a:t>انقر لتحرير نمط عنوان الشكل الرئيسي</a:t>
            </a:r>
          </a:p>
        </p:txBody>
      </p:sp>
      <p:sp>
        <p:nvSpPr>
          <p:cNvPr id="3" name="عنصر نائب للمحتوى 2">
            <a:extLst>
              <a:ext uri="{FF2B5EF4-FFF2-40B4-BE49-F238E27FC236}">
                <a16:creationId xmlns:a16="http://schemas.microsoft.com/office/drawing/2014/main" id="{94068328-1686-6FE4-6032-D4A56D6E43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ar-SA"/>
              <a:t>انقر لتحرير أنماط نص الشكل الرئيسي</a:t>
            </a:r>
          </a:p>
          <a:p>
            <a:pPr lvl="1"/>
            <a:r>
              <a:rPr lang="ar-SA"/>
              <a:t>المستوى الثاني</a:t>
            </a:r>
          </a:p>
          <a:p>
            <a:pPr lvl="2"/>
            <a:r>
              <a:rPr lang="ar-SA"/>
              <a:t>المستوى الثالث</a:t>
            </a:r>
          </a:p>
          <a:p>
            <a:pPr lvl="3"/>
            <a:r>
              <a:rPr lang="ar-SA"/>
              <a:t>المستوى الرابع</a:t>
            </a:r>
          </a:p>
          <a:p>
            <a:pPr lvl="4"/>
            <a:r>
              <a:rPr lang="ar-SA"/>
              <a:t>المستوى الخامس</a:t>
            </a:r>
          </a:p>
        </p:txBody>
      </p:sp>
      <p:sp>
        <p:nvSpPr>
          <p:cNvPr id="4" name="عنصر نائب للتاريخ 3">
            <a:extLst>
              <a:ext uri="{FF2B5EF4-FFF2-40B4-BE49-F238E27FC236}">
                <a16:creationId xmlns:a16="http://schemas.microsoft.com/office/drawing/2014/main" id="{8A077FAF-1589-8E4D-9F12-8FDD9B0FEF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6A8431-2457-4B17-8EAD-CB7DD7790385}" type="datetimeFigureOut">
              <a:rPr lang="ar-SA" smtClean="0"/>
              <a:t>18/09/47</a:t>
            </a:fld>
            <a:endParaRPr lang="ar-SA"/>
          </a:p>
        </p:txBody>
      </p:sp>
      <p:sp>
        <p:nvSpPr>
          <p:cNvPr id="5" name="عنصر نائب للتذييل 4">
            <a:extLst>
              <a:ext uri="{FF2B5EF4-FFF2-40B4-BE49-F238E27FC236}">
                <a16:creationId xmlns:a16="http://schemas.microsoft.com/office/drawing/2014/main" id="{9C583B27-95F5-2B58-FF3C-75D66DF011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SA"/>
          </a:p>
        </p:txBody>
      </p:sp>
      <p:sp>
        <p:nvSpPr>
          <p:cNvPr id="6" name="عنصر نائب لرقم الشريحة 5">
            <a:extLst>
              <a:ext uri="{FF2B5EF4-FFF2-40B4-BE49-F238E27FC236}">
                <a16:creationId xmlns:a16="http://schemas.microsoft.com/office/drawing/2014/main" id="{15BE3BBC-A668-A53E-9591-E9A3FF9815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6C7275-70AE-4EAC-9F52-438E3B9A04EE}" type="slidenum">
              <a:rPr lang="ar-SA" smtClean="0"/>
              <a:t>‹#›</a:t>
            </a:fld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12214687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عنوان المقط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عنوان 1">
            <a:extLst>
              <a:ext uri="{FF2B5EF4-FFF2-40B4-BE49-F238E27FC236}">
                <a16:creationId xmlns:a16="http://schemas.microsoft.com/office/drawing/2014/main" id="{8B28B023-0246-D85F-7258-50A88E6FE9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ar-SA"/>
              <a:t>انقر لتحرير نمط عنوان الشكل الرئيسي</a:t>
            </a:r>
          </a:p>
        </p:txBody>
      </p:sp>
      <p:sp>
        <p:nvSpPr>
          <p:cNvPr id="3" name="عنصر نائب للنص 2">
            <a:extLst>
              <a:ext uri="{FF2B5EF4-FFF2-40B4-BE49-F238E27FC236}">
                <a16:creationId xmlns:a16="http://schemas.microsoft.com/office/drawing/2014/main" id="{9E55503F-B3F9-3BD3-2595-1F140CFE10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ar-SA"/>
              <a:t>انقر لتحرير أنماط نص الشكل الرئيسي</a:t>
            </a:r>
          </a:p>
        </p:txBody>
      </p:sp>
      <p:sp>
        <p:nvSpPr>
          <p:cNvPr id="4" name="عنصر نائب للتاريخ 3">
            <a:extLst>
              <a:ext uri="{FF2B5EF4-FFF2-40B4-BE49-F238E27FC236}">
                <a16:creationId xmlns:a16="http://schemas.microsoft.com/office/drawing/2014/main" id="{C2695CBD-DFC8-35CA-4D77-284D809866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6A8431-2457-4B17-8EAD-CB7DD7790385}" type="datetimeFigureOut">
              <a:rPr lang="ar-SA" smtClean="0"/>
              <a:t>18/09/47</a:t>
            </a:fld>
            <a:endParaRPr lang="ar-SA"/>
          </a:p>
        </p:txBody>
      </p:sp>
      <p:sp>
        <p:nvSpPr>
          <p:cNvPr id="5" name="عنصر نائب للتذييل 4">
            <a:extLst>
              <a:ext uri="{FF2B5EF4-FFF2-40B4-BE49-F238E27FC236}">
                <a16:creationId xmlns:a16="http://schemas.microsoft.com/office/drawing/2014/main" id="{A1900813-C161-D8F2-1719-F0C065ABAB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SA"/>
          </a:p>
        </p:txBody>
      </p:sp>
      <p:sp>
        <p:nvSpPr>
          <p:cNvPr id="6" name="عنصر نائب لرقم الشريحة 5">
            <a:extLst>
              <a:ext uri="{FF2B5EF4-FFF2-40B4-BE49-F238E27FC236}">
                <a16:creationId xmlns:a16="http://schemas.microsoft.com/office/drawing/2014/main" id="{FFC24FEE-16B9-23D5-5634-188678AC26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6C7275-70AE-4EAC-9F52-438E3B9A04EE}" type="slidenum">
              <a:rPr lang="ar-SA" smtClean="0"/>
              <a:t>‹#›</a:t>
            </a:fld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12380238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محتويان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عنوان 1">
            <a:extLst>
              <a:ext uri="{FF2B5EF4-FFF2-40B4-BE49-F238E27FC236}">
                <a16:creationId xmlns:a16="http://schemas.microsoft.com/office/drawing/2014/main" id="{FA0A96E1-4883-00EC-56A5-D2AE57131B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ar-SA"/>
              <a:t>انقر لتحرير نمط عنوان الشكل الرئيسي</a:t>
            </a:r>
          </a:p>
        </p:txBody>
      </p:sp>
      <p:sp>
        <p:nvSpPr>
          <p:cNvPr id="3" name="عنصر نائب للمحتوى 2">
            <a:extLst>
              <a:ext uri="{FF2B5EF4-FFF2-40B4-BE49-F238E27FC236}">
                <a16:creationId xmlns:a16="http://schemas.microsoft.com/office/drawing/2014/main" id="{B5034E36-CFED-19CC-9762-1440B4E2682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ar-SA"/>
              <a:t>انقر لتحرير أنماط نص الشكل الرئيسي</a:t>
            </a:r>
          </a:p>
          <a:p>
            <a:pPr lvl="1"/>
            <a:r>
              <a:rPr lang="ar-SA"/>
              <a:t>المستوى الثاني</a:t>
            </a:r>
          </a:p>
          <a:p>
            <a:pPr lvl="2"/>
            <a:r>
              <a:rPr lang="ar-SA"/>
              <a:t>المستوى الثالث</a:t>
            </a:r>
          </a:p>
          <a:p>
            <a:pPr lvl="3"/>
            <a:r>
              <a:rPr lang="ar-SA"/>
              <a:t>المستوى الرابع</a:t>
            </a:r>
          </a:p>
          <a:p>
            <a:pPr lvl="4"/>
            <a:r>
              <a:rPr lang="ar-SA"/>
              <a:t>المستوى الخامس</a:t>
            </a:r>
          </a:p>
        </p:txBody>
      </p:sp>
      <p:sp>
        <p:nvSpPr>
          <p:cNvPr id="4" name="عنصر نائب للمحتوى 3">
            <a:extLst>
              <a:ext uri="{FF2B5EF4-FFF2-40B4-BE49-F238E27FC236}">
                <a16:creationId xmlns:a16="http://schemas.microsoft.com/office/drawing/2014/main" id="{16AABB04-9765-FB2E-E935-97185CF7C51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ar-SA"/>
              <a:t>انقر لتحرير أنماط نص الشكل الرئيسي</a:t>
            </a:r>
          </a:p>
          <a:p>
            <a:pPr lvl="1"/>
            <a:r>
              <a:rPr lang="ar-SA"/>
              <a:t>المستوى الثاني</a:t>
            </a:r>
          </a:p>
          <a:p>
            <a:pPr lvl="2"/>
            <a:r>
              <a:rPr lang="ar-SA"/>
              <a:t>المستوى الثالث</a:t>
            </a:r>
          </a:p>
          <a:p>
            <a:pPr lvl="3"/>
            <a:r>
              <a:rPr lang="ar-SA"/>
              <a:t>المستوى الرابع</a:t>
            </a:r>
          </a:p>
          <a:p>
            <a:pPr lvl="4"/>
            <a:r>
              <a:rPr lang="ar-SA"/>
              <a:t>المستوى الخامس</a:t>
            </a:r>
          </a:p>
        </p:txBody>
      </p:sp>
      <p:sp>
        <p:nvSpPr>
          <p:cNvPr id="5" name="عنصر نائب للتاريخ 4">
            <a:extLst>
              <a:ext uri="{FF2B5EF4-FFF2-40B4-BE49-F238E27FC236}">
                <a16:creationId xmlns:a16="http://schemas.microsoft.com/office/drawing/2014/main" id="{F248EA6C-D421-1EB5-0D95-915EC64E8F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6A8431-2457-4B17-8EAD-CB7DD7790385}" type="datetimeFigureOut">
              <a:rPr lang="ar-SA" smtClean="0"/>
              <a:t>18/09/47</a:t>
            </a:fld>
            <a:endParaRPr lang="ar-SA"/>
          </a:p>
        </p:txBody>
      </p:sp>
      <p:sp>
        <p:nvSpPr>
          <p:cNvPr id="6" name="عنصر نائب للتذييل 5">
            <a:extLst>
              <a:ext uri="{FF2B5EF4-FFF2-40B4-BE49-F238E27FC236}">
                <a16:creationId xmlns:a16="http://schemas.microsoft.com/office/drawing/2014/main" id="{F06F8FB0-31E8-62BA-E96F-D949DD124D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SA"/>
          </a:p>
        </p:txBody>
      </p:sp>
      <p:sp>
        <p:nvSpPr>
          <p:cNvPr id="7" name="عنصر نائب لرقم الشريحة 6">
            <a:extLst>
              <a:ext uri="{FF2B5EF4-FFF2-40B4-BE49-F238E27FC236}">
                <a16:creationId xmlns:a16="http://schemas.microsoft.com/office/drawing/2014/main" id="{A9139043-CA3C-1A2D-051B-DC5BD9EF8D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6C7275-70AE-4EAC-9F52-438E3B9A04EE}" type="slidenum">
              <a:rPr lang="ar-SA" smtClean="0"/>
              <a:t>‹#›</a:t>
            </a:fld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21780797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مقارن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عنوان 1">
            <a:extLst>
              <a:ext uri="{FF2B5EF4-FFF2-40B4-BE49-F238E27FC236}">
                <a16:creationId xmlns:a16="http://schemas.microsoft.com/office/drawing/2014/main" id="{D0C295EF-27F3-DCEF-32E0-4C5F0EED2F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ar-SA"/>
              <a:t>انقر لتحرير نمط عنوان الشكل الرئيسي</a:t>
            </a:r>
          </a:p>
        </p:txBody>
      </p:sp>
      <p:sp>
        <p:nvSpPr>
          <p:cNvPr id="3" name="عنصر نائب للنص 2">
            <a:extLst>
              <a:ext uri="{FF2B5EF4-FFF2-40B4-BE49-F238E27FC236}">
                <a16:creationId xmlns:a16="http://schemas.microsoft.com/office/drawing/2014/main" id="{A20999BE-2B88-26DD-664D-468C356CF5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ar-SA"/>
              <a:t>انقر لتحرير أنماط نص الشكل الرئيسي</a:t>
            </a:r>
          </a:p>
        </p:txBody>
      </p:sp>
      <p:sp>
        <p:nvSpPr>
          <p:cNvPr id="4" name="عنصر نائب للمحتوى 3">
            <a:extLst>
              <a:ext uri="{FF2B5EF4-FFF2-40B4-BE49-F238E27FC236}">
                <a16:creationId xmlns:a16="http://schemas.microsoft.com/office/drawing/2014/main" id="{43D51DFA-EF3F-A3A3-23BE-93F4D3CABF8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ar-SA"/>
              <a:t>انقر لتحرير أنماط نص الشكل الرئيسي</a:t>
            </a:r>
          </a:p>
          <a:p>
            <a:pPr lvl="1"/>
            <a:r>
              <a:rPr lang="ar-SA"/>
              <a:t>المستوى الثاني</a:t>
            </a:r>
          </a:p>
          <a:p>
            <a:pPr lvl="2"/>
            <a:r>
              <a:rPr lang="ar-SA"/>
              <a:t>المستوى الثالث</a:t>
            </a:r>
          </a:p>
          <a:p>
            <a:pPr lvl="3"/>
            <a:r>
              <a:rPr lang="ar-SA"/>
              <a:t>المستوى الرابع</a:t>
            </a:r>
          </a:p>
          <a:p>
            <a:pPr lvl="4"/>
            <a:r>
              <a:rPr lang="ar-SA"/>
              <a:t>المستوى الخامس</a:t>
            </a:r>
          </a:p>
        </p:txBody>
      </p:sp>
      <p:sp>
        <p:nvSpPr>
          <p:cNvPr id="5" name="عنصر نائب للنص 4">
            <a:extLst>
              <a:ext uri="{FF2B5EF4-FFF2-40B4-BE49-F238E27FC236}">
                <a16:creationId xmlns:a16="http://schemas.microsoft.com/office/drawing/2014/main" id="{38C5B6A6-D4C2-5160-0A1A-EF13FF1EFC0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ar-SA"/>
              <a:t>انقر لتحرير أنماط نص الشكل الرئيسي</a:t>
            </a:r>
          </a:p>
        </p:txBody>
      </p:sp>
      <p:sp>
        <p:nvSpPr>
          <p:cNvPr id="6" name="عنصر نائب للمحتوى 5">
            <a:extLst>
              <a:ext uri="{FF2B5EF4-FFF2-40B4-BE49-F238E27FC236}">
                <a16:creationId xmlns:a16="http://schemas.microsoft.com/office/drawing/2014/main" id="{C8A85D16-E389-D0B8-991D-7DAAF6B1CB7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ar-SA"/>
              <a:t>انقر لتحرير أنماط نص الشكل الرئيسي</a:t>
            </a:r>
          </a:p>
          <a:p>
            <a:pPr lvl="1"/>
            <a:r>
              <a:rPr lang="ar-SA"/>
              <a:t>المستوى الثاني</a:t>
            </a:r>
          </a:p>
          <a:p>
            <a:pPr lvl="2"/>
            <a:r>
              <a:rPr lang="ar-SA"/>
              <a:t>المستوى الثالث</a:t>
            </a:r>
          </a:p>
          <a:p>
            <a:pPr lvl="3"/>
            <a:r>
              <a:rPr lang="ar-SA"/>
              <a:t>المستوى الرابع</a:t>
            </a:r>
          </a:p>
          <a:p>
            <a:pPr lvl="4"/>
            <a:r>
              <a:rPr lang="ar-SA"/>
              <a:t>المستوى الخامس</a:t>
            </a:r>
          </a:p>
        </p:txBody>
      </p:sp>
      <p:sp>
        <p:nvSpPr>
          <p:cNvPr id="7" name="عنصر نائب للتاريخ 6">
            <a:extLst>
              <a:ext uri="{FF2B5EF4-FFF2-40B4-BE49-F238E27FC236}">
                <a16:creationId xmlns:a16="http://schemas.microsoft.com/office/drawing/2014/main" id="{A1CF1148-3766-B0F2-B7D4-59079AF378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6A8431-2457-4B17-8EAD-CB7DD7790385}" type="datetimeFigureOut">
              <a:rPr lang="ar-SA" smtClean="0"/>
              <a:t>18/09/47</a:t>
            </a:fld>
            <a:endParaRPr lang="ar-SA"/>
          </a:p>
        </p:txBody>
      </p:sp>
      <p:sp>
        <p:nvSpPr>
          <p:cNvPr id="8" name="عنصر نائب للتذييل 7">
            <a:extLst>
              <a:ext uri="{FF2B5EF4-FFF2-40B4-BE49-F238E27FC236}">
                <a16:creationId xmlns:a16="http://schemas.microsoft.com/office/drawing/2014/main" id="{9BFFADB6-4F56-625B-C7C9-F0886D5240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SA"/>
          </a:p>
        </p:txBody>
      </p:sp>
      <p:sp>
        <p:nvSpPr>
          <p:cNvPr id="9" name="عنصر نائب لرقم الشريحة 8">
            <a:extLst>
              <a:ext uri="{FF2B5EF4-FFF2-40B4-BE49-F238E27FC236}">
                <a16:creationId xmlns:a16="http://schemas.microsoft.com/office/drawing/2014/main" id="{50F17430-22F1-0700-525D-1C8B3EF8EC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6C7275-70AE-4EAC-9F52-438E3B9A04EE}" type="slidenum">
              <a:rPr lang="ar-SA" smtClean="0"/>
              <a:t>‹#›</a:t>
            </a:fld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28273864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عنوان فقط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عنوان 1">
            <a:extLst>
              <a:ext uri="{FF2B5EF4-FFF2-40B4-BE49-F238E27FC236}">
                <a16:creationId xmlns:a16="http://schemas.microsoft.com/office/drawing/2014/main" id="{337901A0-D1FB-5222-FF68-96CE63242C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ar-SA"/>
              <a:t>انقر لتحرير نمط عنوان الشكل الرئيسي</a:t>
            </a:r>
          </a:p>
        </p:txBody>
      </p:sp>
      <p:sp>
        <p:nvSpPr>
          <p:cNvPr id="3" name="عنصر نائب للتاريخ 2">
            <a:extLst>
              <a:ext uri="{FF2B5EF4-FFF2-40B4-BE49-F238E27FC236}">
                <a16:creationId xmlns:a16="http://schemas.microsoft.com/office/drawing/2014/main" id="{265C04BC-6BC6-A2C8-95E7-61008A7D0C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6A8431-2457-4B17-8EAD-CB7DD7790385}" type="datetimeFigureOut">
              <a:rPr lang="ar-SA" smtClean="0"/>
              <a:t>18/09/47</a:t>
            </a:fld>
            <a:endParaRPr lang="ar-SA"/>
          </a:p>
        </p:txBody>
      </p:sp>
      <p:sp>
        <p:nvSpPr>
          <p:cNvPr id="4" name="عنصر نائب للتذييل 3">
            <a:extLst>
              <a:ext uri="{FF2B5EF4-FFF2-40B4-BE49-F238E27FC236}">
                <a16:creationId xmlns:a16="http://schemas.microsoft.com/office/drawing/2014/main" id="{4E5F52C9-E04B-F2A4-3FB4-D030F5F54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SA"/>
          </a:p>
        </p:txBody>
      </p:sp>
      <p:sp>
        <p:nvSpPr>
          <p:cNvPr id="5" name="عنصر نائب لرقم الشريحة 4">
            <a:extLst>
              <a:ext uri="{FF2B5EF4-FFF2-40B4-BE49-F238E27FC236}">
                <a16:creationId xmlns:a16="http://schemas.microsoft.com/office/drawing/2014/main" id="{79832D75-9CAF-1A4A-A573-97F4FDEC7B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6C7275-70AE-4EAC-9F52-438E3B9A04EE}" type="slidenum">
              <a:rPr lang="ar-SA" smtClean="0"/>
              <a:t>‹#›</a:t>
            </a:fld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5642280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فار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عنصر نائب للتاريخ 1">
            <a:extLst>
              <a:ext uri="{FF2B5EF4-FFF2-40B4-BE49-F238E27FC236}">
                <a16:creationId xmlns:a16="http://schemas.microsoft.com/office/drawing/2014/main" id="{7B05531B-0D51-4845-D04C-230DFA54E7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6A8431-2457-4B17-8EAD-CB7DD7790385}" type="datetimeFigureOut">
              <a:rPr lang="ar-SA" smtClean="0"/>
              <a:t>18/09/47</a:t>
            </a:fld>
            <a:endParaRPr lang="ar-SA"/>
          </a:p>
        </p:txBody>
      </p:sp>
      <p:sp>
        <p:nvSpPr>
          <p:cNvPr id="3" name="عنصر نائب للتذييل 2">
            <a:extLst>
              <a:ext uri="{FF2B5EF4-FFF2-40B4-BE49-F238E27FC236}">
                <a16:creationId xmlns:a16="http://schemas.microsoft.com/office/drawing/2014/main" id="{934A2299-E4CE-0556-6BCA-ECE551E62A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SA"/>
          </a:p>
        </p:txBody>
      </p:sp>
      <p:sp>
        <p:nvSpPr>
          <p:cNvPr id="4" name="عنصر نائب لرقم الشريحة 3">
            <a:extLst>
              <a:ext uri="{FF2B5EF4-FFF2-40B4-BE49-F238E27FC236}">
                <a16:creationId xmlns:a16="http://schemas.microsoft.com/office/drawing/2014/main" id="{1A1791E1-3A9D-5BF4-50E6-737DF5B7D3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6C7275-70AE-4EAC-9F52-438E3B9A04EE}" type="slidenum">
              <a:rPr lang="ar-SA" smtClean="0"/>
              <a:t>‹#›</a:t>
            </a:fld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22534361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محتوى مع تسمية توضيحي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عنوان 1">
            <a:extLst>
              <a:ext uri="{FF2B5EF4-FFF2-40B4-BE49-F238E27FC236}">
                <a16:creationId xmlns:a16="http://schemas.microsoft.com/office/drawing/2014/main" id="{DDA2A992-CF3F-FAA7-11DD-11D1DD3EB0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ar-SA"/>
              <a:t>انقر لتحرير نمط عنوان الشكل الرئيسي</a:t>
            </a:r>
          </a:p>
        </p:txBody>
      </p:sp>
      <p:sp>
        <p:nvSpPr>
          <p:cNvPr id="3" name="عنصر نائب للمحتوى 2">
            <a:extLst>
              <a:ext uri="{FF2B5EF4-FFF2-40B4-BE49-F238E27FC236}">
                <a16:creationId xmlns:a16="http://schemas.microsoft.com/office/drawing/2014/main" id="{70AE71DE-143A-BC45-FE76-5F54D9234F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ar-SA"/>
              <a:t>انقر لتحرير أنماط نص الشكل الرئيسي</a:t>
            </a:r>
          </a:p>
          <a:p>
            <a:pPr lvl="1"/>
            <a:r>
              <a:rPr lang="ar-SA"/>
              <a:t>المستوى الثاني</a:t>
            </a:r>
          </a:p>
          <a:p>
            <a:pPr lvl="2"/>
            <a:r>
              <a:rPr lang="ar-SA"/>
              <a:t>المستوى الثالث</a:t>
            </a:r>
          </a:p>
          <a:p>
            <a:pPr lvl="3"/>
            <a:r>
              <a:rPr lang="ar-SA"/>
              <a:t>المستوى الرابع</a:t>
            </a:r>
          </a:p>
          <a:p>
            <a:pPr lvl="4"/>
            <a:r>
              <a:rPr lang="ar-SA"/>
              <a:t>المستوى الخامس</a:t>
            </a:r>
          </a:p>
        </p:txBody>
      </p:sp>
      <p:sp>
        <p:nvSpPr>
          <p:cNvPr id="4" name="عنصر نائب للنص 3">
            <a:extLst>
              <a:ext uri="{FF2B5EF4-FFF2-40B4-BE49-F238E27FC236}">
                <a16:creationId xmlns:a16="http://schemas.microsoft.com/office/drawing/2014/main" id="{C5D85B43-175E-750C-A36C-01A6074CED1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ar-SA"/>
              <a:t>انقر لتحرير أنماط نص الشكل الرئيسي</a:t>
            </a:r>
          </a:p>
        </p:txBody>
      </p:sp>
      <p:sp>
        <p:nvSpPr>
          <p:cNvPr id="5" name="عنصر نائب للتاريخ 4">
            <a:extLst>
              <a:ext uri="{FF2B5EF4-FFF2-40B4-BE49-F238E27FC236}">
                <a16:creationId xmlns:a16="http://schemas.microsoft.com/office/drawing/2014/main" id="{21EC6905-39BD-5FAC-A929-B2E6EFF862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6A8431-2457-4B17-8EAD-CB7DD7790385}" type="datetimeFigureOut">
              <a:rPr lang="ar-SA" smtClean="0"/>
              <a:t>18/09/47</a:t>
            </a:fld>
            <a:endParaRPr lang="ar-SA"/>
          </a:p>
        </p:txBody>
      </p:sp>
      <p:sp>
        <p:nvSpPr>
          <p:cNvPr id="6" name="عنصر نائب للتذييل 5">
            <a:extLst>
              <a:ext uri="{FF2B5EF4-FFF2-40B4-BE49-F238E27FC236}">
                <a16:creationId xmlns:a16="http://schemas.microsoft.com/office/drawing/2014/main" id="{164BA39F-8C75-0D80-7DD8-AABE70216F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SA"/>
          </a:p>
        </p:txBody>
      </p:sp>
      <p:sp>
        <p:nvSpPr>
          <p:cNvPr id="7" name="عنصر نائب لرقم الشريحة 6">
            <a:extLst>
              <a:ext uri="{FF2B5EF4-FFF2-40B4-BE49-F238E27FC236}">
                <a16:creationId xmlns:a16="http://schemas.microsoft.com/office/drawing/2014/main" id="{568381F1-B263-8D8C-C71F-044DA7A605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6C7275-70AE-4EAC-9F52-438E3B9A04EE}" type="slidenum">
              <a:rPr lang="ar-SA" smtClean="0"/>
              <a:t>‹#›</a:t>
            </a:fld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18776311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صورة مع تسمية توضيحي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عنوان 1">
            <a:extLst>
              <a:ext uri="{FF2B5EF4-FFF2-40B4-BE49-F238E27FC236}">
                <a16:creationId xmlns:a16="http://schemas.microsoft.com/office/drawing/2014/main" id="{AB1E241A-E4B1-0F4D-6F76-18AA4028CA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ar-SA"/>
              <a:t>انقر لتحرير نمط عنوان الشكل الرئيسي</a:t>
            </a:r>
          </a:p>
        </p:txBody>
      </p:sp>
      <p:sp>
        <p:nvSpPr>
          <p:cNvPr id="3" name="عنصر نائب للصورة 2">
            <a:extLst>
              <a:ext uri="{FF2B5EF4-FFF2-40B4-BE49-F238E27FC236}">
                <a16:creationId xmlns:a16="http://schemas.microsoft.com/office/drawing/2014/main" id="{903AC795-CEA2-CF65-9A4C-40100CD769B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ar-SA"/>
          </a:p>
        </p:txBody>
      </p:sp>
      <p:sp>
        <p:nvSpPr>
          <p:cNvPr id="4" name="عنصر نائب للنص 3">
            <a:extLst>
              <a:ext uri="{FF2B5EF4-FFF2-40B4-BE49-F238E27FC236}">
                <a16:creationId xmlns:a16="http://schemas.microsoft.com/office/drawing/2014/main" id="{8CF58445-FE9F-F88D-196B-31BC6B2BCE0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ar-SA"/>
              <a:t>انقر لتحرير أنماط نص الشكل الرئيسي</a:t>
            </a:r>
          </a:p>
        </p:txBody>
      </p:sp>
      <p:sp>
        <p:nvSpPr>
          <p:cNvPr id="5" name="عنصر نائب للتاريخ 4">
            <a:extLst>
              <a:ext uri="{FF2B5EF4-FFF2-40B4-BE49-F238E27FC236}">
                <a16:creationId xmlns:a16="http://schemas.microsoft.com/office/drawing/2014/main" id="{945B29FB-AA65-BC3A-B124-055165D9BD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6A8431-2457-4B17-8EAD-CB7DD7790385}" type="datetimeFigureOut">
              <a:rPr lang="ar-SA" smtClean="0"/>
              <a:t>18/09/47</a:t>
            </a:fld>
            <a:endParaRPr lang="ar-SA"/>
          </a:p>
        </p:txBody>
      </p:sp>
      <p:sp>
        <p:nvSpPr>
          <p:cNvPr id="6" name="عنصر نائب للتذييل 5">
            <a:extLst>
              <a:ext uri="{FF2B5EF4-FFF2-40B4-BE49-F238E27FC236}">
                <a16:creationId xmlns:a16="http://schemas.microsoft.com/office/drawing/2014/main" id="{E8A1D51D-23F6-C834-AAD1-979A463EB2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SA"/>
          </a:p>
        </p:txBody>
      </p:sp>
      <p:sp>
        <p:nvSpPr>
          <p:cNvPr id="7" name="عنصر نائب لرقم الشريحة 6">
            <a:extLst>
              <a:ext uri="{FF2B5EF4-FFF2-40B4-BE49-F238E27FC236}">
                <a16:creationId xmlns:a16="http://schemas.microsoft.com/office/drawing/2014/main" id="{CFE52BFD-B399-8A00-DA33-F9737A804A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6C7275-70AE-4EAC-9F52-438E3B9A04EE}" type="slidenum">
              <a:rPr lang="ar-SA" smtClean="0"/>
              <a:t>‹#›</a:t>
            </a:fld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5301310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عنوان ونص عمود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عنوان 1">
            <a:extLst>
              <a:ext uri="{FF2B5EF4-FFF2-40B4-BE49-F238E27FC236}">
                <a16:creationId xmlns:a16="http://schemas.microsoft.com/office/drawing/2014/main" id="{BBE52FAC-85A4-CEE8-0E1C-613CA1E2C6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ar-SA"/>
              <a:t>انقر لتحرير نمط عنوان الشكل الرئيسي</a:t>
            </a:r>
          </a:p>
        </p:txBody>
      </p:sp>
      <p:sp>
        <p:nvSpPr>
          <p:cNvPr id="3" name="عنصر نائب للعنوان العمودي 2">
            <a:extLst>
              <a:ext uri="{FF2B5EF4-FFF2-40B4-BE49-F238E27FC236}">
                <a16:creationId xmlns:a16="http://schemas.microsoft.com/office/drawing/2014/main" id="{FBECCA8A-7CF2-CFA9-8108-F6162AE51D4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ar-SA"/>
              <a:t>انقر لتحرير أنماط نص الشكل الرئيسي</a:t>
            </a:r>
          </a:p>
          <a:p>
            <a:pPr lvl="1"/>
            <a:r>
              <a:rPr lang="ar-SA"/>
              <a:t>المستوى الثاني</a:t>
            </a:r>
          </a:p>
          <a:p>
            <a:pPr lvl="2"/>
            <a:r>
              <a:rPr lang="ar-SA"/>
              <a:t>المستوى الثالث</a:t>
            </a:r>
          </a:p>
          <a:p>
            <a:pPr lvl="3"/>
            <a:r>
              <a:rPr lang="ar-SA"/>
              <a:t>المستوى الرابع</a:t>
            </a:r>
          </a:p>
          <a:p>
            <a:pPr lvl="4"/>
            <a:r>
              <a:rPr lang="ar-SA"/>
              <a:t>المستوى الخامس</a:t>
            </a:r>
          </a:p>
        </p:txBody>
      </p:sp>
      <p:sp>
        <p:nvSpPr>
          <p:cNvPr id="4" name="عنصر نائب للتاريخ 3">
            <a:extLst>
              <a:ext uri="{FF2B5EF4-FFF2-40B4-BE49-F238E27FC236}">
                <a16:creationId xmlns:a16="http://schemas.microsoft.com/office/drawing/2014/main" id="{C754E377-9D39-7AB5-8BCE-A64763D9E7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6A8431-2457-4B17-8EAD-CB7DD7790385}" type="datetimeFigureOut">
              <a:rPr lang="ar-SA" smtClean="0"/>
              <a:t>18/09/47</a:t>
            </a:fld>
            <a:endParaRPr lang="ar-SA"/>
          </a:p>
        </p:txBody>
      </p:sp>
      <p:sp>
        <p:nvSpPr>
          <p:cNvPr id="5" name="عنصر نائب للتذييل 4">
            <a:extLst>
              <a:ext uri="{FF2B5EF4-FFF2-40B4-BE49-F238E27FC236}">
                <a16:creationId xmlns:a16="http://schemas.microsoft.com/office/drawing/2014/main" id="{27B8A41B-E122-ACDA-DE8C-C578F06D39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SA"/>
          </a:p>
        </p:txBody>
      </p:sp>
      <p:sp>
        <p:nvSpPr>
          <p:cNvPr id="6" name="عنصر نائب لرقم الشريحة 5">
            <a:extLst>
              <a:ext uri="{FF2B5EF4-FFF2-40B4-BE49-F238E27FC236}">
                <a16:creationId xmlns:a16="http://schemas.microsoft.com/office/drawing/2014/main" id="{4E121FCF-4F3E-8F41-80C1-92ED0EA092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6C7275-70AE-4EAC-9F52-438E3B9A04EE}" type="slidenum">
              <a:rPr lang="ar-SA" smtClean="0"/>
              <a:t>‹#›</a:t>
            </a:fld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21861338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عنوان ونص عموديان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عنوان عمودي 1">
            <a:extLst>
              <a:ext uri="{FF2B5EF4-FFF2-40B4-BE49-F238E27FC236}">
                <a16:creationId xmlns:a16="http://schemas.microsoft.com/office/drawing/2014/main" id="{904E7B3E-F722-785E-6FD0-CE66C9E7419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ar-SA"/>
              <a:t>انقر لتحرير نمط عنوان الشكل الرئيسي</a:t>
            </a:r>
          </a:p>
        </p:txBody>
      </p:sp>
      <p:sp>
        <p:nvSpPr>
          <p:cNvPr id="3" name="عنصر نائب للعنوان العمودي 2">
            <a:extLst>
              <a:ext uri="{FF2B5EF4-FFF2-40B4-BE49-F238E27FC236}">
                <a16:creationId xmlns:a16="http://schemas.microsoft.com/office/drawing/2014/main" id="{E0539051-7380-9AFA-823E-0ECC676F74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ar-SA"/>
              <a:t>انقر لتحرير أنماط نص الشكل الرئيسي</a:t>
            </a:r>
          </a:p>
          <a:p>
            <a:pPr lvl="1"/>
            <a:r>
              <a:rPr lang="ar-SA"/>
              <a:t>المستوى الثاني</a:t>
            </a:r>
          </a:p>
          <a:p>
            <a:pPr lvl="2"/>
            <a:r>
              <a:rPr lang="ar-SA"/>
              <a:t>المستوى الثالث</a:t>
            </a:r>
          </a:p>
          <a:p>
            <a:pPr lvl="3"/>
            <a:r>
              <a:rPr lang="ar-SA"/>
              <a:t>المستوى الرابع</a:t>
            </a:r>
          </a:p>
          <a:p>
            <a:pPr lvl="4"/>
            <a:r>
              <a:rPr lang="ar-SA"/>
              <a:t>المستوى الخامس</a:t>
            </a:r>
          </a:p>
        </p:txBody>
      </p:sp>
      <p:sp>
        <p:nvSpPr>
          <p:cNvPr id="4" name="عنصر نائب للتاريخ 3">
            <a:extLst>
              <a:ext uri="{FF2B5EF4-FFF2-40B4-BE49-F238E27FC236}">
                <a16:creationId xmlns:a16="http://schemas.microsoft.com/office/drawing/2014/main" id="{8E21C35B-8792-2B4C-4872-71274B0D13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6A8431-2457-4B17-8EAD-CB7DD7790385}" type="datetimeFigureOut">
              <a:rPr lang="ar-SA" smtClean="0"/>
              <a:t>18/09/47</a:t>
            </a:fld>
            <a:endParaRPr lang="ar-SA"/>
          </a:p>
        </p:txBody>
      </p:sp>
      <p:sp>
        <p:nvSpPr>
          <p:cNvPr id="5" name="عنصر نائب للتذييل 4">
            <a:extLst>
              <a:ext uri="{FF2B5EF4-FFF2-40B4-BE49-F238E27FC236}">
                <a16:creationId xmlns:a16="http://schemas.microsoft.com/office/drawing/2014/main" id="{55F5DEBF-653E-4A08-47AE-87B5802B37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ar-SA"/>
          </a:p>
        </p:txBody>
      </p:sp>
      <p:sp>
        <p:nvSpPr>
          <p:cNvPr id="6" name="عنصر نائب لرقم الشريحة 5">
            <a:extLst>
              <a:ext uri="{FF2B5EF4-FFF2-40B4-BE49-F238E27FC236}">
                <a16:creationId xmlns:a16="http://schemas.microsoft.com/office/drawing/2014/main" id="{4E22D891-CE28-DADD-9024-FE2F38506C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6C7275-70AE-4EAC-9F52-438E3B9A04EE}" type="slidenum">
              <a:rPr lang="ar-SA" smtClean="0"/>
              <a:t>‹#›</a:t>
            </a:fld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39685227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عنصر نائب للعنوان 1">
            <a:extLst>
              <a:ext uri="{FF2B5EF4-FFF2-40B4-BE49-F238E27FC236}">
                <a16:creationId xmlns:a16="http://schemas.microsoft.com/office/drawing/2014/main" id="{B0F9F872-F359-F40A-96AC-DEC7C4E553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1" anchor="ctr">
            <a:normAutofit/>
          </a:bodyPr>
          <a:lstStyle/>
          <a:p>
            <a:r>
              <a:rPr lang="ar-SA"/>
              <a:t>انقر لتحرير نمط عنوان الشكل الرئيسي</a:t>
            </a:r>
          </a:p>
        </p:txBody>
      </p:sp>
      <p:sp>
        <p:nvSpPr>
          <p:cNvPr id="3" name="عنصر نائب للنص 2">
            <a:extLst>
              <a:ext uri="{FF2B5EF4-FFF2-40B4-BE49-F238E27FC236}">
                <a16:creationId xmlns:a16="http://schemas.microsoft.com/office/drawing/2014/main" id="{671C26D8-F5C6-BD67-5341-D680DDBC80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1">
            <a:normAutofit/>
          </a:bodyPr>
          <a:lstStyle/>
          <a:p>
            <a:pPr lvl="0"/>
            <a:r>
              <a:rPr lang="ar-SA"/>
              <a:t>انقر لتحرير أنماط نص الشكل الرئيسي</a:t>
            </a:r>
          </a:p>
          <a:p>
            <a:pPr lvl="1"/>
            <a:r>
              <a:rPr lang="ar-SA"/>
              <a:t>المستوى الثاني</a:t>
            </a:r>
          </a:p>
          <a:p>
            <a:pPr lvl="2"/>
            <a:r>
              <a:rPr lang="ar-SA"/>
              <a:t>المستوى الثالث</a:t>
            </a:r>
          </a:p>
          <a:p>
            <a:pPr lvl="3"/>
            <a:r>
              <a:rPr lang="ar-SA"/>
              <a:t>المستوى الرابع</a:t>
            </a:r>
          </a:p>
          <a:p>
            <a:pPr lvl="4"/>
            <a:r>
              <a:rPr lang="ar-SA"/>
              <a:t>المستوى الخامس</a:t>
            </a:r>
          </a:p>
        </p:txBody>
      </p:sp>
      <p:sp>
        <p:nvSpPr>
          <p:cNvPr id="4" name="عنصر نائب للتاريخ 3">
            <a:extLst>
              <a:ext uri="{FF2B5EF4-FFF2-40B4-BE49-F238E27FC236}">
                <a16:creationId xmlns:a16="http://schemas.microsoft.com/office/drawing/2014/main" id="{84ED1FE4-675E-44BC-13BA-FA6FA2B1C1D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1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96A8431-2457-4B17-8EAD-CB7DD7790385}" type="datetimeFigureOut">
              <a:rPr lang="ar-SA" smtClean="0"/>
              <a:t>18/09/47</a:t>
            </a:fld>
            <a:endParaRPr lang="ar-SA"/>
          </a:p>
        </p:txBody>
      </p:sp>
      <p:sp>
        <p:nvSpPr>
          <p:cNvPr id="5" name="عنصر نائب للتذييل 4">
            <a:extLst>
              <a:ext uri="{FF2B5EF4-FFF2-40B4-BE49-F238E27FC236}">
                <a16:creationId xmlns:a16="http://schemas.microsoft.com/office/drawing/2014/main" id="{052149F8-4E2D-4499-DF13-6D295FD7A91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1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ar-SA"/>
          </a:p>
        </p:txBody>
      </p:sp>
      <p:sp>
        <p:nvSpPr>
          <p:cNvPr id="6" name="عنصر نائب لرقم الشريحة 5">
            <a:extLst>
              <a:ext uri="{FF2B5EF4-FFF2-40B4-BE49-F238E27FC236}">
                <a16:creationId xmlns:a16="http://schemas.microsoft.com/office/drawing/2014/main" id="{A5C5E447-E496-DCB7-0786-DA22081D782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1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86C7275-70AE-4EAC-9F52-438E3B9A04EE}" type="slidenum">
              <a:rPr lang="ar-SA" smtClean="0"/>
              <a:t>‹#›</a:t>
            </a:fld>
            <a:endParaRPr lang="ar-SA"/>
          </a:p>
        </p:txBody>
      </p:sp>
    </p:spTree>
    <p:extLst>
      <p:ext uri="{BB962C8B-B14F-4D97-AF65-F5344CB8AC3E}">
        <p14:creationId xmlns:p14="http://schemas.microsoft.com/office/powerpoint/2010/main" val="30831834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r" defTabSz="914400" rtl="1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r" defTabSz="914400" rtl="1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ar-SA"/>
      </a:defPPr>
      <a:lvl1pPr marL="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عنوان 1">
            <a:extLst>
              <a:ext uri="{FF2B5EF4-FFF2-40B4-BE49-F238E27FC236}">
                <a16:creationId xmlns:a16="http://schemas.microsoft.com/office/drawing/2014/main" id="{D797CECF-7ADF-2D94-EFCE-B952490096F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3999" y="716060"/>
            <a:ext cx="9144000" cy="2306637"/>
          </a:xfrm>
        </p:spPr>
        <p:txBody>
          <a:bodyPr>
            <a:normAutofit/>
          </a:bodyPr>
          <a:lstStyle/>
          <a:p>
            <a:pPr rtl="1">
              <a:lnSpc>
                <a:spcPct val="150000"/>
              </a:lnSpc>
              <a:spcAft>
                <a:spcPts val="800"/>
              </a:spcAft>
            </a:pPr>
            <a:r>
              <a:rPr lang="en-US" sz="3200" b="1" dirty="0">
                <a:solidFill>
                  <a:srgbClr val="222A3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Smart Opinion </a:t>
            </a:r>
            <a:r>
              <a:rPr lang="en-US" sz="3200" b="1">
                <a:solidFill>
                  <a:srgbClr val="222A3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Survey Platform</a:t>
            </a:r>
            <a:br>
              <a:rPr lang="en-US" sz="3200" b="1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</a:br>
            <a:r>
              <a:rPr lang="ar-SA" sz="3200" b="1" dirty="0">
                <a:solidFill>
                  <a:srgbClr val="222A35"/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منصة استبيانات الآراء الذكية </a:t>
            </a:r>
            <a:br>
              <a:rPr lang="en-US" sz="3200" b="1" dirty="0"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</a:br>
            <a:r>
              <a:rPr lang="en-US" sz="3200" b="1" dirty="0">
                <a:solidFill>
                  <a:srgbClr val="222A35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Arial" panose="020B0604020202020204" pitchFamily="34" charset="0"/>
              </a:rPr>
              <a:t> </a:t>
            </a:r>
            <a:endParaRPr lang="ar-SA" sz="8800" b="1" dirty="0"/>
          </a:p>
        </p:txBody>
      </p:sp>
      <p:sp>
        <p:nvSpPr>
          <p:cNvPr id="4" name="Text Box 2">
            <a:extLst>
              <a:ext uri="{FF2B5EF4-FFF2-40B4-BE49-F238E27FC236}">
                <a16:creationId xmlns:a16="http://schemas.microsoft.com/office/drawing/2014/main" id="{460B78EE-156F-C89C-4518-9C9BB60A84BC}"/>
              </a:ext>
            </a:extLst>
          </p:cNvPr>
          <p:cNvSpPr>
            <a:spLocks/>
          </p:cNvSpPr>
          <p:nvPr/>
        </p:nvSpPr>
        <p:spPr>
          <a:xfrm>
            <a:off x="1523999" y="2545991"/>
            <a:ext cx="9144001" cy="130395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anchor="t">
            <a:noAutofit/>
          </a:bodyPr>
          <a:lstStyle/>
          <a:p>
            <a:pPr algn="ctr" rtl="1">
              <a:lnSpc>
                <a:spcPct val="150000"/>
              </a:lnSpc>
              <a:spcAft>
                <a:spcPts val="800"/>
              </a:spcAft>
            </a:pPr>
            <a:r>
              <a:rPr lang="ar-SA" sz="2800" b="1" dirty="0">
                <a:solidFill>
                  <a:srgbClr val="222A35"/>
                </a:solidFill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إعداد الطلاب:</a:t>
            </a:r>
            <a:endParaRPr lang="en-US" sz="1400" dirty="0">
              <a:effectLst/>
              <a:ea typeface="Times New Roman" panose="02020603050405020304" pitchFamily="18" charset="0"/>
              <a:cs typeface="Arial" panose="020B0604020202020204" pitchFamily="34" charset="0"/>
            </a:endParaRPr>
          </a:p>
          <a:p>
            <a:pPr algn="ctr" rtl="1">
              <a:lnSpc>
                <a:spcPct val="150000"/>
              </a:lnSpc>
              <a:spcAft>
                <a:spcPts val="800"/>
              </a:spcAft>
            </a:pPr>
            <a:r>
              <a:rPr lang="ar-SA" sz="2400" b="1" dirty="0">
                <a:solidFill>
                  <a:srgbClr val="222A35"/>
                </a:solidFill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يمان بسام المطر   |  حسن عبد الرحمن يحيى  |   يوسف احمد الزعبي</a:t>
            </a:r>
            <a:endParaRPr lang="en-US" sz="1400" dirty="0">
              <a:effectLst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5" name="Text Box 2">
            <a:extLst>
              <a:ext uri="{FF2B5EF4-FFF2-40B4-BE49-F238E27FC236}">
                <a16:creationId xmlns:a16="http://schemas.microsoft.com/office/drawing/2014/main" id="{F0AFB1FE-9D71-6A78-F94B-288E66A4F5B6}"/>
              </a:ext>
            </a:extLst>
          </p:cNvPr>
          <p:cNvSpPr>
            <a:spLocks/>
          </p:cNvSpPr>
          <p:nvPr/>
        </p:nvSpPr>
        <p:spPr>
          <a:xfrm>
            <a:off x="2325498" y="4338112"/>
            <a:ext cx="7541002" cy="203391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anchor="t">
            <a:noAutofit/>
          </a:bodyPr>
          <a:lstStyle/>
          <a:p>
            <a:pPr algn="ctr" rtl="1">
              <a:lnSpc>
                <a:spcPct val="150000"/>
              </a:lnSpc>
              <a:spcAft>
                <a:spcPts val="800"/>
              </a:spcAft>
            </a:pPr>
            <a:r>
              <a:rPr lang="ar-SA" sz="2800" b="1" dirty="0">
                <a:solidFill>
                  <a:srgbClr val="222A35"/>
                </a:solidFill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إشراف:</a:t>
            </a:r>
            <a:endParaRPr lang="en-US" sz="1400" dirty="0">
              <a:effectLst/>
              <a:ea typeface="Times New Roman" panose="02020603050405020304" pitchFamily="18" charset="0"/>
              <a:cs typeface="Arial" panose="020B0604020202020204" pitchFamily="34" charset="0"/>
            </a:endParaRPr>
          </a:p>
          <a:p>
            <a:pPr algn="ctr" rtl="1">
              <a:lnSpc>
                <a:spcPct val="150000"/>
              </a:lnSpc>
              <a:spcAft>
                <a:spcPts val="800"/>
              </a:spcAft>
            </a:pPr>
            <a:r>
              <a:rPr lang="ar-SA" sz="2400" b="1" dirty="0">
                <a:solidFill>
                  <a:srgbClr val="222A35"/>
                </a:solidFill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م. شادي بليدي</a:t>
            </a:r>
            <a:endParaRPr lang="en-US" sz="1400" dirty="0">
              <a:effectLst/>
              <a:ea typeface="Times New Roman" panose="02020603050405020304" pitchFamily="18" charset="0"/>
              <a:cs typeface="Arial" panose="020B0604020202020204" pitchFamily="34" charset="0"/>
            </a:endParaRPr>
          </a:p>
          <a:p>
            <a:pPr algn="ctr" rtl="1">
              <a:lnSpc>
                <a:spcPct val="150000"/>
              </a:lnSpc>
              <a:spcAft>
                <a:spcPts val="800"/>
              </a:spcAft>
            </a:pPr>
            <a:r>
              <a:rPr lang="ar-SA" sz="2400" b="1" dirty="0">
                <a:solidFill>
                  <a:srgbClr val="222A35"/>
                </a:solidFill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م. مايا الأحمد</a:t>
            </a:r>
            <a:endParaRPr lang="en-US" sz="1400" dirty="0">
              <a:effectLst/>
              <a:ea typeface="Times New Roman" panose="02020603050405020304" pitchFamily="18" charset="0"/>
              <a:cs typeface="Arial" panose="020B0604020202020204" pitchFamily="34" charset="0"/>
            </a:endParaRPr>
          </a:p>
          <a:p>
            <a:pPr algn="ctr" rtl="1">
              <a:lnSpc>
                <a:spcPct val="150000"/>
              </a:lnSpc>
              <a:spcAft>
                <a:spcPts val="800"/>
              </a:spcAft>
            </a:pPr>
            <a:endParaRPr lang="en-US" sz="1400" dirty="0">
              <a:effectLst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286060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مربع نص 3">
            <a:extLst>
              <a:ext uri="{FF2B5EF4-FFF2-40B4-BE49-F238E27FC236}">
                <a16:creationId xmlns:a16="http://schemas.microsoft.com/office/drawing/2014/main" id="{2C805033-01BB-B597-EB43-512C596003EC}"/>
              </a:ext>
            </a:extLst>
          </p:cNvPr>
          <p:cNvSpPr txBox="1"/>
          <p:nvPr/>
        </p:nvSpPr>
        <p:spPr>
          <a:xfrm>
            <a:off x="746448" y="74645"/>
            <a:ext cx="10314991" cy="2817438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r" rtl="1">
              <a:lnSpc>
                <a:spcPct val="150000"/>
              </a:lnSpc>
              <a:spcBef>
                <a:spcPts val="800"/>
              </a:spcBef>
              <a:spcAft>
                <a:spcPts val="400"/>
              </a:spcAft>
            </a:pPr>
            <a:r>
              <a:rPr lang="ar-SA" b="1" dirty="0">
                <a:solidFill>
                  <a:srgbClr val="2F5496"/>
                </a:solidFill>
                <a:effectLst/>
                <a:latin typeface="Simplified Arabic" panose="02020603050405020304" pitchFamily="18" charset="-78"/>
                <a:ea typeface="Times New Roman" panose="02020603050405020304" pitchFamily="18" charset="0"/>
              </a:rPr>
              <a:t>مقدمة عن المشروع</a:t>
            </a:r>
            <a:endParaRPr lang="en-US" b="1" dirty="0">
              <a:solidFill>
                <a:srgbClr val="2F5496"/>
              </a:solidFill>
              <a:effectLst/>
              <a:latin typeface="Simplified Arabic" panose="02020603050405020304" pitchFamily="18" charset="-78"/>
              <a:ea typeface="Times New Roman" panose="02020603050405020304" pitchFamily="18" charset="0"/>
            </a:endParaRPr>
          </a:p>
          <a:p>
            <a:pPr algn="r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sz="1700" b="1" dirty="0">
                <a:latin typeface="Simplified Arabic" panose="02020603050405020304" pitchFamily="18" charset="-78"/>
              </a:rPr>
              <a:t>أهمية التغذية الراجعة </a:t>
            </a:r>
            <a:r>
              <a:rPr lang="en-US" sz="1700" b="1" dirty="0">
                <a:latin typeface="Simplified Arabic" panose="02020603050405020304" pitchFamily="18" charset="-78"/>
              </a:rPr>
              <a:t>(Feedback)</a:t>
            </a:r>
            <a:r>
              <a:rPr lang="ar-SA" sz="1700" b="1" dirty="0">
                <a:latin typeface="Simplified Arabic" panose="02020603050405020304" pitchFamily="18" charset="-78"/>
              </a:rPr>
              <a:t>: </a:t>
            </a:r>
            <a:r>
              <a:rPr lang="ar-SA" sz="1700" dirty="0">
                <a:latin typeface="Simplified Arabic" panose="02020603050405020304" pitchFamily="18" charset="-78"/>
              </a:rPr>
              <a:t>في عصر التحول الرقمي، أصبحت آراء المستخدمين الفعليين هي الركيزة الأساسية لنجاح أي خدمة أو منتج.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sz="1700" b="1" dirty="0">
                <a:latin typeface="Simplified Arabic" panose="02020603050405020304" pitchFamily="18" charset="-78"/>
              </a:rPr>
              <a:t>نهاية عصر التخمين الإداري:</a:t>
            </a:r>
            <a:r>
              <a:rPr lang="ar-SA" sz="1700" dirty="0">
                <a:latin typeface="Simplified Arabic" panose="02020603050405020304" pitchFamily="18" charset="-78"/>
              </a:rPr>
              <a:t> القرارات الاستراتيجية والتطويرية الناجحة لم تعد تُبنى على التوقعات، بل تتطلب بيانات دقيقة تعكس احتياجات السوق الحقيقية.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sz="1700" b="1" dirty="0">
                <a:latin typeface="Simplified Arabic" panose="02020603050405020304" pitchFamily="18" charset="-78"/>
              </a:rPr>
              <a:t>الحاجة لابتكار أدوات ذكية:</a:t>
            </a:r>
            <a:r>
              <a:rPr lang="ar-SA" sz="1700" dirty="0">
                <a:latin typeface="Simplified Arabic" panose="02020603050405020304" pitchFamily="18" charset="-78"/>
              </a:rPr>
              <a:t> مع التطور المتسارع للذكاء الاصطناعي وتقنيات الويب، أصبح من الضروري تجاوز الطرق التقليدية لجمع وتحليل الآراء، لفهم تطلعات الجمهور بطريقة علمية وسريعة.</a:t>
            </a:r>
          </a:p>
          <a:p>
            <a:pPr>
              <a:lnSpc>
                <a:spcPct val="150000"/>
              </a:lnSpc>
            </a:pPr>
            <a:endParaRPr lang="ar-SA" sz="1400" dirty="0">
              <a:latin typeface="Simplified Arabic" panose="02020603050405020304" pitchFamily="18" charset="-78"/>
            </a:endParaRPr>
          </a:p>
        </p:txBody>
      </p:sp>
      <p:sp>
        <p:nvSpPr>
          <p:cNvPr id="5" name="مربع نص 4">
            <a:extLst>
              <a:ext uri="{FF2B5EF4-FFF2-40B4-BE49-F238E27FC236}">
                <a16:creationId xmlns:a16="http://schemas.microsoft.com/office/drawing/2014/main" id="{BBC53761-F6DE-9BD3-BC04-4637616D78F7}"/>
              </a:ext>
            </a:extLst>
          </p:cNvPr>
          <p:cNvSpPr txBox="1"/>
          <p:nvPr/>
        </p:nvSpPr>
        <p:spPr>
          <a:xfrm>
            <a:off x="1562877" y="2792739"/>
            <a:ext cx="9498562" cy="1749197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>
              <a:lnSpc>
                <a:spcPct val="150000"/>
              </a:lnSpc>
            </a:pPr>
            <a:r>
              <a:rPr lang="ar-SA" sz="2000" b="1" dirty="0">
                <a:solidFill>
                  <a:schemeClr val="accent1"/>
                </a:solidFill>
              </a:rPr>
              <a:t>مشكلة البحث</a:t>
            </a:r>
            <a:endParaRPr lang="ar-SA" sz="2000" dirty="0">
              <a:solidFill>
                <a:schemeClr val="accent1"/>
              </a:solidFill>
            </a:endParaRP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dirty="0"/>
              <a:t>الاعتماد على الروابط المفتوحة يسبب "عشوائية العينة" وجمع بيانات مشوهة.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dirty="0"/>
              <a:t>اتخاذ قرارات استراتيجية خاطئة وهدر للموارد بسبب مشاركة أشخاص غير معنيين بالخدمة.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dirty="0"/>
              <a:t>التحليل اليدوي للنصوص يستهلك وقتاً طويلاً ويكون عرضة للتحيز البشري.</a:t>
            </a:r>
          </a:p>
        </p:txBody>
      </p:sp>
      <p:sp>
        <p:nvSpPr>
          <p:cNvPr id="7" name="مربع نص 6">
            <a:extLst>
              <a:ext uri="{FF2B5EF4-FFF2-40B4-BE49-F238E27FC236}">
                <a16:creationId xmlns:a16="http://schemas.microsoft.com/office/drawing/2014/main" id="{74BBCADA-6067-E778-BE2F-0922FF31AD4B}"/>
              </a:ext>
            </a:extLst>
          </p:cNvPr>
          <p:cNvSpPr txBox="1"/>
          <p:nvPr/>
        </p:nvSpPr>
        <p:spPr>
          <a:xfrm>
            <a:off x="1254966" y="4687967"/>
            <a:ext cx="9806473" cy="17580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ar-SA" sz="2000" b="1" dirty="0">
                <a:solidFill>
                  <a:schemeClr val="accent1"/>
                </a:solidFill>
              </a:rPr>
              <a:t>فكرة المشروع</a:t>
            </a:r>
            <a:endParaRPr lang="ar-SA" sz="2000" dirty="0">
              <a:solidFill>
                <a:schemeClr val="accent1"/>
              </a:solidFill>
            </a:endParaRP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dirty="0"/>
              <a:t>تطوير منصة استبيانات "ثنائية الأطراف" مزودة بمحرك استهداف ذكي.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dirty="0"/>
              <a:t>فلترة مسبقة تضمن عرض الاستبيان حصراً للمطابقين للشروط الديموغرافية.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dirty="0"/>
              <a:t>دمج تقنيات الذكاء الاصطناعي (</a:t>
            </a:r>
            <a:r>
              <a:rPr lang="en-US" dirty="0"/>
              <a:t>AI</a:t>
            </a:r>
            <a:r>
              <a:rPr lang="ar-SA" dirty="0"/>
              <a:t>) لتحليل الإجابات المفتوحة وتصنيف المشاعر آلياً.</a:t>
            </a:r>
          </a:p>
        </p:txBody>
      </p:sp>
    </p:spTree>
    <p:extLst>
      <p:ext uri="{BB962C8B-B14F-4D97-AF65-F5344CB8AC3E}">
        <p14:creationId xmlns:p14="http://schemas.microsoft.com/office/powerpoint/2010/main" val="1388519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مربع نص 2">
            <a:extLst>
              <a:ext uri="{FF2B5EF4-FFF2-40B4-BE49-F238E27FC236}">
                <a16:creationId xmlns:a16="http://schemas.microsoft.com/office/drawing/2014/main" id="{BE6D38B9-69CF-A5A8-89D6-C7C802977493}"/>
              </a:ext>
            </a:extLst>
          </p:cNvPr>
          <p:cNvSpPr txBox="1"/>
          <p:nvPr/>
        </p:nvSpPr>
        <p:spPr>
          <a:xfrm>
            <a:off x="483636" y="85708"/>
            <a:ext cx="11224725" cy="2224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lnSpc>
                <a:spcPct val="150000"/>
              </a:lnSpc>
              <a:spcBef>
                <a:spcPts val="800"/>
              </a:spcBef>
              <a:spcAft>
                <a:spcPts val="400"/>
              </a:spcAft>
            </a:pPr>
            <a:r>
              <a:rPr lang="ar-SA" sz="2000" b="1" dirty="0">
                <a:solidFill>
                  <a:srgbClr val="2F5496"/>
                </a:solidFill>
                <a:effectLst/>
                <a:latin typeface="Calibri Light" panose="020F03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أهداف المشروع </a:t>
            </a:r>
            <a:endParaRPr lang="en-US" sz="2000" b="1" dirty="0">
              <a:solidFill>
                <a:srgbClr val="2F5496"/>
              </a:solidFill>
              <a:effectLst/>
              <a:latin typeface="Calibri Light" panose="020F030202020403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dirty="0"/>
              <a:t> بناء بيئة رقمية تربط مقدمي الخدمات بالمستخدمين الفعليين.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dirty="0"/>
              <a:t> القضاء على العشوائية عبر محرك الاستهداف </a:t>
            </a:r>
            <a:r>
              <a:rPr lang="en-US" dirty="0"/>
              <a:t>.(Targeting Engine)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dirty="0"/>
              <a:t> أتمتة تحليل النصوص </a:t>
            </a:r>
            <a:r>
              <a:rPr lang="en-US" dirty="0"/>
              <a:t> (NLP)</a:t>
            </a:r>
            <a:r>
              <a:rPr lang="ar-SA" dirty="0"/>
              <a:t>لاستخراج التوجهات العامة للجمهور.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dirty="0"/>
              <a:t> توفير لوحات تحكم </a:t>
            </a:r>
            <a:r>
              <a:rPr lang="en-US" dirty="0"/>
              <a:t> (Dashboards) </a:t>
            </a:r>
            <a:r>
              <a:rPr lang="ar-SA" dirty="0"/>
              <a:t>تفاعلية لدعم اتخاذ القرارات.</a:t>
            </a:r>
          </a:p>
        </p:txBody>
      </p:sp>
      <p:sp>
        <p:nvSpPr>
          <p:cNvPr id="2" name="مربع نص 1">
            <a:extLst>
              <a:ext uri="{FF2B5EF4-FFF2-40B4-BE49-F238E27FC236}">
                <a16:creationId xmlns:a16="http://schemas.microsoft.com/office/drawing/2014/main" id="{F7F6FF3F-29D5-9A78-3217-E0B14D6F14C4}"/>
              </a:ext>
            </a:extLst>
          </p:cNvPr>
          <p:cNvSpPr txBox="1"/>
          <p:nvPr/>
        </p:nvSpPr>
        <p:spPr>
          <a:xfrm>
            <a:off x="483636" y="2286000"/>
            <a:ext cx="11224725" cy="25428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ar-SA" b="1" dirty="0">
                <a:solidFill>
                  <a:schemeClr val="accent1"/>
                </a:solidFill>
              </a:rPr>
              <a:t>نطاق المشروع</a:t>
            </a:r>
            <a:endParaRPr lang="en-US" dirty="0">
              <a:solidFill>
                <a:schemeClr val="accent1"/>
              </a:solidFill>
            </a:endParaRP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b="1" dirty="0"/>
              <a:t>الفئات المستهدفة:</a:t>
            </a:r>
            <a:r>
              <a:rPr lang="ar-SA" dirty="0"/>
              <a:t> يخدم النظام فئتين: "مقدمي الخدمات" (لإنشاء الاستبيانات الموجهة) و"المستخدمين المسجلين" بملفات تعريفية (كعينة دقيقة للإجابة).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b="1" dirty="0"/>
              <a:t>النطاق الوظيفي:</a:t>
            </a:r>
            <a:r>
              <a:rPr lang="ar-SA" dirty="0"/>
              <a:t> يشمل إدارة الحسابات، أداة بناء الاستبيانات المفلترة، تحليل المشاعر عبر الذكاء الاصطناعي </a:t>
            </a:r>
            <a:r>
              <a:rPr lang="en-US" dirty="0"/>
              <a:t>(NLP)، </a:t>
            </a:r>
            <a:r>
              <a:rPr lang="ar-SA" dirty="0"/>
              <a:t>وتوفير لوحات تحكم </a:t>
            </a:r>
            <a:r>
              <a:rPr lang="en-US" dirty="0"/>
              <a:t>   (Dashboards) </a:t>
            </a:r>
            <a:r>
              <a:rPr lang="ar-SA" dirty="0"/>
              <a:t> إحصائية.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b="1" dirty="0"/>
              <a:t>النطاق التقني:</a:t>
            </a:r>
            <a:r>
              <a:rPr lang="ar-SA" dirty="0"/>
              <a:t> بناء النظام كـ "تطبيق ويب" (</a:t>
            </a:r>
            <a:r>
              <a:rPr lang="en-US" dirty="0"/>
              <a:t>Web App) </a:t>
            </a:r>
            <a:r>
              <a:rPr lang="ar-SA" dirty="0"/>
              <a:t>متجاوب، والاعتماد على نماذج ذكاء اصطناعي مدربة مسبقاً (</a:t>
            </a:r>
            <a:r>
              <a:rPr lang="en-US" dirty="0"/>
              <a:t>APIs) </a:t>
            </a:r>
            <a:r>
              <a:rPr lang="ar-SA" dirty="0"/>
              <a:t>لتحليل النصوص.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b="1" dirty="0"/>
              <a:t>خارج النطاق:</a:t>
            </a:r>
            <a:r>
              <a:rPr lang="ar-SA" dirty="0"/>
              <a:t> النظام لا يشمل برمجة تطبيق خاص للهواتف الذكية (</a:t>
            </a:r>
            <a:r>
              <a:rPr lang="en-US" dirty="0"/>
              <a:t>Mobile App)، </a:t>
            </a:r>
            <a:r>
              <a:rPr lang="ar-SA" dirty="0"/>
              <a:t>ولن يتم تدريب نماذج لغوية للذكاء الاصطناعي من الصفر.</a:t>
            </a:r>
          </a:p>
        </p:txBody>
      </p:sp>
    </p:spTree>
    <p:extLst>
      <p:ext uri="{BB962C8B-B14F-4D97-AF65-F5344CB8AC3E}">
        <p14:creationId xmlns:p14="http://schemas.microsoft.com/office/powerpoint/2010/main" val="24455660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مربع نص 3">
            <a:extLst>
              <a:ext uri="{FF2B5EF4-FFF2-40B4-BE49-F238E27FC236}">
                <a16:creationId xmlns:a16="http://schemas.microsoft.com/office/drawing/2014/main" id="{624C8765-612E-7110-7F73-5DB30F0569D7}"/>
              </a:ext>
            </a:extLst>
          </p:cNvPr>
          <p:cNvSpPr txBox="1"/>
          <p:nvPr/>
        </p:nvSpPr>
        <p:spPr>
          <a:xfrm>
            <a:off x="352425" y="0"/>
            <a:ext cx="11180211" cy="30045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ar-SA" sz="2000" b="1" dirty="0">
                <a:solidFill>
                  <a:schemeClr val="accent1"/>
                </a:solidFill>
              </a:rPr>
              <a:t>المفاهيم الأساسية </a:t>
            </a:r>
            <a:endParaRPr lang="en-US" sz="2000" dirty="0">
              <a:solidFill>
                <a:schemeClr val="accent1"/>
              </a:solidFill>
            </a:endParaRP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b="1" dirty="0"/>
              <a:t>المنصات ثنائية الأطراف </a:t>
            </a:r>
            <a:r>
              <a:rPr lang="en-US" b="1" dirty="0"/>
              <a:t>Two-Sided Platforms)</a:t>
            </a:r>
            <a:r>
              <a:rPr lang="ar-SA" b="1" dirty="0"/>
              <a:t>): </a:t>
            </a:r>
            <a:r>
              <a:rPr lang="ar-SA" dirty="0"/>
              <a:t>بيئات رقمية تربط "صناع القرار" مع "المجيبين المستهدفين" مباشرة، وتعتمد على تأثير الشبكة لزيادة قيمتها.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b="1" dirty="0"/>
              <a:t>الاستهداف الديموغرافي والفلترة الآلية:</a:t>
            </a:r>
            <a:r>
              <a:rPr lang="ar-SA" dirty="0"/>
              <a:t> استخدام خوارزميات مطابقة لمنع "تحيز العينة" عبر توجيه الاستبيان للشريحة المطابقة فقط (عبر حقول الملف الشخصي).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b="1" dirty="0"/>
              <a:t>معالجة اللغات الطبيعية (</a:t>
            </a:r>
            <a:r>
              <a:rPr lang="en-US" b="1" dirty="0"/>
              <a:t> (NLP</a:t>
            </a:r>
            <a:r>
              <a:rPr lang="ar-SA" dirty="0"/>
              <a:t>تقنية ذكاء اصطناعي (</a:t>
            </a:r>
            <a:r>
              <a:rPr lang="en-US" dirty="0"/>
              <a:t> (AI</a:t>
            </a:r>
            <a:r>
              <a:rPr lang="ar-SA" dirty="0"/>
              <a:t>لتحويل "البيانات غير المهيكلة" (كالإجابات النصية) إلى بيانات كمية قابلة للقياس والتحليل.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b="1" dirty="0"/>
              <a:t>تحليل المشاعر (</a:t>
            </a:r>
            <a:r>
              <a:rPr lang="en-US" b="1" dirty="0"/>
              <a:t> (Sentiment Analysis</a:t>
            </a:r>
            <a:r>
              <a:rPr lang="ar-SA" dirty="0"/>
              <a:t>قراءة النصوص آلياً وتصنيفها عاطفياً (إيجابية، سلبية، محايدة) لاستخراج توجهات الجمهور بسرعة ودقة.</a:t>
            </a:r>
          </a:p>
        </p:txBody>
      </p:sp>
      <p:graphicFrame>
        <p:nvGraphicFramePr>
          <p:cNvPr id="2" name="جدول 1">
            <a:extLst>
              <a:ext uri="{FF2B5EF4-FFF2-40B4-BE49-F238E27FC236}">
                <a16:creationId xmlns:a16="http://schemas.microsoft.com/office/drawing/2014/main" id="{17853753-72BB-5FEF-D502-D72BF06791E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30643634"/>
              </p:ext>
            </p:extLst>
          </p:nvPr>
        </p:nvGraphicFramePr>
        <p:xfrm>
          <a:off x="1488828" y="3310467"/>
          <a:ext cx="8785473" cy="3029517"/>
        </p:xfrm>
        <a:graphic>
          <a:graphicData uri="http://schemas.openxmlformats.org/drawingml/2006/table">
            <a:tbl>
              <a:tblPr rtl="1" firstRow="1" firstCol="1" bandRow="1">
                <a:tableStyleId>{5C22544A-7EE6-4342-B048-85BDC9FD1C3A}</a:tableStyleId>
              </a:tblPr>
              <a:tblGrid>
                <a:gridCol w="1841054">
                  <a:extLst>
                    <a:ext uri="{9D8B030D-6E8A-4147-A177-3AD203B41FA5}">
                      <a16:colId xmlns:a16="http://schemas.microsoft.com/office/drawing/2014/main" val="1950653663"/>
                    </a:ext>
                  </a:extLst>
                </a:gridCol>
                <a:gridCol w="1827679">
                  <a:extLst>
                    <a:ext uri="{9D8B030D-6E8A-4147-A177-3AD203B41FA5}">
                      <a16:colId xmlns:a16="http://schemas.microsoft.com/office/drawing/2014/main" val="3310257874"/>
                    </a:ext>
                  </a:extLst>
                </a:gridCol>
                <a:gridCol w="2058968">
                  <a:extLst>
                    <a:ext uri="{9D8B030D-6E8A-4147-A177-3AD203B41FA5}">
                      <a16:colId xmlns:a16="http://schemas.microsoft.com/office/drawing/2014/main" val="1449973089"/>
                    </a:ext>
                  </a:extLst>
                </a:gridCol>
                <a:gridCol w="3057772">
                  <a:extLst>
                    <a:ext uri="{9D8B030D-6E8A-4147-A177-3AD203B41FA5}">
                      <a16:colId xmlns:a16="http://schemas.microsoft.com/office/drawing/2014/main" val="3274840695"/>
                    </a:ext>
                  </a:extLst>
                </a:gridCol>
              </a:tblGrid>
              <a:tr h="489207">
                <a:tc>
                  <a:txBody>
                    <a:bodyPr/>
                    <a:lstStyle/>
                    <a:p>
                      <a:pPr algn="r" rtl="1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ar-SA" sz="1400" kern="100">
                          <a:effectLst/>
                        </a:rPr>
                        <a:t>معيار المقارنة</a:t>
                      </a:r>
                      <a:endParaRPr lang="en-US" sz="1100" kern="1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 rtl="1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ar-SA" sz="1400" kern="100">
                          <a:effectLst/>
                        </a:rPr>
                        <a:t>نماذج جوجل</a:t>
                      </a:r>
                      <a:r>
                        <a:rPr lang="en-US" sz="1400" kern="100">
                          <a:effectLst/>
                        </a:rPr>
                        <a:t> (Google Forms)</a:t>
                      </a:r>
                      <a:endParaRPr lang="en-US" sz="1100" kern="1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 rtl="1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ar-SA" sz="1400" kern="100" dirty="0">
                          <a:effectLst/>
                        </a:rPr>
                        <a:t>منصة </a:t>
                      </a:r>
                      <a:r>
                        <a:rPr lang="ar-SA" sz="1400" kern="100" dirty="0" err="1">
                          <a:effectLst/>
                        </a:rPr>
                        <a:t>سيرفي</a:t>
                      </a:r>
                      <a:r>
                        <a:rPr lang="ar-SA" sz="1400" kern="100" dirty="0">
                          <a:effectLst/>
                        </a:rPr>
                        <a:t> </a:t>
                      </a:r>
                      <a:r>
                        <a:rPr lang="ar-SA" sz="1400" kern="100" dirty="0" err="1">
                          <a:effectLst/>
                        </a:rPr>
                        <a:t>مونكي</a:t>
                      </a:r>
                      <a:r>
                        <a:rPr lang="en-US" sz="1400" kern="100" dirty="0">
                          <a:effectLst/>
                        </a:rPr>
                        <a:t> (SurveyMonkey)</a:t>
                      </a:r>
                      <a:endParaRPr lang="en-US" sz="1100" kern="1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 rtl="1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ar-SA" sz="1400" kern="100">
                          <a:effectLst/>
                        </a:rPr>
                        <a:t>المنصة المقترحة (مشروعك)</a:t>
                      </a:r>
                      <a:endParaRPr lang="en-US" sz="1100" kern="1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151723467"/>
                  </a:ext>
                </a:extLst>
              </a:tr>
              <a:tr h="501196">
                <a:tc>
                  <a:txBody>
                    <a:bodyPr/>
                    <a:lstStyle/>
                    <a:p>
                      <a:pPr algn="r" rtl="1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ar-SA" sz="1400" kern="100" dirty="0">
                          <a:effectLst/>
                        </a:rPr>
                        <a:t>آلية الوصول للجمهور</a:t>
                      </a:r>
                      <a:endParaRPr lang="en-US" sz="1100" kern="1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 rtl="1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ar-SA" sz="1400" kern="100" dirty="0">
                          <a:effectLst/>
                        </a:rPr>
                        <a:t>نشر يدوي للرابط (عينة عشوائية)</a:t>
                      </a:r>
                      <a:endParaRPr lang="en-US" sz="1100" kern="1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 rtl="1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ar-SA" sz="1400" kern="100" dirty="0">
                          <a:effectLst/>
                        </a:rPr>
                        <a:t>مدفوعة الثمن</a:t>
                      </a:r>
                      <a:endParaRPr lang="en-US" sz="1100" kern="1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 rtl="1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ar-SA" sz="1400" kern="100">
                          <a:effectLst/>
                        </a:rPr>
                        <a:t>استهداف ذكي ومجاني بناءً على ملفات المستخدمين</a:t>
                      </a:r>
                      <a:endParaRPr lang="en-US" sz="1100" kern="1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177327789"/>
                  </a:ext>
                </a:extLst>
              </a:tr>
              <a:tr h="540110">
                <a:tc>
                  <a:txBody>
                    <a:bodyPr/>
                    <a:lstStyle/>
                    <a:p>
                      <a:pPr algn="r" rtl="1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ar-SA" sz="1400" kern="100">
                          <a:effectLst/>
                        </a:rPr>
                        <a:t>أتمتة تحليل النصوص</a:t>
                      </a:r>
                      <a:r>
                        <a:rPr lang="en-US" sz="1400" kern="100">
                          <a:effectLst/>
                        </a:rPr>
                        <a:t> (AI)</a:t>
                      </a:r>
                      <a:endParaRPr lang="en-US" sz="1100" kern="1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 rtl="1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ar-SA" sz="1400" kern="100" dirty="0">
                          <a:effectLst/>
                        </a:rPr>
                        <a:t>غير متوفرة</a:t>
                      </a:r>
                      <a:endParaRPr lang="en-US" sz="1100" kern="1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 rtl="1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ar-SA" sz="1400" kern="100" dirty="0">
                          <a:effectLst/>
                        </a:rPr>
                        <a:t>متوفرة في الخطط المدفوعة المتقدمة فقط</a:t>
                      </a:r>
                      <a:endParaRPr lang="en-US" sz="1100" kern="1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 rtl="1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ar-SA" sz="1400" kern="100">
                          <a:effectLst/>
                        </a:rPr>
                        <a:t>مدمجة أساسياً لتحليل المشاعر واستخراج الكلمات</a:t>
                      </a:r>
                      <a:endParaRPr lang="en-US" sz="1100" kern="1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126195494"/>
                  </a:ext>
                </a:extLst>
              </a:tr>
              <a:tr h="499668">
                <a:tc>
                  <a:txBody>
                    <a:bodyPr/>
                    <a:lstStyle/>
                    <a:p>
                      <a:pPr indent="457200" algn="l" rtl="0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ar-SA" sz="1400" kern="100" dirty="0">
                          <a:effectLst/>
                        </a:rPr>
                        <a:t>بيئة ثنائية الأطراف</a:t>
                      </a:r>
                      <a:endParaRPr lang="en-US" sz="1100" kern="1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 rtl="1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ar-SA" sz="1400" kern="100" dirty="0">
                          <a:effectLst/>
                        </a:rPr>
                        <a:t>لا (منصة من طرف واحد)</a:t>
                      </a:r>
                      <a:endParaRPr lang="en-US" sz="1100" kern="1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 rtl="1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ar-SA" sz="1400" kern="100" dirty="0">
                          <a:effectLst/>
                        </a:rPr>
                        <a:t>لا (منصة من طرف واحد)</a:t>
                      </a:r>
                      <a:endParaRPr lang="en-US" sz="1100" kern="1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 rtl="1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ar-SA" sz="1400" kern="100">
                          <a:effectLst/>
                        </a:rPr>
                        <a:t>نعم (تجمع مقدم الخدمة والمجيب في نفس البيئة)</a:t>
                      </a:r>
                      <a:endParaRPr lang="en-US" sz="1100" kern="1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413788431"/>
                  </a:ext>
                </a:extLst>
              </a:tr>
              <a:tr h="499668">
                <a:tc>
                  <a:txBody>
                    <a:bodyPr/>
                    <a:lstStyle/>
                    <a:p>
                      <a:pPr algn="r" rtl="1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ar-SA" sz="1400" kern="100">
                          <a:effectLst/>
                        </a:rPr>
                        <a:t>التحقق من ديموغرافية المجيب</a:t>
                      </a:r>
                      <a:endParaRPr lang="en-US" sz="1100" kern="1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 rtl="1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ar-SA" sz="1400" kern="100" dirty="0">
                          <a:effectLst/>
                        </a:rPr>
                        <a:t>معدوم (إلا إذا سُأل يدوياً)</a:t>
                      </a:r>
                      <a:endParaRPr lang="en-US" sz="1100" kern="1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 rtl="1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ar-SA" sz="1400" kern="100">
                          <a:effectLst/>
                        </a:rPr>
                        <a:t>متوفر بشروط مسبقة</a:t>
                      </a:r>
                      <a:endParaRPr lang="en-US" sz="1100" kern="1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 rtl="1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ar-SA" sz="1400" kern="100">
                          <a:effectLst/>
                        </a:rPr>
                        <a:t>دقيق وآلي عبر بيانات الملف الشخصي</a:t>
                      </a:r>
                      <a:endParaRPr lang="en-US" sz="1100" kern="1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981537844"/>
                  </a:ext>
                </a:extLst>
              </a:tr>
              <a:tr h="499668">
                <a:tc>
                  <a:txBody>
                    <a:bodyPr/>
                    <a:lstStyle/>
                    <a:p>
                      <a:pPr algn="r" rtl="1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ar-SA" sz="1400" kern="100">
                          <a:effectLst/>
                        </a:rPr>
                        <a:t>لوحات التحكم</a:t>
                      </a:r>
                      <a:r>
                        <a:rPr lang="en-US" sz="1400" kern="100">
                          <a:effectLst/>
                        </a:rPr>
                        <a:t> (Dashboards)</a:t>
                      </a:r>
                      <a:endParaRPr lang="en-US" sz="1100" kern="1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 rtl="1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ar-SA" sz="1400" kern="100">
                          <a:effectLst/>
                        </a:rPr>
                        <a:t>أساسية جداً للأسئلة المغلقة</a:t>
                      </a:r>
                      <a:endParaRPr lang="en-US" sz="1100" kern="1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 rtl="1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ar-SA" sz="1400" kern="100">
                          <a:effectLst/>
                        </a:rPr>
                        <a:t>متقدمة واحترافية</a:t>
                      </a:r>
                      <a:endParaRPr lang="en-US" sz="1100" kern="10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r" rtl="1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ar-SA" sz="1400" kern="100" dirty="0">
                          <a:effectLst/>
                        </a:rPr>
                        <a:t>دقيق وآلي عبر بيانات الملف الشخصي</a:t>
                      </a:r>
                      <a:endParaRPr lang="en-US" sz="1100" kern="100" dirty="0">
                        <a:effectLst/>
                        <a:latin typeface="Calibri" panose="020F050202020403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921866674"/>
                  </a:ext>
                </a:extLst>
              </a:tr>
            </a:tbl>
          </a:graphicData>
        </a:graphic>
      </p:graphicFrame>
      <p:sp>
        <p:nvSpPr>
          <p:cNvPr id="3" name="Rectangle 1">
            <a:extLst>
              <a:ext uri="{FF2B5EF4-FFF2-40B4-BE49-F238E27FC236}">
                <a16:creationId xmlns:a16="http://schemas.microsoft.com/office/drawing/2014/main" id="{AB6EE6E6-A843-67E4-5B43-A9EC121EE56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88366" y="6339983"/>
            <a:ext cx="3615267" cy="36928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101568" rIns="91440" bIns="50784" numCol="1" anchor="ctr" anchorCtr="0" compatLnSpc="1">
            <a:prstTxWarp prst="textNoShape">
              <a:avLst/>
            </a:prstTxWarp>
            <a:spAutoFit/>
          </a:bodyPr>
          <a:lstStyle>
            <a:lvl1pPr indent="457200" algn="l" rtl="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algn="l" rtl="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algn="l" rtl="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algn="l" rtl="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algn="l" rtl="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457200" algn="l" defTabSz="91440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ar-SA" altLang="ar-SA" sz="1400" b="0" i="0" u="none" strike="noStrike" cap="none" normalizeH="0" baseline="0" dirty="0" bmk="">
                <a:ln>
                  <a:noFill/>
                </a:ln>
                <a:solidFill>
                  <a:schemeClr val="tx1"/>
                </a:solidFill>
                <a:effectLst/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جدول: مقارنة بين المنصة المقترحة والأنظمة الحالية</a:t>
            </a:r>
            <a:endParaRPr kumimoji="0" lang="en-US" altLang="ar-SA" sz="1400" b="0" i="0" u="none" strike="noStrike" cap="none" normalizeH="0" baseline="0" dirty="0">
              <a:ln>
                <a:noFill/>
              </a:ln>
              <a:solidFill>
                <a:srgbClr val="2F5496"/>
              </a:solidFill>
              <a:effectLst/>
              <a:latin typeface="Calibri" panose="020F050202020403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181344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مربع نص 2">
            <a:extLst>
              <a:ext uri="{FF2B5EF4-FFF2-40B4-BE49-F238E27FC236}">
                <a16:creationId xmlns:a16="http://schemas.microsoft.com/office/drawing/2014/main" id="{590F3AF2-F4E8-4B17-0D30-4D06D9D13AB2}"/>
              </a:ext>
            </a:extLst>
          </p:cNvPr>
          <p:cNvSpPr txBox="1"/>
          <p:nvPr/>
        </p:nvSpPr>
        <p:spPr>
          <a:xfrm>
            <a:off x="1024468" y="256739"/>
            <a:ext cx="10312398" cy="29956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ar-SA" sz="2000" b="1" dirty="0">
                <a:solidFill>
                  <a:schemeClr val="accent1"/>
                </a:solidFill>
              </a:rPr>
              <a:t>بيئة العمل والتقنيات </a:t>
            </a:r>
          </a:p>
          <a:p>
            <a:pPr>
              <a:lnSpc>
                <a:spcPct val="150000"/>
              </a:lnSpc>
            </a:pPr>
            <a:r>
              <a:rPr lang="ar-SA" b="1" dirty="0"/>
              <a:t>الواجهة الخلفية (</a:t>
            </a:r>
            <a:r>
              <a:rPr lang="en-US" b="1" dirty="0"/>
              <a:t> :(Backend</a:t>
            </a:r>
            <a:r>
              <a:rPr lang="ar-SA" dirty="0"/>
              <a:t>لغة البرمجة </a:t>
            </a:r>
            <a:r>
              <a:rPr lang="en-US" b="1" dirty="0"/>
              <a:t>Python</a:t>
            </a:r>
            <a:r>
              <a:rPr lang="en-US" dirty="0"/>
              <a:t> </a:t>
            </a:r>
            <a:r>
              <a:rPr lang="ar-SA" dirty="0"/>
              <a:t> بالاعتماد على إطار العمل </a:t>
            </a:r>
            <a:r>
              <a:rPr lang="en-US" dirty="0"/>
              <a:t> (</a:t>
            </a:r>
            <a:r>
              <a:rPr lang="en-US" b="1" dirty="0"/>
              <a:t>Django)</a:t>
            </a:r>
            <a:r>
              <a:rPr lang="ar-SA" dirty="0"/>
              <a:t>لبناء بنية تحتية قوية، آمنة، وقابلة للتوسع.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b="1" dirty="0"/>
              <a:t>قواعد البيانات </a:t>
            </a:r>
            <a:r>
              <a:rPr lang="en-US" b="1" dirty="0"/>
              <a:t> :(Database)</a:t>
            </a:r>
            <a:r>
              <a:rPr lang="ar-SA" dirty="0"/>
              <a:t>قواعد بيانات علائقية</a:t>
            </a:r>
            <a:r>
              <a:rPr lang="en-US" dirty="0"/>
              <a:t> (</a:t>
            </a:r>
            <a:r>
              <a:rPr lang="en-US" b="1" dirty="0"/>
              <a:t>SQL) </a:t>
            </a:r>
            <a:r>
              <a:rPr lang="ar-SA" dirty="0"/>
              <a:t>لإدارة الملفات الشخصية، شروط الاستهداف، والردود بدقة وموثوقية).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b="1" dirty="0"/>
              <a:t>الواجهة الأمامية (</a:t>
            </a:r>
            <a:r>
              <a:rPr lang="en-US" b="1" dirty="0"/>
              <a:t>Frontend</a:t>
            </a:r>
            <a:r>
              <a:rPr lang="ar-SA" b="1" dirty="0"/>
              <a:t>): </a:t>
            </a:r>
            <a:r>
              <a:rPr lang="ar-SA" dirty="0"/>
              <a:t>تقنيات الويب القياسية </a:t>
            </a:r>
            <a:r>
              <a:rPr lang="en-US" dirty="0"/>
              <a:t> (HTML, CSS, JavaScript) </a:t>
            </a:r>
            <a:r>
              <a:rPr lang="ar-SA" dirty="0"/>
              <a:t>لتصميم واجهات مستخدم (</a:t>
            </a:r>
            <a:r>
              <a:rPr lang="en-US" dirty="0"/>
              <a:t>UI</a:t>
            </a:r>
            <a:r>
              <a:rPr lang="ar-SA" dirty="0"/>
              <a:t>) متجاوبة وسهلة الاستخدام.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r-SA" b="1" dirty="0"/>
              <a:t>الذكاء الاصطناعي (</a:t>
            </a:r>
            <a:r>
              <a:rPr lang="en-US" b="1" dirty="0"/>
              <a:t> :(AI &amp; NLP</a:t>
            </a:r>
            <a:r>
              <a:rPr lang="ar-SA" dirty="0"/>
              <a:t>استغلال بيئة </a:t>
            </a:r>
            <a:r>
              <a:rPr lang="en-US" dirty="0"/>
              <a:t> Python </a:t>
            </a:r>
            <a:r>
              <a:rPr lang="ar-SA" dirty="0"/>
              <a:t>لدمج مكتبات ونماذج معالجة اللغات الطبيعية (لتحليل المشاعر واستخراج التوجهات).</a:t>
            </a:r>
          </a:p>
        </p:txBody>
      </p:sp>
    </p:spTree>
    <p:extLst>
      <p:ext uri="{BB962C8B-B14F-4D97-AF65-F5344CB8AC3E}">
        <p14:creationId xmlns:p14="http://schemas.microsoft.com/office/powerpoint/2010/main" val="37418053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30765992"/>
      </p:ext>
    </p:extLst>
  </p:cSld>
  <p:clrMapOvr>
    <a:masterClrMapping/>
  </p:clrMapOvr>
</p:sld>
</file>

<file path=ppt/theme/theme1.xml><?xml version="1.0" encoding="utf-8"?>
<a:theme xmlns:a="http://schemas.openxmlformats.org/drawingml/2006/main" name="نسق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182</TotalTime>
  <Words>689</Words>
  <Application>Microsoft Office PowerPoint</Application>
  <PresentationFormat>شاشة عريضة</PresentationFormat>
  <Paragraphs>63</Paragraphs>
  <Slides>6</Slides>
  <Notes>0</Notes>
  <HiddenSlides>0</HiddenSlides>
  <MMClips>0</MMClips>
  <ScaleCrop>false</ScaleCrop>
  <HeadingPairs>
    <vt:vector size="6" baseType="variant">
      <vt:variant>
        <vt:lpstr>الخطوط المستخدمة</vt:lpstr>
      </vt:variant>
      <vt:variant>
        <vt:i4>7</vt:i4>
      </vt:variant>
      <vt:variant>
        <vt:lpstr>نسق</vt:lpstr>
      </vt:variant>
      <vt:variant>
        <vt:i4>1</vt:i4>
      </vt:variant>
      <vt:variant>
        <vt:lpstr>عناوين الشرائح</vt:lpstr>
      </vt:variant>
      <vt:variant>
        <vt:i4>6</vt:i4>
      </vt:variant>
    </vt:vector>
  </HeadingPairs>
  <TitlesOfParts>
    <vt:vector size="14" baseType="lpstr">
      <vt:lpstr>Aptos</vt:lpstr>
      <vt:lpstr>Aptos Display</vt:lpstr>
      <vt:lpstr>Arial</vt:lpstr>
      <vt:lpstr>Calibri</vt:lpstr>
      <vt:lpstr>Calibri Light</vt:lpstr>
      <vt:lpstr>Simplified Arabic</vt:lpstr>
      <vt:lpstr>Times New Roman</vt:lpstr>
      <vt:lpstr>نسق Office</vt:lpstr>
      <vt:lpstr>Smart Opinion Survey Platform منصة استبيانات الآراء الذكية   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YAMAN BASAM</dc:creator>
  <cp:lastModifiedBy>YAMAN BASAM</cp:lastModifiedBy>
  <cp:revision>4</cp:revision>
  <dcterms:created xsi:type="dcterms:W3CDTF">2026-03-06T14:39:01Z</dcterms:created>
  <dcterms:modified xsi:type="dcterms:W3CDTF">2026-03-06T21:01:18Z</dcterms:modified>
</cp:coreProperties>
</file>