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bookmarkIdSeed="2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</p:sldIdLst>
  <p:sldSz cx="12192000" cy="685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نمط متوسط 2 - تميي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10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94F3E957-1C76-BB63-C202-BCF2E3888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وان فرعي 2">
            <a:extLst>
              <a:ext uri="{FF2B5EF4-FFF2-40B4-BE49-F238E27FC236}">
                <a16:creationId xmlns:a16="http://schemas.microsoft.com/office/drawing/2014/main" id="{5336A8E6-1093-E487-E0BF-3CC0FBF14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/>
              <a:t>انقر لتحرير نمط العنوان الفرعي للشكل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03E4D22-04D9-0E5E-5C63-D129AD27F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FB88D1B4-9E5D-6395-5549-BE2D7FCAB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543EE8A5-13E4-F03F-A228-3E8CB265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80459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FA433B2-A226-F119-DAC1-8CD454226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94068328-1686-6FE4-6032-D4A56D6E4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A077FAF-1589-8E4D-9F12-8FDD9B0FE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C583B27-95F5-2B58-FF3C-75D66DF0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5BE3BBC-A668-A53E-9591-E9A3FF98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21468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8B28B023-0246-D85F-7258-50A88E6FE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9E55503F-B3F9-3BD3-2595-1F140CFE1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2695CBD-DFC8-35CA-4D77-284D80986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A1900813-C161-D8F2-1719-F0C065ABA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FFC24FEE-16B9-23D5-5634-188678AC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3802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A0A96E1-4883-00EC-56A5-D2AE5713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B5034E36-CFED-19CC-9762-1440B4E26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16AABB04-9765-FB2E-E935-97185CF7C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F248EA6C-D421-1EB5-0D95-915EC64E8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F06F8FB0-31E8-62BA-E96F-D949DD124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A9139043-CA3C-1A2D-051B-DC5BD9EF8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8079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0C295EF-27F3-DCEF-32E0-4C5F0EED2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20999BE-2B88-26DD-664D-468C356CF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43D51DFA-EF3F-A3A3-23BE-93F4D3CABF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38C5B6A6-D4C2-5160-0A1A-EF13FF1EF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6" name="عنصر نائب للمحتوى 5">
            <a:extLst>
              <a:ext uri="{FF2B5EF4-FFF2-40B4-BE49-F238E27FC236}">
                <a16:creationId xmlns:a16="http://schemas.microsoft.com/office/drawing/2014/main" id="{C8A85D16-E389-D0B8-991D-7DAAF6B1C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A1CF1148-3766-B0F2-B7D4-59079AF37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9BFFADB6-4F56-625B-C7C9-F0886D524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عنصر نائب لرقم الشريحة 8">
            <a:extLst>
              <a:ext uri="{FF2B5EF4-FFF2-40B4-BE49-F238E27FC236}">
                <a16:creationId xmlns:a16="http://schemas.microsoft.com/office/drawing/2014/main" id="{50F17430-22F1-0700-525D-1C8B3EF8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827386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337901A0-D1FB-5222-FF68-96CE63242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265C04BC-6BC6-A2C8-95E7-61008A7D0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4E5F52C9-E04B-F2A4-3FB4-D030F5F5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عنصر نائب لرقم الشريحة 4">
            <a:extLst>
              <a:ext uri="{FF2B5EF4-FFF2-40B4-BE49-F238E27FC236}">
                <a16:creationId xmlns:a16="http://schemas.microsoft.com/office/drawing/2014/main" id="{79832D75-9CAF-1A4A-A573-97F4FDEC7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6422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7B05531B-0D51-4845-D04C-230DFA54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934A2299-E4CE-0556-6BCA-ECE551E6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1A1791E1-3A9D-5BF4-50E6-737DF5B7D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3436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DA2A992-CF3F-FAA7-11DD-11D1DD3E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70AE71DE-143A-BC45-FE76-5F54D9234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C5D85B43-175E-750C-A36C-01A6074CED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21EC6905-39BD-5FAC-A929-B2E6EFF86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164BA39F-8C75-0D80-7DD8-AABE70216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568381F1-B263-8D8C-C71F-044DA7A60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77631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B1E241A-E4B1-0F4D-6F76-18AA4028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903AC795-CEA2-CF65-9A4C-40100CD76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8CF58445-FE9F-F88D-196B-31BC6B2BC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945B29FB-AA65-BC3A-B124-055165D9B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E8A1D51D-23F6-C834-AAD1-979A463E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CFE52BFD-B399-8A00-DA33-F9737A80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3013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BE52FAC-85A4-CEE8-0E1C-613CA1E2C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FBECCA8A-7CF2-CFA9-8108-F6162AE51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754E377-9D39-7AB5-8BCE-A64763D9E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27B8A41B-E122-ACDA-DE8C-C578F06D3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121FCF-4F3E-8F41-80C1-92ED0EA09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8613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904E7B3E-F722-785E-6FD0-CE66C9E74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E0539051-7380-9AFA-823E-0ECC676F7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E21C35B-8792-2B4C-4872-71274B0D1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5F5DEBF-653E-4A08-47AE-87B5802B3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22D891-CE28-DADD-9024-FE2F38506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68522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B0F9F872-F359-F40A-96AC-DEC7C4E55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671C26D8-F5C6-BD67-5341-D680DDBC8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4ED1FE4-675E-44BC-13BA-FA6FA2B1C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6A8431-2457-4B17-8EAD-CB7DD7790385}" type="datetimeFigureOut">
              <a:rPr lang="ar-SA" smtClean="0"/>
              <a:t>21/09/47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052149F8-4E2D-4499-DF13-6D295FD7A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A5C5E447-E496-DCB7-0786-DA22081D78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8318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797CECF-7ADF-2D94-EFCE-B95249009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716060"/>
            <a:ext cx="9144000" cy="2306637"/>
          </a:xfrm>
        </p:spPr>
        <p:txBody>
          <a:bodyPr>
            <a:normAutofit/>
          </a:bodyPr>
          <a:lstStyle/>
          <a:p>
            <a:pPr rtl="1">
              <a:lnSpc>
                <a:spcPct val="150000"/>
              </a:lnSpc>
              <a:spcAft>
                <a:spcPts val="800"/>
              </a:spcAft>
            </a:pP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Smart Opinion </a:t>
            </a:r>
            <a:r>
              <a:rPr lang="en-US" sz="3200" b="1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Survey Platform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3200" b="1" dirty="0">
                <a:solidFill>
                  <a:srgbClr val="222A3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منصة استبيانات الآراء الذكية 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 </a:t>
            </a:r>
            <a:endParaRPr lang="ar-SA" sz="8800" b="1" dirty="0"/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460B78EE-156F-C89C-4518-9C9BB60A84BC}"/>
              </a:ext>
            </a:extLst>
          </p:cNvPr>
          <p:cNvSpPr>
            <a:spLocks/>
          </p:cNvSpPr>
          <p:nvPr/>
        </p:nvSpPr>
        <p:spPr>
          <a:xfrm>
            <a:off x="1523999" y="2545991"/>
            <a:ext cx="9144001" cy="13039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إعداد الطلاب: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يمان بسام المطر   |  حسن عبد الرحمن يحيى  |   يوسف احمد الزعبي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F0AFB1FE-9D71-6A78-F94B-288E66A4F5B6}"/>
              </a:ext>
            </a:extLst>
          </p:cNvPr>
          <p:cNvSpPr>
            <a:spLocks/>
          </p:cNvSpPr>
          <p:nvPr/>
        </p:nvSpPr>
        <p:spPr>
          <a:xfrm>
            <a:off x="2325498" y="4338112"/>
            <a:ext cx="7541002" cy="20339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إشراف: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شادي بليدي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مايا الأحمد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606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2C805033-01BB-B597-EB43-512C596003EC}"/>
              </a:ext>
            </a:extLst>
          </p:cNvPr>
          <p:cNvSpPr txBox="1"/>
          <p:nvPr/>
        </p:nvSpPr>
        <p:spPr>
          <a:xfrm>
            <a:off x="746448" y="74645"/>
            <a:ext cx="10314991" cy="285058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000" b="1" dirty="0">
                <a:solidFill>
                  <a:srgbClr val="2F5496"/>
                </a:solidFill>
                <a:effectLst/>
                <a:latin typeface="Simplified Arabic" panose="02020603050405020304" pitchFamily="18" charset="-78"/>
                <a:ea typeface="Times New Roman" panose="02020603050405020304" pitchFamily="18" charset="0"/>
              </a:rPr>
              <a:t>مقدمة عن المشروع</a:t>
            </a:r>
            <a:endParaRPr lang="en-US" sz="2000" b="1" dirty="0">
              <a:solidFill>
                <a:srgbClr val="2F5496"/>
              </a:solidFill>
              <a:effectLst/>
              <a:latin typeface="Simplified Arabic" panose="02020603050405020304" pitchFamily="18" charset="-78"/>
              <a:ea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أهمية التغذية الراجعة </a:t>
            </a:r>
            <a:r>
              <a:rPr lang="en-US" sz="1700" b="1" dirty="0">
                <a:latin typeface="Simplified Arabic" panose="02020603050405020304" pitchFamily="18" charset="-78"/>
              </a:rPr>
              <a:t>(Feedback)</a:t>
            </a:r>
            <a:r>
              <a:rPr lang="ar-SA" sz="1700" b="1" dirty="0">
                <a:latin typeface="Simplified Arabic" panose="02020603050405020304" pitchFamily="18" charset="-78"/>
              </a:rPr>
              <a:t>: </a:t>
            </a:r>
            <a:r>
              <a:rPr lang="ar-SA" sz="1700" dirty="0">
                <a:latin typeface="Simplified Arabic" panose="02020603050405020304" pitchFamily="18" charset="-78"/>
              </a:rPr>
              <a:t>في عصر التحول الرقمي، أصبحت آراء المستخدمين الفعليين هي الركيزة الأساسية لنجاح أي خدمة أو منتج.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نهاية عصر التخمين الإداري:</a:t>
            </a:r>
            <a:r>
              <a:rPr lang="ar-SA" sz="1700" dirty="0">
                <a:latin typeface="Simplified Arabic" panose="02020603050405020304" pitchFamily="18" charset="-78"/>
              </a:rPr>
              <a:t> القرارات الاستراتيجية والتطويرية الناجحة لم تعد تُبنى على التوقعات، بل تتطلب بيانات دقيقة تعكس احتياجات السوق الحقيقية.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الحاجة لابتكار أدوات ذكية:</a:t>
            </a:r>
            <a:r>
              <a:rPr lang="ar-SA" sz="1700" dirty="0">
                <a:latin typeface="Simplified Arabic" panose="02020603050405020304" pitchFamily="18" charset="-78"/>
              </a:rPr>
              <a:t> مع التطور المتسارع للذكاء الاصطناعي وتقنيات الويب، أصبح من الضروري تجاوز الطرق التقليدية لجمع وتحليل الآراء، لفهم تطلعات الجمهور بطريقة علمية وسريعة.</a:t>
            </a:r>
          </a:p>
          <a:p>
            <a:pPr>
              <a:lnSpc>
                <a:spcPct val="150000"/>
              </a:lnSpc>
            </a:pPr>
            <a:endParaRPr lang="ar-SA" sz="1400" dirty="0">
              <a:latin typeface="Simplified Arabic" panose="02020603050405020304" pitchFamily="18" charset="-78"/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BBC53761-F6DE-9BD3-BC04-4637616D78F7}"/>
              </a:ext>
            </a:extLst>
          </p:cNvPr>
          <p:cNvSpPr txBox="1"/>
          <p:nvPr/>
        </p:nvSpPr>
        <p:spPr>
          <a:xfrm>
            <a:off x="1562877" y="2792739"/>
            <a:ext cx="9498562" cy="179536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مشكلة البحث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الاعتماد على الروابط المفتوحة يسبب "عشوائية العينة" وجمع بيانات مشوهة.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اتخاذ قرارات استراتيجية خاطئة وهدر للموارد بسبب مشاركة أشخاص غير معنيين بالخدمة.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التحليل اليدوي للنصوص يستهلك وقتاً طويلاً ويكون عرضة للتحيز البشري.</a:t>
            </a: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4BBCADA-6067-E778-BE2F-0922FF31AD4B}"/>
              </a:ext>
            </a:extLst>
          </p:cNvPr>
          <p:cNvSpPr txBox="1"/>
          <p:nvPr/>
        </p:nvSpPr>
        <p:spPr>
          <a:xfrm>
            <a:off x="1254966" y="4687967"/>
            <a:ext cx="9806473" cy="1758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فكرة المشروع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تطوير منصة استبيانات "ثنائية الأطراف" مزودة بمحرك استهداف ذكي.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فلترة مسبقة تضمن عرض الاستبيان حصراً للمطابقين للشروط الديموغرافية.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دمج تقنيات الذكاء الاصطناعي (</a:t>
            </a:r>
            <a:r>
              <a:rPr lang="en-US" dirty="0"/>
              <a:t>AI</a:t>
            </a:r>
            <a:r>
              <a:rPr lang="ar-SA" dirty="0"/>
              <a:t>) لتحليل الإجابات المفتوحة وتصنيف المشاعر آلياً.</a:t>
            </a:r>
          </a:p>
        </p:txBody>
      </p:sp>
    </p:spTree>
    <p:extLst>
      <p:ext uri="{BB962C8B-B14F-4D97-AF65-F5344CB8AC3E}">
        <p14:creationId xmlns:p14="http://schemas.microsoft.com/office/powerpoint/2010/main" val="1388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BE6D38B9-69CF-A5A8-89D6-C7C802977493}"/>
              </a:ext>
            </a:extLst>
          </p:cNvPr>
          <p:cNvSpPr txBox="1"/>
          <p:nvPr/>
        </p:nvSpPr>
        <p:spPr>
          <a:xfrm>
            <a:off x="673941" y="0"/>
            <a:ext cx="11224725" cy="22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000" b="1" dirty="0">
                <a:solidFill>
                  <a:srgbClr val="2F5496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أهداف المشروع </a:t>
            </a:r>
            <a:endParaRPr lang="en-US" sz="2000" b="1" dirty="0">
              <a:solidFill>
                <a:srgbClr val="2F5496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بناء بيئة رقمية تربط مقدمي الخدمات بالمستخدمين الفعليين.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القضاء على العشوائية عبر محرك الاستهداف </a:t>
            </a:r>
            <a:r>
              <a:rPr lang="en-US" dirty="0"/>
              <a:t>.(Targeting Engine)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أتمتة تحليل النصوص </a:t>
            </a:r>
            <a:r>
              <a:rPr lang="en-US" dirty="0"/>
              <a:t> (NLP)</a:t>
            </a:r>
            <a:r>
              <a:rPr lang="ar-SA" dirty="0"/>
              <a:t>لاستخراج التوجهات العامة للجمهور.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توفير لوحات تحكم </a:t>
            </a:r>
            <a:r>
              <a:rPr lang="en-US" dirty="0"/>
              <a:t> (Dashboards) </a:t>
            </a:r>
            <a:r>
              <a:rPr lang="ar-SA" dirty="0"/>
              <a:t>تفاعلية لدعم اتخاذ القرارات.</a:t>
            </a:r>
          </a:p>
        </p:txBody>
      </p:sp>
      <p:sp>
        <p:nvSpPr>
          <p:cNvPr id="2" name="مربع نص 1">
            <a:extLst>
              <a:ext uri="{FF2B5EF4-FFF2-40B4-BE49-F238E27FC236}">
                <a16:creationId xmlns:a16="http://schemas.microsoft.com/office/drawing/2014/main" id="{F7F6FF3F-29D5-9A78-3217-E0B14D6F14C4}"/>
              </a:ext>
            </a:extLst>
          </p:cNvPr>
          <p:cNvSpPr txBox="1"/>
          <p:nvPr/>
        </p:nvSpPr>
        <p:spPr>
          <a:xfrm>
            <a:off x="-293334" y="2224840"/>
            <a:ext cx="12192000" cy="217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نطاق المشروع</a:t>
            </a:r>
            <a:endParaRPr lang="en-US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الفئات المستهدفة:</a:t>
            </a:r>
            <a:r>
              <a:rPr lang="ar-SA" dirty="0"/>
              <a:t> يخدم النظام فئتين: "مقدمي الخدمات" (لإنشاء الاستبيانات الموجهة) و"المستخدمين المسجلين" بملفات تعريفية (كعينة دقيقة للإجابة).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الوظيفي</a:t>
            </a:r>
            <a:r>
              <a:rPr lang="ar-SA" sz="1700" b="1" dirty="0"/>
              <a:t>:</a:t>
            </a:r>
            <a:r>
              <a:rPr lang="ar-SA" sz="1700" dirty="0"/>
              <a:t> يشمل إدارة الحسابات، أداة بناء الاستبيانات المفلترة، تحليل المشاعر عبر الذكاء الاصطناعي </a:t>
            </a:r>
            <a:r>
              <a:rPr lang="en-US" sz="1700" dirty="0"/>
              <a:t>(NLP)، </a:t>
            </a:r>
            <a:r>
              <a:rPr lang="ar-SA" sz="1700" dirty="0"/>
              <a:t>وتوفير لوحات تحكم </a:t>
            </a:r>
            <a:r>
              <a:rPr lang="en-US" sz="1700" dirty="0"/>
              <a:t>(Dashboards)</a:t>
            </a:r>
            <a:r>
              <a:rPr lang="ar-SA" sz="1700" dirty="0"/>
              <a:t> إحصائية.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التقني:</a:t>
            </a:r>
            <a:r>
              <a:rPr lang="ar-SA" dirty="0"/>
              <a:t> بناء النظام كـ "تطبيق ويب"</a:t>
            </a:r>
            <a:r>
              <a:rPr lang="en-US" dirty="0"/>
              <a:t>Web App) </a:t>
            </a:r>
            <a:r>
              <a:rPr lang="ar-SA" dirty="0"/>
              <a:t>) متجاوب، والاعتماد على نماذج ذكاء اصطناعي مدربة مسبقاً</a:t>
            </a:r>
            <a:r>
              <a:rPr lang="en-US" dirty="0"/>
              <a:t>APIs) </a:t>
            </a:r>
            <a:r>
              <a:rPr lang="ar-SA" dirty="0"/>
              <a:t>) لتحليل النصوص.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خارج النطاق:</a:t>
            </a:r>
            <a:r>
              <a:rPr lang="ar-SA" dirty="0"/>
              <a:t> النظام لا يشمل برمجة تطبيق خاص للهواتف الذكية (</a:t>
            </a:r>
            <a:r>
              <a:rPr lang="en-US" dirty="0"/>
              <a:t>(Mobile App، </a:t>
            </a:r>
            <a:r>
              <a:rPr lang="ar-SA" dirty="0"/>
              <a:t>ولن يتم تدريب نماذج لغوية للذكاء الاصطناعي من الصفر.</a:t>
            </a:r>
          </a:p>
        </p:txBody>
      </p:sp>
      <p:sp>
        <p:nvSpPr>
          <p:cNvPr id="4" name="مربع نص 3">
            <a:extLst>
              <a:ext uri="{FF2B5EF4-FFF2-40B4-BE49-F238E27FC236}">
                <a16:creationId xmlns:a16="http://schemas.microsoft.com/office/drawing/2014/main" id="{BB69BDC5-440E-97CE-FDDC-A2DD8FB1EBC1}"/>
              </a:ext>
            </a:extLst>
          </p:cNvPr>
          <p:cNvSpPr txBox="1"/>
          <p:nvPr/>
        </p:nvSpPr>
        <p:spPr>
          <a:xfrm>
            <a:off x="718455" y="4398384"/>
            <a:ext cx="11180211" cy="1993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المفاهيم الأساسية </a:t>
            </a:r>
            <a:endParaRPr lang="en-US" sz="2000" b="1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المنصات ثنائية الأطراف </a:t>
            </a:r>
            <a:r>
              <a:rPr lang="en-US" sz="1600" b="1" dirty="0"/>
              <a:t>Two-Sided Platforms)</a:t>
            </a:r>
            <a:r>
              <a:rPr lang="ar-SA" sz="1600" b="1" dirty="0"/>
              <a:t>): </a:t>
            </a:r>
            <a:r>
              <a:rPr lang="ar-SA" sz="1600" dirty="0"/>
              <a:t>بيئات رقمية تربط "صناع القرار" مع "المجيبين المستهدفين" مباشرة، وتعتمد على تأثير الشبكة لزيادة قيمتها.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الاستهداف الديموغرافي والفلترة الآلية:</a:t>
            </a:r>
            <a:r>
              <a:rPr lang="ar-SA" sz="1600" dirty="0"/>
              <a:t> استخدام خوارزميات مطابقة لمنع "تحيز العينة" عبر توجيه الاستبيان للشريحة المطابقة فقط (عبر حقول الملف الشخصي).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معالجة اللغات الطبيعية (</a:t>
            </a:r>
            <a:r>
              <a:rPr lang="en-US" sz="1600" b="1" dirty="0"/>
              <a:t> (NLP</a:t>
            </a:r>
            <a:r>
              <a:rPr lang="ar-SA" sz="1600" dirty="0"/>
              <a:t>تقنية ذكاء اصطناعي (</a:t>
            </a:r>
            <a:r>
              <a:rPr lang="en-US" sz="1600" dirty="0"/>
              <a:t> (AI</a:t>
            </a:r>
            <a:r>
              <a:rPr lang="ar-SA" sz="1600" dirty="0"/>
              <a:t>لتحويل "البيانات غير المهيكلة" (كالإجابات النصية) إلى بيانات كمية قابلة للقياس والتحليل.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تحليل المشاعر (</a:t>
            </a:r>
            <a:r>
              <a:rPr lang="en-US" sz="1600" b="1" dirty="0"/>
              <a:t> (Sentiment Analysis</a:t>
            </a:r>
            <a:r>
              <a:rPr lang="ar-SA" sz="1600" dirty="0"/>
              <a:t>قراءة النصوص آلياً وتصنيفها عاطفياً (إيجابية، سلبية، محايدة) لاستخراج توجهات الجمهور بسرعة ودقة.</a:t>
            </a:r>
          </a:p>
        </p:txBody>
      </p:sp>
    </p:spTree>
    <p:extLst>
      <p:ext uri="{BB962C8B-B14F-4D97-AF65-F5344CB8AC3E}">
        <p14:creationId xmlns:p14="http://schemas.microsoft.com/office/powerpoint/2010/main" val="244556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مربع نص 5">
            <a:extLst>
              <a:ext uri="{FF2B5EF4-FFF2-40B4-BE49-F238E27FC236}">
                <a16:creationId xmlns:a16="http://schemas.microsoft.com/office/drawing/2014/main" id="{4FBF6A0A-C59A-595C-077B-309D8FBEDF45}"/>
              </a:ext>
            </a:extLst>
          </p:cNvPr>
          <p:cNvSpPr txBox="1"/>
          <p:nvPr/>
        </p:nvSpPr>
        <p:spPr>
          <a:xfrm>
            <a:off x="0" y="87876"/>
            <a:ext cx="12192000" cy="304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b="1" dirty="0">
                <a:solidFill>
                  <a:schemeClr val="accent1"/>
                </a:solidFill>
              </a:rPr>
              <a:t>الدراسة المرجعية </a:t>
            </a:r>
            <a:endParaRPr lang="en-US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النهج التقليدي في الأبحاث السابقة:</a:t>
            </a:r>
            <a:r>
              <a:rPr lang="ar-SA" sz="1600" dirty="0"/>
              <a:t> </a:t>
            </a:r>
            <a:r>
              <a:rPr lang="ar-SA" sz="1400" dirty="0"/>
              <a:t>ركزت معظم الدراسات السابقة على بناء استبيانات إلكترونية تقليدية تعتمد على النشر العشوائي للروابط، مما أدى إلى نتائج تعاني من "تحيز العينة" (</a:t>
            </a:r>
            <a:r>
              <a:rPr lang="en-US" sz="1400" dirty="0"/>
              <a:t>.(Sample Bias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الدراسات المعتمدة على الذكاء الاصطناعي:</a:t>
            </a:r>
            <a:r>
              <a:rPr lang="ar-SA" sz="1600" dirty="0"/>
              <a:t> الأبحاث الحديثة التي استخدمت معالجة اللغات الطبيعية (</a:t>
            </a:r>
            <a:r>
              <a:rPr lang="en-US" sz="1600" dirty="0"/>
              <a:t>(NLP</a:t>
            </a:r>
            <a:r>
              <a:rPr lang="ar-SA" sz="1600" dirty="0"/>
              <a:t> لتحليل الاستبيانات، غالباً ما كانت تطبق التحليل كـ "مرحلة منفصلة" (</a:t>
            </a:r>
            <a:r>
              <a:rPr lang="en-US" sz="1600" dirty="0"/>
              <a:t>Post-processing </a:t>
            </a:r>
            <a:r>
              <a:rPr lang="ar-SA" sz="1600" dirty="0"/>
              <a:t>) بعد جمع البيانات، وليست مدمجة في صلب المنصة.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الفجوة البحثية (</a:t>
            </a:r>
            <a:r>
              <a:rPr lang="en-US" sz="1600" b="1" dirty="0"/>
              <a:t> (Research Gap</a:t>
            </a:r>
            <a:r>
              <a:rPr lang="ar-SA" sz="1600" dirty="0"/>
              <a:t>تفتقر الدراسات والأنظمة الحالية إلى وجود </a:t>
            </a:r>
            <a:r>
              <a:rPr lang="ar-SA" sz="1600" b="1" dirty="0"/>
              <a:t>"بيئة ثنائية الأطراف متكاملة"</a:t>
            </a:r>
            <a:r>
              <a:rPr lang="ar-SA" sz="1600" dirty="0"/>
              <a:t> تجمع بين: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الاستهداف الآلي والمسبق للمجيبين (لضمان دقة العينة).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التحليل الآلي والفوري للمشاعر (</a:t>
            </a:r>
            <a:r>
              <a:rPr lang="en-US" sz="1600" dirty="0"/>
              <a:t>NLP </a:t>
            </a:r>
            <a:r>
              <a:rPr lang="ar-SA" sz="1600" dirty="0"/>
              <a:t>) داخل نفس النظام.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b="1" dirty="0"/>
              <a:t>مساهمة مشروعنا:</a:t>
            </a:r>
            <a:r>
              <a:rPr lang="ar-SA" sz="1600" dirty="0"/>
              <a:t> تقديم حل هندسي يدمج محرك الاستهداف الذكي مع نماذج الذكاء الاصطناعي في منصة واحدة متكاملة.</a:t>
            </a:r>
          </a:p>
        </p:txBody>
      </p:sp>
      <p:graphicFrame>
        <p:nvGraphicFramePr>
          <p:cNvPr id="3" name="جدول 2">
            <a:extLst>
              <a:ext uri="{FF2B5EF4-FFF2-40B4-BE49-F238E27FC236}">
                <a16:creationId xmlns:a16="http://schemas.microsoft.com/office/drawing/2014/main" id="{F41C8213-FFEC-4A5E-3240-A95F4B57A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523836"/>
              </p:ext>
            </p:extLst>
          </p:nvPr>
        </p:nvGraphicFramePr>
        <p:xfrm>
          <a:off x="758888" y="3237722"/>
          <a:ext cx="10674221" cy="3250705"/>
        </p:xfrm>
        <a:graphic>
          <a:graphicData uri="http://schemas.openxmlformats.org/drawingml/2006/table">
            <a:tbl>
              <a:tblPr rtl="1" firstRow="1" firstCol="1" bandRow="1">
                <a:tableStyleId>{5C22544A-7EE6-4342-B048-85BDC9FD1C3A}</a:tableStyleId>
              </a:tblPr>
              <a:tblGrid>
                <a:gridCol w="2236854">
                  <a:extLst>
                    <a:ext uri="{9D8B030D-6E8A-4147-A177-3AD203B41FA5}">
                      <a16:colId xmlns:a16="http://schemas.microsoft.com/office/drawing/2014/main" val="1950653663"/>
                    </a:ext>
                  </a:extLst>
                </a:gridCol>
                <a:gridCol w="2220604">
                  <a:extLst>
                    <a:ext uri="{9D8B030D-6E8A-4147-A177-3AD203B41FA5}">
                      <a16:colId xmlns:a16="http://schemas.microsoft.com/office/drawing/2014/main" val="3310257874"/>
                    </a:ext>
                  </a:extLst>
                </a:gridCol>
                <a:gridCol w="2501616">
                  <a:extLst>
                    <a:ext uri="{9D8B030D-6E8A-4147-A177-3AD203B41FA5}">
                      <a16:colId xmlns:a16="http://schemas.microsoft.com/office/drawing/2014/main" val="1449973089"/>
                    </a:ext>
                  </a:extLst>
                </a:gridCol>
                <a:gridCol w="3715147">
                  <a:extLst>
                    <a:ext uri="{9D8B030D-6E8A-4147-A177-3AD203B41FA5}">
                      <a16:colId xmlns:a16="http://schemas.microsoft.com/office/drawing/2014/main" val="3274840695"/>
                    </a:ext>
                  </a:extLst>
                </a:gridCol>
              </a:tblGrid>
              <a:tr h="524924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معيار المقارنة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نماذج جوجل</a:t>
                      </a:r>
                      <a:r>
                        <a:rPr lang="en-US" sz="1400" kern="100">
                          <a:effectLst/>
                        </a:rPr>
                        <a:t> (Google Forms)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منصة </a:t>
                      </a:r>
                      <a:r>
                        <a:rPr lang="ar-SA" sz="1400" kern="100" dirty="0" err="1">
                          <a:effectLst/>
                        </a:rPr>
                        <a:t>سيرفي</a:t>
                      </a:r>
                      <a:r>
                        <a:rPr lang="ar-SA" sz="1400" kern="100" dirty="0">
                          <a:effectLst/>
                        </a:rPr>
                        <a:t> </a:t>
                      </a:r>
                      <a:r>
                        <a:rPr lang="ar-SA" sz="1400" kern="100" dirty="0" err="1">
                          <a:effectLst/>
                        </a:rPr>
                        <a:t>مونكي</a:t>
                      </a:r>
                      <a:r>
                        <a:rPr lang="en-US" sz="1400" kern="100" dirty="0">
                          <a:effectLst/>
                        </a:rPr>
                        <a:t> (SurveyMonkey)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المنصة المقترحة (منصة استبيانات الآراء الذكية)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1723467"/>
                  </a:ext>
                </a:extLst>
              </a:tr>
              <a:tr h="537790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آلية الوصول للجمهور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نشر يدوي للرابط (عينة عشوائية)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مدفوعة الثمن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استهداف ذكي ومجاني بناءً على ملفات المستخدمين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77327789"/>
                  </a:ext>
                </a:extLst>
              </a:tr>
              <a:tr h="579544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أتمتة تحليل النصوص</a:t>
                      </a:r>
                      <a:r>
                        <a:rPr lang="en-US" sz="1400" kern="100">
                          <a:effectLst/>
                        </a:rPr>
                        <a:t> (AI)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غير متوفرة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متوفرة في الخطط المدفوعة المتقدمة فقط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مدمجة أساسياً لتحليل المشاعر واستخراج الكلمات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6195494"/>
                  </a:ext>
                </a:extLst>
              </a:tr>
              <a:tr h="536149">
                <a:tc>
                  <a:txBody>
                    <a:bodyPr/>
                    <a:lstStyle/>
                    <a:p>
                      <a:pPr indent="457200" algn="l" rtl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بيئة ثنائية الأطراف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نعم (تجمع مقدم الخدمة والمجيب في نفس البيئة)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3788431"/>
                  </a:ext>
                </a:extLst>
              </a:tr>
              <a:tr h="536149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التحقق من ديموغرافية المجيب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معدوم (إلا إذا سُأل يدوياً)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متوفر بشروط مسبقة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دقيق وآلي عبر بيانات الملف الشخصي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81537844"/>
                  </a:ext>
                </a:extLst>
              </a:tr>
              <a:tr h="536149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لوحات التحكم</a:t>
                      </a:r>
                      <a:r>
                        <a:rPr lang="en-US" sz="1400" kern="100">
                          <a:effectLst/>
                        </a:rPr>
                        <a:t> (Dashboards)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أساسية جداً للأسئلة المغلقة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متقدمة واحترافية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دقيق وآلي عبر بيانات الملف الشخصي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1866674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DD41E96A-93C9-D995-438A-F66E1DB2CD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8366" y="6488427"/>
            <a:ext cx="3615267" cy="3692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indent="457200"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1400" b="0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جدول: مقارنة بين المنصة المقترحة والأنظمة الحالية</a:t>
            </a:r>
            <a:endParaRPr kumimoji="0" lang="en-US" altLang="ar-SA" sz="1400" b="0" i="0" u="none" strike="noStrike" cap="none" normalizeH="0" baseline="0" dirty="0">
              <a:ln>
                <a:noFill/>
              </a:ln>
              <a:solidFill>
                <a:srgbClr val="2F5496"/>
              </a:solidFill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13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590F3AF2-F4E8-4B17-0D30-4D06D9D13AB2}"/>
              </a:ext>
            </a:extLst>
          </p:cNvPr>
          <p:cNvSpPr txBox="1"/>
          <p:nvPr/>
        </p:nvSpPr>
        <p:spPr>
          <a:xfrm>
            <a:off x="401216" y="195378"/>
            <a:ext cx="11644777" cy="258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الأدوات والتقنيات المستخدمة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الواجهة الخلفية (</a:t>
            </a:r>
            <a:r>
              <a:rPr lang="en-US" b="1" dirty="0"/>
              <a:t> :(Backend</a:t>
            </a:r>
            <a:r>
              <a:rPr lang="ar-SA" dirty="0"/>
              <a:t>لغة البرمجة </a:t>
            </a:r>
            <a:r>
              <a:rPr lang="en-US" b="1" dirty="0"/>
              <a:t>Python</a:t>
            </a:r>
            <a:r>
              <a:rPr lang="en-US" dirty="0"/>
              <a:t> </a:t>
            </a:r>
            <a:r>
              <a:rPr lang="ar-SA" dirty="0"/>
              <a:t> بالاعتماد على إطار العمل </a:t>
            </a:r>
            <a:r>
              <a:rPr lang="en-US" dirty="0"/>
              <a:t> (</a:t>
            </a:r>
            <a:r>
              <a:rPr lang="en-US" b="1" dirty="0"/>
              <a:t>Django)</a:t>
            </a:r>
            <a:r>
              <a:rPr lang="ar-SA" dirty="0"/>
              <a:t>لبناء بنية تحتية قوية، آمنة، وقابلة للتوسع.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 قواعد البيانات </a:t>
            </a:r>
            <a:r>
              <a:rPr lang="en-US" b="1" dirty="0"/>
              <a:t> :(Database)</a:t>
            </a:r>
            <a:r>
              <a:rPr lang="ar-SA" dirty="0"/>
              <a:t>قواعد بيانات علائقية</a:t>
            </a:r>
            <a:r>
              <a:rPr lang="en-US" dirty="0"/>
              <a:t> (</a:t>
            </a:r>
            <a:r>
              <a:rPr lang="en-US" b="1" dirty="0"/>
              <a:t>SQL) </a:t>
            </a:r>
            <a:r>
              <a:rPr lang="ar-SA" dirty="0"/>
              <a:t>لإدارة الملفات الشخصية، شروط الاستهداف، والردود بدقة وموثوقية.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الواجهة الأمامية (</a:t>
            </a:r>
            <a:r>
              <a:rPr lang="en-US" b="1" dirty="0"/>
              <a:t>Frontend</a:t>
            </a:r>
            <a:r>
              <a:rPr lang="ar-SA" b="1" dirty="0"/>
              <a:t>): </a:t>
            </a:r>
            <a:r>
              <a:rPr lang="ar-SA" dirty="0"/>
              <a:t>تقنيات الويب القياسية </a:t>
            </a:r>
            <a:r>
              <a:rPr lang="en-US" dirty="0"/>
              <a:t> (HTML, CSS, JavaScript) </a:t>
            </a:r>
            <a:r>
              <a:rPr lang="ar-SA" dirty="0"/>
              <a:t>لتصميم واجهات مستخدم (</a:t>
            </a:r>
            <a:r>
              <a:rPr lang="en-US" dirty="0"/>
              <a:t>UI</a:t>
            </a:r>
            <a:r>
              <a:rPr lang="ar-SA" dirty="0"/>
              <a:t>) متجاوبة وسهلة الاستخدام.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الذكاء الاصطناعي (</a:t>
            </a:r>
            <a:r>
              <a:rPr lang="en-US" b="1" dirty="0"/>
              <a:t> :(AI &amp; NLP</a:t>
            </a:r>
            <a:r>
              <a:rPr lang="ar-SA" dirty="0"/>
              <a:t>استغلال بيئة </a:t>
            </a:r>
            <a:r>
              <a:rPr lang="en-US" dirty="0"/>
              <a:t> Python </a:t>
            </a:r>
            <a:r>
              <a:rPr lang="ar-SA" dirty="0"/>
              <a:t>لدمج مكتبات ونماذج معالجة اللغات الطبيعية (لتحليل المشاعر واستخراج التوجهات).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بيئة العمل الجماعي (</a:t>
            </a:r>
            <a:r>
              <a:rPr lang="en-US" b="1" dirty="0"/>
              <a:t>Version Control</a:t>
            </a:r>
            <a:r>
              <a:rPr lang="ar-SA" b="1" dirty="0"/>
              <a:t>): </a:t>
            </a:r>
            <a:r>
              <a:rPr lang="ar-SA" dirty="0"/>
              <a:t>استخدام </a:t>
            </a:r>
            <a:r>
              <a:rPr lang="en-US" b="1" dirty="0"/>
              <a:t>GitHub</a:t>
            </a:r>
            <a:r>
              <a:rPr lang="ar-SA" dirty="0"/>
              <a:t> لإدارة الأكواد وتنظيم العمل المشترك بين أعضاء الفريق.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6497CAC-B470-A997-F27B-A3823B1E2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0165" y="3269386"/>
            <a:ext cx="9345828" cy="25801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ar-SA" altLang="ar-SA" sz="20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المنهجية المتبعة: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إطار العمل الرشيق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 (Agile)</a:t>
            </a:r>
          </a:p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أسباب الاختيار:</a:t>
            </a:r>
            <a:endParaRPr kumimoji="0" lang="ar-SA" altLang="ar-S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المرونة العالية: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التكيف السريع لتعديل وتحسين دقة نموذج الذكاء الاصطناعي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(NLP) 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أثناء العمل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التطوير المرحلي (Sprints):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بناء النظام على مراحل متدرجة (إدارة الحسابات ⬅️ محرك المطابقة ⬅️ تحليل المشاعر)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التقييم المستمر: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استعراض الأجزاء المنجزة دورياً مع المشرف لتفادي تراكم الأخطاء برمجياً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إدارة الوقت: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ضمان تسليم المشروع بالكامل ضمن الإطار الزمني المحدد للفصل الدراسي</a:t>
            </a:r>
            <a:r>
              <a:rPr kumimoji="0" lang="ar-SA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41805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B91AAB6-8E48-1559-583A-D5828114BF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67" y="606491"/>
            <a:ext cx="12080033" cy="6111552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80676D18-D5E8-BC30-F6F6-C2E419602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5930" y="0"/>
            <a:ext cx="332014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24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مخطط غانت - </a:t>
            </a:r>
            <a:r>
              <a:rPr kumimoji="0" lang="en-US" altLang="ar-SA" sz="24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Gantt chart</a:t>
            </a:r>
            <a:endParaRPr kumimoji="0" lang="ar-SA" altLang="ar-SA" sz="2400" b="1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765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5FD39E78-D41F-8236-E1E0-A3D88CC477E0}"/>
              </a:ext>
            </a:extLst>
          </p:cNvPr>
          <p:cNvSpPr txBox="1"/>
          <p:nvPr/>
        </p:nvSpPr>
        <p:spPr>
          <a:xfrm>
            <a:off x="502299" y="0"/>
            <a:ext cx="11467321" cy="6282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1500" b="1" dirty="0">
                <a:solidFill>
                  <a:schemeClr val="accent1"/>
                </a:solidFill>
              </a:rPr>
              <a:t>المتطلبات الوظيفية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1. وحدة إدارة الحسابات والمصادقة </a:t>
            </a:r>
            <a:r>
              <a:rPr lang="en-US" sz="1500" b="1" dirty="0"/>
              <a:t>Authentication &amp; User Management)</a:t>
            </a:r>
            <a:r>
              <a:rPr lang="ar-SA" sz="1500" b="1" dirty="0"/>
              <a:t>)</a:t>
            </a:r>
            <a:endParaRPr lang="en-US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يتيح النظام إنشاء حسابات جديدة بتحديد نوع المستخدم (مقدم خدمة/باحث أو مُجيب).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يوفر النظام آلية لتسجيل الدخول الآمن واستعادة كلمة المرور.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يسمح النظام للمُجيبين بإدخال وتحديث بياناتهم الديموغرافية (العمر، الجنس، الموقع، الاهتمامات) في ملفاتهم الشخصية.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2. وحدة إدارة الاستبيانات (</a:t>
            </a:r>
            <a:r>
              <a:rPr lang="en-US" sz="1500" b="1" dirty="0"/>
              <a:t> - Survey Management </a:t>
            </a:r>
            <a:r>
              <a:rPr lang="ar-SA" sz="1500" b="1" dirty="0"/>
              <a:t>لمقدم الخدمة)</a:t>
            </a:r>
            <a:endParaRPr lang="ar-SA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يمكن النظام مقدم الخدمة من إنشاء استبيان جديد وإضافة أسئلة متنوعة (نصية مفتوحة، خيارات متعددة).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يتيح النظام لمقدم الخدمة تحديد "شروط الاستهداف" (</a:t>
            </a:r>
            <a:r>
              <a:rPr lang="en-US" sz="1500" dirty="0"/>
              <a:t>Targeting Criteria</a:t>
            </a:r>
            <a:r>
              <a:rPr lang="ar-SA" sz="1500" dirty="0"/>
              <a:t>) لكل استبيان بناءً على البيانات الديموغرافية.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3. وحدة محرك المطابقة (</a:t>
            </a:r>
            <a:r>
              <a:rPr lang="en-US" sz="1500" b="1" dirty="0"/>
              <a:t> - Targeting Engine </a:t>
            </a:r>
            <a:r>
              <a:rPr lang="ar-SA" sz="1500" b="1" dirty="0"/>
              <a:t>النظام الأساسي)</a:t>
            </a:r>
            <a:endParaRPr lang="ar-SA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يقوم النظام بمطابقة شروط الاستبيان مع قاعدة بيانات المُجيبين بشكل تلقائي.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يعرض النظام الاستبيانات المتاحة فقط للمُجيبين الذين تتطابق بياناتهم مع شروط الاستهداف.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4. وحدة الإجابات والذكاء الاصطناعي (</a:t>
            </a:r>
            <a:r>
              <a:rPr lang="en-US" sz="1500" b="1" dirty="0"/>
              <a:t>Responses &amp; AI Integration</a:t>
            </a:r>
            <a:r>
              <a:rPr lang="ar-SA" sz="1500" b="1" dirty="0"/>
              <a:t>)</a:t>
            </a:r>
            <a:endParaRPr lang="en-US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يتيح النظام للمُجيبين إرسال إجاباتهم وحفظها في قاعدة البيانات.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يقوم النظام بتمرير الإجابات النصية المفتوحة إلى نموذج معالجة اللغات الطبيعية </a:t>
            </a:r>
            <a:r>
              <a:rPr lang="en-US" sz="1500" dirty="0"/>
              <a:t>.(NLP)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يصنف النظام الإجابات النصية تلقائياً إلى مشاعر (إيجابية، سلبية، محايدة).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5. وحدة التقارير ولوحات التحكم (</a:t>
            </a:r>
            <a:r>
              <a:rPr lang="en-US" sz="1500" b="1" dirty="0"/>
              <a:t>(Dashboards &amp; Reporting</a:t>
            </a:r>
            <a:endParaRPr lang="en-US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يوفر النظام لوحة تحكم لمقدم الخدمة تعرض إحصائيات حية لعدد المجيبين.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يعرض النظام نتائج تحليل المشاعر (الذكاء الاصطناعي) على شكل رسوم بيانية تفاعلية.</a:t>
            </a:r>
          </a:p>
        </p:txBody>
      </p:sp>
    </p:spTree>
    <p:extLst>
      <p:ext uri="{BB962C8B-B14F-4D97-AF65-F5344CB8AC3E}">
        <p14:creationId xmlns:p14="http://schemas.microsoft.com/office/powerpoint/2010/main" val="2484457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94FE766C-8414-B6D3-12B6-103F4AC3BA32}"/>
              </a:ext>
            </a:extLst>
          </p:cNvPr>
          <p:cNvSpPr txBox="1"/>
          <p:nvPr/>
        </p:nvSpPr>
        <p:spPr>
          <a:xfrm>
            <a:off x="342122" y="0"/>
            <a:ext cx="11849878" cy="590982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المتطلبات غير وظيفية</a:t>
            </a:r>
          </a:p>
          <a:p>
            <a:pPr>
              <a:lnSpc>
                <a:spcPct val="150000"/>
              </a:lnSpc>
            </a:pPr>
            <a:r>
              <a:rPr lang="ar-SA" b="1" dirty="0"/>
              <a:t>1.  الأداء والسرعة (</a:t>
            </a:r>
            <a:r>
              <a:rPr lang="en-US" b="1" dirty="0"/>
              <a:t>(Performance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ألا يتجاوز زمن استجابة النظام لتمرير الإجابات لنموذج الذكاء الاصطناعي (</a:t>
            </a:r>
            <a:r>
              <a:rPr lang="en-US" sz="1600" dirty="0"/>
              <a:t> (NLP</a:t>
            </a:r>
            <a:r>
              <a:rPr lang="ar-SA" sz="1600" dirty="0"/>
              <a:t>وتحليلها 3 إلى 5 ثوانٍ.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تحميل صفحات الواجهة الأمامية بسرعة لضمان عدم ملل المستخدم أثناء الإجابة.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2. الدقة (</a:t>
            </a:r>
            <a:r>
              <a:rPr lang="en-US" b="1" dirty="0"/>
              <a:t>Accuracy</a:t>
            </a:r>
            <a:r>
              <a:rPr lang="ar-SA" b="1" dirty="0"/>
              <a:t>)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أن يحقق نموذج معالجة اللغات الطبيعية دقة تتراوح بين 75% إلى 80% في تصنيف المشاعر (إيجابي، سلبي، محايد) بشكل صحيح.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3. الأمان والخصوصية </a:t>
            </a:r>
            <a:r>
              <a:rPr lang="en-US" b="1" dirty="0"/>
              <a:t>(Security &amp; Privacy)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تشفير كلمات مرور المستخدمين في قاعدة البيانات ولا تُحفظ كنصوص مكشوفة (</a:t>
            </a:r>
            <a:r>
              <a:rPr lang="en-US" sz="1600" dirty="0"/>
              <a:t>(Hashing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حماية البيانات الديموغرافية للمجيبين ومنع الوصول غير المصرح به إليها، وحماية النظام من ثغرات الحقن (</a:t>
            </a:r>
            <a:r>
              <a:rPr lang="en-US" sz="1600" dirty="0"/>
              <a:t>(SQL Injection</a:t>
            </a:r>
          </a:p>
          <a:p>
            <a:pPr>
              <a:lnSpc>
                <a:spcPct val="150000"/>
              </a:lnSpc>
            </a:pPr>
            <a:r>
              <a:rPr lang="en-US" b="1" dirty="0"/>
              <a:t> </a:t>
            </a:r>
            <a:r>
              <a:rPr lang="ar-SA" b="1" dirty="0"/>
              <a:t>4</a:t>
            </a:r>
            <a:r>
              <a:rPr lang="en-US" b="1" dirty="0"/>
              <a:t>.</a:t>
            </a:r>
            <a:r>
              <a:rPr lang="ar-SA" b="1" dirty="0"/>
              <a:t>  قابلية الاستخدام (</a:t>
            </a:r>
            <a:r>
              <a:rPr lang="en-US" b="1" dirty="0"/>
              <a:t>Usability</a:t>
            </a:r>
            <a:r>
              <a:rPr lang="ar-SA" b="1" dirty="0"/>
              <a:t>)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أن تكون واجهات المنصة متجاوبة (</a:t>
            </a:r>
            <a:r>
              <a:rPr lang="en-US" sz="1600" dirty="0"/>
              <a:t>Responsive</a:t>
            </a:r>
            <a:r>
              <a:rPr lang="ar-SA" sz="1600" dirty="0"/>
              <a:t>) وتعمل بكفاءة على شاشات الحواسيب والهواتف المحمولة.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أن يكون مسار المستخدم بديهياً لتمكين الشركة أو الباحث من تصميم ونشر استبيان بخطوات واضحة وبسيطة.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5. التوافرية وقابلية التوسع (</a:t>
            </a:r>
            <a:r>
              <a:rPr lang="en-US" b="1" dirty="0"/>
              <a:t>Availability &amp; Scalability</a:t>
            </a:r>
            <a:r>
              <a:rPr lang="ar-SA" b="1" dirty="0"/>
              <a:t>)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ar-SA" sz="1600" dirty="0"/>
              <a:t>يجب أن يتحمل النظام دخول عدد محدد من المستخدمين (مثلاً 50 مستخدماً) في نفس الوقت للإجابة على استبيان واحد دون تعطل الخادم (وهو رقم واقعي لاختبار مشروع جامعي).</a:t>
            </a:r>
          </a:p>
          <a:p>
            <a:pPr>
              <a:lnSpc>
                <a:spcPct val="150000"/>
              </a:lnSpc>
            </a:pPr>
            <a:endParaRPr lang="ar-SA" sz="1600" dirty="0"/>
          </a:p>
        </p:txBody>
      </p:sp>
    </p:spTree>
    <p:extLst>
      <p:ext uri="{BB962C8B-B14F-4D97-AF65-F5344CB8AC3E}">
        <p14:creationId xmlns:p14="http://schemas.microsoft.com/office/powerpoint/2010/main" val="2662615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7396CD-93E4-6723-EC5E-95EAED088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5220" y="761522"/>
            <a:ext cx="9213973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مقدم الخدمة / الباحث (Survey Creator):</a:t>
            </a:r>
            <a:r>
              <a:rPr lang="ar-SA" altLang="ar-SA" dirty="0">
                <a:latin typeface="Arial" panose="020B0604020202020204" pitchFamily="34" charset="0"/>
              </a:rPr>
              <a:t>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الجهة المستفيدة من المنصة لجمع البيانات.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المستخدم المُجيب (Respondent):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الفرد المستهدف للإجابة على الاستبيانات.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مدير النظام (System Administrator):</a:t>
            </a:r>
            <a:r>
              <a:rPr lang="ar-SA" altLang="ar-SA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المشرف التقني على المنصة.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مربع نص 2">
            <a:extLst>
              <a:ext uri="{FF2B5EF4-FFF2-40B4-BE49-F238E27FC236}">
                <a16:creationId xmlns:a16="http://schemas.microsoft.com/office/drawing/2014/main" id="{2015423A-1BA5-AA35-708F-4B3914C45213}"/>
              </a:ext>
            </a:extLst>
          </p:cNvPr>
          <p:cNvSpPr txBox="1"/>
          <p:nvPr/>
        </p:nvSpPr>
        <p:spPr>
          <a:xfrm>
            <a:off x="9038252" y="156517"/>
            <a:ext cx="3013788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Actors</a:t>
            </a:r>
            <a:endParaRPr lang="ar-SA" b="1" dirty="0">
              <a:solidFill>
                <a:schemeClr val="accent1"/>
              </a:solidFill>
            </a:endParaRP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3906974-904E-BDCD-A93D-E3B9C0E1FF56}"/>
              </a:ext>
            </a:extLst>
          </p:cNvPr>
          <p:cNvSpPr txBox="1"/>
          <p:nvPr/>
        </p:nvSpPr>
        <p:spPr>
          <a:xfrm>
            <a:off x="7785619" y="3255526"/>
            <a:ext cx="3533574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b="1" dirty="0"/>
              <a:t>مقدم الخدمة (الشركة / الباحث):</a:t>
            </a:r>
            <a:endParaRPr lang="ar-SA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إنشاء حساب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إدارة الاستبيانات (تشمل الإنشاء والتعديل)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تحديد شروط الاستهداف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استعراض نتائج تحليل المشاعر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تسجيل الخروج</a:t>
            </a:r>
          </a:p>
          <a:p>
            <a:pPr>
              <a:lnSpc>
                <a:spcPct val="150000"/>
              </a:lnSpc>
            </a:pPr>
            <a:endParaRPr lang="ar-SA" dirty="0"/>
          </a:p>
        </p:txBody>
      </p:sp>
      <p:sp>
        <p:nvSpPr>
          <p:cNvPr id="9" name="مربع نص 8">
            <a:extLst>
              <a:ext uri="{FF2B5EF4-FFF2-40B4-BE49-F238E27FC236}">
                <a16:creationId xmlns:a16="http://schemas.microsoft.com/office/drawing/2014/main" id="{EFCD7154-06EF-7EF3-D731-6FB4A357D155}"/>
              </a:ext>
            </a:extLst>
          </p:cNvPr>
          <p:cNvSpPr txBox="1"/>
          <p:nvPr/>
        </p:nvSpPr>
        <p:spPr>
          <a:xfrm>
            <a:off x="3890865" y="2606335"/>
            <a:ext cx="74283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sz="2400" b="1" dirty="0">
                <a:solidFill>
                  <a:schemeClr val="accent1"/>
                </a:solidFill>
              </a:rPr>
              <a:t>حالات الاستخدام حسب الفاعلين (</a:t>
            </a:r>
            <a:r>
              <a:rPr lang="en-US" sz="2400" b="1" dirty="0">
                <a:solidFill>
                  <a:schemeClr val="accent1"/>
                </a:solidFill>
              </a:rPr>
              <a:t>(Use Cases by Actors</a:t>
            </a:r>
            <a:endParaRPr lang="ar-SA" sz="2400" b="1" dirty="0">
              <a:solidFill>
                <a:schemeClr val="accent1"/>
              </a:solidFill>
            </a:endParaRPr>
          </a:p>
        </p:txBody>
      </p:sp>
      <p:sp>
        <p:nvSpPr>
          <p:cNvPr id="11" name="مربع نص 10">
            <a:extLst>
              <a:ext uri="{FF2B5EF4-FFF2-40B4-BE49-F238E27FC236}">
                <a16:creationId xmlns:a16="http://schemas.microsoft.com/office/drawing/2014/main" id="{CE8152E0-698A-86B7-7B47-C9999DE2B867}"/>
              </a:ext>
            </a:extLst>
          </p:cNvPr>
          <p:cNvSpPr txBox="1"/>
          <p:nvPr/>
        </p:nvSpPr>
        <p:spPr>
          <a:xfrm>
            <a:off x="831009" y="3260620"/>
            <a:ext cx="3725246" cy="280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/>
              <a:t>المُجيب (المستخدم):</a:t>
            </a:r>
            <a:endParaRPr lang="ar-SA" sz="2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إنشاء حساب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إدارة الملف الديموغرافي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الإجابة على الاستبيانات المطابقة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 تسجيل الخروج</a:t>
            </a:r>
          </a:p>
        </p:txBody>
      </p:sp>
      <p:sp>
        <p:nvSpPr>
          <p:cNvPr id="14" name="مربع نص 13">
            <a:extLst>
              <a:ext uri="{FF2B5EF4-FFF2-40B4-BE49-F238E27FC236}">
                <a16:creationId xmlns:a16="http://schemas.microsoft.com/office/drawing/2014/main" id="{0DB0DE35-0EE9-AC75-31FC-364187A3F4C7}"/>
              </a:ext>
            </a:extLst>
          </p:cNvPr>
          <p:cNvSpPr txBox="1"/>
          <p:nvPr/>
        </p:nvSpPr>
        <p:spPr>
          <a:xfrm>
            <a:off x="5221639" y="3260620"/>
            <a:ext cx="2514215" cy="2343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/>
              <a:t>مدير النظام (</a:t>
            </a:r>
            <a:r>
              <a:rPr lang="en-US" sz="2000" b="1" dirty="0"/>
              <a:t>(Admin</a:t>
            </a:r>
            <a:endParaRPr lang="en-US" sz="2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إدارة الحسابات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استخراج تقارير الأداء العام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 تسجيل الخروج</a:t>
            </a:r>
          </a:p>
        </p:txBody>
      </p:sp>
    </p:spTree>
    <p:extLst>
      <p:ext uri="{BB962C8B-B14F-4D97-AF65-F5344CB8AC3E}">
        <p14:creationId xmlns:p14="http://schemas.microsoft.com/office/powerpoint/2010/main" val="244173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8DD57BF0-A466-1E14-8F00-579B0A9C3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261" y="0"/>
            <a:ext cx="1024501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8364110"/>
      </p:ext>
    </p:extLst>
  </p:cSld>
  <p:clrMapOvr>
    <a:masterClrMapping/>
  </p:clrMapOvr>
</p:sld>
</file>

<file path=ppt/theme/theme1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1281</TotalTime>
  <Words>1512</Words>
  <Application>Microsoft Office PowerPoint</Application>
  <PresentationFormat>شاشة عريضة</PresentationFormat>
  <Paragraphs>133</Paragraphs>
  <Slides>10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Simplified Arabic</vt:lpstr>
      <vt:lpstr>Times New Roman</vt:lpstr>
      <vt:lpstr>نسق Office</vt:lpstr>
      <vt:lpstr>Smart Opinion Survey Platform منصة استبيانات الآراء الذكية   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YAMAN BASAM</dc:creator>
  <cp:lastModifiedBy>YAMAN BASAM</cp:lastModifiedBy>
  <cp:revision>6</cp:revision>
  <dcterms:created xsi:type="dcterms:W3CDTF">2026-03-06T14:39:01Z</dcterms:created>
  <dcterms:modified xsi:type="dcterms:W3CDTF">2026-03-09T20:08:45Z</dcterms:modified>
</cp:coreProperties>
</file>