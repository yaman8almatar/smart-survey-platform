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bookmarkIdSeed="2">
  <p:sldMasterIdLst>
    <p:sldMasterId id="2147483648" r:id="rId1"/>
  </p:sldMasterIdLst>
  <p:sldIdLst>
    <p:sldId id="269" r:id="rId2"/>
    <p:sldId id="257" r:id="rId3"/>
    <p:sldId id="258" r:id="rId4"/>
    <p:sldId id="259" r:id="rId5"/>
    <p:sldId id="260" r:id="rId6"/>
    <p:sldId id="261" r:id="rId7"/>
    <p:sldId id="277" r:id="rId8"/>
    <p:sldId id="265" r:id="rId9"/>
    <p:sldId id="281" r:id="rId10"/>
    <p:sldId id="285" r:id="rId11"/>
    <p:sldId id="268" r:id="rId12"/>
    <p:sldId id="278" r:id="rId13"/>
    <p:sldId id="279" r:id="rId14"/>
    <p:sldId id="280" r:id="rId15"/>
    <p:sldId id="283" r:id="rId16"/>
    <p:sldId id="271" r:id="rId17"/>
    <p:sldId id="270" r:id="rId18"/>
    <p:sldId id="263" r:id="rId19"/>
    <p:sldId id="284" r:id="rId20"/>
    <p:sldId id="287" r:id="rId21"/>
    <p:sldId id="286" r:id="rId22"/>
    <p:sldId id="289" r:id="rId23"/>
    <p:sldId id="290" r:id="rId24"/>
    <p:sldId id="288" r:id="rId25"/>
  </p:sldIdLst>
  <p:sldSz cx="12192000" cy="6858000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النمط المتوسط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102" autoAdjust="0"/>
    <p:restoredTop sz="94660"/>
  </p:normalViewPr>
  <p:slideViewPr>
    <p:cSldViewPr snapToGrid="0">
      <p:cViewPr varScale="1">
        <p:scale>
          <a:sx n="82" d="100"/>
          <a:sy n="82" d="100"/>
        </p:scale>
        <p:origin x="76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4F3E957-1C76-BB63-C202-BCF2E38887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5336A8E6-1093-E487-E0BF-3CC0FBF14C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C03E4D22-04D9-0E5E-5C63-D129AD27F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8431-2457-4B17-8EAD-CB7DD7790385}" type="datetimeFigureOut">
              <a:rPr lang="ar-SA" smtClean="0"/>
              <a:t>07/12/47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FB88D1B4-9E5D-6395-5549-BE2D7FCAB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543EE8A5-13E4-F03F-A228-3E8CB2653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C7275-70AE-4EAC-9F52-438E3B9A04E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580459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FA433B2-A226-F119-DAC1-8CD454226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94068328-1686-6FE4-6032-D4A56D6E4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8A077FAF-1589-8E4D-9F12-8FDD9B0FE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8431-2457-4B17-8EAD-CB7DD7790385}" type="datetimeFigureOut">
              <a:rPr lang="ar-SA" smtClean="0"/>
              <a:t>07/12/47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9C583B27-95F5-2B58-FF3C-75D66DF01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15BE3BBC-A668-A53E-9591-E9A3FF981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C7275-70AE-4EAC-9F52-438E3B9A04E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221468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B28B023-0246-D85F-7258-50A88E6FE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9E55503F-B3F9-3BD3-2595-1F140CFE1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C2695CBD-DFC8-35CA-4D77-284D80986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8431-2457-4B17-8EAD-CB7DD7790385}" type="datetimeFigureOut">
              <a:rPr lang="ar-SA" smtClean="0"/>
              <a:t>07/12/47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A1900813-C161-D8F2-1719-F0C065ABA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FFC24FEE-16B9-23D5-5634-188678AC2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C7275-70AE-4EAC-9F52-438E3B9A04E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238023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A0A96E1-4883-00EC-56A5-D2AE57131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B5034E36-CFED-19CC-9762-1440B4E268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16AABB04-9765-FB2E-E935-97185CF7C5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F248EA6C-D421-1EB5-0D95-915EC64E8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8431-2457-4B17-8EAD-CB7DD7790385}" type="datetimeFigureOut">
              <a:rPr lang="ar-SA" smtClean="0"/>
              <a:t>07/12/47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F06F8FB0-31E8-62BA-E96F-D949DD124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A9139043-CA3C-1A2D-051B-DC5BD9EF8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C7275-70AE-4EAC-9F52-438E3B9A04E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178079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0C295EF-27F3-DCEF-32E0-4C5F0EED2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A20999BE-2B88-26DD-664D-468C356CF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43D51DFA-EF3F-A3A3-23BE-93F4D3CABF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38C5B6A6-D4C2-5160-0A1A-EF13FF1EFC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C8A85D16-E389-D0B8-991D-7DAAF6B1CB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A1CF1148-3766-B0F2-B7D4-59079AF37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8431-2457-4B17-8EAD-CB7DD7790385}" type="datetimeFigureOut">
              <a:rPr lang="ar-SA" smtClean="0"/>
              <a:t>07/12/47</a:t>
            </a:fld>
            <a:endParaRPr lang="ar-SA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9BFFADB6-4F56-625B-C7C9-F0886D524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50F17430-22F1-0700-525D-1C8B3EF8E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C7275-70AE-4EAC-9F52-438E3B9A04E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827386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37901A0-D1FB-5222-FF68-96CE63242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265C04BC-6BC6-A2C8-95E7-61008A7D0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8431-2457-4B17-8EAD-CB7DD7790385}" type="datetimeFigureOut">
              <a:rPr lang="ar-SA" smtClean="0"/>
              <a:t>07/12/47</a:t>
            </a:fld>
            <a:endParaRPr lang="ar-SA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4E5F52C9-E04B-F2A4-3FB4-D030F5F54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79832D75-9CAF-1A4A-A573-97F4FDEC7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C7275-70AE-4EAC-9F52-438E3B9A04E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56422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7B05531B-0D51-4845-D04C-230DFA54E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8431-2457-4B17-8EAD-CB7DD7790385}" type="datetimeFigureOut">
              <a:rPr lang="ar-SA" smtClean="0"/>
              <a:t>07/12/47</a:t>
            </a:fld>
            <a:endParaRPr lang="ar-SA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934A2299-E4CE-0556-6BCA-ECE551E62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1A1791E1-3A9D-5BF4-50E6-737DF5B7D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C7275-70AE-4EAC-9F52-438E3B9A04E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253436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DA2A992-CF3F-FAA7-11DD-11D1DD3EB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70AE71DE-143A-BC45-FE76-5F54D9234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C5D85B43-175E-750C-A36C-01A6074CED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21EC6905-39BD-5FAC-A929-B2E6EFF86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8431-2457-4B17-8EAD-CB7DD7790385}" type="datetimeFigureOut">
              <a:rPr lang="ar-SA" smtClean="0"/>
              <a:t>07/12/47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164BA39F-8C75-0D80-7DD8-AABE70216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568381F1-B263-8D8C-C71F-044DA7A60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C7275-70AE-4EAC-9F52-438E3B9A04E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877631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B1E241A-E4B1-0F4D-6F76-18AA4028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903AC795-CEA2-CF65-9A4C-40100CD769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8CF58445-FE9F-F88D-196B-31BC6B2BC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945B29FB-AA65-BC3A-B124-055165D9B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8431-2457-4B17-8EAD-CB7DD7790385}" type="datetimeFigureOut">
              <a:rPr lang="ar-SA" smtClean="0"/>
              <a:t>07/12/47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E8A1D51D-23F6-C834-AAD1-979A463EB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CFE52BFD-B399-8A00-DA33-F9737A804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C7275-70AE-4EAC-9F52-438E3B9A04E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530131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BE52FAC-85A4-CEE8-0E1C-613CA1E2C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FBECCA8A-7CF2-CFA9-8108-F6162AE51D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C754E377-9D39-7AB5-8BCE-A64763D9E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8431-2457-4B17-8EAD-CB7DD7790385}" type="datetimeFigureOut">
              <a:rPr lang="ar-SA" smtClean="0"/>
              <a:t>07/12/47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27B8A41B-E122-ACDA-DE8C-C578F06D3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4E121FCF-4F3E-8F41-80C1-92ED0EA09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C7275-70AE-4EAC-9F52-438E3B9A04E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186133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904E7B3E-F722-785E-6FD0-CE66C9E741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E0539051-7380-9AFA-823E-0ECC676F74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8E21C35B-8792-2B4C-4872-71274B0D1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A8431-2457-4B17-8EAD-CB7DD7790385}" type="datetimeFigureOut">
              <a:rPr lang="ar-SA" smtClean="0"/>
              <a:t>07/12/47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55F5DEBF-653E-4A08-47AE-87B5802B3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4E22D891-CE28-DADD-9024-FE2F38506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C7275-70AE-4EAC-9F52-438E3B9A04E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968522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B0F9F872-F359-F40A-96AC-DEC7C4E55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671C26D8-F5C6-BD67-5341-D680DDBC80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84ED1FE4-675E-44BC-13BA-FA6FA2B1C1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6A8431-2457-4B17-8EAD-CB7DD7790385}" type="datetimeFigureOut">
              <a:rPr lang="ar-SA" smtClean="0"/>
              <a:t>07/12/47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052149F8-4E2D-4499-DF13-6D295FD7A9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A5C5E447-E496-DCB7-0786-DA22081D78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6C7275-70AE-4EAC-9F52-438E3B9A04E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083183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797CECF-7ADF-2D94-EFCE-B95249009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9955"/>
            <a:ext cx="9144000" cy="2809925"/>
          </a:xfrm>
        </p:spPr>
        <p:txBody>
          <a:bodyPr>
            <a:normAutofit/>
          </a:bodyPr>
          <a:lstStyle/>
          <a:p>
            <a:pPr rtl="1">
              <a:lnSpc>
                <a:spcPct val="150000"/>
              </a:lnSpc>
              <a:spcAft>
                <a:spcPts val="800"/>
              </a:spcAft>
            </a:pPr>
            <a:r>
              <a:rPr lang="en-US" sz="3200" b="1" dirty="0">
                <a:solidFill>
                  <a:srgbClr val="222A3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Smart Opinion Survey Platform</a:t>
            </a:r>
            <a:br>
              <a:rPr lang="en-US" sz="32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ar-SA" sz="3200" b="1" dirty="0">
                <a:solidFill>
                  <a:srgbClr val="222A35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منصة استبيانات الآراء الذكية </a:t>
            </a:r>
            <a:br>
              <a:rPr lang="ar-SA" sz="3200" b="1" dirty="0">
                <a:solidFill>
                  <a:srgbClr val="222A35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ar-SA" sz="2200" b="1" dirty="0">
                <a:solidFill>
                  <a:srgbClr val="222A35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المشروع الفصلي</a:t>
            </a:r>
            <a:br>
              <a:rPr lang="en-US" sz="32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US" sz="3200" b="1" dirty="0">
                <a:solidFill>
                  <a:srgbClr val="222A3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ar-SA" sz="8800" b="1" dirty="0"/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460B78EE-156F-C89C-4518-9C9BB60A84BC}"/>
              </a:ext>
            </a:extLst>
          </p:cNvPr>
          <p:cNvSpPr>
            <a:spLocks/>
          </p:cNvSpPr>
          <p:nvPr/>
        </p:nvSpPr>
        <p:spPr>
          <a:xfrm>
            <a:off x="1523999" y="3584024"/>
            <a:ext cx="9144001" cy="13039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noAutofit/>
          </a:bodyPr>
          <a:lstStyle/>
          <a:p>
            <a:pPr algn="ctr" rtl="1">
              <a:lnSpc>
                <a:spcPct val="150000"/>
              </a:lnSpc>
              <a:spcAft>
                <a:spcPts val="800"/>
              </a:spcAft>
            </a:pPr>
            <a:r>
              <a:rPr lang="ar-SA" sz="2800" b="1" dirty="0">
                <a:solidFill>
                  <a:srgbClr val="222A35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إعداد الطلاب:</a:t>
            </a:r>
            <a:endParaRPr lang="en-US" sz="1400" dirty="0"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 rtl="1">
              <a:lnSpc>
                <a:spcPct val="150000"/>
              </a:lnSpc>
              <a:spcAft>
                <a:spcPts val="800"/>
              </a:spcAft>
            </a:pPr>
            <a:r>
              <a:rPr lang="ar-SA" sz="2400" b="1" dirty="0">
                <a:solidFill>
                  <a:srgbClr val="222A35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يمان بسام المطر   |  حسن عبد الرحمن يحيى  |   يوسف احمد الزعبي</a:t>
            </a:r>
            <a:endParaRPr lang="en-US" sz="1400" dirty="0"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F0AFB1FE-9D71-6A78-F94B-288E66A4F5B6}"/>
              </a:ext>
            </a:extLst>
          </p:cNvPr>
          <p:cNvSpPr>
            <a:spLocks/>
          </p:cNvSpPr>
          <p:nvPr/>
        </p:nvSpPr>
        <p:spPr>
          <a:xfrm>
            <a:off x="2325498" y="4824082"/>
            <a:ext cx="7541002" cy="20339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noAutofit/>
          </a:bodyPr>
          <a:lstStyle/>
          <a:p>
            <a:pPr algn="ctr" rtl="1">
              <a:lnSpc>
                <a:spcPct val="150000"/>
              </a:lnSpc>
              <a:spcAft>
                <a:spcPts val="800"/>
              </a:spcAft>
            </a:pPr>
            <a:r>
              <a:rPr lang="ar-SA" sz="2800" b="1" dirty="0">
                <a:solidFill>
                  <a:srgbClr val="222A35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إشراف:</a:t>
            </a:r>
            <a:endParaRPr lang="en-US" sz="1400" dirty="0"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 rtl="1">
              <a:lnSpc>
                <a:spcPct val="150000"/>
              </a:lnSpc>
              <a:spcAft>
                <a:spcPts val="800"/>
              </a:spcAft>
            </a:pPr>
            <a:r>
              <a:rPr lang="ar-SA" sz="2400" b="1" dirty="0">
                <a:solidFill>
                  <a:srgbClr val="222A35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م. شادي بليدي</a:t>
            </a:r>
            <a:endParaRPr lang="en-US" sz="1400" dirty="0"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 rtl="1">
              <a:lnSpc>
                <a:spcPct val="150000"/>
              </a:lnSpc>
              <a:spcAft>
                <a:spcPts val="800"/>
              </a:spcAft>
            </a:pPr>
            <a:r>
              <a:rPr lang="ar-SA" sz="2400" b="1" dirty="0">
                <a:solidFill>
                  <a:srgbClr val="222A35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م. مايا الأحمد</a:t>
            </a:r>
            <a:endParaRPr lang="en-US" sz="1400" dirty="0"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 rtl="1">
              <a:lnSpc>
                <a:spcPct val="150000"/>
              </a:lnSpc>
              <a:spcAft>
                <a:spcPts val="800"/>
              </a:spcAft>
            </a:pPr>
            <a:endParaRPr lang="en-US" sz="1400" dirty="0"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6" name="Picture 50">
            <a:extLst>
              <a:ext uri="{FF2B5EF4-FFF2-40B4-BE49-F238E27FC236}">
                <a16:creationId xmlns:a16="http://schemas.microsoft.com/office/drawing/2014/main" id="{1221C0D0-4679-D5A3-CF19-712E805FEB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</a:extLst>
          </a:blip>
          <a:srcRect l="7096" t="14058" r="7395" b="12127"/>
          <a:stretch/>
        </p:blipFill>
        <p:spPr bwMode="auto">
          <a:xfrm>
            <a:off x="0" y="0"/>
            <a:ext cx="2489187" cy="1857958"/>
          </a:xfrm>
          <a:prstGeom prst="rect">
            <a:avLst/>
          </a:prstGeom>
          <a:ln>
            <a:noFill/>
          </a:ln>
          <a:effectLst/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Image 16">
            <a:extLst>
              <a:ext uri="{FF2B5EF4-FFF2-40B4-BE49-F238E27FC236}">
                <a16:creationId xmlns:a16="http://schemas.microsoft.com/office/drawing/2014/main" id="{76CE22C2-6123-D1A8-2E06-140C3C095A66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702813" y="0"/>
            <a:ext cx="2489187" cy="171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606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ربع نص 3">
            <a:extLst>
              <a:ext uri="{FF2B5EF4-FFF2-40B4-BE49-F238E27FC236}">
                <a16:creationId xmlns:a16="http://schemas.microsoft.com/office/drawing/2014/main" id="{2C805033-01BB-B597-EB43-512C596003EC}"/>
              </a:ext>
            </a:extLst>
          </p:cNvPr>
          <p:cNvSpPr txBox="1"/>
          <p:nvPr/>
        </p:nvSpPr>
        <p:spPr>
          <a:xfrm>
            <a:off x="1250303" y="374904"/>
            <a:ext cx="10291665" cy="60078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algn="r" rtl="1" eaLnBrk="1" latinLnBrk="0" hangingPunct="1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</a:pPr>
            <a:r>
              <a:rPr lang="ar-SA" sz="2400" b="1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Times New Roman" panose="02020603050405020304" pitchFamily="18" charset="0"/>
              </a:rPr>
              <a:t>مقدمة عن المشروع</a:t>
            </a:r>
            <a:br>
              <a:rPr lang="ar-SA" sz="20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Aptos" panose="020B0004020202020204" pitchFamily="34" charset="0"/>
              </a:rPr>
            </a:br>
            <a:r>
              <a:rPr lang="ar-SA" sz="20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Aptos" panose="020B0004020202020204" pitchFamily="34" charset="0"/>
              </a:rPr>
              <a:t>يهدف المشروع إلى تحسين جودة جمع الآراء من خلال ربط مقدمي الخدمات بالمجيبين المؤهلين، مع توفير لوحات تحليل تساعد في فهم النتائج واتخاذ القرار.</a:t>
            </a:r>
            <a:endParaRPr lang="ar-SA" sz="2000" dirty="0">
              <a:effectLst/>
            </a:endParaRPr>
          </a:p>
          <a:p>
            <a:pPr>
              <a:spcBef>
                <a:spcPts val="1200"/>
              </a:spcBef>
              <a:spcAft>
                <a:spcPts val="600"/>
              </a:spcAft>
            </a:pPr>
            <a:endParaRPr lang="ar-SA" sz="2000" dirty="0">
              <a:cs typeface="+mj-cs"/>
            </a:endParaRPr>
          </a:p>
          <a:p>
            <a:pPr marL="0" algn="r" rtl="1" eaLnBrk="1" latinLnBrk="0" hangingPunct="1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</a:pPr>
            <a:r>
              <a:rPr lang="ar-SA" sz="2400" b="1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Times New Roman" panose="02020603050405020304" pitchFamily="18" charset="0"/>
              </a:rPr>
              <a:t>فكرة</a:t>
            </a:r>
            <a:r>
              <a:rPr lang="ar-SA" sz="2400" b="1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Aptos" panose="020B0004020202020204" pitchFamily="34" charset="0"/>
              </a:rPr>
              <a:t> </a:t>
            </a:r>
            <a:r>
              <a:rPr lang="ar-SA" sz="2400" b="1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Times New Roman" panose="02020603050405020304" pitchFamily="18" charset="0"/>
              </a:rPr>
              <a:t>المشروع</a:t>
            </a:r>
            <a:br>
              <a:rPr lang="ar-SA" sz="20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Aptos" panose="020B0004020202020204" pitchFamily="34" charset="0"/>
              </a:rPr>
            </a:br>
            <a:r>
              <a:rPr lang="ar-SA" sz="20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Aptos" panose="020B0004020202020204" pitchFamily="34" charset="0"/>
              </a:rPr>
              <a:t>منصة ويب ذكية لإنشاء الاستبيانات، تستهدف المشاركين المناسبين بناءً على بياناتهم الديموغرافية، وتدعم تحليل الإجابات النصية المفتوحة باستخدام الذكاء الاصطناعي.</a:t>
            </a:r>
            <a:endParaRPr lang="ar-SA" sz="2000" dirty="0">
              <a:effectLst/>
            </a:endParaRPr>
          </a:p>
          <a:p>
            <a:pPr>
              <a:spcBef>
                <a:spcPts val="1200"/>
              </a:spcBef>
              <a:spcAft>
                <a:spcPts val="600"/>
              </a:spcAft>
            </a:pPr>
            <a:endParaRPr lang="ar-SA" sz="2000" dirty="0">
              <a:cs typeface="+mj-cs"/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</a:pPr>
            <a:r>
              <a:rPr lang="ar-SA" sz="2400" b="1" dirty="0">
                <a:cs typeface="+mj-cs"/>
              </a:rPr>
              <a:t>مشكلة البحث</a:t>
            </a:r>
            <a:br>
              <a:rPr lang="ar-SA" sz="2000" dirty="0">
                <a:cs typeface="+mj-cs"/>
              </a:rPr>
            </a:br>
            <a:r>
              <a:rPr lang="ar-SA" sz="2000" dirty="0">
                <a:cs typeface="+mj-cs"/>
              </a:rPr>
              <a:t>الاستبيانات العامة تعاني من مشاركة عشوائية، ضعف التحقق من أهلية المشاركين، احتمال تكرار الإجابات، وصعوبة تحليل الإجابات النصية يدوياً.</a:t>
            </a:r>
          </a:p>
        </p:txBody>
      </p:sp>
    </p:spTree>
    <p:extLst>
      <p:ext uri="{BB962C8B-B14F-4D97-AF65-F5344CB8AC3E}">
        <p14:creationId xmlns:p14="http://schemas.microsoft.com/office/powerpoint/2010/main" val="138851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مربع نص 4">
            <a:extLst>
              <a:ext uri="{FF2B5EF4-FFF2-40B4-BE49-F238E27FC236}">
                <a16:creationId xmlns:a16="http://schemas.microsoft.com/office/drawing/2014/main" id="{9A5BF7CC-F9D5-CB15-B08E-685D0A953A0E}"/>
              </a:ext>
            </a:extLst>
          </p:cNvPr>
          <p:cNvSpPr txBox="1"/>
          <p:nvPr/>
        </p:nvSpPr>
        <p:spPr>
          <a:xfrm>
            <a:off x="1101013" y="179680"/>
            <a:ext cx="10291665" cy="622164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50000"/>
              </a:lnSpc>
            </a:pPr>
            <a:r>
              <a:rPr lang="ar-SA" sz="2400" b="1" dirty="0"/>
              <a:t>أهداف المشروع</a:t>
            </a:r>
            <a:endParaRPr lang="ar-SA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sz="2000" dirty="0"/>
              <a:t>تحسين موثوقية نتائج الاستبيانات.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sz="2000" dirty="0"/>
              <a:t>استهداف المجيبين حسب البيانات الديموغرافية.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sz="2000" dirty="0"/>
              <a:t>منع تكرار المشاركة في نفس الاستبيان.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sz="2000" dirty="0"/>
              <a:t>تحليل الإجابات النصية باستخدام </a:t>
            </a:r>
            <a:r>
              <a:rPr lang="en-US" sz="2000" dirty="0"/>
              <a:t>.AI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sz="2000" dirty="0"/>
              <a:t>توفير لوحات تحليل وتقارير للإدارة.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ar-SA" sz="2000" dirty="0"/>
          </a:p>
          <a:p>
            <a:pPr>
              <a:lnSpc>
                <a:spcPct val="150000"/>
              </a:lnSpc>
            </a:pPr>
            <a:r>
              <a:rPr lang="ar-SA" sz="2400" b="1" dirty="0"/>
              <a:t>نطاق المشروع</a:t>
            </a:r>
            <a:endParaRPr lang="ar-SA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sz="2000" dirty="0"/>
              <a:t>إنشاء وإدارة الاستبيانات.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sz="2000" dirty="0"/>
              <a:t>إدارة الأسئلة وشروط الاستهداف.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sz="2000" dirty="0"/>
              <a:t>مشاركة المجيبين المؤهلين فقط.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sz="2000" dirty="0"/>
              <a:t>تحليل النتائج وعرضها.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A" sz="2000" dirty="0"/>
              <a:t>إدارة المستخدمين والتقارير.</a:t>
            </a:r>
          </a:p>
        </p:txBody>
      </p:sp>
    </p:spTree>
    <p:extLst>
      <p:ext uri="{BB962C8B-B14F-4D97-AF65-F5344CB8AC3E}">
        <p14:creationId xmlns:p14="http://schemas.microsoft.com/office/powerpoint/2010/main" val="2445566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ربع نص 5">
            <a:extLst>
              <a:ext uri="{FF2B5EF4-FFF2-40B4-BE49-F238E27FC236}">
                <a16:creationId xmlns:a16="http://schemas.microsoft.com/office/drawing/2014/main" id="{4FBF6A0A-C59A-595C-077B-309D8FBEDF45}"/>
              </a:ext>
            </a:extLst>
          </p:cNvPr>
          <p:cNvSpPr txBox="1"/>
          <p:nvPr/>
        </p:nvSpPr>
        <p:spPr>
          <a:xfrm>
            <a:off x="1167883" y="162521"/>
            <a:ext cx="102294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ar-SA" sz="2400" b="1" dirty="0"/>
              <a:t>الدراسة المرجعية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ar-SA" b="1" dirty="0"/>
              <a:t>الأنظمة التقليدية:</a:t>
            </a:r>
            <a:br>
              <a:rPr lang="ar-SA" dirty="0"/>
            </a:br>
            <a:r>
              <a:rPr lang="ar-SA" dirty="0"/>
              <a:t>تعتمد غالباً على نشر روابط عامة، مما قد يؤدي إلى مشاركة عشوائية وتحيز في العينة وضعف في موثوقية النتائج.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ar-SA" b="1" dirty="0"/>
              <a:t>أنظمة التحليل الذكي:</a:t>
            </a:r>
            <a:br>
              <a:rPr lang="ar-SA" dirty="0"/>
            </a:br>
            <a:r>
              <a:rPr lang="ar-SA" dirty="0"/>
              <a:t>تركز غالباً على تحليل البيانات بعد جمعها، بينما لا تعالج دائماً مشكلة أهلية المشاركين قبل الإجابة.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ar-SA" b="1" dirty="0"/>
              <a:t>مساهمة مشروعنا:</a:t>
            </a:r>
            <a:br>
              <a:rPr lang="ar-SA" dirty="0"/>
            </a:br>
            <a:r>
              <a:rPr lang="ar-SA" dirty="0"/>
              <a:t>تقديم منصة هندسية متكاملة تجمع بين الاستهداف الديموغرافي للمجيبين، منع تكرار المشاركة، وتحليل الإجابات النصية باستخدام الذكاء الاصطناعي ضمن نظام واحد.</a:t>
            </a:r>
          </a:p>
        </p:txBody>
      </p:sp>
      <p:graphicFrame>
        <p:nvGraphicFramePr>
          <p:cNvPr id="3" name="جدول 2">
            <a:extLst>
              <a:ext uri="{FF2B5EF4-FFF2-40B4-BE49-F238E27FC236}">
                <a16:creationId xmlns:a16="http://schemas.microsoft.com/office/drawing/2014/main" id="{F41C8213-FFEC-4A5E-3240-A95F4B57A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220797"/>
              </p:ext>
            </p:extLst>
          </p:nvPr>
        </p:nvGraphicFramePr>
        <p:xfrm>
          <a:off x="1167883" y="3268705"/>
          <a:ext cx="10084834" cy="3026713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2113343">
                  <a:extLst>
                    <a:ext uri="{9D8B030D-6E8A-4147-A177-3AD203B41FA5}">
                      <a16:colId xmlns:a16="http://schemas.microsoft.com/office/drawing/2014/main" val="1950653663"/>
                    </a:ext>
                  </a:extLst>
                </a:gridCol>
                <a:gridCol w="2137896">
                  <a:extLst>
                    <a:ext uri="{9D8B030D-6E8A-4147-A177-3AD203B41FA5}">
                      <a16:colId xmlns:a16="http://schemas.microsoft.com/office/drawing/2014/main" val="3310257874"/>
                    </a:ext>
                  </a:extLst>
                </a:gridCol>
                <a:gridCol w="1948528">
                  <a:extLst>
                    <a:ext uri="{9D8B030D-6E8A-4147-A177-3AD203B41FA5}">
                      <a16:colId xmlns:a16="http://schemas.microsoft.com/office/drawing/2014/main" val="1449973089"/>
                    </a:ext>
                  </a:extLst>
                </a:gridCol>
                <a:gridCol w="3885067">
                  <a:extLst>
                    <a:ext uri="{9D8B030D-6E8A-4147-A177-3AD203B41FA5}">
                      <a16:colId xmlns:a16="http://schemas.microsoft.com/office/drawing/2014/main" val="3274840695"/>
                    </a:ext>
                  </a:extLst>
                </a:gridCol>
              </a:tblGrid>
              <a:tr h="471959">
                <a:tc>
                  <a:txBody>
                    <a:bodyPr/>
                    <a:lstStyle/>
                    <a:p>
                      <a:r>
                        <a:rPr lang="ar-SA" sz="1600" dirty="0">
                          <a:cs typeface="+mj-cs"/>
                        </a:rPr>
                        <a:t>معيار المقارنة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cs typeface="+mj-cs"/>
                        </a:rPr>
                        <a:t>Google Forms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cs typeface="+mj-cs"/>
                        </a:rPr>
                        <a:t>SurveyMonkey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600" dirty="0">
                          <a:cs typeface="+mj-cs"/>
                        </a:rPr>
                        <a:t>منصتنا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1723467"/>
                  </a:ext>
                </a:extLst>
              </a:tr>
              <a:tr h="483529">
                <a:tc>
                  <a:txBody>
                    <a:bodyPr/>
                    <a:lstStyle/>
                    <a:p>
                      <a:r>
                        <a:rPr lang="ar-SA" sz="1600" dirty="0">
                          <a:cs typeface="+mj-cs"/>
                        </a:rPr>
                        <a:t>إنشاء الاستبيانات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600">
                          <a:cs typeface="+mj-cs"/>
                        </a:rPr>
                        <a:t>متوفر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600">
                          <a:cs typeface="+mj-cs"/>
                        </a:rPr>
                        <a:t>متوفر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600" dirty="0">
                          <a:cs typeface="+mj-cs"/>
                        </a:rPr>
                        <a:t>متوفر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7327789"/>
                  </a:ext>
                </a:extLst>
              </a:tr>
              <a:tr h="528001">
                <a:tc>
                  <a:txBody>
                    <a:bodyPr/>
                    <a:lstStyle/>
                    <a:p>
                      <a:r>
                        <a:rPr lang="ar-SA" sz="1600" dirty="0">
                          <a:cs typeface="+mj-cs"/>
                        </a:rPr>
                        <a:t>الاستهداف الديموغرافي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600" dirty="0">
                          <a:cs typeface="+mj-cs"/>
                        </a:rPr>
                        <a:t>محدود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600" dirty="0">
                          <a:cs typeface="+mj-cs"/>
                        </a:rPr>
                        <a:t>متوفر غالباً كخدمة مدفوعة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600" dirty="0">
                          <a:cs typeface="+mj-cs"/>
                        </a:rPr>
                        <a:t>مدمج داخل النظام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6195494"/>
                  </a:ext>
                </a:extLst>
              </a:tr>
              <a:tr h="482052">
                <a:tc>
                  <a:txBody>
                    <a:bodyPr/>
                    <a:lstStyle/>
                    <a:p>
                      <a:r>
                        <a:rPr lang="ar-SA" sz="1600" dirty="0">
                          <a:cs typeface="+mj-cs"/>
                        </a:rPr>
                        <a:t>منع تكرار الإجابات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600" dirty="0">
                          <a:cs typeface="+mj-cs"/>
                        </a:rPr>
                        <a:t>محدود حسب الإعدادات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600" dirty="0">
                          <a:cs typeface="+mj-cs"/>
                        </a:rPr>
                        <a:t>متوفر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600" dirty="0">
                          <a:cs typeface="+mj-cs"/>
                        </a:rPr>
                        <a:t>مطبق برمجياً وقاعدياً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3788431"/>
                  </a:ext>
                </a:extLst>
              </a:tr>
              <a:tr h="482052">
                <a:tc>
                  <a:txBody>
                    <a:bodyPr/>
                    <a:lstStyle/>
                    <a:p>
                      <a:r>
                        <a:rPr lang="ar-SA" sz="1600">
                          <a:cs typeface="+mj-cs"/>
                        </a:rPr>
                        <a:t>تحليل الإجابات النصية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600">
                          <a:cs typeface="+mj-cs"/>
                        </a:rPr>
                        <a:t>محدود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600">
                          <a:cs typeface="+mj-cs"/>
                        </a:rPr>
                        <a:t>حسب الخطة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cs typeface="+mj-cs"/>
                        </a:rPr>
                        <a:t>Sentiment Analysis </a:t>
                      </a:r>
                      <a:r>
                        <a:rPr lang="ar-SA" sz="1600" dirty="0">
                          <a:cs typeface="+mj-cs"/>
                        </a:rPr>
                        <a:t> باستخدام </a:t>
                      </a:r>
                      <a:r>
                        <a:rPr lang="en-US" sz="1600" dirty="0">
                          <a:cs typeface="+mj-cs"/>
                        </a:rPr>
                        <a:t>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1537844"/>
                  </a:ext>
                </a:extLst>
              </a:tr>
              <a:tr h="550016">
                <a:tc>
                  <a:txBody>
                    <a:bodyPr/>
                    <a:lstStyle/>
                    <a:p>
                      <a:r>
                        <a:rPr lang="ar-SA" sz="1600">
                          <a:cs typeface="+mj-cs"/>
                        </a:rPr>
                        <a:t>لوحات التحليل </a:t>
                      </a:r>
                      <a:r>
                        <a:rPr lang="en-US" sz="1600">
                          <a:cs typeface="+mj-cs"/>
                        </a:rPr>
                        <a:t>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600">
                          <a:cs typeface="+mj-cs"/>
                        </a:rPr>
                        <a:t>بسيطة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600">
                          <a:cs typeface="+mj-cs"/>
                        </a:rPr>
                        <a:t>متوفرة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cs typeface="+mj-cs"/>
                        </a:rPr>
                        <a:t>Provider Dashboard </a:t>
                      </a:r>
                      <a:r>
                        <a:rPr lang="ar-SA" sz="1600" dirty="0">
                          <a:cs typeface="+mj-cs"/>
                        </a:rPr>
                        <a:t> و</a:t>
                      </a:r>
                      <a:r>
                        <a:rPr lang="en-US" sz="1600" dirty="0">
                          <a:cs typeface="+mj-cs"/>
                        </a:rPr>
                        <a:t>Admin Reports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1866674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DD41E96A-93C9-D995-438A-F66E1DB2C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7642" y="6295418"/>
            <a:ext cx="4563274" cy="400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01568" rIns="91440" bIns="50784" numCol="1" anchor="ctr" anchorCtr="0" compatLnSpc="1">
            <a:prstTxWarp prst="textNoShape">
              <a:avLst/>
            </a:prstTxWarp>
            <a:spAutoFit/>
          </a:bodyPr>
          <a:lstStyle>
            <a:lvl1pPr indent="45720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720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ar-SA" sz="16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جدول: مقارنة بين المنصة المقترحة والأنظمة الحالية</a:t>
            </a:r>
            <a:endParaRPr kumimoji="0" lang="en-US" altLang="ar-SA" sz="1600" b="1" i="0" u="none" strike="noStrike" cap="none" normalizeH="0" baseline="0" dirty="0">
              <a:ln>
                <a:noFill/>
              </a:ln>
              <a:solidFill>
                <a:srgbClr val="2F5496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134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16497CAC-B470-A997-F27B-A3823B1E2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3770" y="1687354"/>
            <a:ext cx="6285723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ar-SA" altLang="ar-SA" sz="24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Arial" panose="020B0604020202020204" pitchFamily="34" charset="0"/>
              <a:cs typeface="+mj-cs"/>
            </a:endParaRPr>
          </a:p>
          <a:p>
            <a:pPr>
              <a:spcBef>
                <a:spcPts val="600"/>
              </a:spcBef>
            </a:pPr>
            <a:r>
              <a:rPr lang="ar-SA" sz="2000" dirty="0">
                <a:cs typeface="+mj-cs"/>
              </a:rPr>
              <a:t>تم اعتماد </a:t>
            </a:r>
            <a:r>
              <a:rPr lang="en-US" sz="2000" b="1" dirty="0">
                <a:cs typeface="+mj-cs"/>
              </a:rPr>
              <a:t>Agile Iterative and Incremental Development</a:t>
            </a:r>
            <a:r>
              <a:rPr lang="en-US" sz="2000" dirty="0">
                <a:cs typeface="+mj-cs"/>
              </a:rPr>
              <a:t> </a:t>
            </a:r>
            <a:r>
              <a:rPr lang="ar-SA" sz="2000" dirty="0">
                <a:cs typeface="+mj-cs"/>
              </a:rPr>
              <a:t> لأن المشروع يتكون من وحدات مترابطة يمكن تطويرها ومراجعتها تدريجياً.</a:t>
            </a:r>
          </a:p>
          <a:p>
            <a:pPr>
              <a:spcBef>
                <a:spcPts val="600"/>
              </a:spcBef>
            </a:pPr>
            <a:r>
              <a:rPr lang="ar-SA" sz="2200" b="1" dirty="0">
                <a:cs typeface="+mj-cs"/>
              </a:rPr>
              <a:t>أسباب الاختيار:</a:t>
            </a:r>
            <a:endParaRPr lang="ar-SA" sz="2200" dirty="0">
              <a:cs typeface="+mj-cs"/>
            </a:endParaRPr>
          </a:p>
          <a:p>
            <a:pPr>
              <a:spcBef>
                <a:spcPts val="600"/>
              </a:spcBef>
            </a:pPr>
            <a:r>
              <a:rPr lang="ar-SA" sz="2000" b="1" dirty="0">
                <a:cs typeface="+mj-cs"/>
              </a:rPr>
              <a:t>التطوير المرحلي</a:t>
            </a:r>
            <a:br>
              <a:rPr lang="ar-SA" sz="2000" dirty="0">
                <a:cs typeface="+mj-cs"/>
              </a:rPr>
            </a:br>
            <a:r>
              <a:rPr lang="ar-SA" sz="2000" dirty="0">
                <a:cs typeface="+mj-cs"/>
              </a:rPr>
              <a:t>تقسيم المشروع إلى مراحل: الحسابات، الاستبيانات، الاستهداف، المشاركة، والتحليل.</a:t>
            </a:r>
          </a:p>
          <a:p>
            <a:pPr>
              <a:spcBef>
                <a:spcPts val="600"/>
              </a:spcBef>
            </a:pPr>
            <a:r>
              <a:rPr lang="ar-SA" sz="2000" b="1" dirty="0">
                <a:cs typeface="+mj-cs"/>
              </a:rPr>
              <a:t>مرونة التعديل</a:t>
            </a:r>
            <a:br>
              <a:rPr lang="ar-SA" sz="2000" dirty="0">
                <a:cs typeface="+mj-cs"/>
              </a:rPr>
            </a:br>
            <a:r>
              <a:rPr lang="ar-SA" sz="2000" dirty="0">
                <a:cs typeface="+mj-cs"/>
              </a:rPr>
              <a:t>إمكانية تعديل المتطلبات بناءً على ملاحظات المشرفين دون التأثير على كامل النظام.</a:t>
            </a:r>
          </a:p>
          <a:p>
            <a:pPr>
              <a:spcBef>
                <a:spcPts val="600"/>
              </a:spcBef>
            </a:pPr>
            <a:r>
              <a:rPr lang="ar-SA" sz="2000" b="1" dirty="0">
                <a:cs typeface="+mj-cs"/>
              </a:rPr>
              <a:t>الاختبار المستمر</a:t>
            </a:r>
            <a:br>
              <a:rPr lang="ar-SA" sz="2000" dirty="0">
                <a:cs typeface="+mj-cs"/>
              </a:rPr>
            </a:br>
            <a:r>
              <a:rPr lang="ar-SA" sz="2000" dirty="0">
                <a:cs typeface="+mj-cs"/>
              </a:rPr>
              <a:t>اختبار كل </a:t>
            </a:r>
            <a:r>
              <a:rPr lang="en-US" sz="2000" dirty="0">
                <a:cs typeface="+mj-cs"/>
              </a:rPr>
              <a:t> Sprint </a:t>
            </a:r>
            <a:r>
              <a:rPr lang="ar-SA" sz="2000" dirty="0">
                <a:cs typeface="+mj-cs"/>
              </a:rPr>
              <a:t>بعد إنجازه لتقليل الأخطاء المتراكمة.</a:t>
            </a:r>
          </a:p>
          <a:p>
            <a:pPr>
              <a:spcBef>
                <a:spcPts val="600"/>
              </a:spcBef>
            </a:pPr>
            <a:r>
              <a:rPr lang="ar-SA" sz="2000" b="1" dirty="0">
                <a:cs typeface="+mj-cs"/>
              </a:rPr>
              <a:t>تنظيم العمل الجماعي</a:t>
            </a:r>
            <a:br>
              <a:rPr lang="ar-SA" sz="2000" dirty="0">
                <a:cs typeface="+mj-cs"/>
              </a:rPr>
            </a:br>
            <a:r>
              <a:rPr lang="ar-SA" sz="2000" dirty="0">
                <a:cs typeface="+mj-cs"/>
              </a:rPr>
              <a:t>توزيع المهام بين أعضاء الفريق ومتابعة التقدم من خلال كل </a:t>
            </a:r>
            <a:r>
              <a:rPr lang="en-US" sz="2000" dirty="0">
                <a:cs typeface="+mj-cs"/>
              </a:rPr>
              <a:t>.Sprint</a:t>
            </a:r>
          </a:p>
        </p:txBody>
      </p:sp>
      <p:pic>
        <p:nvPicPr>
          <p:cNvPr id="3" name="صورة 2">
            <a:extLst>
              <a:ext uri="{FF2B5EF4-FFF2-40B4-BE49-F238E27FC236}">
                <a16:creationId xmlns:a16="http://schemas.microsoft.com/office/drawing/2014/main" id="{65013788-B1B6-9551-AA13-8CCE04528E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694"/>
          <a:stretch/>
        </p:blipFill>
        <p:spPr>
          <a:xfrm>
            <a:off x="80088" y="851852"/>
            <a:ext cx="5663682" cy="4198777"/>
          </a:xfrm>
          <a:prstGeom prst="rect">
            <a:avLst/>
          </a:prstGeom>
        </p:spPr>
      </p:pic>
      <p:sp>
        <p:nvSpPr>
          <p:cNvPr id="7" name="مربع نص 6">
            <a:extLst>
              <a:ext uri="{FF2B5EF4-FFF2-40B4-BE49-F238E27FC236}">
                <a16:creationId xmlns:a16="http://schemas.microsoft.com/office/drawing/2014/main" id="{745945F8-8F79-C193-BCDA-CBB8C7AB8F24}"/>
              </a:ext>
            </a:extLst>
          </p:cNvPr>
          <p:cNvSpPr txBox="1"/>
          <p:nvPr/>
        </p:nvSpPr>
        <p:spPr>
          <a:xfrm>
            <a:off x="5743770" y="191094"/>
            <a:ext cx="6097554" cy="660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altLang="ar-SA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 panose="02020603050405020304" pitchFamily="18" charset="0"/>
              </a:rPr>
              <a:t>المنهجية المتبعة:</a:t>
            </a:r>
            <a:r>
              <a:rPr kumimoji="0" lang="ar-SA" altLang="ar-SA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Times New Roman" panose="02020603050405020304" pitchFamily="18" charset="0"/>
              </a:rPr>
              <a:t> إطار العمل الرشيق (Agile)</a:t>
            </a:r>
          </a:p>
        </p:txBody>
      </p:sp>
    </p:spTree>
    <p:extLst>
      <p:ext uri="{BB962C8B-B14F-4D97-AF65-F5344CB8AC3E}">
        <p14:creationId xmlns:p14="http://schemas.microsoft.com/office/powerpoint/2010/main" val="3741805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0676D18-D5E8-BC30-F6F6-C2E419602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5930" y="0"/>
            <a:ext cx="33201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ar-SA" sz="2400" b="1" i="0" u="none" strike="noStrike" cap="none" normalizeH="0" baseline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مخطط غانت - </a:t>
            </a:r>
            <a:r>
              <a:rPr kumimoji="0" lang="en-US" altLang="ar-SA" sz="2400" b="1" i="0" u="none" strike="noStrike" cap="none" normalizeH="0" baseline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Gantt chart</a:t>
            </a:r>
            <a:endParaRPr kumimoji="0" lang="ar-SA" altLang="ar-SA" sz="2400" b="1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صورة 5" descr="صورة تحتوي على نص, لقطة شاشة, برمجيات, رقم&#10;&#10;قد يكون المحتوى المعد بواسطة الذكاء الاصطناعي غير صحيح.">
            <a:extLst>
              <a:ext uri="{FF2B5EF4-FFF2-40B4-BE49-F238E27FC236}">
                <a16:creationId xmlns:a16="http://schemas.microsoft.com/office/drawing/2014/main" id="{94225B10-528B-4718-389C-89C05488E0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صورة 2">
            <a:extLst>
              <a:ext uri="{FF2B5EF4-FFF2-40B4-BE49-F238E27FC236}">
                <a16:creationId xmlns:a16="http://schemas.microsoft.com/office/drawing/2014/main" id="{04EEF5AA-703F-21F4-8E3D-67D43F683F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765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مربع نص 8">
            <a:extLst>
              <a:ext uri="{FF2B5EF4-FFF2-40B4-BE49-F238E27FC236}">
                <a16:creationId xmlns:a16="http://schemas.microsoft.com/office/drawing/2014/main" id="{F5E105F2-9597-A3AB-C38A-34646211E8B1}"/>
              </a:ext>
            </a:extLst>
          </p:cNvPr>
          <p:cNvSpPr txBox="1"/>
          <p:nvPr/>
        </p:nvSpPr>
        <p:spPr>
          <a:xfrm>
            <a:off x="1076637" y="5662138"/>
            <a:ext cx="4739582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/>
              <a:t>Common use cases</a:t>
            </a:r>
            <a:endParaRPr lang="ar-SA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UC-03  </a:t>
            </a:r>
            <a:r>
              <a:rPr lang="ar-SA" sz="2000" dirty="0"/>
              <a:t> : تسجيل الدخول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 </a:t>
            </a:r>
            <a:r>
              <a:rPr lang="en-US" sz="2000" dirty="0"/>
              <a:t>UC-04 </a:t>
            </a:r>
            <a:r>
              <a:rPr lang="ar-SA" sz="2000" dirty="0"/>
              <a:t> : تسجيل الخروج </a:t>
            </a:r>
          </a:p>
        </p:txBody>
      </p:sp>
      <p:sp>
        <p:nvSpPr>
          <p:cNvPr id="11" name="مربع نص 10">
            <a:extLst>
              <a:ext uri="{FF2B5EF4-FFF2-40B4-BE49-F238E27FC236}">
                <a16:creationId xmlns:a16="http://schemas.microsoft.com/office/drawing/2014/main" id="{AC8663E4-D547-8350-3B3C-447F45603A8E}"/>
              </a:ext>
            </a:extLst>
          </p:cNvPr>
          <p:cNvSpPr txBox="1"/>
          <p:nvPr/>
        </p:nvSpPr>
        <p:spPr>
          <a:xfrm>
            <a:off x="7781731" y="2312847"/>
            <a:ext cx="3654589" cy="3477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/>
              <a:t>Survey Creator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UC-01  </a:t>
            </a:r>
            <a:r>
              <a:rPr lang="ar-SA" sz="2000" dirty="0"/>
              <a:t>  : إنشاء حساب مقدم خدمة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UC-05  </a:t>
            </a:r>
            <a:r>
              <a:rPr lang="ar-SA" sz="2000" dirty="0"/>
              <a:t> : إنشاء استبيان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 </a:t>
            </a:r>
            <a:r>
              <a:rPr lang="en-US" sz="2000" dirty="0"/>
              <a:t>UC-06 </a:t>
            </a:r>
            <a:r>
              <a:rPr lang="ar-SA" sz="2000" dirty="0"/>
              <a:t> : تحديث بيانات الاستبيان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 </a:t>
            </a:r>
            <a:r>
              <a:rPr lang="en-US" sz="2000" dirty="0"/>
              <a:t>UC-07 </a:t>
            </a:r>
            <a:r>
              <a:rPr lang="ar-SA" sz="2000" dirty="0"/>
              <a:t> : حذف الاستبيان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 </a:t>
            </a:r>
            <a:r>
              <a:rPr lang="en-US" sz="2000" dirty="0"/>
              <a:t>UC-08 </a:t>
            </a:r>
            <a:r>
              <a:rPr lang="ar-SA" sz="2000" dirty="0"/>
              <a:t> : إضافة سؤال إلى الاستبيان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 </a:t>
            </a:r>
            <a:r>
              <a:rPr lang="en-US" sz="2000" dirty="0"/>
              <a:t>UC-09 </a:t>
            </a:r>
            <a:r>
              <a:rPr lang="ar-SA" sz="2000" dirty="0"/>
              <a:t> : تعديل أو حذف سؤال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 </a:t>
            </a:r>
            <a:r>
              <a:rPr lang="en-US" sz="2000" dirty="0"/>
              <a:t>UC-10 </a:t>
            </a:r>
            <a:r>
              <a:rPr lang="ar-SA" sz="2000" dirty="0"/>
              <a:t> : تحديد شروط الاستهداف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 </a:t>
            </a:r>
            <a:r>
              <a:rPr lang="en-US" sz="2000" dirty="0"/>
              <a:t>UC-11 </a:t>
            </a:r>
            <a:r>
              <a:rPr lang="ar-SA" sz="2000" dirty="0"/>
              <a:t> : نشر الاستبيان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 </a:t>
            </a:r>
            <a:r>
              <a:rPr lang="en-US" sz="2000" dirty="0"/>
              <a:t>UC-12 </a:t>
            </a:r>
            <a:r>
              <a:rPr lang="ar-SA" sz="2000" dirty="0"/>
              <a:t> : إغلاق الاستبيان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 </a:t>
            </a:r>
            <a:r>
              <a:rPr lang="en-US" sz="2000" dirty="0"/>
              <a:t>UC-13 </a:t>
            </a:r>
            <a:r>
              <a:rPr lang="ar-SA" sz="2000" dirty="0"/>
              <a:t> : عرض نتائج التحليل </a:t>
            </a:r>
          </a:p>
        </p:txBody>
      </p:sp>
      <p:sp>
        <p:nvSpPr>
          <p:cNvPr id="13" name="مربع نص 12">
            <a:extLst>
              <a:ext uri="{FF2B5EF4-FFF2-40B4-BE49-F238E27FC236}">
                <a16:creationId xmlns:a16="http://schemas.microsoft.com/office/drawing/2014/main" id="{275DA068-2CEB-4D86-03D4-F54C01580968}"/>
              </a:ext>
            </a:extLst>
          </p:cNvPr>
          <p:cNvSpPr txBox="1"/>
          <p:nvPr/>
        </p:nvSpPr>
        <p:spPr>
          <a:xfrm>
            <a:off x="1009399" y="2312847"/>
            <a:ext cx="4806820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/>
              <a:t>Respondent</a:t>
            </a:r>
            <a:endParaRPr lang="ar-SA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 </a:t>
            </a:r>
            <a:r>
              <a:rPr lang="en-US" sz="2000" dirty="0"/>
              <a:t>UC-02 </a:t>
            </a:r>
            <a:r>
              <a:rPr lang="ar-SA" sz="2000" dirty="0"/>
              <a:t> : إنشاء حساب مجيب  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UC-14  </a:t>
            </a:r>
            <a:r>
              <a:rPr lang="ar-SA" sz="2000" dirty="0"/>
              <a:t> : إدارة الملف الديموغرافي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 </a:t>
            </a:r>
            <a:r>
              <a:rPr lang="en-US" sz="2000" dirty="0"/>
              <a:t>UC-15 </a:t>
            </a:r>
            <a:r>
              <a:rPr lang="ar-SA" sz="2000" dirty="0"/>
              <a:t> : عرض الاستبيانات المؤهلة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 </a:t>
            </a:r>
            <a:r>
              <a:rPr lang="en-US" sz="2000" dirty="0"/>
              <a:t>UC-16 </a:t>
            </a:r>
            <a:r>
              <a:rPr lang="ar-SA" sz="2000" dirty="0"/>
              <a:t> : المشاركة في الاستبيان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  </a:t>
            </a:r>
            <a:r>
              <a:rPr lang="en-US" sz="2000" dirty="0"/>
              <a:t>UC-17</a:t>
            </a:r>
            <a:r>
              <a:rPr lang="ar-SA" sz="2000" dirty="0"/>
              <a:t> : عرض الاستبيانات التي تمت المشاركة فيها </a:t>
            </a:r>
          </a:p>
        </p:txBody>
      </p:sp>
      <p:sp>
        <p:nvSpPr>
          <p:cNvPr id="15" name="مربع نص 14">
            <a:extLst>
              <a:ext uri="{FF2B5EF4-FFF2-40B4-BE49-F238E27FC236}">
                <a16:creationId xmlns:a16="http://schemas.microsoft.com/office/drawing/2014/main" id="{38BF1476-70F1-EA32-E053-99C818DF32AA}"/>
              </a:ext>
            </a:extLst>
          </p:cNvPr>
          <p:cNvSpPr txBox="1"/>
          <p:nvPr/>
        </p:nvSpPr>
        <p:spPr>
          <a:xfrm>
            <a:off x="1006392" y="4449157"/>
            <a:ext cx="4809827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/>
              <a:t>System Administrator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UC-18  </a:t>
            </a:r>
            <a:r>
              <a:rPr lang="ar-SA" sz="2000" dirty="0"/>
              <a:t> : إدارة حسابات المستخدمين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r-SA" sz="2000" dirty="0"/>
              <a:t> </a:t>
            </a:r>
            <a:r>
              <a:rPr lang="en-US" sz="2000" dirty="0"/>
              <a:t>UC-19 </a:t>
            </a:r>
            <a:r>
              <a:rPr lang="ar-SA" sz="2000" dirty="0"/>
              <a:t> : استخراج تقارير النظام</a:t>
            </a:r>
          </a:p>
        </p:txBody>
      </p:sp>
      <p:sp>
        <p:nvSpPr>
          <p:cNvPr id="17" name="مربع نص 16">
            <a:extLst>
              <a:ext uri="{FF2B5EF4-FFF2-40B4-BE49-F238E27FC236}">
                <a16:creationId xmlns:a16="http://schemas.microsoft.com/office/drawing/2014/main" id="{F9CE713B-AEBB-1C58-91CE-5D9B7C107874}"/>
              </a:ext>
            </a:extLst>
          </p:cNvPr>
          <p:cNvSpPr txBox="1"/>
          <p:nvPr/>
        </p:nvSpPr>
        <p:spPr>
          <a:xfrm>
            <a:off x="4200393" y="80141"/>
            <a:ext cx="37912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Actors and Use Cases</a:t>
            </a:r>
            <a:endParaRPr lang="ar-SA" sz="2600" b="1" dirty="0">
              <a:solidFill>
                <a:schemeClr val="accent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BDC7B8-FC37-92AA-F3C6-263D08C6A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2347" y="743791"/>
            <a:ext cx="9213973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77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ar-SA" altLang="ar-SA" b="1" dirty="0">
                <a:latin typeface="Arial" panose="020B0604020202020204" pitchFamily="34" charset="0"/>
                <a:cs typeface="+mj-cs"/>
              </a:rPr>
              <a:t> مقدم الخدمة / الباحث (Survey Creator):</a:t>
            </a:r>
            <a:r>
              <a:rPr lang="ar-SA" altLang="ar-SA" dirty="0">
                <a:latin typeface="Arial" panose="020B0604020202020204" pitchFamily="34" charset="0"/>
                <a:cs typeface="+mj-cs"/>
              </a:rPr>
              <a:t> </a:t>
            </a:r>
            <a:r>
              <a:rPr lang="ar-SA" sz="1600" dirty="0">
                <a:cs typeface="+mj-cs"/>
              </a:rPr>
              <a:t>الجهة التي تنشئ الاستبيانات وتتابع نتائجها</a:t>
            </a:r>
            <a:r>
              <a:rPr lang="ar-SA" altLang="ar-SA" sz="1600" dirty="0">
                <a:latin typeface="Arial" panose="020B0604020202020204" pitchFamily="34" charset="0"/>
                <a:cs typeface="+mj-cs"/>
              </a:rPr>
              <a:t>.</a:t>
            </a:r>
          </a:p>
          <a:p>
            <a:pPr defTabSz="914377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ar-SA" altLang="ar-SA" b="1" dirty="0">
                <a:latin typeface="Arial" panose="020B0604020202020204" pitchFamily="34" charset="0"/>
                <a:cs typeface="+mj-cs"/>
              </a:rPr>
              <a:t> المستخدم المُجيب (Respondent): </a:t>
            </a:r>
            <a:r>
              <a:rPr lang="ar-SA" sz="1600" dirty="0">
                <a:cs typeface="+mj-cs"/>
              </a:rPr>
              <a:t>الفرد المستهدف للإجابة على الاستبيانات المؤهلة له</a:t>
            </a:r>
            <a:r>
              <a:rPr lang="ar-SA" altLang="ar-SA" sz="1600" dirty="0">
                <a:latin typeface="Arial" panose="020B0604020202020204" pitchFamily="34" charset="0"/>
                <a:cs typeface="+mj-cs"/>
              </a:rPr>
              <a:t>.</a:t>
            </a:r>
          </a:p>
          <a:p>
            <a:pPr defTabSz="914377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ar-SA" altLang="ar-SA" b="1" dirty="0">
                <a:latin typeface="Arial" panose="020B0604020202020204" pitchFamily="34" charset="0"/>
                <a:cs typeface="+mj-cs"/>
              </a:rPr>
              <a:t> مدير النظام (System Administrator):</a:t>
            </a:r>
            <a:r>
              <a:rPr lang="ar-SA" altLang="ar-SA" sz="1600" dirty="0">
                <a:latin typeface="Arial" panose="020B0604020202020204" pitchFamily="34" charset="0"/>
                <a:cs typeface="+mj-cs"/>
              </a:rPr>
              <a:t> </a:t>
            </a:r>
            <a:r>
              <a:rPr lang="ar-SA" sz="1600" dirty="0">
                <a:cs typeface="+mj-cs"/>
              </a:rPr>
              <a:t>المسؤول عن إدارة المستخدمين ومراقبة نشاط المنصة</a:t>
            </a:r>
            <a:r>
              <a:rPr lang="ar-SA" altLang="ar-SA" sz="1600" dirty="0">
                <a:latin typeface="Arial" panose="020B0604020202020204" pitchFamily="34" charset="0"/>
                <a:cs typeface="+mj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4024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صورة 3">
            <a:extLst>
              <a:ext uri="{FF2B5EF4-FFF2-40B4-BE49-F238E27FC236}">
                <a16:creationId xmlns:a16="http://schemas.microsoft.com/office/drawing/2014/main" id="{70D6CEC8-3386-4D83-2956-C2DB0F779F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8" t="10100" b="9650"/>
          <a:stretch/>
        </p:blipFill>
        <p:spPr>
          <a:xfrm>
            <a:off x="401216" y="649972"/>
            <a:ext cx="11790784" cy="6208028"/>
          </a:xfrm>
          <a:prstGeom prst="rect">
            <a:avLst/>
          </a:prstGeom>
        </p:spPr>
      </p:pic>
      <p:sp>
        <p:nvSpPr>
          <p:cNvPr id="6" name="عنوان 1">
            <a:extLst>
              <a:ext uri="{FF2B5EF4-FFF2-40B4-BE49-F238E27FC236}">
                <a16:creationId xmlns:a16="http://schemas.microsoft.com/office/drawing/2014/main" id="{3EB7E935-5882-92E5-1459-4092F75543D5}"/>
              </a:ext>
            </a:extLst>
          </p:cNvPr>
          <p:cNvSpPr txBox="1">
            <a:spLocks/>
          </p:cNvSpPr>
          <p:nvPr/>
        </p:nvSpPr>
        <p:spPr>
          <a:xfrm>
            <a:off x="4033157" y="130629"/>
            <a:ext cx="4125685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Use case Diagram</a:t>
            </a:r>
            <a:endParaRPr lang="ar-SA" sz="4000" dirty="0"/>
          </a:p>
        </p:txBody>
      </p:sp>
    </p:spTree>
    <p:extLst>
      <p:ext uri="{BB962C8B-B14F-4D97-AF65-F5344CB8AC3E}">
        <p14:creationId xmlns:p14="http://schemas.microsoft.com/office/powerpoint/2010/main" val="1238364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جدول 2">
            <a:extLst>
              <a:ext uri="{FF2B5EF4-FFF2-40B4-BE49-F238E27FC236}">
                <a16:creationId xmlns:a16="http://schemas.microsoft.com/office/drawing/2014/main" id="{B27A1C39-D7A9-975B-14B0-AE2D7D2862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167459"/>
              </p:ext>
            </p:extLst>
          </p:nvPr>
        </p:nvGraphicFramePr>
        <p:xfrm>
          <a:off x="1085668" y="91440"/>
          <a:ext cx="7983687" cy="6766560"/>
        </p:xfrm>
        <a:graphic>
          <a:graphicData uri="http://schemas.openxmlformats.org/drawingml/2006/table">
            <a:tbl>
              <a:tblPr firstRow="1" firstCol="1" bandRow="1"/>
              <a:tblGrid>
                <a:gridCol w="5676042">
                  <a:extLst>
                    <a:ext uri="{9D8B030D-6E8A-4147-A177-3AD203B41FA5}">
                      <a16:colId xmlns:a16="http://schemas.microsoft.com/office/drawing/2014/main" val="746426426"/>
                    </a:ext>
                  </a:extLst>
                </a:gridCol>
                <a:gridCol w="2307645">
                  <a:extLst>
                    <a:ext uri="{9D8B030D-6E8A-4147-A177-3AD203B41FA5}">
                      <a16:colId xmlns:a16="http://schemas.microsoft.com/office/drawing/2014/main" val="3603972636"/>
                    </a:ext>
                  </a:extLst>
                </a:gridCol>
              </a:tblGrid>
              <a:tr h="294365">
                <a:tc>
                  <a:txBody>
                    <a:bodyPr/>
                    <a:lstStyle/>
                    <a:p>
                      <a:r>
                        <a:rPr lang="ar-SA" dirty="0"/>
                        <a:t>المتطلبات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r-SA" dirty="0"/>
                        <a:t>المجموعة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379951"/>
                  </a:ext>
                </a:extLst>
              </a:tr>
              <a:tr h="956688">
                <a:tc>
                  <a:txBody>
                    <a:bodyPr/>
                    <a:lstStyle/>
                    <a:p>
                      <a:r>
                        <a:rPr lang="en-US" dirty="0"/>
                        <a:t>FR-01 </a:t>
                      </a:r>
                      <a:r>
                        <a:rPr lang="ar-SA" dirty="0"/>
                        <a:t>: إنشاء حساب مقدم خدمة</a:t>
                      </a:r>
                    </a:p>
                    <a:p>
                      <a:r>
                        <a:rPr lang="en-US" dirty="0"/>
                        <a:t>FR-02 </a:t>
                      </a:r>
                      <a:r>
                        <a:rPr lang="ar-SA" dirty="0"/>
                        <a:t>: إنشاء حساب مجيب مع بيانات ديموغرافية</a:t>
                      </a:r>
                    </a:p>
                    <a:p>
                      <a:r>
                        <a:rPr lang="en-US" dirty="0"/>
                        <a:t>FR-03 </a:t>
                      </a:r>
                      <a:r>
                        <a:rPr lang="ar-SA" dirty="0"/>
                        <a:t>: تسجيل الدخول</a:t>
                      </a:r>
                    </a:p>
                    <a:p>
                      <a:r>
                        <a:rPr lang="en-US" dirty="0"/>
                        <a:t>FR-04 </a:t>
                      </a:r>
                      <a:r>
                        <a:rPr lang="ar-SA" dirty="0"/>
                        <a:t>: تسجيل الخروج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SA" b="1" dirty="0"/>
                        <a:t>إدارة المستخدمين</a:t>
                      </a:r>
                      <a:endParaRPr lang="ar-SA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8573460"/>
                  </a:ext>
                </a:extLst>
              </a:tr>
              <a:tr h="1398236">
                <a:tc>
                  <a:txBody>
                    <a:bodyPr/>
                    <a:lstStyle/>
                    <a:p>
                      <a:r>
                        <a:rPr lang="en-US" dirty="0"/>
                        <a:t>FR-05 </a:t>
                      </a:r>
                      <a:r>
                        <a:rPr lang="ar-SA" dirty="0"/>
                        <a:t>: إنشاء استبيان </a:t>
                      </a:r>
                    </a:p>
                    <a:p>
                      <a:r>
                        <a:rPr lang="en-US" dirty="0"/>
                        <a:t>FR-06 </a:t>
                      </a:r>
                      <a:r>
                        <a:rPr lang="ar-SA" dirty="0"/>
                        <a:t>: تحديث بيانات الاستبيان</a:t>
                      </a:r>
                    </a:p>
                    <a:p>
                      <a:r>
                        <a:rPr lang="en-US" dirty="0"/>
                        <a:t>FR-07 </a:t>
                      </a:r>
                      <a:r>
                        <a:rPr lang="ar-SA" dirty="0"/>
                        <a:t>: حذف الاستبيان</a:t>
                      </a:r>
                    </a:p>
                    <a:p>
                      <a:r>
                        <a:rPr lang="en-US" dirty="0"/>
                        <a:t>FR-08 </a:t>
                      </a:r>
                      <a:r>
                        <a:rPr lang="ar-SA" dirty="0"/>
                        <a:t>: دعم أنواع الأسئلة</a:t>
                      </a:r>
                    </a:p>
                    <a:p>
                      <a:r>
                        <a:rPr lang="en-US" dirty="0"/>
                        <a:t>FR-09 </a:t>
                      </a:r>
                      <a:r>
                        <a:rPr lang="ar-SA" dirty="0"/>
                        <a:t>: إضافة الأسئلة</a:t>
                      </a:r>
                    </a:p>
                    <a:p>
                      <a:r>
                        <a:rPr lang="en-US" dirty="0"/>
                        <a:t>FR-10 </a:t>
                      </a:r>
                      <a:r>
                        <a:rPr lang="ar-SA" dirty="0"/>
                        <a:t>: حذف الأسئلة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SA" b="1" dirty="0"/>
                        <a:t>إدارة الاستبيانات</a:t>
                      </a:r>
                      <a:endParaRPr lang="ar-SA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4489852"/>
                  </a:ext>
                </a:extLst>
              </a:tr>
              <a:tr h="1619010">
                <a:tc>
                  <a:txBody>
                    <a:bodyPr/>
                    <a:lstStyle/>
                    <a:p>
                      <a:r>
                        <a:rPr lang="en-US" dirty="0"/>
                        <a:t>FR-11 </a:t>
                      </a:r>
                      <a:r>
                        <a:rPr lang="ar-SA" dirty="0"/>
                        <a:t>: تحديد شروط الاستهداف</a:t>
                      </a:r>
                    </a:p>
                    <a:p>
                      <a:r>
                        <a:rPr lang="en-US" dirty="0"/>
                        <a:t>FR-12 </a:t>
                      </a:r>
                      <a:r>
                        <a:rPr lang="ar-SA" dirty="0"/>
                        <a:t>: نشر الاستبيان</a:t>
                      </a:r>
                    </a:p>
                    <a:p>
                      <a:r>
                        <a:rPr lang="en-US" dirty="0"/>
                        <a:t>FR-13 </a:t>
                      </a:r>
                      <a:r>
                        <a:rPr lang="ar-SA" dirty="0"/>
                        <a:t>: إغلاق الاستبيان</a:t>
                      </a:r>
                    </a:p>
                    <a:p>
                      <a:r>
                        <a:rPr lang="en-US" dirty="0"/>
                        <a:t>FR-15 </a:t>
                      </a:r>
                      <a:r>
                        <a:rPr lang="ar-SA" dirty="0"/>
                        <a:t>: إدارة الملف الديموغرافي</a:t>
                      </a:r>
                    </a:p>
                    <a:p>
                      <a:r>
                        <a:rPr lang="en-US" dirty="0"/>
                        <a:t>FR-16 </a:t>
                      </a:r>
                      <a:r>
                        <a:rPr lang="ar-SA" dirty="0"/>
                        <a:t>: عرض الاستبيانات المؤهلة</a:t>
                      </a:r>
                    </a:p>
                    <a:p>
                      <a:r>
                        <a:rPr lang="en-US" dirty="0"/>
                        <a:t>FR-17 </a:t>
                      </a:r>
                      <a:r>
                        <a:rPr lang="ar-SA" dirty="0"/>
                        <a:t>: إرسال الإجابات</a:t>
                      </a:r>
                    </a:p>
                    <a:p>
                      <a:r>
                        <a:rPr lang="en-US" dirty="0"/>
                        <a:t>FR-18 </a:t>
                      </a:r>
                      <a:r>
                        <a:rPr lang="ar-SA" dirty="0"/>
                        <a:t>: منع تكرار المشاركة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SA" b="1" dirty="0"/>
                        <a:t>الاستهداف والمشاركة</a:t>
                      </a:r>
                      <a:endParaRPr lang="ar-SA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572880"/>
                  </a:ext>
                </a:extLst>
              </a:tr>
              <a:tr h="1177462">
                <a:tc>
                  <a:txBody>
                    <a:bodyPr/>
                    <a:lstStyle/>
                    <a:p>
                      <a:r>
                        <a:rPr lang="en-US" dirty="0"/>
                        <a:t> :FR-14 </a:t>
                      </a:r>
                      <a:r>
                        <a:rPr lang="ar-SA" dirty="0"/>
                        <a:t>عرض تحليلات الاستبيان</a:t>
                      </a:r>
                    </a:p>
                    <a:p>
                      <a:r>
                        <a:rPr lang="en-US" dirty="0"/>
                        <a:t>FR-19 </a:t>
                      </a:r>
                      <a:r>
                        <a:rPr lang="ar-SA" dirty="0"/>
                        <a:t>: عرض الاستبيانات المجاب عنها</a:t>
                      </a:r>
                    </a:p>
                    <a:p>
                      <a:r>
                        <a:rPr lang="en-US" dirty="0"/>
                        <a:t>FR-20 </a:t>
                      </a:r>
                      <a:r>
                        <a:rPr lang="ar-SA" dirty="0"/>
                        <a:t>: إدارة حسابات المستخدمين</a:t>
                      </a:r>
                    </a:p>
                    <a:p>
                      <a:r>
                        <a:rPr lang="en-US" dirty="0"/>
                        <a:t> :FR-21 </a:t>
                      </a:r>
                      <a:r>
                        <a:rPr lang="ar-SA" dirty="0"/>
                        <a:t>استخراج تقارير النظام</a:t>
                      </a:r>
                    </a:p>
                    <a:p>
                      <a:r>
                        <a:rPr lang="en-US" dirty="0"/>
                        <a:t>FR-22 </a:t>
                      </a:r>
                      <a:r>
                        <a:rPr lang="ar-SA" dirty="0"/>
                        <a:t>: تحليل الإجابات النصية باستخدام </a:t>
                      </a:r>
                      <a:r>
                        <a:rPr lang="en-US" dirty="0"/>
                        <a:t>AI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SA" b="1" dirty="0"/>
                        <a:t>التحليل والإدارة</a:t>
                      </a:r>
                      <a:endParaRPr lang="ar-SA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709590"/>
                  </a:ext>
                </a:extLst>
              </a:tr>
            </a:tbl>
          </a:graphicData>
        </a:graphic>
      </p:graphicFrame>
      <p:sp>
        <p:nvSpPr>
          <p:cNvPr id="5" name="مربع نص 4">
            <a:extLst>
              <a:ext uri="{FF2B5EF4-FFF2-40B4-BE49-F238E27FC236}">
                <a16:creationId xmlns:a16="http://schemas.microsoft.com/office/drawing/2014/main" id="{A9E934A2-ADAA-AFC6-FC06-7123DE71B881}"/>
              </a:ext>
            </a:extLst>
          </p:cNvPr>
          <p:cNvSpPr txBox="1"/>
          <p:nvPr/>
        </p:nvSpPr>
        <p:spPr>
          <a:xfrm>
            <a:off x="6096000" y="9144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A" sz="3200" b="1" dirty="0"/>
              <a:t>المتطلبات الوظيفية</a:t>
            </a:r>
          </a:p>
        </p:txBody>
      </p:sp>
    </p:spTree>
    <p:extLst>
      <p:ext uri="{BB962C8B-B14F-4D97-AF65-F5344CB8AC3E}">
        <p14:creationId xmlns:p14="http://schemas.microsoft.com/office/powerpoint/2010/main" val="2674134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جدول 2">
            <a:extLst>
              <a:ext uri="{FF2B5EF4-FFF2-40B4-BE49-F238E27FC236}">
                <a16:creationId xmlns:a16="http://schemas.microsoft.com/office/drawing/2014/main" id="{59244903-EFF2-6682-E60C-625EC658E0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811484"/>
              </p:ext>
            </p:extLst>
          </p:nvPr>
        </p:nvGraphicFramePr>
        <p:xfrm>
          <a:off x="1729274" y="1073021"/>
          <a:ext cx="8733451" cy="5354745"/>
        </p:xfrm>
        <a:graphic>
          <a:graphicData uri="http://schemas.openxmlformats.org/drawingml/2006/table">
            <a:tbl>
              <a:tblPr firstRow="1" firstCol="1" bandRow="1"/>
              <a:tblGrid>
                <a:gridCol w="3105461">
                  <a:extLst>
                    <a:ext uri="{9D8B030D-6E8A-4147-A177-3AD203B41FA5}">
                      <a16:colId xmlns:a16="http://schemas.microsoft.com/office/drawing/2014/main" val="2192926545"/>
                    </a:ext>
                  </a:extLst>
                </a:gridCol>
                <a:gridCol w="5627990">
                  <a:extLst>
                    <a:ext uri="{9D8B030D-6E8A-4147-A177-3AD203B41FA5}">
                      <a16:colId xmlns:a16="http://schemas.microsoft.com/office/drawing/2014/main" val="746426426"/>
                    </a:ext>
                  </a:extLst>
                </a:gridCol>
              </a:tblGrid>
              <a:tr h="389183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dirty="0"/>
                        <a:t>معيار التحقق / </a:t>
                      </a:r>
                      <a:r>
                        <a:rPr lang="en-US" dirty="0"/>
                        <a:t>Verification</a:t>
                      </a:r>
                      <a:r>
                        <a:rPr lang="ar-SA" dirty="0"/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379951"/>
                  </a:ext>
                </a:extLst>
              </a:tr>
              <a:tr h="389183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Security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dirty="0"/>
                        <a:t>تخزين كلمات المرور بشكل مشفّر وليس كنص صريح.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8573460"/>
                  </a:ext>
                </a:extLst>
              </a:tr>
              <a:tr h="389183">
                <a:tc>
                  <a:txBody>
                    <a:bodyPr/>
                    <a:lstStyle/>
                    <a:p>
                      <a:pPr algn="ctr" rtl="1"/>
                      <a:r>
                        <a:rPr lang="en-US"/>
                        <a:t>Security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dirty="0"/>
                        <a:t>فصل صلاحيات مقدم الخدمة، المجيب، ومدير النظام.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4489852"/>
                  </a:ext>
                </a:extLst>
              </a:tr>
              <a:tr h="697866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Security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dirty="0"/>
                        <a:t>تحميل الأسرار و</a:t>
                      </a:r>
                      <a:r>
                        <a:rPr lang="en-US" dirty="0"/>
                        <a:t> API Tokens </a:t>
                      </a:r>
                      <a:r>
                        <a:rPr lang="ar-SA" dirty="0"/>
                        <a:t>من </a:t>
                      </a:r>
                      <a:r>
                        <a:rPr lang="en-US" dirty="0"/>
                        <a:t>.Environment Variables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572880"/>
                  </a:ext>
                </a:extLst>
              </a:tr>
              <a:tr h="697866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Usability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dirty="0"/>
                        <a:t>وجود قوائم ولوحات مخصصة لكل دور.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858595"/>
                  </a:ext>
                </a:extLst>
              </a:tr>
              <a:tr h="697866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Reliability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dirty="0"/>
                        <a:t>حفظ الإجابة حتى عند فشل تحليل المشاعر.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191280"/>
                  </a:ext>
                </a:extLst>
              </a:tr>
              <a:tr h="697866">
                <a:tc>
                  <a:txBody>
                    <a:bodyPr/>
                    <a:lstStyle/>
                    <a:p>
                      <a:pPr algn="ctr" rtl="1"/>
                      <a:r>
                        <a:rPr lang="en-US"/>
                        <a:t>Maintainability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dirty="0"/>
                        <a:t>الالتزام بتدفق </a:t>
                      </a:r>
                      <a:r>
                        <a:rPr lang="en-US" dirty="0"/>
                        <a:t>.Views → Services → Repositories → Models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837865"/>
                  </a:ext>
                </a:extLst>
              </a:tr>
              <a:tr h="697866">
                <a:tc>
                  <a:txBody>
                    <a:bodyPr/>
                    <a:lstStyle/>
                    <a:p>
                      <a:pPr algn="ctr" rtl="1"/>
                      <a:r>
                        <a:rPr lang="en-US"/>
                        <a:t>Data Integrity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dirty="0"/>
                        <a:t>منع أكثر من إجابة لنفس المجيب على نفس الاستبيان.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226631"/>
                  </a:ext>
                </a:extLst>
              </a:tr>
              <a:tr h="697866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Privacy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dirty="0"/>
                        <a:t>استخدام البيانات الديموغرافية فقط للاستهداف والأهلية.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576294"/>
                  </a:ext>
                </a:extLst>
              </a:tr>
            </a:tbl>
          </a:graphicData>
        </a:graphic>
      </p:graphicFrame>
      <p:sp>
        <p:nvSpPr>
          <p:cNvPr id="5" name="مربع نص 4">
            <a:extLst>
              <a:ext uri="{FF2B5EF4-FFF2-40B4-BE49-F238E27FC236}">
                <a16:creationId xmlns:a16="http://schemas.microsoft.com/office/drawing/2014/main" id="{4F6E3632-C9B7-4934-7091-135E5D3184C6}"/>
              </a:ext>
            </a:extLst>
          </p:cNvPr>
          <p:cNvSpPr txBox="1"/>
          <p:nvPr/>
        </p:nvSpPr>
        <p:spPr>
          <a:xfrm>
            <a:off x="3047222" y="264151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2800" b="1" dirty="0"/>
              <a:t>المتطلبات غير الوظيفية</a:t>
            </a:r>
          </a:p>
        </p:txBody>
      </p:sp>
    </p:spTree>
    <p:extLst>
      <p:ext uri="{BB962C8B-B14F-4D97-AF65-F5344CB8AC3E}">
        <p14:creationId xmlns:p14="http://schemas.microsoft.com/office/powerpoint/2010/main" val="1648234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جدول 5">
            <a:extLst>
              <a:ext uri="{FF2B5EF4-FFF2-40B4-BE49-F238E27FC236}">
                <a16:creationId xmlns:a16="http://schemas.microsoft.com/office/drawing/2014/main" id="{CB61C6A5-3E97-0C81-AC07-41B11816E1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426908"/>
              </p:ext>
            </p:extLst>
          </p:nvPr>
        </p:nvGraphicFramePr>
        <p:xfrm>
          <a:off x="1778001" y="282625"/>
          <a:ext cx="9127826" cy="6292749"/>
        </p:xfrm>
        <a:graphic>
          <a:graphicData uri="http://schemas.openxmlformats.org/drawingml/2006/table">
            <a:tbl>
              <a:tblPr firstRow="1" firstCol="1" bandRow="1"/>
              <a:tblGrid>
                <a:gridCol w="7593948">
                  <a:extLst>
                    <a:ext uri="{9D8B030D-6E8A-4147-A177-3AD203B41FA5}">
                      <a16:colId xmlns:a16="http://schemas.microsoft.com/office/drawing/2014/main" val="746426426"/>
                    </a:ext>
                  </a:extLst>
                </a:gridCol>
                <a:gridCol w="1533878">
                  <a:extLst>
                    <a:ext uri="{9D8B030D-6E8A-4147-A177-3AD203B41FA5}">
                      <a16:colId xmlns:a16="http://schemas.microsoft.com/office/drawing/2014/main" val="3603972636"/>
                    </a:ext>
                  </a:extLst>
                </a:gridCol>
              </a:tblGrid>
              <a:tr h="391623">
                <a:tc>
                  <a:txBody>
                    <a:bodyPr/>
                    <a:lstStyle/>
                    <a:p>
                      <a:r>
                        <a:rPr lang="ar-SA"/>
                        <a:t>الوصف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r-SA"/>
                        <a:t>الحقل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379951"/>
                  </a:ext>
                </a:extLst>
              </a:tr>
              <a:tr h="504378">
                <a:tc>
                  <a:txBody>
                    <a:bodyPr/>
                    <a:lstStyle/>
                    <a:p>
                      <a:r>
                        <a:rPr lang="en-US" b="1" dirty="0"/>
                        <a:t> :UC-10</a:t>
                      </a:r>
                      <a:r>
                        <a:rPr lang="ar-SA" b="1" dirty="0"/>
                        <a:t>تحديد شروط الاستهداف</a:t>
                      </a:r>
                      <a:endParaRPr lang="ar-SA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SA" dirty="0"/>
                        <a:t>معرف واسم حالة الاستخدام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8573460"/>
                  </a:ext>
                </a:extLst>
              </a:tr>
              <a:tr h="317503">
                <a:tc>
                  <a:txBody>
                    <a:bodyPr/>
                    <a:lstStyle/>
                    <a:p>
                      <a:r>
                        <a:rPr lang="ar-SA"/>
                        <a:t>مقدم الخدمة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SA" dirty="0"/>
                        <a:t>الممثل الرئيسي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4489852"/>
                  </a:ext>
                </a:extLst>
              </a:tr>
              <a:tr h="685340">
                <a:tc>
                  <a:txBody>
                    <a:bodyPr/>
                    <a:lstStyle/>
                    <a:p>
                      <a:r>
                        <a:rPr lang="ar-SA"/>
                        <a:t>تتيح حالة الاستخدام هذه لمقدم الخدمة تحديد معايير اختيارية للاستبيان، مثل الجنس، العمر، والمنطقة.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SA"/>
                        <a:t>الوصف المختصر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572880"/>
                  </a:ext>
                </a:extLst>
              </a:tr>
              <a:tr h="2153926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ar-SA" dirty="0"/>
                        <a:t>يفتح مقدم الخدمة صفحة شروط الاستهداف لاستبيان مملوك له وفي حالة المسودة.</a:t>
                      </a:r>
                      <a:endParaRPr lang="en-US" dirty="0"/>
                    </a:p>
                    <a:p>
                      <a:pPr marL="0" indent="0">
                        <a:buNone/>
                      </a:pPr>
                      <a:r>
                        <a:rPr lang="ar-SA" dirty="0"/>
                        <a:t>2. </a:t>
                      </a:r>
                      <a:r>
                        <a:rPr lang="ar-SA" b="1" dirty="0"/>
                        <a:t>[النظام]</a:t>
                      </a:r>
                      <a:r>
                        <a:rPr lang="ar-SA" dirty="0"/>
                        <a:t> يعرض المعايير الموجودة مسبقاً أو نموذجاً فارغاً للمعايير</a:t>
                      </a:r>
                    </a:p>
                    <a:p>
                      <a:pPr marL="0" indent="0">
                        <a:buNone/>
                      </a:pPr>
                      <a:r>
                        <a:rPr lang="ar-SA" dirty="0"/>
                        <a:t>3. يدخل مقدم الخدمة القيم الاختيارية: الجنس، الحد الأدنى للعمر، الحد الأعلى للعمر، والمنطقة.</a:t>
                      </a:r>
                    </a:p>
                    <a:p>
                      <a:pPr marL="0" indent="0">
                        <a:buNone/>
                      </a:pPr>
                      <a:r>
                        <a:rPr lang="ar-SA" dirty="0"/>
                        <a:t>4. يرسل مقدم الخدمة النموذج.</a:t>
                      </a:r>
                    </a:p>
                    <a:p>
                      <a:pPr marL="0" indent="0">
                        <a:buNone/>
                      </a:pPr>
                      <a:r>
                        <a:rPr lang="ar-SA" dirty="0"/>
                        <a:t>5. </a:t>
                      </a:r>
                      <a:r>
                        <a:rPr lang="ar-SA" b="1" dirty="0"/>
                        <a:t>[النظام]</a:t>
                      </a:r>
                      <a:r>
                        <a:rPr lang="ar-SA" dirty="0"/>
                        <a:t> يتحقق من ملكية الاستبيان، وحالة المسودة، وصحة قيم المعايير.</a:t>
                      </a:r>
                    </a:p>
                    <a:p>
                      <a:pPr marL="0" indent="0">
                        <a:buNone/>
                      </a:pPr>
                      <a:r>
                        <a:rPr lang="ar-SA" dirty="0"/>
                        <a:t>6. </a:t>
                      </a:r>
                      <a:r>
                        <a:rPr lang="ar-SA" b="1" dirty="0"/>
                        <a:t>[النظام]</a:t>
                      </a:r>
                      <a:r>
                        <a:rPr lang="ar-SA" dirty="0"/>
                        <a:t> ينشئ شروط الاستهداف أو يحدّثها.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SA" dirty="0"/>
                        <a:t>التدفق الرئيسي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709590"/>
                  </a:ext>
                </a:extLst>
              </a:tr>
              <a:tr h="685340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ar-SA" dirty="0"/>
                        <a:t>يتم تخزين شروط الاستهداف الخاصة بالاستبيان.</a:t>
                      </a:r>
                    </a:p>
                    <a:p>
                      <a:pPr marL="0" indent="0">
                        <a:buNone/>
                      </a:pPr>
                      <a:r>
                        <a:rPr lang="ar-SA" dirty="0"/>
                        <a:t>2.  يمكن استخدام هذه الشروط لمطابقة المجيبين المؤهلين.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SA" dirty="0"/>
                        <a:t>الشروط اللاحقة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7427788"/>
                  </a:ext>
                </a:extLst>
              </a:tr>
              <a:tr h="685340">
                <a:tc>
                  <a:txBody>
                    <a:bodyPr/>
                    <a:lstStyle/>
                    <a:p>
                      <a:r>
                        <a:rPr lang="en-US" b="1" dirty="0"/>
                        <a:t>A1 </a:t>
                      </a:r>
                      <a:r>
                        <a:rPr lang="ar-SA" b="1" dirty="0"/>
                        <a:t>:عدم وجود تقييد لحقل معين: </a:t>
                      </a:r>
                      <a:r>
                        <a:rPr lang="ar-SA" dirty="0"/>
                        <a:t>يترك مقدم الخدمة بعض </a:t>
                      </a:r>
                      <a:r>
                        <a:rPr lang="ar-SA" dirty="0" err="1"/>
                        <a:t>المعاييرالاختيارية</a:t>
                      </a:r>
                      <a:r>
                        <a:rPr lang="ar-SA" dirty="0"/>
                        <a:t> فارغة عندما لا يكون هناك حاجة لتقييد ذلك الحقل.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SA" dirty="0"/>
                        <a:t>التدفق البديل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599534"/>
                  </a:ext>
                </a:extLst>
              </a:tr>
              <a:tr h="685340">
                <a:tc>
                  <a:txBody>
                    <a:bodyPr/>
                    <a:lstStyle/>
                    <a:p>
                      <a:r>
                        <a:rPr lang="en-US" b="1" dirty="0"/>
                        <a:t>E1 </a:t>
                      </a:r>
                      <a:r>
                        <a:rPr lang="ar-SA" b="1" dirty="0"/>
                        <a:t>: نطاق عمر غير صالح: [النظام]</a:t>
                      </a:r>
                      <a:r>
                        <a:rPr lang="ar-SA" dirty="0"/>
                        <a:t> يرفض شروط الاستهداف.</a:t>
                      </a:r>
                    </a:p>
                    <a:p>
                      <a:r>
                        <a:rPr lang="en-US" b="1" dirty="0"/>
                        <a:t> :E2 </a:t>
                      </a:r>
                      <a:r>
                        <a:rPr lang="ar-SA" b="1" dirty="0"/>
                        <a:t>الاستبيان ليس في حالة المسودة:</a:t>
                      </a:r>
                      <a:r>
                        <a:rPr lang="en-US" b="1" dirty="0"/>
                        <a:t> </a:t>
                      </a:r>
                      <a:r>
                        <a:rPr lang="ar-SA" b="1" dirty="0"/>
                        <a:t>[النظام]</a:t>
                      </a:r>
                      <a:r>
                        <a:rPr lang="ar-SA" dirty="0"/>
                        <a:t> يرفض تعديل شروط الاستهداف.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SA" dirty="0"/>
                        <a:t>الاستثناءات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506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0861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جدول 1">
            <a:extLst>
              <a:ext uri="{FF2B5EF4-FFF2-40B4-BE49-F238E27FC236}">
                <a16:creationId xmlns:a16="http://schemas.microsoft.com/office/drawing/2014/main" id="{062BDCE8-C58C-BC8B-79F7-9BE6B6519F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864489"/>
              </p:ext>
            </p:extLst>
          </p:nvPr>
        </p:nvGraphicFramePr>
        <p:xfrm>
          <a:off x="1847461" y="326572"/>
          <a:ext cx="8724121" cy="5876183"/>
        </p:xfrm>
        <a:graphic>
          <a:graphicData uri="http://schemas.openxmlformats.org/drawingml/2006/table">
            <a:tbl>
              <a:tblPr firstRow="1" firstCol="1" bandRow="1"/>
              <a:tblGrid>
                <a:gridCol w="7312770">
                  <a:extLst>
                    <a:ext uri="{9D8B030D-6E8A-4147-A177-3AD203B41FA5}">
                      <a16:colId xmlns:a16="http://schemas.microsoft.com/office/drawing/2014/main" val="2881043268"/>
                    </a:ext>
                  </a:extLst>
                </a:gridCol>
                <a:gridCol w="1411351">
                  <a:extLst>
                    <a:ext uri="{9D8B030D-6E8A-4147-A177-3AD203B41FA5}">
                      <a16:colId xmlns:a16="http://schemas.microsoft.com/office/drawing/2014/main" val="2175614345"/>
                    </a:ext>
                  </a:extLst>
                </a:gridCol>
              </a:tblGrid>
              <a:tr h="391623">
                <a:tc>
                  <a:txBody>
                    <a:bodyPr/>
                    <a:lstStyle/>
                    <a:p>
                      <a:r>
                        <a:rPr lang="ar-SA"/>
                        <a:t>الوصف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r-SA"/>
                        <a:t>الحقل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6815272"/>
                  </a:ext>
                </a:extLst>
              </a:tr>
              <a:tr h="504378">
                <a:tc>
                  <a:txBody>
                    <a:bodyPr/>
                    <a:lstStyle/>
                    <a:p>
                      <a:r>
                        <a:rPr lang="en-US" b="1" dirty="0"/>
                        <a:t>UC-15 </a:t>
                      </a:r>
                      <a:r>
                        <a:rPr lang="ar-SA" b="1" dirty="0"/>
                        <a:t>:عرض الاستبيانات المؤهلة</a:t>
                      </a:r>
                      <a:endParaRPr lang="ar-SA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SA"/>
                        <a:t>معرف واسم حالة الاستخدام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5777057"/>
                  </a:ext>
                </a:extLst>
              </a:tr>
              <a:tr h="317503">
                <a:tc>
                  <a:txBody>
                    <a:bodyPr/>
                    <a:lstStyle/>
                    <a:p>
                      <a:r>
                        <a:rPr lang="ar-SA"/>
                        <a:t>المجيب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SA"/>
                        <a:t>الممثل الرئيسي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056714"/>
                  </a:ext>
                </a:extLst>
              </a:tr>
              <a:tr h="685340">
                <a:tc>
                  <a:txBody>
                    <a:bodyPr/>
                    <a:lstStyle/>
                    <a:p>
                      <a:r>
                        <a:rPr lang="ar-SA"/>
                        <a:t>تتيح حالة الاستخدام هذه للمجيب عرض الاستبيانات المنشورة التي تطابق معايير ملفه الديموغرافي والتي لم يقم بالإجابة عنها مسبقاً.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SA"/>
                        <a:t>الوصف المختصر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451362"/>
                  </a:ext>
                </a:extLst>
              </a:tr>
              <a:tr h="1334067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ar-SA" dirty="0"/>
                        <a:t>يفتح المجيب صفحة الاستبيانات المؤهلة.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ar-SA" dirty="0"/>
                        <a:t> </a:t>
                      </a:r>
                      <a:r>
                        <a:rPr lang="ar-SA" b="1" dirty="0"/>
                        <a:t>[النظام]</a:t>
                      </a:r>
                      <a:r>
                        <a:rPr lang="ar-SA" dirty="0"/>
                        <a:t> يحمّل الملف الديموغرافي الخاص بالمجيب.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ar-SA" dirty="0"/>
                        <a:t> </a:t>
                      </a:r>
                      <a:r>
                        <a:rPr lang="ar-SA" b="1" dirty="0"/>
                        <a:t>[النظام]</a:t>
                      </a:r>
                      <a:r>
                        <a:rPr lang="ar-SA" dirty="0"/>
                        <a:t> يحمّل الاستبيانات المنشورة.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ar-SA" dirty="0"/>
                        <a:t> </a:t>
                      </a:r>
                      <a:r>
                        <a:rPr lang="ar-SA" b="1" dirty="0"/>
                        <a:t>[النظام]</a:t>
                      </a:r>
                      <a:r>
                        <a:rPr lang="ar-SA" dirty="0"/>
                        <a:t> يطبق شروط الاستهداف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ar-SA" dirty="0"/>
                        <a:t> </a:t>
                      </a:r>
                      <a:r>
                        <a:rPr lang="ar-SA" b="1" dirty="0"/>
                        <a:t>[النظام]</a:t>
                      </a:r>
                      <a:r>
                        <a:rPr lang="ar-SA" dirty="0"/>
                        <a:t> يستبعد الاستبيانات التي سبق للمجيب الإجابة عنها.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ar-SA" dirty="0"/>
                        <a:t> </a:t>
                      </a:r>
                      <a:r>
                        <a:rPr lang="ar-SA" b="1" dirty="0"/>
                        <a:t>[النظام]</a:t>
                      </a:r>
                      <a:r>
                        <a:rPr lang="ar-SA" dirty="0"/>
                        <a:t> يعرض قائمة الاستبيانات المؤهلة.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SA" dirty="0"/>
                        <a:t>التدفق الرئيسي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850712"/>
                  </a:ext>
                </a:extLst>
              </a:tr>
              <a:tr h="685340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ar-SA" dirty="0"/>
                        <a:t>يرى المجيب الاستبيانات المؤهلة وغير المجاب عنها فقط.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ar-SA" dirty="0"/>
                        <a:t> لا يتم إنشاء أي استجابة للاستبيان.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SA" dirty="0"/>
                        <a:t>الشروط اللاحقة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475632"/>
                  </a:ext>
                </a:extLst>
              </a:tr>
              <a:tr h="685340">
                <a:tc>
                  <a:txBody>
                    <a:bodyPr/>
                    <a:lstStyle/>
                    <a:p>
                      <a:r>
                        <a:rPr lang="en-US" b="1" dirty="0"/>
                        <a:t>A1</a:t>
                      </a:r>
                      <a:r>
                        <a:rPr lang="ar-SA" b="1" dirty="0"/>
                        <a:t>: عدم وجود استبيانات مؤهلة: [النظام]</a:t>
                      </a:r>
                      <a:r>
                        <a:rPr lang="ar-SA" dirty="0"/>
                        <a:t> يعرض حالة قائمة فارغة.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SA" dirty="0"/>
                        <a:t>التدفق البديل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935615"/>
                  </a:ext>
                </a:extLst>
              </a:tr>
              <a:tr h="685340">
                <a:tc>
                  <a:txBody>
                    <a:bodyPr/>
                    <a:lstStyle/>
                    <a:p>
                      <a:r>
                        <a:rPr lang="en-US" b="1" dirty="0"/>
                        <a:t>E1 </a:t>
                      </a:r>
                      <a:r>
                        <a:rPr lang="ar-SA" b="1" dirty="0"/>
                        <a:t>: الملف الديموغرافي مفقود أو غير مكتمل: [النظام]</a:t>
                      </a:r>
                      <a:r>
                        <a:rPr lang="ar-SA" dirty="0"/>
                        <a:t> لا يستطيع إكمال عملية مطابقة الأهلية حتى تتوفر بيانات الملف الديموغرافي.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ar-SA" dirty="0"/>
                        <a:t>الاستثناءات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0048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91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E615733E-BFB9-072A-63AC-37FE0D311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171" y="0"/>
            <a:ext cx="592182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4F35791-0CEC-D802-3A23-0DD9B727E0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7" r="3226" b="-1457"/>
          <a:stretch/>
        </p:blipFill>
        <p:spPr bwMode="auto">
          <a:xfrm>
            <a:off x="0" y="0"/>
            <a:ext cx="5682343" cy="6736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6399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8B753043-A8D7-052E-2BEC-F5A683E83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13" y="0"/>
            <a:ext cx="116109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6099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7C9F36F-08C0-C35D-E592-8CA7273C3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Chen ERD</a:t>
            </a:r>
            <a:endParaRPr lang="ar-SA" sz="4000" dirty="0"/>
          </a:p>
        </p:txBody>
      </p:sp>
      <p:pic>
        <p:nvPicPr>
          <p:cNvPr id="11" name="صورة 10">
            <a:extLst>
              <a:ext uri="{FF2B5EF4-FFF2-40B4-BE49-F238E27FC236}">
                <a16:creationId xmlns:a16="http://schemas.microsoft.com/office/drawing/2014/main" id="{01E08EFA-80F2-8949-7FC0-4367FF130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42720"/>
            <a:ext cx="12192000" cy="541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949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7482F8D-834A-2674-663D-B95D9EC38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5034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Core Domain Class Diagram</a:t>
            </a:r>
            <a:endParaRPr lang="ar-SA" sz="4000" dirty="0"/>
          </a:p>
        </p:txBody>
      </p:sp>
      <p:pic>
        <p:nvPicPr>
          <p:cNvPr id="12" name="صورة 11">
            <a:extLst>
              <a:ext uri="{FF2B5EF4-FFF2-40B4-BE49-F238E27FC236}">
                <a16:creationId xmlns:a16="http://schemas.microsoft.com/office/drawing/2014/main" id="{7C70F24F-0939-7997-F9BD-E95343297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6313"/>
            <a:ext cx="12192000" cy="5671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614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عنوان 1">
            <a:extLst>
              <a:ext uri="{FF2B5EF4-FFF2-40B4-BE49-F238E27FC236}">
                <a16:creationId xmlns:a16="http://schemas.microsoft.com/office/drawing/2014/main" id="{909CCC96-0012-B2B8-280D-0EC05C7EA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903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Services and repositories Class Diagram</a:t>
            </a:r>
            <a:endParaRPr lang="ar-SA" sz="4000" dirty="0"/>
          </a:p>
        </p:txBody>
      </p:sp>
      <p:pic>
        <p:nvPicPr>
          <p:cNvPr id="3" name="صورة 2">
            <a:extLst>
              <a:ext uri="{FF2B5EF4-FFF2-40B4-BE49-F238E27FC236}">
                <a16:creationId xmlns:a16="http://schemas.microsoft.com/office/drawing/2014/main" id="{E0490018-68D0-AC51-37E4-7D3C90FD3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6368"/>
            <a:ext cx="12192000" cy="5831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7729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D0FBCA5F-1C5A-A5CD-F6C0-A8493B22265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4" t="9485" r="1703" b="10644"/>
          <a:stretch/>
        </p:blipFill>
        <p:spPr bwMode="auto">
          <a:xfrm>
            <a:off x="805820" y="711912"/>
            <a:ext cx="10580357" cy="54013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مربع نص 4">
            <a:extLst>
              <a:ext uri="{FF2B5EF4-FFF2-40B4-BE49-F238E27FC236}">
                <a16:creationId xmlns:a16="http://schemas.microsoft.com/office/drawing/2014/main" id="{191C8B74-A747-63A2-AE9A-099036255D91}"/>
              </a:ext>
            </a:extLst>
          </p:cNvPr>
          <p:cNvSpPr txBox="1"/>
          <p:nvPr/>
        </p:nvSpPr>
        <p:spPr>
          <a:xfrm>
            <a:off x="1338942" y="6113212"/>
            <a:ext cx="95141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A" dirty="0">
                <a:cs typeface="+mj-cs"/>
              </a:rPr>
              <a:t>يعتمد النظام على </a:t>
            </a:r>
            <a:r>
              <a:rPr lang="en-US" dirty="0">
                <a:cs typeface="+mj-cs"/>
              </a:rPr>
              <a:t> Layered Architecture </a:t>
            </a:r>
            <a:r>
              <a:rPr lang="ar-SA" dirty="0">
                <a:cs typeface="+mj-cs"/>
              </a:rPr>
              <a:t>داخل </a:t>
            </a:r>
            <a:r>
              <a:rPr lang="en-US" dirty="0">
                <a:cs typeface="+mj-cs"/>
              </a:rPr>
              <a:t>Django MVT، </a:t>
            </a:r>
            <a:r>
              <a:rPr lang="ar-SA" dirty="0">
                <a:cs typeface="+mj-cs"/>
              </a:rPr>
              <a:t>حيث تتعامل الواجهات مع طبقة الخدمات، ثم المستودعات، ثم نماذج البيانات وقاعدة </a:t>
            </a:r>
            <a:r>
              <a:rPr lang="en-US" dirty="0">
                <a:cs typeface="+mj-cs"/>
              </a:rPr>
              <a:t>PostgreSQL، </a:t>
            </a:r>
            <a:r>
              <a:rPr lang="ar-SA" dirty="0">
                <a:cs typeface="+mj-cs"/>
              </a:rPr>
              <a:t>مع عزل تكامل </a:t>
            </a:r>
            <a:r>
              <a:rPr lang="en-US" dirty="0">
                <a:cs typeface="+mj-cs"/>
              </a:rPr>
              <a:t>Hugging Face </a:t>
            </a:r>
            <a:r>
              <a:rPr lang="ar-SA" dirty="0">
                <a:cs typeface="+mj-cs"/>
              </a:rPr>
              <a:t> داخل </a:t>
            </a:r>
            <a:r>
              <a:rPr lang="en-US" dirty="0">
                <a:cs typeface="+mj-cs"/>
              </a:rPr>
              <a:t>Infrastructure Layer</a:t>
            </a:r>
            <a:r>
              <a:rPr lang="ar-SA" dirty="0">
                <a:cs typeface="+mj-cs"/>
              </a:rPr>
              <a:t>.</a:t>
            </a:r>
          </a:p>
        </p:txBody>
      </p:sp>
      <p:sp>
        <p:nvSpPr>
          <p:cNvPr id="13" name="مربع نص 12">
            <a:extLst>
              <a:ext uri="{FF2B5EF4-FFF2-40B4-BE49-F238E27FC236}">
                <a16:creationId xmlns:a16="http://schemas.microsoft.com/office/drawing/2014/main" id="{84761B2E-65C2-7A46-B68E-5313172F00E5}"/>
              </a:ext>
            </a:extLst>
          </p:cNvPr>
          <p:cNvSpPr txBox="1"/>
          <p:nvPr/>
        </p:nvSpPr>
        <p:spPr>
          <a:xfrm>
            <a:off x="2418572" y="185637"/>
            <a:ext cx="73548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Layered Architecture - </a:t>
            </a:r>
            <a:r>
              <a:rPr kumimoji="0" lang="ar-SA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 Display" panose="02110004020202020204"/>
                <a:ea typeface="+mj-ea"/>
                <a:cs typeface="Times New Roman" panose="02020603050405020304" pitchFamily="18" charset="0"/>
              </a:rPr>
              <a:t>البنية الطبقية للنظام</a:t>
            </a:r>
            <a:endParaRPr lang="ar-SA" dirty="0"/>
          </a:p>
        </p:txBody>
      </p:sp>
      <p:sp>
        <p:nvSpPr>
          <p:cNvPr id="14" name="مستطيل 13">
            <a:extLst>
              <a:ext uri="{FF2B5EF4-FFF2-40B4-BE49-F238E27FC236}">
                <a16:creationId xmlns:a16="http://schemas.microsoft.com/office/drawing/2014/main" id="{52EFA1C8-5B48-4224-97E2-07FD67BBCB50}"/>
              </a:ext>
            </a:extLst>
          </p:cNvPr>
          <p:cNvSpPr/>
          <p:nvPr/>
        </p:nvSpPr>
        <p:spPr>
          <a:xfrm>
            <a:off x="9680119" y="4441372"/>
            <a:ext cx="714182" cy="357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484457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8F22BFE5-CB71-5141-7308-996E89BBEC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93" b="23945"/>
          <a:stretch/>
        </p:blipFill>
        <p:spPr>
          <a:xfrm>
            <a:off x="218432" y="1867228"/>
            <a:ext cx="11605846" cy="4841482"/>
          </a:xfrm>
          <a:prstGeom prst="rect">
            <a:avLst/>
          </a:prstGeom>
        </p:spPr>
      </p:pic>
      <p:sp>
        <p:nvSpPr>
          <p:cNvPr id="7" name="مربع نص 6">
            <a:extLst>
              <a:ext uri="{FF2B5EF4-FFF2-40B4-BE49-F238E27FC236}">
                <a16:creationId xmlns:a16="http://schemas.microsoft.com/office/drawing/2014/main" id="{8286182E-53D5-48C3-DC31-16C767D841D8}"/>
              </a:ext>
            </a:extLst>
          </p:cNvPr>
          <p:cNvSpPr txBox="1"/>
          <p:nvPr/>
        </p:nvSpPr>
        <p:spPr>
          <a:xfrm>
            <a:off x="2972578" y="149290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AI Component: Sentiment Analysis</a:t>
            </a:r>
          </a:p>
        </p:txBody>
      </p:sp>
      <p:sp>
        <p:nvSpPr>
          <p:cNvPr id="13" name="مربع نص 12">
            <a:extLst>
              <a:ext uri="{FF2B5EF4-FFF2-40B4-BE49-F238E27FC236}">
                <a16:creationId xmlns:a16="http://schemas.microsoft.com/office/drawing/2014/main" id="{D06759BD-854A-AFC2-AEFB-CEF804336725}"/>
              </a:ext>
            </a:extLst>
          </p:cNvPr>
          <p:cNvSpPr txBox="1"/>
          <p:nvPr/>
        </p:nvSpPr>
        <p:spPr>
          <a:xfrm>
            <a:off x="2659225" y="1039036"/>
            <a:ext cx="86984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A" sz="2000" dirty="0">
                <a:cs typeface="+mj-cs"/>
              </a:rPr>
              <a:t>الفكرة: تحليل الإجابات النصية المفتوحة باستخدام </a:t>
            </a:r>
            <a:r>
              <a:rPr lang="en-US" sz="2000" dirty="0">
                <a:cs typeface="+mj-cs"/>
              </a:rPr>
              <a:t>.Hugging Face Inference API</a:t>
            </a:r>
            <a:endParaRPr lang="ar-SA" sz="20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917474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77B5D2E3-5964-9306-2459-BD30CD5AAA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8457"/>
            <a:ext cx="12192000" cy="6139543"/>
          </a:xfrm>
          <a:prstGeom prst="rect">
            <a:avLst/>
          </a:prstGeom>
        </p:spPr>
      </p:pic>
      <p:sp>
        <p:nvSpPr>
          <p:cNvPr id="4" name="عنوان 1">
            <a:extLst>
              <a:ext uri="{FF2B5EF4-FFF2-40B4-BE49-F238E27FC236}">
                <a16:creationId xmlns:a16="http://schemas.microsoft.com/office/drawing/2014/main" id="{7608BA7C-436E-9C3F-484F-1DA427A32B5F}"/>
              </a:ext>
            </a:extLst>
          </p:cNvPr>
          <p:cNvSpPr txBox="1">
            <a:spLocks/>
          </p:cNvSpPr>
          <p:nvPr/>
        </p:nvSpPr>
        <p:spPr>
          <a:xfrm>
            <a:off x="838200" y="130629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Site Map</a:t>
            </a:r>
            <a:endParaRPr lang="ar-SA" sz="3600" dirty="0"/>
          </a:p>
        </p:txBody>
      </p:sp>
    </p:spTree>
    <p:extLst>
      <p:ext uri="{BB962C8B-B14F-4D97-AF65-F5344CB8AC3E}">
        <p14:creationId xmlns:p14="http://schemas.microsoft.com/office/powerpoint/2010/main" val="32110326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صورة 1">
            <a:extLst>
              <a:ext uri="{FF2B5EF4-FFF2-40B4-BE49-F238E27FC236}">
                <a16:creationId xmlns:a16="http://schemas.microsoft.com/office/drawing/2014/main" id="{8177CA98-DC49-96E1-DF6A-3A06D8B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8793"/>
            <a:ext cx="12192000" cy="5994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4562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صورة 3">
            <a:extLst>
              <a:ext uri="{FF2B5EF4-FFF2-40B4-BE49-F238E27FC236}">
                <a16:creationId xmlns:a16="http://schemas.microsoft.com/office/drawing/2014/main" id="{760034B7-2A49-18DD-B4A8-44A330B66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16"/>
            <a:ext cx="12192000" cy="683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4730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654D1B2F-3EC7-422F-0544-0B5BF3C40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332"/>
            <a:ext cx="12192000" cy="674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6044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جدول 3">
            <a:extLst>
              <a:ext uri="{FF2B5EF4-FFF2-40B4-BE49-F238E27FC236}">
                <a16:creationId xmlns:a16="http://schemas.microsoft.com/office/drawing/2014/main" id="{B002EAB6-C18F-9B79-C0B5-B6397C9AC3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3461474"/>
              </p:ext>
            </p:extLst>
          </p:nvPr>
        </p:nvGraphicFramePr>
        <p:xfrm>
          <a:off x="217715" y="1231641"/>
          <a:ext cx="11756570" cy="5477071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4142792">
                  <a:extLst>
                    <a:ext uri="{9D8B030D-6E8A-4147-A177-3AD203B41FA5}">
                      <a16:colId xmlns:a16="http://schemas.microsoft.com/office/drawing/2014/main" val="1950653663"/>
                    </a:ext>
                  </a:extLst>
                </a:gridCol>
                <a:gridCol w="7613778">
                  <a:extLst>
                    <a:ext uri="{9D8B030D-6E8A-4147-A177-3AD203B41FA5}">
                      <a16:colId xmlns:a16="http://schemas.microsoft.com/office/drawing/2014/main" val="3310257874"/>
                    </a:ext>
                  </a:extLst>
                </a:gridCol>
              </a:tblGrid>
              <a:tr h="573740">
                <a:tc>
                  <a:txBody>
                    <a:bodyPr/>
                    <a:lstStyle/>
                    <a:p>
                      <a:r>
                        <a:rPr lang="ar-SA" sz="1800" dirty="0">
                          <a:cs typeface="+mj-cs"/>
                        </a:rPr>
                        <a:t>الهدف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800" dirty="0">
                          <a:cs typeface="+mj-cs"/>
                        </a:rPr>
                        <a:t>الإضافة المستقبلية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1723467"/>
                  </a:ext>
                </a:extLst>
              </a:tr>
              <a:tr h="830051">
                <a:tc>
                  <a:txBody>
                    <a:bodyPr/>
                    <a:lstStyle/>
                    <a:p>
                      <a:r>
                        <a:rPr lang="ar-SA" sz="1800" dirty="0">
                          <a:cs typeface="+mj-cs"/>
                        </a:rPr>
                        <a:t>تحسين دقة الاستهداف وجعل النتائج أكثر تمثيلاً.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800" b="1" dirty="0">
                          <a:cs typeface="+mj-cs"/>
                        </a:rPr>
                        <a:t>توسيع الملف الديموغرافي</a:t>
                      </a:r>
                      <a:r>
                        <a:rPr lang="ar-SA" sz="1800" dirty="0">
                          <a:cs typeface="+mj-cs"/>
                        </a:rPr>
                        <a:t> بإضافة التعليم، المهنة، الاهتمامات، مستوى الدخل، ونوع الخدمة المفضلة.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7327789"/>
                  </a:ext>
                </a:extLst>
              </a:tr>
              <a:tr h="573740">
                <a:tc>
                  <a:txBody>
                    <a:bodyPr/>
                    <a:lstStyle/>
                    <a:p>
                      <a:r>
                        <a:rPr lang="ar-SA" sz="1800" dirty="0">
                          <a:cs typeface="+mj-cs"/>
                        </a:rPr>
                        <a:t>تشجيع المستخدمين على التسجيل والمشاركة.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800" b="1" dirty="0">
                          <a:cs typeface="+mj-cs"/>
                        </a:rPr>
                        <a:t>نظام نقاط أو شارات</a:t>
                      </a:r>
                      <a:r>
                        <a:rPr lang="ar-SA" sz="1800" dirty="0">
                          <a:cs typeface="+mj-cs"/>
                        </a:rPr>
                        <a:t> للمجيبين النشطين دون الحاجة إلى دفع مالي.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6195494"/>
                  </a:ext>
                </a:extLst>
              </a:tr>
              <a:tr h="573740">
                <a:tc>
                  <a:txBody>
                    <a:bodyPr/>
                    <a:lstStyle/>
                    <a:p>
                      <a:r>
                        <a:rPr lang="ar-SA" sz="1800">
                          <a:cs typeface="+mj-cs"/>
                        </a:rPr>
                        <a:t>زيادة عدد المجيبين داخل المنصة.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800" b="1">
                          <a:cs typeface="+mj-cs"/>
                        </a:rPr>
                        <a:t>دعوات مشاركة داخلية</a:t>
                      </a:r>
                      <a:r>
                        <a:rPr lang="ar-SA" sz="1800">
                          <a:cs typeface="+mj-cs"/>
                        </a:rPr>
                        <a:t> بحيث يستطيع المستخدم دعوة أصدقائه للتسجيل.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3788431"/>
                  </a:ext>
                </a:extLst>
              </a:tr>
              <a:tr h="573740">
                <a:tc>
                  <a:txBody>
                    <a:bodyPr/>
                    <a:lstStyle/>
                    <a:p>
                      <a:r>
                        <a:rPr lang="ar-SA" sz="1800">
                          <a:cs typeface="+mj-cs"/>
                        </a:rPr>
                        <a:t>تحسين ثقة مقدم الخدمة بجودة الإجابات.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800" b="1">
                          <a:cs typeface="+mj-cs"/>
                        </a:rPr>
                        <a:t>مؤشر موثوقية للمجيب</a:t>
                      </a:r>
                      <a:r>
                        <a:rPr lang="ar-SA" sz="1800">
                          <a:cs typeface="+mj-cs"/>
                        </a:rPr>
                        <a:t> يعتمد على اكتمال الملف وعدد المشاركات الصحيحة.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1537844"/>
                  </a:ext>
                </a:extLst>
              </a:tr>
              <a:tr h="573740">
                <a:tc>
                  <a:txBody>
                    <a:bodyPr/>
                    <a:lstStyle/>
                    <a:p>
                      <a:r>
                        <a:rPr lang="ar-SA" sz="1800" dirty="0">
                          <a:cs typeface="+mj-cs"/>
                        </a:rPr>
                        <a:t>تحسين تجربة المجيب.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800" b="1" dirty="0">
                          <a:cs typeface="+mj-cs"/>
                        </a:rPr>
                        <a:t>اقتراح استبيانات مناسبة</a:t>
                      </a:r>
                      <a:r>
                        <a:rPr lang="ar-SA" sz="1800" dirty="0">
                          <a:cs typeface="+mj-cs"/>
                        </a:rPr>
                        <a:t> بناءً على الملف الديموغرافي والاهتمامات.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1866674"/>
                  </a:ext>
                </a:extLst>
              </a:tr>
              <a:tr h="630840">
                <a:tc>
                  <a:txBody>
                    <a:bodyPr/>
                    <a:lstStyle/>
                    <a:p>
                      <a:r>
                        <a:rPr lang="ar-SA" sz="1800">
                          <a:cs typeface="+mj-cs"/>
                        </a:rPr>
                        <a:t>تحسين التحليل دون تعقيد كبير.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800" b="1">
                          <a:cs typeface="+mj-cs"/>
                        </a:rPr>
                        <a:t>تصنيف الإجابات النصية حسب الموضوع</a:t>
                      </a:r>
                      <a:r>
                        <a:rPr lang="ar-SA" sz="1800">
                          <a:cs typeface="+mj-cs"/>
                        </a:rPr>
                        <a:t> مثل: جودة الخدمة، السعر، الدعم، التجربة.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4773973"/>
                  </a:ext>
                </a:extLst>
              </a:tr>
              <a:tr h="573740">
                <a:tc>
                  <a:txBody>
                    <a:bodyPr/>
                    <a:lstStyle/>
                    <a:p>
                      <a:r>
                        <a:rPr lang="ar-SA" sz="1800">
                          <a:cs typeface="+mj-cs"/>
                        </a:rPr>
                        <a:t>جعل المنصة أكثر فائدة لمقدم الخدمة.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800" b="1" dirty="0">
                          <a:cs typeface="+mj-cs"/>
                        </a:rPr>
                        <a:t>تصدير نتائج الاستبيان</a:t>
                      </a:r>
                      <a:r>
                        <a:rPr lang="ar-SA" sz="1800" dirty="0">
                          <a:cs typeface="+mj-cs"/>
                        </a:rPr>
                        <a:t> بصيغة </a:t>
                      </a:r>
                      <a:r>
                        <a:rPr lang="en-US" sz="1800" dirty="0">
                          <a:cs typeface="+mj-cs"/>
                        </a:rPr>
                        <a:t> PDF </a:t>
                      </a:r>
                      <a:r>
                        <a:rPr lang="ar-SA" sz="1800" dirty="0">
                          <a:cs typeface="+mj-cs"/>
                        </a:rPr>
                        <a:t>أو </a:t>
                      </a:r>
                      <a:r>
                        <a:rPr lang="en-US" sz="1800" dirty="0">
                          <a:cs typeface="+mj-cs"/>
                        </a:rPr>
                        <a:t>.Excel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3988956"/>
                  </a:ext>
                </a:extLst>
              </a:tr>
              <a:tr h="573740">
                <a:tc>
                  <a:txBody>
                    <a:bodyPr/>
                    <a:lstStyle/>
                    <a:p>
                      <a:r>
                        <a:rPr lang="ar-SA" sz="1800">
                          <a:cs typeface="+mj-cs"/>
                        </a:rPr>
                        <a:t>تقليل الاستبيانات غير الجذابة.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ar-SA" sz="1800" b="1" dirty="0">
                          <a:cs typeface="+mj-cs"/>
                        </a:rPr>
                        <a:t>قوالب جاهزة للاستبيانات</a:t>
                      </a:r>
                      <a:r>
                        <a:rPr lang="ar-SA" sz="1800" dirty="0">
                          <a:cs typeface="+mj-cs"/>
                        </a:rPr>
                        <a:t> تساعد مقدم الخدمة على إنشاء استبيان بسرعة.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4236427"/>
                  </a:ext>
                </a:extLst>
              </a:tr>
            </a:tbl>
          </a:graphicData>
        </a:graphic>
      </p:graphicFrame>
      <p:sp>
        <p:nvSpPr>
          <p:cNvPr id="6" name="مربع نص 5">
            <a:extLst>
              <a:ext uri="{FF2B5EF4-FFF2-40B4-BE49-F238E27FC236}">
                <a16:creationId xmlns:a16="http://schemas.microsoft.com/office/drawing/2014/main" id="{BB5FB043-A631-BCE4-A42C-1501BB8C185E}"/>
              </a:ext>
            </a:extLst>
          </p:cNvPr>
          <p:cNvSpPr txBox="1"/>
          <p:nvPr/>
        </p:nvSpPr>
        <p:spPr>
          <a:xfrm>
            <a:off x="3047223" y="417158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SA" sz="2400" b="1" dirty="0"/>
              <a:t>الإضافات المستقبلية المقترحة</a:t>
            </a:r>
          </a:p>
        </p:txBody>
      </p:sp>
    </p:spTree>
    <p:extLst>
      <p:ext uri="{BB962C8B-B14F-4D97-AF65-F5344CB8AC3E}">
        <p14:creationId xmlns:p14="http://schemas.microsoft.com/office/powerpoint/2010/main" val="4160545404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3218</TotalTime>
  <Words>1354</Words>
  <Application>Microsoft Office PowerPoint</Application>
  <PresentationFormat>شاشة عريضة</PresentationFormat>
  <Paragraphs>210</Paragraphs>
  <Slides>24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5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Times New Roman</vt:lpstr>
      <vt:lpstr>نسق Office</vt:lpstr>
      <vt:lpstr>Smart Opinion Survey Platform منصة استبيانات الآراء الذكية  المشروع الفصلي  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Chen ERD</vt:lpstr>
      <vt:lpstr>Core Domain Class Diagram</vt:lpstr>
      <vt:lpstr>Services and repositories Class Diagram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YAMAN BASAM</dc:creator>
  <cp:lastModifiedBy>YAMAN BASAM</cp:lastModifiedBy>
  <cp:revision>26</cp:revision>
  <dcterms:created xsi:type="dcterms:W3CDTF">2026-03-06T14:39:01Z</dcterms:created>
  <dcterms:modified xsi:type="dcterms:W3CDTF">2026-05-23T12:00:11Z</dcterms:modified>
</cp:coreProperties>
</file>