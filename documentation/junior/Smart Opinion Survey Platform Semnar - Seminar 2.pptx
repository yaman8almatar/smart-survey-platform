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79" r:id="rId3"/>
    <p:sldId id="258" r:id="rId4"/>
    <p:sldId id="274" r:id="rId5"/>
    <p:sldId id="260" r:id="rId6"/>
    <p:sldId id="259" r:id="rId7"/>
    <p:sldId id="262" r:id="rId8"/>
    <p:sldId id="263" r:id="rId9"/>
    <p:sldId id="265" r:id="rId10"/>
    <p:sldId id="266" r:id="rId11"/>
    <p:sldId id="268" r:id="rId12"/>
    <p:sldId id="269" r:id="rId13"/>
    <p:sldId id="271" r:id="rId14"/>
    <p:sldId id="270" r:id="rId15"/>
    <p:sldId id="277" r:id="rId16"/>
    <p:sldId id="273" r:id="rId17"/>
    <p:sldId id="276" r:id="rId18"/>
    <p:sldId id="272" r:id="rId19"/>
    <p:sldId id="275" r:id="rId20"/>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968" autoAdjust="0"/>
    <p:restoredTop sz="94660"/>
  </p:normalViewPr>
  <p:slideViewPr>
    <p:cSldViewPr snapToGrid="0">
      <p:cViewPr varScale="1">
        <p:scale>
          <a:sx n="82" d="100"/>
          <a:sy n="82" d="100"/>
        </p:scale>
        <p:origin x="6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722EB30-9C3F-717E-6585-68FEEC11994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33DFE294-34F0-EB81-77F8-0BDBA3D1DF6C}"/>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948C9B7-9D59-6410-9361-7B8BA0C5F195}"/>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FACDB44D-6F02-D63F-77C3-B06BD75A493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919CD867-60EF-0C89-98DD-65F6755292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4521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9DEB369-9B36-4F9A-4DA0-2B0BE869F434}"/>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1CF8FFB-87A9-BFBB-B3A6-28F2C67351F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443EAC-6E5C-150B-1FEF-980D0756D497}"/>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2094316C-ABED-8F71-6E4C-359D70CA585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3D0E09E-7E34-B0B0-01BE-42FC9636FD8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9335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7E36E7D-DEDE-CFB0-94A5-322404160DA2}"/>
              </a:ext>
            </a:extLst>
          </p:cNvPr>
          <p:cNvSpPr>
            <a:spLocks noGrp="1"/>
          </p:cNvSpPr>
          <p:nvPr>
            <p:ph type="title"/>
          </p:nvPr>
        </p:nvSpPr>
        <p:spPr>
          <a:xfrm>
            <a:off x="831851" y="1709740"/>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B8CE9DE1-0CC3-E91E-D5B8-7920E74A634C}"/>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52D1DA00-F3B0-C774-0EA9-D47B29DABFBA}"/>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7849F702-D0BC-C394-A0FD-397089D7CEA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48FC4FA-D927-FE77-4EAB-C90CD2EFCAEB}"/>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528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0CB15CC-3FC5-7F2F-D65C-1B6EC1509F89}"/>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4E24C80-8040-2E8C-8E3D-40D1B4897D7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DFDDE016-D74D-2450-78C7-0F663DAB3D30}"/>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78E16BC1-D89E-64F0-01EA-EF27E5FEBF2C}"/>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6" name="عنصر نائب للتذييل 5">
            <a:extLst>
              <a:ext uri="{FF2B5EF4-FFF2-40B4-BE49-F238E27FC236}">
                <a16:creationId xmlns:a16="http://schemas.microsoft.com/office/drawing/2014/main" id="{E8E0670A-D9BF-0881-6FA2-AE1B10D9C363}"/>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9C51559F-0CC0-236F-0BCB-EE781A6D4766}"/>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376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D03881B-2A58-9BED-81F4-88CD261F7820}"/>
              </a:ext>
            </a:extLst>
          </p:cNvPr>
          <p:cNvSpPr>
            <a:spLocks noGrp="1"/>
          </p:cNvSpPr>
          <p:nvPr>
            <p:ph type="title"/>
          </p:nvPr>
        </p:nvSpPr>
        <p:spPr>
          <a:xfrm>
            <a:off x="839788" y="365127"/>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803B694-A99D-DAAB-CA97-270800899EF5}"/>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99775F6-E546-4A63-70C3-9805474E20F0}"/>
              </a:ext>
            </a:extLst>
          </p:cNvPr>
          <p:cNvSpPr>
            <a:spLocks noGrp="1"/>
          </p:cNvSpPr>
          <p:nvPr>
            <p:ph sz="half" idx="2"/>
          </p:nvPr>
        </p:nvSpPr>
        <p:spPr>
          <a:xfrm>
            <a:off x="839789"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100237FB-C7E5-21D1-3C2E-FB605F41C6E3}"/>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C493E2A-C4EC-A959-A984-2FC81BE40C56}"/>
              </a:ext>
            </a:extLst>
          </p:cNvPr>
          <p:cNvSpPr>
            <a:spLocks noGrp="1"/>
          </p:cNvSpPr>
          <p:nvPr>
            <p:ph sz="quarter" idx="4"/>
          </p:nvPr>
        </p:nvSpPr>
        <p:spPr>
          <a:xfrm>
            <a:off x="6172201"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F172070-7AEB-B032-4244-E4EA2136F802}"/>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8" name="عنصر نائب للتذييل 7">
            <a:extLst>
              <a:ext uri="{FF2B5EF4-FFF2-40B4-BE49-F238E27FC236}">
                <a16:creationId xmlns:a16="http://schemas.microsoft.com/office/drawing/2014/main" id="{67CBA82A-DF22-F423-A68D-C1E379CFBD02}"/>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BE3B2049-97F5-3042-3105-6AB0705735A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1184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41C262-A4BE-DCFD-1DD3-12A6EB2CB0DD}"/>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6D644A37-1AB0-82C1-EA74-1AA336C56486}"/>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4" name="عنصر نائب للتذييل 3">
            <a:extLst>
              <a:ext uri="{FF2B5EF4-FFF2-40B4-BE49-F238E27FC236}">
                <a16:creationId xmlns:a16="http://schemas.microsoft.com/office/drawing/2014/main" id="{D738A3A0-7A05-F7F4-B8B8-8FBFF1037B1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A3FFB156-2630-2214-8215-C0323034C0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322081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03DC6F67-928F-B604-12C0-3CC872AD436A}"/>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3" name="عنصر نائب للتذييل 2">
            <a:extLst>
              <a:ext uri="{FF2B5EF4-FFF2-40B4-BE49-F238E27FC236}">
                <a16:creationId xmlns:a16="http://schemas.microsoft.com/office/drawing/2014/main" id="{5CEDE97E-70D6-E899-9D28-715626FFF819}"/>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C4BF83B8-1658-C78E-5F59-FC4E660F004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1015271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42DE5E2-78EB-739E-C726-60446010CCCA}"/>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CEBF0E4-150F-0E59-757E-82B011543344}"/>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5FD5544D-7447-97B8-8557-0CF24008287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4F38086-70E6-0824-6CD6-9517D4B994E9}"/>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6" name="عنصر نائب للتذييل 5">
            <a:extLst>
              <a:ext uri="{FF2B5EF4-FFF2-40B4-BE49-F238E27FC236}">
                <a16:creationId xmlns:a16="http://schemas.microsoft.com/office/drawing/2014/main" id="{8FE70206-64E2-00BC-1738-ABFDD72467B9}"/>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71BDC116-B513-BF82-8370-FCDD0E6B7BF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22617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18918BB-B160-1239-4A5E-2C6FFD9B473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DB3A752D-BF6A-4907-88E8-DBE8A4ACB785}"/>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ar-SA"/>
          </a:p>
        </p:txBody>
      </p:sp>
      <p:sp>
        <p:nvSpPr>
          <p:cNvPr id="4" name="عنصر نائب للنص 3">
            <a:extLst>
              <a:ext uri="{FF2B5EF4-FFF2-40B4-BE49-F238E27FC236}">
                <a16:creationId xmlns:a16="http://schemas.microsoft.com/office/drawing/2014/main" id="{B116E96B-474B-78DE-3F73-3311C3F84CF2}"/>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5383B47-5B41-9FEC-B1F8-CFB5793FB550}"/>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6" name="عنصر نائب للتذييل 5">
            <a:extLst>
              <a:ext uri="{FF2B5EF4-FFF2-40B4-BE49-F238E27FC236}">
                <a16:creationId xmlns:a16="http://schemas.microsoft.com/office/drawing/2014/main" id="{CA6608BE-4571-959E-3C87-38DB34D6804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0C034B9E-D7E4-161A-73C3-983761F4C48D}"/>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259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A1CBC23-8A62-218F-2A0C-A22623277FE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1A36356-E93E-FCAA-E46B-9EF227BEB586}"/>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F45D8AB-15A9-107E-A8C5-D9BDC8680A31}"/>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E4A7A7F2-6B7E-0EBA-2EAC-E02DAF16D5A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5323025-B1FF-79A3-CA57-A9BD9AF51698}"/>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8657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B6D488B8-E5F0-81A3-9C8E-6E8E9C446F59}"/>
              </a:ext>
            </a:extLst>
          </p:cNvPr>
          <p:cNvSpPr>
            <a:spLocks noGrp="1"/>
          </p:cNvSpPr>
          <p:nvPr>
            <p:ph type="title" orient="vert"/>
          </p:nvPr>
        </p:nvSpPr>
        <p:spPr>
          <a:xfrm>
            <a:off x="8724901"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46FF882-590D-51B6-E9FE-E0DE379394AA}"/>
              </a:ext>
            </a:extLst>
          </p:cNvPr>
          <p:cNvSpPr>
            <a:spLocks noGrp="1"/>
          </p:cNvSpPr>
          <p:nvPr>
            <p:ph type="body" orient="vert" idx="1"/>
          </p:nvPr>
        </p:nvSpPr>
        <p:spPr>
          <a:xfrm>
            <a:off x="838201"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D69DA57-6C97-850E-CFDE-1DE26DE4C458}"/>
              </a:ext>
            </a:extLst>
          </p:cNvPr>
          <p:cNvSpPr>
            <a:spLocks noGrp="1"/>
          </p:cNvSpPr>
          <p:nvPr>
            <p:ph type="dt" sz="half" idx="10"/>
          </p:nvPr>
        </p:nvSpPr>
        <p:spPr/>
        <p:txBody>
          <a:body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9410E88C-459E-5A0D-16E7-CDD4576F01A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AF8E37F-A240-1AB2-6D85-724699DDFC5C}"/>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2647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7171F5EF-1A67-4E16-9231-676D6948BC8A}"/>
              </a:ext>
            </a:extLst>
          </p:cNvPr>
          <p:cNvSpPr>
            <a:spLocks noGrp="1"/>
          </p:cNvSpPr>
          <p:nvPr>
            <p:ph type="title"/>
          </p:nvPr>
        </p:nvSpPr>
        <p:spPr>
          <a:xfrm>
            <a:off x="838200" y="365127"/>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6717FCC-EC6D-0768-AB7D-9E1FE3C644E9}"/>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2474C67-C106-403D-4827-9D8021242563}"/>
              </a:ext>
            </a:extLst>
          </p:cNvPr>
          <p:cNvSpPr>
            <a:spLocks noGrp="1"/>
          </p:cNvSpPr>
          <p:nvPr>
            <p:ph type="dt" sz="half" idx="2"/>
          </p:nvPr>
        </p:nvSpPr>
        <p:spPr>
          <a:xfrm>
            <a:off x="8610600" y="6356352"/>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2991FD3-C116-431F-87FC-75DC8A218890}" type="datetimeFigureOut">
              <a:rPr lang="ar-SA" smtClean="0"/>
              <a:t>06/12/47</a:t>
            </a:fld>
            <a:endParaRPr lang="ar-SA"/>
          </a:p>
        </p:txBody>
      </p:sp>
      <p:sp>
        <p:nvSpPr>
          <p:cNvPr id="5" name="عنصر نائب للتذييل 4">
            <a:extLst>
              <a:ext uri="{FF2B5EF4-FFF2-40B4-BE49-F238E27FC236}">
                <a16:creationId xmlns:a16="http://schemas.microsoft.com/office/drawing/2014/main" id="{42C0F257-36F1-97D8-CD43-370DEB70EA40}"/>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D82217E0-5C79-958A-579C-CE200BB8E241}"/>
              </a:ext>
            </a:extLst>
          </p:cNvPr>
          <p:cNvSpPr>
            <a:spLocks noGrp="1"/>
          </p:cNvSpPr>
          <p:nvPr>
            <p:ph type="sldNum" sz="quarter" idx="4"/>
          </p:nvPr>
        </p:nvSpPr>
        <p:spPr>
          <a:xfrm>
            <a:off x="838200" y="6356352"/>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B9684E43-A402-4FB2-AD2C-BB0AA18792DE}" type="slidenum">
              <a:rPr lang="ar-SA" smtClean="0"/>
              <a:t>‹#›</a:t>
            </a:fld>
            <a:endParaRPr lang="ar-SA"/>
          </a:p>
        </p:txBody>
      </p:sp>
    </p:spTree>
    <p:extLst>
      <p:ext uri="{BB962C8B-B14F-4D97-AF65-F5344CB8AC3E}">
        <p14:creationId xmlns:p14="http://schemas.microsoft.com/office/powerpoint/2010/main" val="1590410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377"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r" defTabSz="914377"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r" defTabSz="914377"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r" defTabSz="914377"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377" rtl="1" eaLnBrk="1" latinLnBrk="0" hangingPunct="1">
        <a:defRPr sz="1800" kern="1200">
          <a:solidFill>
            <a:schemeClr val="tx1"/>
          </a:solidFill>
          <a:latin typeface="+mn-lt"/>
          <a:ea typeface="+mn-ea"/>
          <a:cs typeface="+mn-cs"/>
        </a:defRPr>
      </a:lvl1pPr>
      <a:lvl2pPr marL="457189" algn="r" defTabSz="914377" rtl="1" eaLnBrk="1" latinLnBrk="0" hangingPunct="1">
        <a:defRPr sz="1800" kern="1200">
          <a:solidFill>
            <a:schemeClr val="tx1"/>
          </a:solidFill>
          <a:latin typeface="+mn-lt"/>
          <a:ea typeface="+mn-ea"/>
          <a:cs typeface="+mn-cs"/>
        </a:defRPr>
      </a:lvl2pPr>
      <a:lvl3pPr marL="914377" algn="r" defTabSz="914377" rtl="1" eaLnBrk="1" latinLnBrk="0" hangingPunct="1">
        <a:defRPr sz="1800" kern="1200">
          <a:solidFill>
            <a:schemeClr val="tx1"/>
          </a:solidFill>
          <a:latin typeface="+mn-lt"/>
          <a:ea typeface="+mn-ea"/>
          <a:cs typeface="+mn-cs"/>
        </a:defRPr>
      </a:lvl3pPr>
      <a:lvl4pPr marL="1371566" algn="r" defTabSz="914377" rtl="1" eaLnBrk="1" latinLnBrk="0" hangingPunct="1">
        <a:defRPr sz="1800" kern="1200">
          <a:solidFill>
            <a:schemeClr val="tx1"/>
          </a:solidFill>
          <a:latin typeface="+mn-lt"/>
          <a:ea typeface="+mn-ea"/>
          <a:cs typeface="+mn-cs"/>
        </a:defRPr>
      </a:lvl4pPr>
      <a:lvl5pPr marL="1828754" algn="r" defTabSz="914377" rtl="1" eaLnBrk="1" latinLnBrk="0" hangingPunct="1">
        <a:defRPr sz="1800" kern="1200">
          <a:solidFill>
            <a:schemeClr val="tx1"/>
          </a:solidFill>
          <a:latin typeface="+mn-lt"/>
          <a:ea typeface="+mn-ea"/>
          <a:cs typeface="+mn-cs"/>
        </a:defRPr>
      </a:lvl5pPr>
      <a:lvl6pPr marL="2285943" algn="r" defTabSz="914377" rtl="1" eaLnBrk="1" latinLnBrk="0" hangingPunct="1">
        <a:defRPr sz="1800" kern="1200">
          <a:solidFill>
            <a:schemeClr val="tx1"/>
          </a:solidFill>
          <a:latin typeface="+mn-lt"/>
          <a:ea typeface="+mn-ea"/>
          <a:cs typeface="+mn-cs"/>
        </a:defRPr>
      </a:lvl6pPr>
      <a:lvl7pPr marL="2743131" algn="r" defTabSz="914377" rtl="1" eaLnBrk="1" latinLnBrk="0" hangingPunct="1">
        <a:defRPr sz="1800" kern="1200">
          <a:solidFill>
            <a:schemeClr val="tx1"/>
          </a:solidFill>
          <a:latin typeface="+mn-lt"/>
          <a:ea typeface="+mn-ea"/>
          <a:cs typeface="+mn-cs"/>
        </a:defRPr>
      </a:lvl7pPr>
      <a:lvl8pPr marL="3200320" algn="r" defTabSz="914377" rtl="1" eaLnBrk="1" latinLnBrk="0" hangingPunct="1">
        <a:defRPr sz="1800" kern="1200">
          <a:solidFill>
            <a:schemeClr val="tx1"/>
          </a:solidFill>
          <a:latin typeface="+mn-lt"/>
          <a:ea typeface="+mn-ea"/>
          <a:cs typeface="+mn-cs"/>
        </a:defRPr>
      </a:lvl8pPr>
      <a:lvl9pPr marL="3657509" algn="r" defTabSz="914377"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30"/>
            <a:ext cx="9144000" cy="2809925"/>
          </a:xfrm>
        </p:spPr>
        <p:txBody>
          <a:bodyPr>
            <a:normAutofit fontScale="90000"/>
          </a:bodyPr>
          <a:lstStyle/>
          <a:p>
            <a:pPr>
              <a:lnSpc>
                <a:spcPct val="150000"/>
              </a:lnSpc>
              <a:spcAft>
                <a:spcPts val="800"/>
              </a:spcAft>
            </a:pPr>
            <a:r>
              <a:rPr lang="en-US" sz="3200" b="1" dirty="0">
                <a:solidFill>
                  <a:srgbClr val="222A35"/>
                </a:solidFill>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br>
            <a:r>
              <a:rPr lang="ar-SA"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المشروع الفصلي - سيمنار </a:t>
            </a:r>
            <a:r>
              <a:rPr lang="en-US"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2</a:t>
            </a:r>
            <a:br>
              <a:rPr lang="en-US" sz="3200" b="1" dirty="0">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4001" y="3584025"/>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a:lnSpc>
                <a:spcPct val="150000"/>
              </a:lnSpc>
              <a:spcAft>
                <a:spcPts val="800"/>
              </a:spcAft>
            </a:pPr>
            <a:r>
              <a:rPr lang="ar-SA" sz="2800" b="1" dirty="0">
                <a:solidFill>
                  <a:srgbClr val="222A35"/>
                </a:solidFill>
                <a:ea typeface="Times New Roman" panose="02020603050405020304" pitchFamily="18" charset="0"/>
                <a:cs typeface="Times New Roman" panose="02020603050405020304" pitchFamily="18" charset="0"/>
              </a:rPr>
              <a:t>إعداد الطلاب:</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7" y="4887978"/>
            <a:ext cx="7541003" cy="2033919"/>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a:lnSpc>
                <a:spcPct val="150000"/>
              </a:lnSpc>
              <a:spcAft>
                <a:spcPts val="800"/>
              </a:spcAft>
            </a:pPr>
            <a:r>
              <a:rPr lang="ar-SA" sz="2800" b="1" dirty="0">
                <a:solidFill>
                  <a:srgbClr val="222A35"/>
                </a:solidFill>
                <a:ea typeface="Times New Roman" panose="02020603050405020304" pitchFamily="18" charset="0"/>
                <a:cs typeface="Times New Roman" panose="02020603050405020304" pitchFamily="18" charset="0"/>
              </a:rPr>
              <a:t>إشراف:</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م. شادي بليدي</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r>
              <a:rPr lang="ar-SA" sz="2400" b="1" dirty="0">
                <a:solidFill>
                  <a:srgbClr val="222A35"/>
                </a:solidFill>
                <a:ea typeface="Times New Roman" panose="02020603050405020304" pitchFamily="18" charset="0"/>
                <a:cs typeface="Times New Roman" panose="02020603050405020304" pitchFamily="18" charset="0"/>
              </a:rPr>
              <a:t>م. مايا الأحمد</a:t>
            </a:r>
            <a:endParaRPr lang="en-US" sz="1400" dirty="0">
              <a:ea typeface="Times New Roman" panose="02020603050405020304" pitchFamily="18" charset="0"/>
              <a:cs typeface="Arial" panose="020B0604020202020204" pitchFamily="34" charset="0"/>
            </a:endParaRPr>
          </a:p>
          <a:p>
            <a:pPr algn="ctr">
              <a:lnSpc>
                <a:spcPct val="150000"/>
              </a:lnSpc>
              <a:spcAft>
                <a:spcPts val="800"/>
              </a:spcAft>
            </a:pPr>
            <a:endParaRPr lang="en-US" sz="1400" dirty="0">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1" y="1"/>
            <a:ext cx="2489187" cy="1857959"/>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5"/>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D6FD9AC4-A72F-5851-AB84-CC07561ECB07}"/>
              </a:ext>
            </a:extLst>
          </p:cNvPr>
          <p:cNvSpPr txBox="1"/>
          <p:nvPr/>
        </p:nvSpPr>
        <p:spPr>
          <a:xfrm>
            <a:off x="6171425" y="1933098"/>
            <a:ext cx="4915675" cy="3816429"/>
          </a:xfrm>
          <a:prstGeom prst="rect">
            <a:avLst/>
          </a:prstGeom>
          <a:noFill/>
        </p:spPr>
        <p:txBody>
          <a:bodyPr wrap="square">
            <a:spAutoFit/>
          </a:bodyPr>
          <a:lstStyle/>
          <a:p>
            <a:endParaRPr lang="ar-SA" dirty="0"/>
          </a:p>
          <a:p>
            <a:r>
              <a:rPr lang="ar-SA" sz="2000" b="1" dirty="0"/>
              <a:t>الأهداف الفرعية:</a:t>
            </a:r>
          </a:p>
          <a:p>
            <a:endParaRPr lang="ar-SA" dirty="0"/>
          </a:p>
          <a:p>
            <a:r>
              <a:rPr lang="ar-SA" b="1" dirty="0"/>
              <a:t>1️⃣  الكفاءة الوظيفية</a:t>
            </a:r>
          </a:p>
          <a:p>
            <a:r>
              <a:rPr lang="ar-SA" sz="1600" dirty="0"/>
              <a:t>   تصميم واجهات سهلة الاستخدام لكلا الجانبين</a:t>
            </a:r>
          </a:p>
          <a:p>
            <a:r>
              <a:rPr lang="ar-SA" sz="1600" dirty="0"/>
              <a:t>   (مقدمي الخدمات: بناء الاستبيانات والتحليل)</a:t>
            </a:r>
          </a:p>
          <a:p>
            <a:r>
              <a:rPr lang="ar-SA" sz="1600" dirty="0"/>
              <a:t>   (المستجيبون: الاطلاع والمشاركة)</a:t>
            </a:r>
          </a:p>
          <a:p>
            <a:endParaRPr lang="ar-SA" dirty="0"/>
          </a:p>
          <a:p>
            <a:endParaRPr lang="ar-SA" dirty="0"/>
          </a:p>
          <a:p>
            <a:r>
              <a:rPr lang="ar-SA" b="1" dirty="0"/>
              <a:t>3️⃣  التحليل الذكي</a:t>
            </a:r>
          </a:p>
          <a:p>
            <a:r>
              <a:rPr lang="ar-SA" sz="1600" dirty="0"/>
              <a:t>   أتمتة تحليل الإجابات النصية باستخدام </a:t>
            </a:r>
            <a:r>
              <a:rPr lang="ar-SA" sz="1600" dirty="0" err="1"/>
              <a:t>Sentiment</a:t>
            </a:r>
            <a:r>
              <a:rPr lang="ar-SA" sz="1600" dirty="0"/>
              <a:t> </a:t>
            </a:r>
            <a:r>
              <a:rPr lang="ar-SA" sz="1600" dirty="0" err="1"/>
              <a:t>Analysis</a:t>
            </a:r>
            <a:endParaRPr lang="ar-SA" sz="1600" dirty="0"/>
          </a:p>
          <a:p>
            <a:r>
              <a:rPr lang="ar-SA" sz="1600" dirty="0"/>
              <a:t>   لتصنيف الآراء إلى إيجابية وسلبية ومحايدة</a:t>
            </a:r>
          </a:p>
          <a:p>
            <a:r>
              <a:rPr lang="ar-SA" sz="1600" dirty="0"/>
              <a:t>   وتسريع عملية استخراج الرؤى.</a:t>
            </a:r>
          </a:p>
          <a:p>
            <a:endParaRPr lang="ar-SA" dirty="0"/>
          </a:p>
        </p:txBody>
      </p:sp>
      <p:sp>
        <p:nvSpPr>
          <p:cNvPr id="11" name="مربع نص 10">
            <a:extLst>
              <a:ext uri="{FF2B5EF4-FFF2-40B4-BE49-F238E27FC236}">
                <a16:creationId xmlns:a16="http://schemas.microsoft.com/office/drawing/2014/main" id="{98109583-6510-798E-9185-3511C6603719}"/>
              </a:ext>
            </a:extLst>
          </p:cNvPr>
          <p:cNvSpPr txBox="1"/>
          <p:nvPr/>
        </p:nvSpPr>
        <p:spPr>
          <a:xfrm>
            <a:off x="1792257" y="2828835"/>
            <a:ext cx="4303745" cy="1200329"/>
          </a:xfrm>
          <a:prstGeom prst="rect">
            <a:avLst/>
          </a:prstGeom>
          <a:noFill/>
        </p:spPr>
        <p:txBody>
          <a:bodyPr wrap="square">
            <a:spAutoFit/>
          </a:bodyPr>
          <a:lstStyle/>
          <a:p>
            <a:r>
              <a:rPr lang="ar-SA" b="1" dirty="0"/>
              <a:t>2️⃣  الاستهداف الدقيق</a:t>
            </a:r>
          </a:p>
          <a:p>
            <a:r>
              <a:rPr lang="ar-SA" dirty="0"/>
              <a:t>   ضمان وصول الاستبيانات فقط للمستخدمين المطابقين</a:t>
            </a:r>
          </a:p>
          <a:p>
            <a:r>
              <a:rPr lang="ar-SA" dirty="0"/>
              <a:t>   للمعايير الديموغرافية والجغرافية المحددة</a:t>
            </a:r>
          </a:p>
          <a:p>
            <a:r>
              <a:rPr lang="ar-SA" dirty="0"/>
              <a:t>   لتحسين جودة البيانات وتقليل التحيز.</a:t>
            </a:r>
          </a:p>
        </p:txBody>
      </p:sp>
      <p:sp>
        <p:nvSpPr>
          <p:cNvPr id="13" name="مربع نص 12">
            <a:extLst>
              <a:ext uri="{FF2B5EF4-FFF2-40B4-BE49-F238E27FC236}">
                <a16:creationId xmlns:a16="http://schemas.microsoft.com/office/drawing/2014/main" id="{6DAA48D3-CFAF-368C-7C27-6843D4894EE6}"/>
              </a:ext>
            </a:extLst>
          </p:cNvPr>
          <p:cNvSpPr txBox="1"/>
          <p:nvPr/>
        </p:nvSpPr>
        <p:spPr>
          <a:xfrm>
            <a:off x="1792253" y="4549197"/>
            <a:ext cx="4303747" cy="1200329"/>
          </a:xfrm>
          <a:prstGeom prst="rect">
            <a:avLst/>
          </a:prstGeom>
          <a:noFill/>
        </p:spPr>
        <p:txBody>
          <a:bodyPr wrap="square">
            <a:spAutoFit/>
          </a:bodyPr>
          <a:lstStyle/>
          <a:p>
            <a:r>
              <a:rPr lang="ar-SA" b="1" dirty="0"/>
              <a:t>4️⃣  دعم اتخاذ القرار</a:t>
            </a:r>
          </a:p>
          <a:p>
            <a:r>
              <a:rPr lang="ar-SA" dirty="0"/>
              <a:t>   عرض النتائج والتحليلات عبر لوحات تحكم تفاعلية</a:t>
            </a:r>
          </a:p>
          <a:p>
            <a:r>
              <a:rPr lang="ar-SA" dirty="0"/>
              <a:t>   وتقارير قابلة للتخصيص لتمكين المستفيدين من اتخاذ قرارات مستنيرة.</a:t>
            </a:r>
          </a:p>
        </p:txBody>
      </p:sp>
      <p:sp>
        <p:nvSpPr>
          <p:cNvPr id="15" name="مربع نص 14">
            <a:extLst>
              <a:ext uri="{FF2B5EF4-FFF2-40B4-BE49-F238E27FC236}">
                <a16:creationId xmlns:a16="http://schemas.microsoft.com/office/drawing/2014/main" id="{03B4F438-7B51-5823-0DF0-02154685768B}"/>
              </a:ext>
            </a:extLst>
          </p:cNvPr>
          <p:cNvSpPr txBox="1"/>
          <p:nvPr/>
        </p:nvSpPr>
        <p:spPr>
          <a:xfrm>
            <a:off x="4224435" y="449831"/>
            <a:ext cx="6862664" cy="1015663"/>
          </a:xfrm>
          <a:prstGeom prst="rect">
            <a:avLst/>
          </a:prstGeom>
          <a:noFill/>
        </p:spPr>
        <p:txBody>
          <a:bodyPr wrap="square">
            <a:spAutoFit/>
          </a:bodyPr>
          <a:lstStyle/>
          <a:p>
            <a:r>
              <a:rPr lang="ar-SA" sz="2400" b="1" dirty="0"/>
              <a:t>الهدف الرئيسي:</a:t>
            </a:r>
          </a:p>
          <a:p>
            <a:r>
              <a:rPr lang="ar-SA" b="1" dirty="0"/>
              <a:t>بناء منصة استبيانات ذكية ثنائية الطرف توازن بين احتياجات مقدمي الخدمات</a:t>
            </a:r>
          </a:p>
          <a:p>
            <a:r>
              <a:rPr lang="ar-SA" b="1" dirty="0"/>
              <a:t>والمستجيبين من خلال تحسين دقة الاستهداف وأتمتة التحليل.</a:t>
            </a:r>
          </a:p>
        </p:txBody>
      </p:sp>
    </p:spTree>
    <p:extLst>
      <p:ext uri="{BB962C8B-B14F-4D97-AF65-F5344CB8AC3E}">
        <p14:creationId xmlns:p14="http://schemas.microsoft.com/office/powerpoint/2010/main" val="334696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مربع نص 8">
            <a:extLst>
              <a:ext uri="{FF2B5EF4-FFF2-40B4-BE49-F238E27FC236}">
                <a16:creationId xmlns:a16="http://schemas.microsoft.com/office/drawing/2014/main" id="{F5E105F2-9597-A3AB-C38A-34646211E8B1}"/>
              </a:ext>
            </a:extLst>
          </p:cNvPr>
          <p:cNvSpPr txBox="1"/>
          <p:nvPr/>
        </p:nvSpPr>
        <p:spPr>
          <a:xfrm>
            <a:off x="7787172" y="1995616"/>
            <a:ext cx="3380013" cy="1631216"/>
          </a:xfrm>
          <a:prstGeom prst="rect">
            <a:avLst/>
          </a:prstGeom>
          <a:noFill/>
        </p:spPr>
        <p:txBody>
          <a:bodyPr wrap="square">
            <a:spAutoFit/>
          </a:bodyPr>
          <a:lstStyle/>
          <a:p>
            <a:r>
              <a:rPr lang="ar-SA" sz="2000" b="1" dirty="0"/>
              <a:t>أ. حالات الاستخدام المشتركة</a:t>
            </a:r>
          </a:p>
          <a:p>
            <a:pPr>
              <a:buFont typeface="Arial" panose="020B0604020202020204" pitchFamily="34" charset="0"/>
              <a:buChar char="•"/>
            </a:pPr>
            <a:r>
              <a:rPr lang="en-US" sz="2000" dirty="0"/>
              <a:t>: UC-01  </a:t>
            </a:r>
            <a:r>
              <a:rPr lang="ar-SA" sz="2000" dirty="0"/>
              <a:t>إنشاء حساب مقدم خدمة</a:t>
            </a:r>
          </a:p>
          <a:p>
            <a:pPr>
              <a:buFont typeface="Arial" panose="020B0604020202020204" pitchFamily="34" charset="0"/>
              <a:buChar char="•"/>
            </a:pPr>
            <a:r>
              <a:rPr lang="ar-SA" sz="2000" dirty="0"/>
              <a:t> </a:t>
            </a:r>
            <a:r>
              <a:rPr lang="en-US" sz="2000" dirty="0"/>
              <a:t>UC-02 </a:t>
            </a:r>
            <a:r>
              <a:rPr lang="ar-SA" sz="2000" dirty="0"/>
              <a:t>: إنشاء حساب مجيب  </a:t>
            </a:r>
          </a:p>
          <a:p>
            <a:pPr>
              <a:buFont typeface="Arial" panose="020B0604020202020204" pitchFamily="34" charset="0"/>
              <a:buChar char="•"/>
            </a:pPr>
            <a:r>
              <a:rPr lang="en-US" sz="2000" dirty="0"/>
              <a:t>UC-03  </a:t>
            </a:r>
            <a:r>
              <a:rPr lang="ar-SA" sz="2000" dirty="0"/>
              <a:t> : تسجيل الدخول </a:t>
            </a:r>
          </a:p>
          <a:p>
            <a:pPr>
              <a:buFont typeface="Arial" panose="020B0604020202020204" pitchFamily="34" charset="0"/>
              <a:buChar char="•"/>
            </a:pPr>
            <a:r>
              <a:rPr lang="ar-SA" sz="2000" dirty="0"/>
              <a:t> </a:t>
            </a:r>
            <a:r>
              <a:rPr lang="en-US" sz="2000" dirty="0"/>
              <a:t>UC-04 </a:t>
            </a:r>
            <a:r>
              <a:rPr lang="ar-SA" sz="2000" dirty="0"/>
              <a:t> : تسجيل الخروج </a:t>
            </a:r>
          </a:p>
        </p:txBody>
      </p:sp>
      <p:sp>
        <p:nvSpPr>
          <p:cNvPr id="11" name="مربع نص 10">
            <a:extLst>
              <a:ext uri="{FF2B5EF4-FFF2-40B4-BE49-F238E27FC236}">
                <a16:creationId xmlns:a16="http://schemas.microsoft.com/office/drawing/2014/main" id="{AC8663E4-D547-8350-3B3C-447F45603A8E}"/>
              </a:ext>
            </a:extLst>
          </p:cNvPr>
          <p:cNvSpPr txBox="1"/>
          <p:nvPr/>
        </p:nvSpPr>
        <p:spPr>
          <a:xfrm>
            <a:off x="6816014" y="3735248"/>
            <a:ext cx="4351171" cy="3170099"/>
          </a:xfrm>
          <a:prstGeom prst="rect">
            <a:avLst/>
          </a:prstGeom>
          <a:noFill/>
        </p:spPr>
        <p:txBody>
          <a:bodyPr wrap="square">
            <a:spAutoFit/>
          </a:bodyPr>
          <a:lstStyle/>
          <a:p>
            <a:r>
              <a:rPr lang="ar-SA" sz="2000" b="1" dirty="0"/>
              <a:t>ب. حالات استخدام مقدم الخدمة</a:t>
            </a:r>
          </a:p>
          <a:p>
            <a:pPr>
              <a:buFont typeface="Arial" panose="020B0604020202020204" pitchFamily="34" charset="0"/>
              <a:buChar char="•"/>
            </a:pPr>
            <a:r>
              <a:rPr lang="en-US" sz="2000" dirty="0"/>
              <a:t>UC-05  </a:t>
            </a:r>
            <a:r>
              <a:rPr lang="ar-SA" sz="2000" dirty="0"/>
              <a:t> : إنشاء استبيان </a:t>
            </a:r>
          </a:p>
          <a:p>
            <a:pPr>
              <a:buFont typeface="Arial" panose="020B0604020202020204" pitchFamily="34" charset="0"/>
              <a:buChar char="•"/>
            </a:pPr>
            <a:r>
              <a:rPr lang="ar-SA" sz="2000" dirty="0"/>
              <a:t> </a:t>
            </a:r>
            <a:r>
              <a:rPr lang="en-US" sz="2000" dirty="0"/>
              <a:t>UC-06 </a:t>
            </a:r>
            <a:r>
              <a:rPr lang="ar-SA" sz="2000" dirty="0"/>
              <a:t> : تحديث بيانات الاستبيان </a:t>
            </a:r>
          </a:p>
          <a:p>
            <a:pPr>
              <a:buFont typeface="Arial" panose="020B0604020202020204" pitchFamily="34" charset="0"/>
              <a:buChar char="•"/>
            </a:pPr>
            <a:r>
              <a:rPr lang="ar-SA" sz="2000" dirty="0"/>
              <a:t> </a:t>
            </a:r>
            <a:r>
              <a:rPr lang="en-US" sz="2000" dirty="0"/>
              <a:t>UC-07 </a:t>
            </a:r>
            <a:r>
              <a:rPr lang="ar-SA" sz="2000" dirty="0"/>
              <a:t> : حذف الاستبيان </a:t>
            </a:r>
          </a:p>
          <a:p>
            <a:pPr>
              <a:buFont typeface="Arial" panose="020B0604020202020204" pitchFamily="34" charset="0"/>
              <a:buChar char="•"/>
            </a:pPr>
            <a:r>
              <a:rPr lang="ar-SA" sz="2000" dirty="0"/>
              <a:t> </a:t>
            </a:r>
            <a:r>
              <a:rPr lang="en-US" sz="2000" dirty="0"/>
              <a:t>UC-08 </a:t>
            </a:r>
            <a:r>
              <a:rPr lang="ar-SA" sz="2000" dirty="0"/>
              <a:t> : إضافة سؤال إلى الاستبيان </a:t>
            </a:r>
          </a:p>
          <a:p>
            <a:pPr>
              <a:buFont typeface="Arial" panose="020B0604020202020204" pitchFamily="34" charset="0"/>
              <a:buChar char="•"/>
            </a:pPr>
            <a:r>
              <a:rPr lang="ar-SA" sz="2000" dirty="0"/>
              <a:t> </a:t>
            </a:r>
            <a:r>
              <a:rPr lang="en-US" sz="2000" dirty="0"/>
              <a:t>UC-09 </a:t>
            </a:r>
            <a:r>
              <a:rPr lang="ar-SA" sz="2000" dirty="0"/>
              <a:t> : تعديل أو حذف سؤال </a:t>
            </a:r>
          </a:p>
          <a:p>
            <a:pPr>
              <a:buFont typeface="Arial" panose="020B0604020202020204" pitchFamily="34" charset="0"/>
              <a:buChar char="•"/>
            </a:pPr>
            <a:r>
              <a:rPr lang="ar-SA" sz="2000" dirty="0"/>
              <a:t> </a:t>
            </a:r>
            <a:r>
              <a:rPr lang="en-US" sz="2000" dirty="0"/>
              <a:t>UC-10 </a:t>
            </a:r>
            <a:r>
              <a:rPr lang="ar-SA" sz="2000" dirty="0"/>
              <a:t> : تحديد شروط الاستهداف </a:t>
            </a:r>
          </a:p>
          <a:p>
            <a:pPr>
              <a:buFont typeface="Arial" panose="020B0604020202020204" pitchFamily="34" charset="0"/>
              <a:buChar char="•"/>
            </a:pPr>
            <a:r>
              <a:rPr lang="ar-SA" sz="2000" dirty="0"/>
              <a:t> </a:t>
            </a:r>
            <a:r>
              <a:rPr lang="en-US" sz="2000" dirty="0"/>
              <a:t>UC-11 </a:t>
            </a:r>
            <a:r>
              <a:rPr lang="ar-SA" sz="2000" dirty="0"/>
              <a:t> : نشر الاستبيان </a:t>
            </a:r>
          </a:p>
          <a:p>
            <a:pPr>
              <a:buFont typeface="Arial" panose="020B0604020202020204" pitchFamily="34" charset="0"/>
              <a:buChar char="•"/>
            </a:pPr>
            <a:r>
              <a:rPr lang="ar-SA" sz="2000" dirty="0"/>
              <a:t> </a:t>
            </a:r>
            <a:r>
              <a:rPr lang="en-US" sz="2000" dirty="0"/>
              <a:t>UC-12 </a:t>
            </a:r>
            <a:r>
              <a:rPr lang="ar-SA" sz="2000" dirty="0"/>
              <a:t> : إغلاق الاستبيان </a:t>
            </a:r>
          </a:p>
          <a:p>
            <a:pPr>
              <a:buFont typeface="Arial" panose="020B0604020202020204" pitchFamily="34" charset="0"/>
              <a:buChar char="•"/>
            </a:pPr>
            <a:r>
              <a:rPr lang="ar-SA" sz="2000" dirty="0"/>
              <a:t> </a:t>
            </a:r>
            <a:r>
              <a:rPr lang="en-US" sz="2000" dirty="0"/>
              <a:t>UC-13 </a:t>
            </a:r>
            <a:r>
              <a:rPr lang="ar-SA" sz="2000" dirty="0"/>
              <a:t> : عرض نتائج التحليل </a:t>
            </a:r>
          </a:p>
        </p:txBody>
      </p:sp>
      <p:sp>
        <p:nvSpPr>
          <p:cNvPr id="13" name="مربع نص 12">
            <a:extLst>
              <a:ext uri="{FF2B5EF4-FFF2-40B4-BE49-F238E27FC236}">
                <a16:creationId xmlns:a16="http://schemas.microsoft.com/office/drawing/2014/main" id="{275DA068-2CEB-4D86-03D4-F54C01580968}"/>
              </a:ext>
            </a:extLst>
          </p:cNvPr>
          <p:cNvSpPr txBox="1"/>
          <p:nvPr/>
        </p:nvSpPr>
        <p:spPr>
          <a:xfrm>
            <a:off x="0" y="2319545"/>
            <a:ext cx="4806820" cy="1631216"/>
          </a:xfrm>
          <a:prstGeom prst="rect">
            <a:avLst/>
          </a:prstGeom>
          <a:noFill/>
        </p:spPr>
        <p:txBody>
          <a:bodyPr wrap="square">
            <a:spAutoFit/>
          </a:bodyPr>
          <a:lstStyle/>
          <a:p>
            <a:r>
              <a:rPr lang="ar-SA" sz="2000" b="1" dirty="0"/>
              <a:t>ج. حالات استخدام المجيب</a:t>
            </a:r>
          </a:p>
          <a:p>
            <a:pPr>
              <a:buFont typeface="Arial" panose="020B0604020202020204" pitchFamily="34" charset="0"/>
              <a:buChar char="•"/>
            </a:pPr>
            <a:r>
              <a:rPr lang="en-US" sz="2000" dirty="0"/>
              <a:t>UC-14  </a:t>
            </a:r>
            <a:r>
              <a:rPr lang="ar-SA" sz="2000" dirty="0"/>
              <a:t> : إدارة الملف الديموغرافي </a:t>
            </a:r>
          </a:p>
          <a:p>
            <a:pPr>
              <a:buFont typeface="Arial" panose="020B0604020202020204" pitchFamily="34" charset="0"/>
              <a:buChar char="•"/>
            </a:pPr>
            <a:r>
              <a:rPr lang="ar-SA" sz="2000" dirty="0"/>
              <a:t> </a:t>
            </a:r>
            <a:r>
              <a:rPr lang="en-US" sz="2000" dirty="0"/>
              <a:t>UC-15 </a:t>
            </a:r>
            <a:r>
              <a:rPr lang="ar-SA" sz="2000" dirty="0"/>
              <a:t> : عرض الاستبيانات المؤهلة </a:t>
            </a:r>
          </a:p>
          <a:p>
            <a:pPr>
              <a:buFont typeface="Arial" panose="020B0604020202020204" pitchFamily="34" charset="0"/>
              <a:buChar char="•"/>
            </a:pPr>
            <a:r>
              <a:rPr lang="ar-SA" sz="2000" dirty="0"/>
              <a:t> </a:t>
            </a:r>
            <a:r>
              <a:rPr lang="en-US" sz="2000" dirty="0"/>
              <a:t>UC-16 </a:t>
            </a:r>
            <a:r>
              <a:rPr lang="ar-SA" sz="2000" dirty="0"/>
              <a:t> : المشاركة في الاستبيان </a:t>
            </a:r>
          </a:p>
          <a:p>
            <a:pPr>
              <a:buFont typeface="Arial" panose="020B0604020202020204" pitchFamily="34" charset="0"/>
              <a:buChar char="•"/>
            </a:pPr>
            <a:r>
              <a:rPr lang="ar-SA" sz="2000" dirty="0"/>
              <a:t>  </a:t>
            </a:r>
            <a:r>
              <a:rPr lang="en-US" sz="2000" dirty="0"/>
              <a:t>UC-17</a:t>
            </a:r>
            <a:r>
              <a:rPr lang="ar-SA" sz="2000" dirty="0"/>
              <a:t> : عرض الاستبيانات التي تمت المشاركة فيها </a:t>
            </a:r>
          </a:p>
        </p:txBody>
      </p:sp>
      <p:sp>
        <p:nvSpPr>
          <p:cNvPr id="15" name="مربع نص 14">
            <a:extLst>
              <a:ext uri="{FF2B5EF4-FFF2-40B4-BE49-F238E27FC236}">
                <a16:creationId xmlns:a16="http://schemas.microsoft.com/office/drawing/2014/main" id="{38BF1476-70F1-EA32-E053-99C818DF32AA}"/>
              </a:ext>
            </a:extLst>
          </p:cNvPr>
          <p:cNvSpPr txBox="1"/>
          <p:nvPr/>
        </p:nvSpPr>
        <p:spPr>
          <a:xfrm>
            <a:off x="344973" y="4700499"/>
            <a:ext cx="4461847" cy="1015663"/>
          </a:xfrm>
          <a:prstGeom prst="rect">
            <a:avLst/>
          </a:prstGeom>
          <a:noFill/>
        </p:spPr>
        <p:txBody>
          <a:bodyPr wrap="square">
            <a:spAutoFit/>
          </a:bodyPr>
          <a:lstStyle/>
          <a:p>
            <a:r>
              <a:rPr lang="ar-SA" sz="2000" b="1" dirty="0"/>
              <a:t>د. حالات استخدام مدير النظام</a:t>
            </a:r>
          </a:p>
          <a:p>
            <a:pPr>
              <a:buFont typeface="Arial" panose="020B0604020202020204" pitchFamily="34" charset="0"/>
              <a:buChar char="•"/>
            </a:pPr>
            <a:r>
              <a:rPr lang="en-US" sz="2000" dirty="0"/>
              <a:t>UC-18  </a:t>
            </a:r>
            <a:r>
              <a:rPr lang="ar-SA" sz="2000" dirty="0"/>
              <a:t> : إدارة حسابات المستخدمين </a:t>
            </a:r>
          </a:p>
          <a:p>
            <a:pPr>
              <a:buFont typeface="Arial" panose="020B0604020202020204" pitchFamily="34" charset="0"/>
              <a:buChar char="•"/>
            </a:pPr>
            <a:r>
              <a:rPr lang="ar-SA" sz="2000" dirty="0"/>
              <a:t> </a:t>
            </a:r>
            <a:r>
              <a:rPr lang="en-US" sz="2000"/>
              <a:t>UC-19 </a:t>
            </a:r>
            <a:r>
              <a:rPr lang="ar-SA" sz="2000" dirty="0"/>
              <a:t> : استخراج تقارير النظام</a:t>
            </a:r>
          </a:p>
        </p:txBody>
      </p:sp>
      <p:sp>
        <p:nvSpPr>
          <p:cNvPr id="17" name="مربع نص 16">
            <a:extLst>
              <a:ext uri="{FF2B5EF4-FFF2-40B4-BE49-F238E27FC236}">
                <a16:creationId xmlns:a16="http://schemas.microsoft.com/office/drawing/2014/main" id="{F9CE713B-AEBB-1C58-91CE-5D9B7C107874}"/>
              </a:ext>
            </a:extLst>
          </p:cNvPr>
          <p:cNvSpPr txBox="1"/>
          <p:nvPr/>
        </p:nvSpPr>
        <p:spPr>
          <a:xfrm>
            <a:off x="5302120" y="70306"/>
            <a:ext cx="6120880" cy="492443"/>
          </a:xfrm>
          <a:prstGeom prst="rect">
            <a:avLst/>
          </a:prstGeom>
          <a:noFill/>
        </p:spPr>
        <p:txBody>
          <a:bodyPr wrap="square">
            <a:spAutoFit/>
          </a:bodyPr>
          <a:lstStyle/>
          <a:p>
            <a:r>
              <a:rPr lang="ar-SA" sz="2600" b="1" dirty="0">
                <a:solidFill>
                  <a:schemeClr val="accent1"/>
                </a:solidFill>
              </a:rPr>
              <a:t>تصنيف حالات الاستخدام التفصيلية حسب الفاعلين</a:t>
            </a:r>
            <a:endParaRPr lang="ar-SA" sz="2600" dirty="0">
              <a:solidFill>
                <a:schemeClr val="accent1"/>
              </a:solidFill>
            </a:endParaRPr>
          </a:p>
        </p:txBody>
      </p:sp>
      <p:sp>
        <p:nvSpPr>
          <p:cNvPr id="2" name="Rectangle 1">
            <a:extLst>
              <a:ext uri="{FF2B5EF4-FFF2-40B4-BE49-F238E27FC236}">
                <a16:creationId xmlns:a16="http://schemas.microsoft.com/office/drawing/2014/main" id="{9BBDC7B8-FC37-92AA-F3C6-263D08C6A144}"/>
              </a:ext>
            </a:extLst>
          </p:cNvPr>
          <p:cNvSpPr>
            <a:spLocks noChangeArrowheads="1"/>
          </p:cNvSpPr>
          <p:nvPr/>
        </p:nvSpPr>
        <p:spPr bwMode="auto">
          <a:xfrm>
            <a:off x="2222347" y="552728"/>
            <a:ext cx="921397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مقدم الخدمة / الباحث (Survey Creator):</a:t>
            </a:r>
            <a:r>
              <a:rPr lang="ar-SA" altLang="ar-SA" dirty="0">
                <a:latin typeface="Arial" panose="020B0604020202020204" pitchFamily="34" charset="0"/>
              </a:rPr>
              <a:t> </a:t>
            </a:r>
            <a:r>
              <a:rPr lang="ar-SA" altLang="ar-SA" sz="1600" dirty="0">
                <a:latin typeface="Arial" panose="020B0604020202020204" pitchFamily="34" charset="0"/>
                <a:cs typeface="Arial" panose="020B0604020202020204" pitchFamily="34" charset="0"/>
              </a:rPr>
              <a:t>الجهة المستفيدة من المنصة لجمع البيانات.</a:t>
            </a:r>
            <a:endParaRPr lang="ar-SA" altLang="ar-SA" sz="1600" dirty="0">
              <a:latin typeface="Arial" panose="020B0604020202020204" pitchFamily="34" charset="0"/>
            </a:endParaRPr>
          </a:p>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المستخدم المُجيب (Respondent): </a:t>
            </a:r>
            <a:r>
              <a:rPr lang="ar-SA" altLang="ar-SA" sz="1600" dirty="0">
                <a:latin typeface="Arial" panose="020B0604020202020204" pitchFamily="34" charset="0"/>
                <a:cs typeface="Arial" panose="020B0604020202020204" pitchFamily="34" charset="0"/>
              </a:rPr>
              <a:t>الفرد المستهدف للإجابة على الاستبيانات.</a:t>
            </a:r>
            <a:endParaRPr lang="ar-SA" altLang="ar-SA" sz="1600" dirty="0">
              <a:latin typeface="Arial" panose="020B0604020202020204" pitchFamily="34" charset="0"/>
            </a:endParaRPr>
          </a:p>
          <a:p>
            <a:pPr defTabSz="914377" eaLnBrk="0" fontAlgn="base" hangingPunct="0">
              <a:lnSpc>
                <a:spcPct val="150000"/>
              </a:lnSpc>
              <a:spcBef>
                <a:spcPct val="0"/>
              </a:spcBef>
              <a:spcAft>
                <a:spcPct val="0"/>
              </a:spcAft>
              <a:buFontTx/>
              <a:buChar char="•"/>
            </a:pPr>
            <a:r>
              <a:rPr lang="ar-SA" altLang="ar-SA" b="1" dirty="0">
                <a:latin typeface="Arial" panose="020B0604020202020204" pitchFamily="34" charset="0"/>
                <a:cs typeface="Arial" panose="020B0604020202020204" pitchFamily="34" charset="0"/>
              </a:rPr>
              <a:t> مدير النظام (System Administrator):</a:t>
            </a:r>
            <a:r>
              <a:rPr lang="ar-SA" altLang="ar-SA" sz="1600" dirty="0">
                <a:latin typeface="Arial" panose="020B0604020202020204" pitchFamily="34" charset="0"/>
                <a:cs typeface="Arial" panose="020B0604020202020204" pitchFamily="34" charset="0"/>
              </a:rPr>
              <a:t> المشرف التقني على المنصة.</a:t>
            </a:r>
            <a:endParaRPr lang="ar-SA" altLang="ar-SA" sz="1600" dirty="0">
              <a:latin typeface="Arial" panose="020B0604020202020204" pitchFamily="34" charset="0"/>
            </a:endParaRPr>
          </a:p>
        </p:txBody>
      </p:sp>
    </p:spTree>
    <p:extLst>
      <p:ext uri="{BB962C8B-B14F-4D97-AF65-F5344CB8AC3E}">
        <p14:creationId xmlns:p14="http://schemas.microsoft.com/office/powerpoint/2010/main" val="624024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صورة 8">
            <a:extLst>
              <a:ext uri="{FF2B5EF4-FFF2-40B4-BE49-F238E27FC236}">
                <a16:creationId xmlns:a16="http://schemas.microsoft.com/office/drawing/2014/main" id="{C6C9BD7F-20A3-2F1C-BD1B-3ED39699936E}"/>
              </a:ext>
            </a:extLst>
          </p:cNvPr>
          <p:cNvPicPr>
            <a:picLocks noChangeAspect="1"/>
          </p:cNvPicPr>
          <p:nvPr/>
        </p:nvPicPr>
        <p:blipFill>
          <a:blip r:embed="rId2"/>
          <a:stretch>
            <a:fillRect/>
          </a:stretch>
        </p:blipFill>
        <p:spPr>
          <a:xfrm>
            <a:off x="914400" y="0"/>
            <a:ext cx="10972800" cy="6858000"/>
          </a:xfrm>
          <a:prstGeom prst="rect">
            <a:avLst/>
          </a:prstGeom>
        </p:spPr>
      </p:pic>
    </p:spTree>
    <p:extLst>
      <p:ext uri="{BB962C8B-B14F-4D97-AF65-F5344CB8AC3E}">
        <p14:creationId xmlns:p14="http://schemas.microsoft.com/office/powerpoint/2010/main" val="327674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1">
            <a:extLst>
              <a:ext uri="{FF2B5EF4-FFF2-40B4-BE49-F238E27FC236}">
                <a16:creationId xmlns:a16="http://schemas.microsoft.com/office/drawing/2014/main" id="{7EB51C61-9AE5-6E77-439B-A9C23B4AEC19}"/>
              </a:ext>
            </a:extLst>
          </p:cNvPr>
          <p:cNvSpPr>
            <a:spLocks noGrp="1"/>
          </p:cNvSpPr>
          <p:nvPr>
            <p:ph type="title"/>
          </p:nvPr>
        </p:nvSpPr>
        <p:spPr>
          <a:xfrm>
            <a:off x="2425961" y="2103437"/>
            <a:ext cx="6988628" cy="1325563"/>
          </a:xfrm>
        </p:spPr>
        <p:txBody>
          <a:bodyPr>
            <a:normAutofit/>
          </a:bodyPr>
          <a:lstStyle/>
          <a:p>
            <a:pPr algn="ctr"/>
            <a:r>
              <a:rPr lang="en-US" sz="6000" dirty="0">
                <a:solidFill>
                  <a:schemeClr val="accent1"/>
                </a:solidFill>
              </a:rPr>
              <a:t>use case description</a:t>
            </a:r>
            <a:endParaRPr lang="ar-SA" sz="6000" dirty="0">
              <a:solidFill>
                <a:schemeClr val="accent1"/>
              </a:solidFill>
            </a:endParaRPr>
          </a:p>
        </p:txBody>
      </p:sp>
    </p:spTree>
    <p:extLst>
      <p:ext uri="{BB962C8B-B14F-4D97-AF65-F5344CB8AC3E}">
        <p14:creationId xmlns:p14="http://schemas.microsoft.com/office/powerpoint/2010/main" val="108271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7E275822-5640-76D1-CCC3-EFD318F0CA4E}"/>
              </a:ext>
            </a:extLst>
          </p:cNvPr>
          <p:cNvPicPr>
            <a:picLocks noChangeAspect="1"/>
          </p:cNvPicPr>
          <p:nvPr/>
        </p:nvPicPr>
        <p:blipFill>
          <a:blip r:embed="rId2"/>
          <a:stretch>
            <a:fillRect/>
          </a:stretch>
        </p:blipFill>
        <p:spPr>
          <a:xfrm>
            <a:off x="1324949" y="0"/>
            <a:ext cx="10552921" cy="6858000"/>
          </a:xfrm>
          <a:prstGeom prst="rect">
            <a:avLst/>
          </a:prstGeom>
        </p:spPr>
      </p:pic>
    </p:spTree>
    <p:extLst>
      <p:ext uri="{BB962C8B-B14F-4D97-AF65-F5344CB8AC3E}">
        <p14:creationId xmlns:p14="http://schemas.microsoft.com/office/powerpoint/2010/main" val="962922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935A38A-845F-428C-90DF-D4DE27054E41}"/>
              </a:ext>
            </a:extLst>
          </p:cNvPr>
          <p:cNvSpPr>
            <a:spLocks noGrp="1"/>
          </p:cNvSpPr>
          <p:nvPr>
            <p:ph type="title"/>
          </p:nvPr>
        </p:nvSpPr>
        <p:spPr>
          <a:xfrm>
            <a:off x="838200" y="2333885"/>
            <a:ext cx="10515600" cy="1325563"/>
          </a:xfrm>
        </p:spPr>
        <p:txBody>
          <a:bodyPr/>
          <a:lstStyle/>
          <a:p>
            <a:pPr algn="ctr"/>
            <a:r>
              <a:rPr lang="en-US" dirty="0">
                <a:solidFill>
                  <a:schemeClr val="accent1"/>
                </a:solidFill>
              </a:rPr>
              <a:t>Activity Diagram</a:t>
            </a:r>
            <a:endParaRPr lang="ar-SA" dirty="0">
              <a:solidFill>
                <a:schemeClr val="accent1"/>
              </a:solidFill>
            </a:endParaRPr>
          </a:p>
        </p:txBody>
      </p:sp>
    </p:spTree>
    <p:extLst>
      <p:ext uri="{BB962C8B-B14F-4D97-AF65-F5344CB8AC3E}">
        <p14:creationId xmlns:p14="http://schemas.microsoft.com/office/powerpoint/2010/main" val="3966991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B2E008C-B02A-1645-F659-A47197E76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678" y="0"/>
            <a:ext cx="1035387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129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6AA2F3F-01DC-2A59-FA39-F9972EF1C6F8}"/>
              </a:ext>
            </a:extLst>
          </p:cNvPr>
          <p:cNvSpPr>
            <a:spLocks noGrp="1"/>
          </p:cNvSpPr>
          <p:nvPr>
            <p:ph type="title"/>
          </p:nvPr>
        </p:nvSpPr>
        <p:spPr>
          <a:xfrm>
            <a:off x="838200" y="2277901"/>
            <a:ext cx="10515600" cy="1325563"/>
          </a:xfrm>
        </p:spPr>
        <p:txBody>
          <a:bodyPr/>
          <a:lstStyle/>
          <a:p>
            <a:pPr algn="ctr"/>
            <a:r>
              <a:rPr lang="en-US" dirty="0">
                <a:solidFill>
                  <a:schemeClr val="accent1"/>
                </a:solidFill>
              </a:rPr>
              <a:t>Sequence Diagram</a:t>
            </a:r>
            <a:endParaRPr lang="ar-SA" dirty="0">
              <a:solidFill>
                <a:schemeClr val="accent1"/>
              </a:solidFill>
            </a:endParaRPr>
          </a:p>
        </p:txBody>
      </p:sp>
    </p:spTree>
    <p:extLst>
      <p:ext uri="{BB962C8B-B14F-4D97-AF65-F5344CB8AC3E}">
        <p14:creationId xmlns:p14="http://schemas.microsoft.com/office/powerpoint/2010/main" val="3160412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A255D26-426F-C663-18C9-419B791B7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31" y="0"/>
            <a:ext cx="1082924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985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C9F36F-08C0-C35D-E592-8CA7273C3ED7}"/>
              </a:ext>
            </a:extLst>
          </p:cNvPr>
          <p:cNvSpPr>
            <a:spLocks noGrp="1"/>
          </p:cNvSpPr>
          <p:nvPr>
            <p:ph type="title"/>
          </p:nvPr>
        </p:nvSpPr>
        <p:spPr>
          <a:xfrm>
            <a:off x="838200" y="1"/>
            <a:ext cx="10515600" cy="1325563"/>
          </a:xfrm>
        </p:spPr>
        <p:txBody>
          <a:bodyPr/>
          <a:lstStyle/>
          <a:p>
            <a:pPr algn="ctr"/>
            <a:r>
              <a:rPr lang="en-US">
                <a:solidFill>
                  <a:schemeClr val="accent1"/>
                </a:solidFill>
              </a:rPr>
              <a:t>Chen ERD</a:t>
            </a:r>
            <a:endParaRPr lang="ar-SA" dirty="0">
              <a:solidFill>
                <a:schemeClr val="accent1"/>
              </a:solidFill>
            </a:endParaRPr>
          </a:p>
        </p:txBody>
      </p:sp>
      <p:pic>
        <p:nvPicPr>
          <p:cNvPr id="7" name="صورة 6">
            <a:extLst>
              <a:ext uri="{FF2B5EF4-FFF2-40B4-BE49-F238E27FC236}">
                <a16:creationId xmlns:a16="http://schemas.microsoft.com/office/drawing/2014/main" id="{84B5CAF5-EB7C-9A06-EEE1-535381747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46644"/>
            <a:ext cx="12192000" cy="3207981"/>
          </a:xfrm>
          <a:prstGeom prst="rect">
            <a:avLst/>
          </a:prstGeom>
        </p:spPr>
      </p:pic>
    </p:spTree>
    <p:extLst>
      <p:ext uri="{BB962C8B-B14F-4D97-AF65-F5344CB8AC3E}">
        <p14:creationId xmlns:p14="http://schemas.microsoft.com/office/powerpoint/2010/main" val="2013949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CB08CC7-DD9C-C6A4-9270-0E089FD15E6B}"/>
              </a:ext>
            </a:extLst>
          </p:cNvPr>
          <p:cNvSpPr>
            <a:spLocks noGrp="1"/>
          </p:cNvSpPr>
          <p:nvPr>
            <p:ph type="title"/>
          </p:nvPr>
        </p:nvSpPr>
        <p:spPr>
          <a:xfrm>
            <a:off x="838200" y="-242595"/>
            <a:ext cx="10515600" cy="1325563"/>
          </a:xfrm>
        </p:spPr>
        <p:txBody>
          <a:bodyPr>
            <a:normAutofit/>
          </a:bodyPr>
          <a:lstStyle/>
          <a:p>
            <a:pPr algn="ctr"/>
            <a:r>
              <a:rPr lang="en-US" sz="4000" dirty="0">
                <a:solidFill>
                  <a:schemeClr val="accent1"/>
                </a:solidFill>
              </a:rPr>
              <a:t>Relational schema</a:t>
            </a:r>
            <a:endParaRPr lang="ar-SA" sz="4000" dirty="0">
              <a:solidFill>
                <a:schemeClr val="accent1"/>
              </a:solidFill>
            </a:endParaRPr>
          </a:p>
        </p:txBody>
      </p:sp>
      <p:pic>
        <p:nvPicPr>
          <p:cNvPr id="11" name="صورة 10">
            <a:extLst>
              <a:ext uri="{FF2B5EF4-FFF2-40B4-BE49-F238E27FC236}">
                <a16:creationId xmlns:a16="http://schemas.microsoft.com/office/drawing/2014/main" id="{A8543761-B6DB-D8B2-23B3-B2D7E9F7CE8D}"/>
              </a:ext>
            </a:extLst>
          </p:cNvPr>
          <p:cNvPicPr>
            <a:picLocks noChangeAspect="1"/>
          </p:cNvPicPr>
          <p:nvPr/>
        </p:nvPicPr>
        <p:blipFill>
          <a:blip r:embed="rId2"/>
          <a:stretch>
            <a:fillRect/>
          </a:stretch>
        </p:blipFill>
        <p:spPr>
          <a:xfrm>
            <a:off x="0" y="942392"/>
            <a:ext cx="12192000" cy="5645019"/>
          </a:xfrm>
          <a:prstGeom prst="rect">
            <a:avLst/>
          </a:prstGeom>
        </p:spPr>
      </p:pic>
    </p:spTree>
    <p:extLst>
      <p:ext uri="{BB962C8B-B14F-4D97-AF65-F5344CB8AC3E}">
        <p14:creationId xmlns:p14="http://schemas.microsoft.com/office/powerpoint/2010/main" val="3484126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7482F8D-834A-2674-663D-B95D9EC38001}"/>
              </a:ext>
            </a:extLst>
          </p:cNvPr>
          <p:cNvSpPr>
            <a:spLocks noGrp="1"/>
          </p:cNvSpPr>
          <p:nvPr>
            <p:ph type="title"/>
          </p:nvPr>
        </p:nvSpPr>
        <p:spPr>
          <a:xfrm>
            <a:off x="838200" y="-50346"/>
            <a:ext cx="10515600" cy="1325563"/>
          </a:xfrm>
        </p:spPr>
        <p:txBody>
          <a:bodyPr/>
          <a:lstStyle/>
          <a:p>
            <a:pPr algn="ctr"/>
            <a:r>
              <a:rPr lang="en-US" dirty="0">
                <a:solidFill>
                  <a:schemeClr val="accent1"/>
                </a:solidFill>
              </a:rPr>
              <a:t>Core Domain Class Diagram</a:t>
            </a:r>
            <a:endParaRPr lang="ar-SA" dirty="0">
              <a:solidFill>
                <a:schemeClr val="accent1"/>
              </a:solidFill>
            </a:endParaRPr>
          </a:p>
        </p:txBody>
      </p:sp>
      <p:sp>
        <p:nvSpPr>
          <p:cNvPr id="3" name="عنصر نائب للمحتوى 2">
            <a:extLst>
              <a:ext uri="{FF2B5EF4-FFF2-40B4-BE49-F238E27FC236}">
                <a16:creationId xmlns:a16="http://schemas.microsoft.com/office/drawing/2014/main" id="{BA9AF3FB-2302-3E04-366A-AC41CFD597A5}"/>
              </a:ext>
            </a:extLst>
          </p:cNvPr>
          <p:cNvSpPr>
            <a:spLocks noGrp="1"/>
          </p:cNvSpPr>
          <p:nvPr>
            <p:ph idx="1"/>
          </p:nvPr>
        </p:nvSpPr>
        <p:spPr/>
        <p:txBody>
          <a:bodyPr/>
          <a:lstStyle/>
          <a:p>
            <a:endParaRPr lang="ar-SA"/>
          </a:p>
        </p:txBody>
      </p:sp>
      <p:pic>
        <p:nvPicPr>
          <p:cNvPr id="12" name="صورة 11">
            <a:extLst>
              <a:ext uri="{FF2B5EF4-FFF2-40B4-BE49-F238E27FC236}">
                <a16:creationId xmlns:a16="http://schemas.microsoft.com/office/drawing/2014/main" id="{7C70F24F-0939-7997-F9BD-E9534329705F}"/>
              </a:ext>
            </a:extLst>
          </p:cNvPr>
          <p:cNvPicPr>
            <a:picLocks noChangeAspect="1"/>
          </p:cNvPicPr>
          <p:nvPr/>
        </p:nvPicPr>
        <p:blipFill>
          <a:blip r:embed="rId2"/>
          <a:stretch>
            <a:fillRect/>
          </a:stretch>
        </p:blipFill>
        <p:spPr>
          <a:xfrm>
            <a:off x="0" y="1275218"/>
            <a:ext cx="12192000" cy="5671687"/>
          </a:xfrm>
          <a:prstGeom prst="rect">
            <a:avLst/>
          </a:prstGeom>
        </p:spPr>
      </p:pic>
    </p:spTree>
    <p:extLst>
      <p:ext uri="{BB962C8B-B14F-4D97-AF65-F5344CB8AC3E}">
        <p14:creationId xmlns:p14="http://schemas.microsoft.com/office/powerpoint/2010/main" val="331861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عنوان 1">
            <a:extLst>
              <a:ext uri="{FF2B5EF4-FFF2-40B4-BE49-F238E27FC236}">
                <a16:creationId xmlns:a16="http://schemas.microsoft.com/office/drawing/2014/main" id="{909CCC96-0012-B2B8-280D-0EC05C7EA35A}"/>
              </a:ext>
            </a:extLst>
          </p:cNvPr>
          <p:cNvSpPr>
            <a:spLocks noGrp="1"/>
          </p:cNvSpPr>
          <p:nvPr>
            <p:ph type="title"/>
          </p:nvPr>
        </p:nvSpPr>
        <p:spPr>
          <a:xfrm>
            <a:off x="838200" y="1"/>
            <a:ext cx="10515600" cy="1325563"/>
          </a:xfrm>
        </p:spPr>
        <p:txBody>
          <a:bodyPr/>
          <a:lstStyle/>
          <a:p>
            <a:pPr algn="ctr"/>
            <a:r>
              <a:rPr lang="en-US" dirty="0">
                <a:solidFill>
                  <a:schemeClr val="accent1"/>
                </a:solidFill>
              </a:rPr>
              <a:t> Supporting Services Class Diagram</a:t>
            </a:r>
            <a:endParaRPr lang="ar-SA" dirty="0">
              <a:solidFill>
                <a:schemeClr val="accent1"/>
              </a:solidFill>
            </a:endParaRPr>
          </a:p>
        </p:txBody>
      </p:sp>
      <p:pic>
        <p:nvPicPr>
          <p:cNvPr id="3" name="صورة 2">
            <a:extLst>
              <a:ext uri="{FF2B5EF4-FFF2-40B4-BE49-F238E27FC236}">
                <a16:creationId xmlns:a16="http://schemas.microsoft.com/office/drawing/2014/main" id="{E0490018-68D0-AC51-37E4-7D3C90FD373A}"/>
              </a:ext>
            </a:extLst>
          </p:cNvPr>
          <p:cNvPicPr>
            <a:picLocks noChangeAspect="1"/>
          </p:cNvPicPr>
          <p:nvPr/>
        </p:nvPicPr>
        <p:blipFill>
          <a:blip r:embed="rId2"/>
          <a:stretch>
            <a:fillRect/>
          </a:stretch>
        </p:blipFill>
        <p:spPr>
          <a:xfrm>
            <a:off x="0" y="1216526"/>
            <a:ext cx="12192000" cy="5641473"/>
          </a:xfrm>
          <a:prstGeom prst="rect">
            <a:avLst/>
          </a:prstGeom>
        </p:spPr>
      </p:pic>
    </p:spTree>
    <p:extLst>
      <p:ext uri="{BB962C8B-B14F-4D97-AF65-F5344CB8AC3E}">
        <p14:creationId xmlns:p14="http://schemas.microsoft.com/office/powerpoint/2010/main" val="3363772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2C3731C-15A3-1DB7-341D-B98C76990DAA}"/>
              </a:ext>
            </a:extLst>
          </p:cNvPr>
          <p:cNvSpPr>
            <a:spLocks noGrp="1"/>
          </p:cNvSpPr>
          <p:nvPr>
            <p:ph type="title"/>
          </p:nvPr>
        </p:nvSpPr>
        <p:spPr>
          <a:xfrm>
            <a:off x="838200" y="-365759"/>
            <a:ext cx="10515600" cy="1325563"/>
          </a:xfrm>
        </p:spPr>
        <p:txBody>
          <a:bodyPr>
            <a:normAutofit/>
          </a:bodyPr>
          <a:lstStyle/>
          <a:p>
            <a:pPr algn="ctr" rtl="0"/>
            <a:r>
              <a:rPr lang="en-US" sz="3200" dirty="0">
                <a:solidFill>
                  <a:schemeClr val="accent1"/>
                </a:solidFill>
              </a:rPr>
              <a:t>Layered Architecture — </a:t>
            </a:r>
            <a:r>
              <a:rPr lang="ar-SA" sz="3200" dirty="0">
                <a:solidFill>
                  <a:schemeClr val="accent1"/>
                </a:solidFill>
              </a:rPr>
              <a:t>البنية الطبقية للنظام</a:t>
            </a:r>
          </a:p>
        </p:txBody>
      </p:sp>
      <p:sp>
        <p:nvSpPr>
          <p:cNvPr id="5" name="مربع نص 4">
            <a:extLst>
              <a:ext uri="{FF2B5EF4-FFF2-40B4-BE49-F238E27FC236}">
                <a16:creationId xmlns:a16="http://schemas.microsoft.com/office/drawing/2014/main" id="{992F3AA7-9F73-FFB0-5A65-F2EBD181E485}"/>
              </a:ext>
            </a:extLst>
          </p:cNvPr>
          <p:cNvSpPr txBox="1"/>
          <p:nvPr/>
        </p:nvSpPr>
        <p:spPr>
          <a:xfrm>
            <a:off x="0" y="6150114"/>
            <a:ext cx="12192000" cy="707886"/>
          </a:xfrm>
          <a:prstGeom prst="rect">
            <a:avLst/>
          </a:prstGeom>
          <a:noFill/>
        </p:spPr>
        <p:txBody>
          <a:bodyPr wrap="square">
            <a:spAutoFit/>
          </a:bodyPr>
          <a:lstStyle/>
          <a:p>
            <a:r>
              <a:rPr lang="ar-SA" sz="2000" dirty="0"/>
              <a:t>تعتمد المنصة على بنية طبقية تفصل بين طبقة العرض، طبقة منطق الأعمال، طبقة الوصول للبيانات، وقاعدة البيانات، مع تكامل خارجي لخدمة تحليل المشاعر. يساهم هذا الفصل في تحسين قابلية الصيانة، الاختبار، والتطوير التدريجي، ويمنع تداخل الواجهات مع منطق النظام أو التخزين.</a:t>
            </a:r>
          </a:p>
        </p:txBody>
      </p:sp>
      <p:pic>
        <p:nvPicPr>
          <p:cNvPr id="7" name="صورة 6">
            <a:extLst>
              <a:ext uri="{FF2B5EF4-FFF2-40B4-BE49-F238E27FC236}">
                <a16:creationId xmlns:a16="http://schemas.microsoft.com/office/drawing/2014/main" id="{AD306FAE-6E9A-A4DA-20FB-32D0288CF09B}"/>
              </a:ext>
            </a:extLst>
          </p:cNvPr>
          <p:cNvPicPr>
            <a:picLocks noChangeAspect="1"/>
          </p:cNvPicPr>
          <p:nvPr/>
        </p:nvPicPr>
        <p:blipFill>
          <a:blip r:embed="rId2"/>
          <a:stretch>
            <a:fillRect/>
          </a:stretch>
        </p:blipFill>
        <p:spPr>
          <a:xfrm>
            <a:off x="2331875" y="674270"/>
            <a:ext cx="8092285" cy="5509459"/>
          </a:xfrm>
          <a:prstGeom prst="rect">
            <a:avLst/>
          </a:prstGeom>
        </p:spPr>
      </p:pic>
    </p:spTree>
    <p:extLst>
      <p:ext uri="{BB962C8B-B14F-4D97-AF65-F5344CB8AC3E}">
        <p14:creationId xmlns:p14="http://schemas.microsoft.com/office/powerpoint/2010/main" val="4291019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894547EE-A0F1-9161-E4F3-874AA6127DE5}"/>
              </a:ext>
            </a:extLst>
          </p:cNvPr>
          <p:cNvPicPr>
            <a:picLocks noChangeAspect="1"/>
          </p:cNvPicPr>
          <p:nvPr/>
        </p:nvPicPr>
        <p:blipFill>
          <a:blip r:embed="rId2"/>
          <a:stretch>
            <a:fillRect/>
          </a:stretch>
        </p:blipFill>
        <p:spPr>
          <a:xfrm>
            <a:off x="633850" y="873760"/>
            <a:ext cx="10948551" cy="5984240"/>
          </a:xfrm>
          <a:prstGeom prst="rect">
            <a:avLst/>
          </a:prstGeom>
        </p:spPr>
      </p:pic>
      <p:sp>
        <p:nvSpPr>
          <p:cNvPr id="6" name="عنوان 1">
            <a:extLst>
              <a:ext uri="{FF2B5EF4-FFF2-40B4-BE49-F238E27FC236}">
                <a16:creationId xmlns:a16="http://schemas.microsoft.com/office/drawing/2014/main" id="{3D612A0F-B771-6869-C5AF-F302D44ECE62}"/>
              </a:ext>
            </a:extLst>
          </p:cNvPr>
          <p:cNvSpPr>
            <a:spLocks noGrp="1"/>
          </p:cNvSpPr>
          <p:nvPr>
            <p:ph type="title"/>
          </p:nvPr>
        </p:nvSpPr>
        <p:spPr>
          <a:xfrm>
            <a:off x="838200" y="-289243"/>
            <a:ext cx="10515600" cy="1325563"/>
          </a:xfrm>
        </p:spPr>
        <p:txBody>
          <a:bodyPr>
            <a:normAutofit/>
          </a:bodyPr>
          <a:lstStyle/>
          <a:p>
            <a:pPr algn="ctr"/>
            <a:r>
              <a:rPr lang="en-US" sz="4000" dirty="0">
                <a:solidFill>
                  <a:schemeClr val="accent1"/>
                </a:solidFill>
              </a:rPr>
              <a:t>Site Map</a:t>
            </a:r>
            <a:endParaRPr lang="ar-SA" sz="4000" dirty="0">
              <a:solidFill>
                <a:schemeClr val="accent1"/>
              </a:solidFill>
            </a:endParaRPr>
          </a:p>
        </p:txBody>
      </p:sp>
    </p:spTree>
    <p:extLst>
      <p:ext uri="{BB962C8B-B14F-4D97-AF65-F5344CB8AC3E}">
        <p14:creationId xmlns:p14="http://schemas.microsoft.com/office/powerpoint/2010/main" val="1024864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3EDA5AB-551D-E763-BB28-AA8BA93661BC}"/>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0A35F8BF-B35B-7547-41E8-E4352DEE0910}"/>
              </a:ext>
            </a:extLst>
          </p:cNvPr>
          <p:cNvPicPr>
            <a:picLocks noChangeAspect="1"/>
          </p:cNvPicPr>
          <p:nvPr/>
        </p:nvPicPr>
        <p:blipFill>
          <a:blip r:embed="rId2"/>
          <a:stretch>
            <a:fillRect/>
          </a:stretch>
        </p:blipFill>
        <p:spPr>
          <a:xfrm>
            <a:off x="0" y="498793"/>
            <a:ext cx="12192000" cy="5994083"/>
          </a:xfrm>
          <a:prstGeom prst="rect">
            <a:avLst/>
          </a:prstGeom>
        </p:spPr>
      </p:pic>
    </p:spTree>
    <p:extLst>
      <p:ext uri="{BB962C8B-B14F-4D97-AF65-F5344CB8AC3E}">
        <p14:creationId xmlns:p14="http://schemas.microsoft.com/office/powerpoint/2010/main" val="700585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صورة 7">
            <a:extLst>
              <a:ext uri="{FF2B5EF4-FFF2-40B4-BE49-F238E27FC236}">
                <a16:creationId xmlns:a16="http://schemas.microsoft.com/office/drawing/2014/main" id="{40E17E56-BEDC-2FCE-FE24-FE7BBC178962}"/>
              </a:ext>
            </a:extLst>
          </p:cNvPr>
          <p:cNvPicPr>
            <a:picLocks noChangeAspect="1"/>
          </p:cNvPicPr>
          <p:nvPr/>
        </p:nvPicPr>
        <p:blipFill>
          <a:blip r:embed="rId2"/>
          <a:stretch>
            <a:fillRect/>
          </a:stretch>
        </p:blipFill>
        <p:spPr>
          <a:xfrm>
            <a:off x="1395874" y="0"/>
            <a:ext cx="9400255" cy="6858000"/>
          </a:xfrm>
          <a:prstGeom prst="rect">
            <a:avLst/>
          </a:prstGeom>
        </p:spPr>
      </p:pic>
    </p:spTree>
    <p:extLst>
      <p:ext uri="{BB962C8B-B14F-4D97-AF65-F5344CB8AC3E}">
        <p14:creationId xmlns:p14="http://schemas.microsoft.com/office/powerpoint/2010/main" val="3209653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43D0FDB-B731-B95C-B9DD-47BDE3EDC7A1}"/>
              </a:ext>
            </a:extLst>
          </p:cNvPr>
          <p:cNvSpPr>
            <a:spLocks noGrp="1"/>
          </p:cNvSpPr>
          <p:nvPr>
            <p:ph type="title"/>
          </p:nvPr>
        </p:nvSpPr>
        <p:spPr/>
        <p:txBody>
          <a:bodyPr/>
          <a:lstStyle/>
          <a:p>
            <a:endParaRPr lang="ar-SA"/>
          </a:p>
        </p:txBody>
      </p:sp>
      <p:sp>
        <p:nvSpPr>
          <p:cNvPr id="3" name="عنصر نائب للمحتوى 2">
            <a:extLst>
              <a:ext uri="{FF2B5EF4-FFF2-40B4-BE49-F238E27FC236}">
                <a16:creationId xmlns:a16="http://schemas.microsoft.com/office/drawing/2014/main" id="{1C9D1006-6D83-1D9F-96CC-8918973A47CE}"/>
              </a:ext>
            </a:extLst>
          </p:cNvPr>
          <p:cNvSpPr>
            <a:spLocks noGrp="1"/>
          </p:cNvSpPr>
          <p:nvPr>
            <p:ph idx="1"/>
          </p:nvPr>
        </p:nvSpPr>
        <p:spPr/>
        <p:txBody>
          <a:bodyPr/>
          <a:lstStyle/>
          <a:p>
            <a:endParaRPr lang="ar-SA"/>
          </a:p>
        </p:txBody>
      </p:sp>
      <p:pic>
        <p:nvPicPr>
          <p:cNvPr id="7" name="صورة 6">
            <a:extLst>
              <a:ext uri="{FF2B5EF4-FFF2-40B4-BE49-F238E27FC236}">
                <a16:creationId xmlns:a16="http://schemas.microsoft.com/office/drawing/2014/main" id="{63472817-5EAD-F20A-FF58-2BDF0A5C1C72}"/>
              </a:ext>
            </a:extLst>
          </p:cNvPr>
          <p:cNvPicPr>
            <a:picLocks noChangeAspect="1"/>
          </p:cNvPicPr>
          <p:nvPr/>
        </p:nvPicPr>
        <p:blipFill>
          <a:blip r:embed="rId2"/>
          <a:stretch>
            <a:fillRect/>
          </a:stretch>
        </p:blipFill>
        <p:spPr>
          <a:xfrm>
            <a:off x="683445" y="0"/>
            <a:ext cx="10825113" cy="6858000"/>
          </a:xfrm>
          <a:prstGeom prst="rect">
            <a:avLst/>
          </a:prstGeom>
        </p:spPr>
      </p:pic>
    </p:spTree>
    <p:extLst>
      <p:ext uri="{BB962C8B-B14F-4D97-AF65-F5344CB8AC3E}">
        <p14:creationId xmlns:p14="http://schemas.microsoft.com/office/powerpoint/2010/main" val="170235991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3049</TotalTime>
  <Words>418</Words>
  <Application>Microsoft Office PowerPoint</Application>
  <PresentationFormat>شاشة عريضة</PresentationFormat>
  <Paragraphs>66</Paragraphs>
  <Slides>19</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19</vt:i4>
      </vt:variant>
    </vt:vector>
  </HeadingPairs>
  <TitlesOfParts>
    <vt:vector size="25" baseType="lpstr">
      <vt:lpstr>Aptos</vt:lpstr>
      <vt:lpstr>Aptos Display</vt:lpstr>
      <vt:lpstr>Arial</vt:lpstr>
      <vt:lpstr>Calibri</vt:lpstr>
      <vt:lpstr>Times New Roman</vt:lpstr>
      <vt:lpstr>نسق Office</vt:lpstr>
      <vt:lpstr>Smart Opinion Survey Platform منصة استبيانات الآراء الذكية  المشروع الفصلي - سيمنار 2  </vt:lpstr>
      <vt:lpstr>عرض تقديمي في PowerPoint</vt:lpstr>
      <vt:lpstr>عرض تقديمي في PowerPoint</vt:lpstr>
      <vt:lpstr>عرض تقديمي في PowerPoint</vt:lpstr>
      <vt:lpstr>use case description</vt:lpstr>
      <vt:lpstr>عرض تقديمي في PowerPoint</vt:lpstr>
      <vt:lpstr>Activity Diagram</vt:lpstr>
      <vt:lpstr>عرض تقديمي في PowerPoint</vt:lpstr>
      <vt:lpstr>Sequence Diagram</vt:lpstr>
      <vt:lpstr>عرض تقديمي في PowerPoint</vt:lpstr>
      <vt:lpstr>Chen ERD</vt:lpstr>
      <vt:lpstr>Relational schema</vt:lpstr>
      <vt:lpstr>Core Domain Class Diagram</vt:lpstr>
      <vt:lpstr> Supporting Services Class Diagram</vt:lpstr>
      <vt:lpstr>Layered Architecture — البنية الطبقية للنظام</vt:lpstr>
      <vt:lpstr>Site Map</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12</cp:revision>
  <dcterms:created xsi:type="dcterms:W3CDTF">2026-04-24T02:26:01Z</dcterms:created>
  <dcterms:modified xsi:type="dcterms:W3CDTF">2026-05-22T19:20:42Z</dcterms:modified>
</cp:coreProperties>
</file>