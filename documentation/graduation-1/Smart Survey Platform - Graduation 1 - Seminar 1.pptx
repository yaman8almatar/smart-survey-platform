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3" r:id="rId8"/>
    <p:sldId id="264" r:id="rId9"/>
    <p:sldId id="266" r:id="rId10"/>
    <p:sldId id="265" r:id="rId11"/>
    <p:sldId id="26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0" d="100"/>
          <a:sy n="80" d="100"/>
        </p:scale>
        <p:origin x="48" y="58"/>
      </p:cViewPr>
      <p:guideLst>
        <p:guide orient="horz" pos="2160"/>
        <p:guide pos="3840"/>
      </p:guideLst>
    </p:cSldViewPr>
  </p:slideViewPr>
  <p:notesTextViewPr>
    <p:cViewPr>
      <p:scale>
        <a:sx n="1" d="1"/>
        <a:sy n="1" d="1"/>
      </p:scale>
      <p:origin x="0" y="0"/>
    </p:cViewPr>
  </p:notesTextViewPr>
  <p:sorterViewPr>
    <p:cViewPr>
      <p:scale>
        <a:sx n="100" d="100"/>
        <a:sy n="100" d="100"/>
      </p:scale>
      <p:origin x="0" y="-6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تقديم الفريق والمشرفين وعنوان المشروع. (15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لماذا</a:t>
            </a:r>
            <a:r>
              <a:rPr dirty="0"/>
              <a:t> </a:t>
            </a:r>
            <a:r>
              <a:rPr dirty="0" err="1"/>
              <a:t>المشروع</a:t>
            </a:r>
            <a:r>
              <a:rPr dirty="0"/>
              <a:t>؟ </a:t>
            </a:r>
            <a:r>
              <a:rPr dirty="0" err="1"/>
              <a:t>ثلاث</a:t>
            </a:r>
            <a:r>
              <a:rPr dirty="0"/>
              <a:t> </a:t>
            </a:r>
            <a:r>
              <a:rPr dirty="0" err="1"/>
              <a:t>فجوات</a:t>
            </a:r>
            <a:r>
              <a:rPr dirty="0"/>
              <a:t> </a:t>
            </a:r>
            <a:r>
              <a:rPr dirty="0" err="1"/>
              <a:t>من</a:t>
            </a:r>
            <a:r>
              <a:rPr dirty="0"/>
              <a:t> </a:t>
            </a:r>
            <a:r>
              <a:rPr dirty="0" err="1"/>
              <a:t>الدراسة</a:t>
            </a:r>
            <a:r>
              <a:rPr dirty="0"/>
              <a:t> </a:t>
            </a:r>
            <a:r>
              <a:rPr dirty="0" err="1"/>
              <a:t>المرجعية</a:t>
            </a:r>
            <a:r>
              <a:rPr dirty="0"/>
              <a:t>. </a:t>
            </a:r>
            <a:r>
              <a:rPr dirty="0" err="1"/>
              <a:t>ثم</a:t>
            </a:r>
            <a:r>
              <a:rPr dirty="0"/>
              <a:t> </a:t>
            </a:r>
            <a:r>
              <a:rPr dirty="0" err="1"/>
              <a:t>الهدف</a:t>
            </a:r>
            <a:r>
              <a:rPr dirty="0"/>
              <a:t> </a:t>
            </a:r>
            <a:r>
              <a:rPr dirty="0" err="1"/>
              <a:t>الرئيسي</a:t>
            </a:r>
            <a:r>
              <a:rPr dirty="0"/>
              <a:t> </a:t>
            </a:r>
            <a:r>
              <a:rPr dirty="0" err="1"/>
              <a:t>وخمسة</a:t>
            </a:r>
            <a:r>
              <a:rPr dirty="0"/>
              <a:t> </a:t>
            </a:r>
            <a:r>
              <a:rPr dirty="0" err="1"/>
              <a:t>أهداف</a:t>
            </a:r>
            <a:r>
              <a:rPr dirty="0"/>
              <a:t> </a:t>
            </a:r>
            <a:r>
              <a:rPr dirty="0" err="1"/>
              <a:t>قابلة</a:t>
            </a:r>
            <a:r>
              <a:rPr dirty="0"/>
              <a:t> </a:t>
            </a:r>
            <a:r>
              <a:rPr dirty="0" err="1"/>
              <a:t>للقياس</a:t>
            </a:r>
            <a:r>
              <a:rPr dirty="0"/>
              <a:t>. </a:t>
            </a:r>
            <a:r>
              <a:rPr dirty="0" err="1"/>
              <a:t>لا</a:t>
            </a:r>
            <a:r>
              <a:rPr dirty="0"/>
              <a:t> </a:t>
            </a:r>
            <a:r>
              <a:rPr dirty="0" err="1"/>
              <a:t>نعد</a:t>
            </a:r>
            <a:r>
              <a:rPr dirty="0"/>
              <a:t> </a:t>
            </a:r>
            <a:r>
              <a:rPr dirty="0" err="1"/>
              <a:t>برقم</a:t>
            </a:r>
            <a:r>
              <a:rPr dirty="0"/>
              <a:t> </a:t>
            </a:r>
            <a:r>
              <a:rPr dirty="0" err="1"/>
              <a:t>دقة</a:t>
            </a:r>
            <a:r>
              <a:rPr dirty="0"/>
              <a:t> </a:t>
            </a:r>
            <a:r>
              <a:rPr dirty="0" err="1"/>
              <a:t>للنموذج</a:t>
            </a:r>
            <a:r>
              <a:rPr dirty="0"/>
              <a:t>: </a:t>
            </a:r>
            <a:r>
              <a:rPr dirty="0" err="1"/>
              <a:t>الرقم</a:t>
            </a:r>
            <a:r>
              <a:rPr dirty="0"/>
              <a:t> </a:t>
            </a:r>
            <a:r>
              <a:rPr dirty="0" err="1"/>
              <a:t>يُحدد</a:t>
            </a:r>
            <a:r>
              <a:rPr dirty="0"/>
              <a:t> </a:t>
            </a:r>
            <a:r>
              <a:rPr dirty="0" err="1"/>
              <a:t>بعد</a:t>
            </a:r>
            <a:r>
              <a:rPr dirty="0"/>
              <a:t> </a:t>
            </a:r>
            <a:r>
              <a:rPr dirty="0" err="1"/>
              <a:t>التقييم</a:t>
            </a:r>
            <a:r>
              <a:rPr dirty="0"/>
              <a:t> </a:t>
            </a:r>
            <a:r>
              <a:rPr dirty="0" err="1"/>
              <a:t>في</a:t>
            </a:r>
            <a:r>
              <a:rPr dirty="0"/>
              <a:t> </a:t>
            </a:r>
            <a:r>
              <a:rPr dirty="0" err="1"/>
              <a:t>السيمينار</a:t>
            </a:r>
            <a:r>
              <a:rPr dirty="0"/>
              <a:t> </a:t>
            </a:r>
            <a:r>
              <a:rPr dirty="0" err="1"/>
              <a:t>الثاني</a:t>
            </a:r>
            <a:r>
              <a:rPr dirty="0"/>
              <a:t>. (60 </a:t>
            </a:r>
            <a:r>
              <a:rPr dirty="0" err="1"/>
              <a:t>ثانية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V1.0 هو أساس العمل. في Iteration 0 بنينا Prototype معمارياً لتقليل خطر Flutter. الرقم 163 هو عدد الاختبارات في تقرير المشروع الفصلي المسلَّم.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ست دراسات من 2020 إلى 2024: ثلاث عن جودة الإجابات وثلاث عن تحليل المشاعر العربية. كل دراسة انتهت بقرار تصميمي في منصتنا.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ثلاث أدوات بناء (Builders) وثلاث لوحات مستجيبين (Panels). صف Smart Survey مخطط له وليس منجزاً. تحليل المشاعر موجود عند المنافسين لكنه مدفوع، و Typeform تحصره بالإنجليزية، والبقية لا تذكر العربية.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يميناً: ماذا يفعل النظام في V1.0 وتخرج 1 بست جمل. يساراً: سبع خصائص جودة من معيار ISO/IEC 25010:2023، كل منها قابل للقياس.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عشرون متطلباً وافق عليها المشرف، مرقمة حسب الأولوية. لا نقرأ الجدول: نذكر الخمسة الضرورية (Must)، والثلاثة التي تثبت الفكرة (★). متطلبات Could آخر ما يُنفذ، وأول ما يُعاد النقاش فيه مع المشرف إذا ضاق الوقت.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اخترنا Kanban لأننا نعمل بنظام مختلط: جلسات مشتركة وأيام يعمل فيها كل واحد من منزله. Scrum الكامل يفترض Daily Scrum في كل يوم عمل وأدوار Product Owner و Scrum Master، وتطبيق جزء منه لا يُعدّ Scrum بحسب دليله. Kanban لا يفرض أدواراً ولا اجتماعات، ويلزمنا بثلاثة أشياء: سير عمل معرّف بأعمدته وسياساته، وحدود WIP (ثلاثة بنود قيد التنفيذ، بند لكل طالب، واثنان في المراجعة)، وأربعة مقاييس تدفق نحسبها من تواريخ GitHub. كل بند يمر بـ Ready ثم In Progress ثم Review ثم Done، ونرسم مخططاته (Agile Modeling) عند سحبه. كل أسبوعين نعرض ما أُنجز على المشرفين ونضع Release Tag.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ثلاث Tiers فيزيائية (Client، Application، Data) وثلاث Layers منطقية داخل الخادم حسب Fowler: Presentation و Business و Data Source. Repository و Service Layer و Gateway أنماط تصميم داخل الطبقات، لا طبقات. نماذج Django تتبع Active Record فتستخدمها طبقتا Business و Data Source. تحقّقنا من الكود: الـ Views لا تستدعي Repositories ولا ORM مباشرة. Sentiment Analysis يجري بعد حفظ الإجابة (NFR-01).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هذه خطة متوقعة وليست التزاماً ثابتاً: بعد Iteration 0 أربعة Increments مدة كل منها أسبوعان، نسحب فيها البنود بترتيب الأولوية، ونعرض ما أُنجز على المشرفين في نهاية كل Increment. متطلبات Must في Increment 1 و Increment 2 لأنها الأعلى خطراً. التقرير يُكتب مع كل Increment لا في النهاية.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المراجع مرقمة بأسلوب IEEE حسب أول ظهور في الشرائح.</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10/30/2026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10/30/2026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10/30/2026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10/30/2026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10/30/2026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10/30/2026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10/30/2026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10/30/2026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10/30/2026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10/30/2026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10/30/2026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F847FEE-FA9B-4752-4823-C4FB293F84B8}"/>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7B86990-713E-6624-3539-F3498672DF4C}"/>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D2B66B69-87F5-E43F-D7AA-28CC8FE5F686}"/>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a:t>
            </a:fld>
            <a:endParaRPr lang="en-US"/>
          </a:p>
        </p:txBody>
      </p:sp>
      <p:sp>
        <p:nvSpPr>
          <p:cNvPr id="11" name="Rectangle 10">
            <a:extLst>
              <a:ext uri="{FF2B5EF4-FFF2-40B4-BE49-F238E27FC236}">
                <a16:creationId xmlns:a16="http://schemas.microsoft.com/office/drawing/2014/main" id="{A8D43F25-156B-0F51-78BE-D80EA42C9131}"/>
              </a:ext>
            </a:extLst>
          </p:cNvPr>
          <p:cNvSpPr>
            <a:spLocks noChangeArrowheads="1"/>
          </p:cNvSpPr>
          <p:nvPr/>
        </p:nvSpPr>
        <p:spPr bwMode="auto">
          <a:xfrm>
            <a:off x="-1" y="0"/>
            <a:ext cx="23306673" cy="783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2" name="Picture 1" descr="SPU.png">
            <a:extLst>
              <a:ext uri="{FF2B5EF4-FFF2-40B4-BE49-F238E27FC236}">
                <a16:creationId xmlns:a16="http://schemas.microsoft.com/office/drawing/2014/main" id="{6838853A-A59D-CC41-A6E7-6C8A67561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692356"/>
            <a:ext cx="1878398" cy="998014"/>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140AFF7F-9518-8FB1-FD33-81E9381B82A4}"/>
              </a:ext>
            </a:extLst>
          </p:cNvPr>
          <p:cNvSpPr txBox="1"/>
          <p:nvPr/>
        </p:nvSpPr>
        <p:spPr>
          <a:xfrm>
            <a:off x="6807015" y="729510"/>
            <a:ext cx="4846320" cy="822960"/>
          </a:xfrm>
          <a:prstGeom prst="rect">
            <a:avLst/>
          </a:prstGeom>
          <a:noFill/>
        </p:spPr>
        <p:txBody>
          <a:bodyPr wrap="square" lIns="45720" tIns="27432" rIns="45720" bIns="27432" rtlCol="0" anchor="ctr">
            <a:noAutofit/>
          </a:bodyPr>
          <a:lstStyle/>
          <a:p>
            <a:pPr algn="r" rtl="1">
              <a:spcBef>
                <a:spcPts val="0"/>
              </a:spcBef>
              <a:spcAft>
                <a:spcPts val="0"/>
              </a:spcAft>
              <a:buNone/>
            </a:pPr>
            <a:r>
              <a:rPr lang="ar-SY" altLang="en-US" sz="2000" b="1" i="0" dirty="0">
                <a:solidFill>
                  <a:srgbClr val="1A1A1A"/>
                </a:solidFill>
                <a:latin typeface="Times New Roman"/>
                <a:ea typeface="Times New Roman"/>
                <a:cs typeface="Times New Roman"/>
              </a:rPr>
              <a:t>كلية هندسة الذكاء الاصطناعي</a:t>
            </a:r>
          </a:p>
          <a:p>
            <a:pPr algn="r" rtl="1">
              <a:spcBef>
                <a:spcPts val="0"/>
              </a:spcBef>
              <a:spcAft>
                <a:spcPts val="0"/>
              </a:spcAft>
              <a:buNone/>
            </a:pPr>
            <a:r>
              <a:rPr lang="ar-SY" altLang="en-US" sz="2000" b="1" i="0" dirty="0">
                <a:solidFill>
                  <a:srgbClr val="1A1A1A"/>
                </a:solidFill>
                <a:latin typeface="Times New Roman"/>
                <a:ea typeface="Times New Roman"/>
                <a:cs typeface="Times New Roman"/>
              </a:rPr>
              <a:t>قسم هندسة البرمجيات ونظم المعلومات</a:t>
            </a:r>
          </a:p>
        </p:txBody>
      </p:sp>
      <p:sp>
        <p:nvSpPr>
          <p:cNvPr id="15" name="TextBox 14">
            <a:extLst>
              <a:ext uri="{FF2B5EF4-FFF2-40B4-BE49-F238E27FC236}">
                <a16:creationId xmlns:a16="http://schemas.microsoft.com/office/drawing/2014/main" id="{0A84D123-0AC8-2EF9-C2A1-57BE096CA81B}"/>
              </a:ext>
            </a:extLst>
          </p:cNvPr>
          <p:cNvSpPr txBox="1"/>
          <p:nvPr/>
        </p:nvSpPr>
        <p:spPr>
          <a:xfrm>
            <a:off x="1737360" y="1920240"/>
            <a:ext cx="8686800" cy="1234440"/>
          </a:xfrm>
          <a:prstGeom prst="rect">
            <a:avLst/>
          </a:prstGeom>
          <a:noFill/>
        </p:spPr>
        <p:txBody>
          <a:bodyPr wrap="square" lIns="45720" tIns="27432" rIns="45720" bIns="27432" rtlCol="0" anchor="ctr">
            <a:noAutofit/>
          </a:bodyPr>
          <a:lstStyle/>
          <a:p>
            <a:pPr algn="ctr" rtl="1">
              <a:spcBef>
                <a:spcPts val="0"/>
              </a:spcBef>
              <a:spcAft>
                <a:spcPts val="0"/>
              </a:spcAft>
              <a:buNone/>
            </a:pPr>
            <a:r>
              <a:rPr lang="ar-SY" altLang="en-US" sz="4000" b="1" i="0" dirty="0">
                <a:solidFill>
                  <a:srgbClr val="2F5496"/>
                </a:solidFill>
                <a:latin typeface="Times New Roman"/>
                <a:ea typeface="Times New Roman"/>
                <a:cs typeface="Times New Roman"/>
              </a:rPr>
              <a:t>منصة </a:t>
            </a:r>
            <a:r>
              <a:rPr lang="ar-SA" altLang="en-US" sz="4000" b="1" i="0" dirty="0">
                <a:solidFill>
                  <a:srgbClr val="2F5496"/>
                </a:solidFill>
                <a:latin typeface="Times New Roman"/>
                <a:ea typeface="Times New Roman"/>
                <a:cs typeface="Times New Roman"/>
              </a:rPr>
              <a:t>استبيانات الآراء</a:t>
            </a:r>
            <a:r>
              <a:rPr lang="ar-SY" altLang="en-US" sz="4000" b="1" i="0" dirty="0">
                <a:solidFill>
                  <a:srgbClr val="2F5496"/>
                </a:solidFill>
                <a:latin typeface="Times New Roman"/>
                <a:ea typeface="Times New Roman"/>
                <a:cs typeface="Times New Roman"/>
              </a:rPr>
              <a:t> الذكية</a:t>
            </a:r>
          </a:p>
          <a:p>
            <a:pPr algn="ctr" rtl="0">
              <a:spcBef>
                <a:spcPts val="0"/>
              </a:spcBef>
              <a:spcAft>
                <a:spcPts val="0"/>
              </a:spcAft>
              <a:buNone/>
            </a:pPr>
            <a:r>
              <a:rPr lang="en-US" altLang="en-US" sz="2600" b="0" i="0" dirty="0">
                <a:solidFill>
                  <a:srgbClr val="2F5496"/>
                </a:solidFill>
                <a:latin typeface="Times New Roman"/>
                <a:ea typeface="Times New Roman"/>
                <a:cs typeface="Times New Roman"/>
              </a:rPr>
              <a:t>Smart Survey Platform</a:t>
            </a:r>
          </a:p>
        </p:txBody>
      </p:sp>
      <p:sp>
        <p:nvSpPr>
          <p:cNvPr id="16" name="TextBox 15">
            <a:extLst>
              <a:ext uri="{FF2B5EF4-FFF2-40B4-BE49-F238E27FC236}">
                <a16:creationId xmlns:a16="http://schemas.microsoft.com/office/drawing/2014/main" id="{2688F4C9-AB38-D55C-DB49-C51BEA5307B8}"/>
              </a:ext>
            </a:extLst>
          </p:cNvPr>
          <p:cNvSpPr txBox="1"/>
          <p:nvPr/>
        </p:nvSpPr>
        <p:spPr>
          <a:xfrm>
            <a:off x="1737360" y="3291840"/>
            <a:ext cx="8686800" cy="2834640"/>
          </a:xfrm>
          <a:prstGeom prst="rect">
            <a:avLst/>
          </a:prstGeom>
          <a:noFill/>
        </p:spPr>
        <p:txBody>
          <a:bodyPr wrap="square" lIns="45720" tIns="27432" rIns="45720" bIns="27432" rtlCol="0" anchor="t">
            <a:noAutofit/>
          </a:bodyPr>
          <a:lstStyle/>
          <a:p>
            <a:pPr algn="ctr" rtl="1">
              <a:spcBef>
                <a:spcPts val="0"/>
              </a:spcBef>
              <a:spcAft>
                <a:spcPts val="400"/>
              </a:spcAft>
              <a:buNone/>
            </a:pPr>
            <a:r>
              <a:rPr lang="ar-SY" altLang="en-US" sz="2000" b="1" i="0" dirty="0">
                <a:solidFill>
                  <a:srgbClr val="1A1A1A"/>
                </a:solidFill>
                <a:latin typeface="Times New Roman"/>
                <a:ea typeface="Times New Roman"/>
                <a:cs typeface="Times New Roman"/>
              </a:rPr>
              <a:t>إعداد الطلاب</a:t>
            </a:r>
          </a:p>
          <a:p>
            <a:pPr algn="ctr" rtl="1">
              <a:spcBef>
                <a:spcPts val="0"/>
              </a:spcBef>
              <a:spcAft>
                <a:spcPts val="1600"/>
              </a:spcAft>
              <a:buNone/>
            </a:pPr>
            <a:r>
              <a:rPr lang="ar-SY" altLang="en-US" sz="2000" b="0" i="0" dirty="0">
                <a:solidFill>
                  <a:srgbClr val="1A1A1A"/>
                </a:solidFill>
                <a:latin typeface="Times New Roman"/>
                <a:ea typeface="Times New Roman"/>
                <a:cs typeface="Times New Roman"/>
              </a:rPr>
              <a:t>يمان المطر          يوسف الزعبي          حسن يحيى</a:t>
            </a:r>
          </a:p>
          <a:p>
            <a:pPr algn="ctr" rtl="1">
              <a:spcBef>
                <a:spcPts val="0"/>
              </a:spcBef>
              <a:spcAft>
                <a:spcPts val="400"/>
              </a:spcAft>
              <a:buNone/>
            </a:pPr>
            <a:r>
              <a:rPr lang="ar-SY" altLang="en-US" sz="2000" b="1" i="0" dirty="0">
                <a:solidFill>
                  <a:srgbClr val="1A1A1A"/>
                </a:solidFill>
                <a:latin typeface="Times New Roman"/>
                <a:ea typeface="Times New Roman"/>
                <a:cs typeface="Times New Roman"/>
              </a:rPr>
              <a:t>إشـراف</a:t>
            </a:r>
          </a:p>
          <a:p>
            <a:pPr algn="ctr" rtl="1">
              <a:spcBef>
                <a:spcPts val="0"/>
              </a:spcBef>
              <a:spcAft>
                <a:spcPts val="1600"/>
              </a:spcAft>
              <a:buNone/>
            </a:pPr>
            <a:r>
              <a:rPr lang="ar-SY" altLang="en-US" sz="2000" b="0" i="0" dirty="0">
                <a:solidFill>
                  <a:srgbClr val="1A1A1A"/>
                </a:solidFill>
                <a:latin typeface="Times New Roman"/>
                <a:ea typeface="Times New Roman"/>
                <a:cs typeface="Times New Roman"/>
              </a:rPr>
              <a:t>م. شادي بليدي          </a:t>
            </a:r>
          </a:p>
          <a:p>
            <a:pPr algn="ctr" rtl="1">
              <a:spcBef>
                <a:spcPts val="0"/>
              </a:spcBef>
              <a:spcAft>
                <a:spcPts val="0"/>
              </a:spcAft>
              <a:buNone/>
            </a:pPr>
            <a:r>
              <a:rPr lang="ar-SY" altLang="en-US" sz="1800" b="1" i="0" dirty="0">
                <a:solidFill>
                  <a:srgbClr val="2F5496"/>
                </a:solidFill>
                <a:latin typeface="Times New Roman"/>
                <a:ea typeface="Times New Roman"/>
                <a:cs typeface="Times New Roman"/>
              </a:rPr>
              <a:t>مشروع تخرج</a:t>
            </a:r>
            <a:r>
              <a:rPr lang="en-US" altLang="en-US" sz="1800" b="1" i="0" dirty="0">
                <a:solidFill>
                  <a:srgbClr val="2F5496"/>
                </a:solidFill>
                <a:latin typeface="Times New Roman"/>
                <a:ea typeface="Times New Roman"/>
                <a:cs typeface="Times New Roman"/>
              </a:rPr>
              <a:t> — </a:t>
            </a:r>
            <a:r>
              <a:rPr lang="ar-SY" altLang="en-US" sz="1800" b="1" i="0" dirty="0">
                <a:solidFill>
                  <a:srgbClr val="2F5496"/>
                </a:solidFill>
                <a:latin typeface="Times New Roman"/>
                <a:ea typeface="Times New Roman"/>
                <a:cs typeface="Times New Roman"/>
              </a:rPr>
              <a:t>السيمينار الأول — نوفمبر</a:t>
            </a:r>
            <a:r>
              <a:rPr lang="en-US" altLang="en-US" sz="1800" b="1" i="0" dirty="0">
                <a:solidFill>
                  <a:srgbClr val="2F5496"/>
                </a:solidFill>
                <a:latin typeface="Times New Roman"/>
                <a:ea typeface="Times New Roman"/>
                <a:cs typeface="Times New Roman"/>
              </a:rPr>
              <a:t> 2026 </a:t>
            </a:r>
            <a:endParaRPr lang="ar-SY" altLang="en-US" sz="1800" b="1" i="0" dirty="0">
              <a:solidFill>
                <a:srgbClr val="2F5496"/>
              </a:solidFill>
              <a:latin typeface="Times New Roman"/>
              <a:ea typeface="Times New Roman"/>
              <a:cs typeface="Times New Roman"/>
            </a:endParaRPr>
          </a:p>
        </p:txBody>
      </p:sp>
    </p:spTree>
    <p:extLst>
      <p:ext uri="{BB962C8B-B14F-4D97-AF65-F5344CB8AC3E}">
        <p14:creationId xmlns:p14="http://schemas.microsoft.com/office/powerpoint/2010/main" val="4244860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15E7FC2-E2D6-AA88-BA76-782699058DB7}"/>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A10C0DA9-B68A-02B5-F06B-4E1F163F604B}"/>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F93E9A2F-3005-24AC-8E5D-EB3521397272}"/>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2</a:t>
            </a:fld>
            <a:endParaRPr lang="en-US"/>
          </a:p>
        </p:txBody>
      </p:sp>
      <p:sp>
        <p:nvSpPr>
          <p:cNvPr id="8" name="Title">
            <a:extLst>
              <a:ext uri="{FF2B5EF4-FFF2-40B4-BE49-F238E27FC236}">
                <a16:creationId xmlns:a16="http://schemas.microsoft.com/office/drawing/2014/main" id="{4C4FC31A-9169-D8D3-0832-75487FE0E92E}"/>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أهمية المشروع وأهدافه</a:t>
            </a:r>
          </a:p>
        </p:txBody>
      </p:sp>
      <p:sp>
        <p:nvSpPr>
          <p:cNvPr id="9" name="Importance heading"/>
          <p:cNvSpPr txBox="1"/>
          <p:nvPr/>
        </p:nvSpPr>
        <p:spPr>
          <a:xfrm>
            <a:off x="6355080" y="960120"/>
            <a:ext cx="5285232" cy="41148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2000" b="1" i="0" dirty="0">
                <a:solidFill>
                  <a:srgbClr val="2F5496"/>
                </a:solidFill>
                <a:latin typeface="Times New Roman"/>
                <a:ea typeface="Times New Roman"/>
                <a:cs typeface="Times New Roman"/>
              </a:rPr>
              <a:t>أهمية المشروع</a:t>
            </a:r>
          </a:p>
        </p:txBody>
      </p:sp>
      <p:sp>
        <p:nvSpPr>
          <p:cNvPr id="10" name="Importance card 1"/>
          <p:cNvSpPr/>
          <p:nvPr/>
        </p:nvSpPr>
        <p:spPr>
          <a:xfrm>
            <a:off x="6355080" y="146304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لا توجد لوحة مستجيبين تخدم سوريا: </a:t>
            </a:r>
            <a:r>
              <a:rPr lang="en-US" altLang="en-US" sz="1600" b="0" i="0" dirty="0">
                <a:solidFill>
                  <a:srgbClr val="1A1A1A"/>
                </a:solidFill>
                <a:latin typeface="Times New Roman"/>
                <a:ea typeface="Times New Roman"/>
                <a:cs typeface="Times New Roman"/>
              </a:rPr>
              <a:t>SurveyMonkey Audience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Prolific </a:t>
            </a:r>
            <a:r>
              <a:rPr lang="ar-SY" altLang="en-US" sz="1600" b="0" i="0" dirty="0">
                <a:solidFill>
                  <a:srgbClr val="1A1A1A"/>
                </a:solidFill>
                <a:latin typeface="Times New Roman"/>
                <a:ea typeface="Times New Roman"/>
                <a:cs typeface="Times New Roman"/>
              </a:rPr>
              <a:t>لا تُدرجانها، و</a:t>
            </a:r>
            <a:r>
              <a:rPr lang="en-US" altLang="en-US" sz="1600" b="0" i="0" dirty="0">
                <a:solidFill>
                  <a:srgbClr val="1A1A1A"/>
                </a:solidFill>
                <a:latin typeface="Times New Roman"/>
                <a:ea typeface="Times New Roman"/>
                <a:cs typeface="Times New Roman"/>
              </a:rPr>
              <a:t> Pollfish </a:t>
            </a:r>
            <a:r>
              <a:rPr lang="ar-SY" altLang="en-US" sz="1600" b="0" i="0" dirty="0">
                <a:solidFill>
                  <a:srgbClr val="1A1A1A"/>
                </a:solidFill>
                <a:latin typeface="Times New Roman"/>
                <a:ea typeface="Times New Roman"/>
                <a:cs typeface="Times New Roman"/>
              </a:rPr>
              <a:t>لا تدعم العربية</a:t>
            </a:r>
            <a:r>
              <a:rPr lang="en-US"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[1][2][3]</a:t>
            </a:r>
            <a:endParaRPr lang="ar-SY" altLang="en-US" sz="1600" b="0" i="0" dirty="0">
              <a:solidFill>
                <a:srgbClr val="1A1A1A"/>
              </a:solidFill>
              <a:latin typeface="Times New Roman"/>
              <a:ea typeface="Times New Roman"/>
              <a:cs typeface="Times New Roman"/>
            </a:endParaRPr>
          </a:p>
        </p:txBody>
      </p:sp>
      <p:sp>
        <p:nvSpPr>
          <p:cNvPr id="11" name="Importance number 1"/>
          <p:cNvSpPr/>
          <p:nvPr/>
        </p:nvSpPr>
        <p:spPr>
          <a:xfrm>
            <a:off x="11000232" y="192024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1</a:t>
            </a:r>
            <a:endParaRPr lang="ar-SY" altLang="en-US" sz="2000" b="1" i="0" dirty="0">
              <a:solidFill>
                <a:srgbClr val="FFFFFF"/>
              </a:solidFill>
              <a:latin typeface="Times New Roman"/>
              <a:ea typeface="Times New Roman"/>
              <a:cs typeface="Times New Roman"/>
            </a:endParaRPr>
          </a:p>
        </p:txBody>
      </p:sp>
      <p:sp>
        <p:nvSpPr>
          <p:cNvPr id="12" name="Importance card 2"/>
          <p:cNvSpPr/>
          <p:nvPr/>
        </p:nvSpPr>
        <p:spPr>
          <a:xfrm>
            <a:off x="6355080" y="301752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أدوات البناء لا تستهدف المستجيبين، وفحص الجودة فيها طبقة واحدة: </a:t>
            </a:r>
            <a:r>
              <a:rPr lang="en-US" altLang="en-US" sz="1600" b="0" i="0" dirty="0">
                <a:solidFill>
                  <a:srgbClr val="1A1A1A"/>
                </a:solidFill>
                <a:latin typeface="Times New Roman"/>
                <a:ea typeface="Times New Roman"/>
                <a:cs typeface="Times New Roman"/>
              </a:rPr>
              <a:t>‎94.5%‎ </a:t>
            </a:r>
            <a:r>
              <a:rPr lang="ar-SY" altLang="en-US" sz="1600" b="0" i="0" dirty="0">
                <a:solidFill>
                  <a:srgbClr val="1A1A1A"/>
                </a:solidFill>
                <a:latin typeface="Times New Roman"/>
                <a:ea typeface="Times New Roman"/>
                <a:cs typeface="Times New Roman"/>
              </a:rPr>
              <a:t> من إجابات رابط مفتوح كانت احتيالية رغم</a:t>
            </a:r>
            <a:r>
              <a:rPr lang="en-US" altLang="en-US" sz="1600" b="0" i="0" dirty="0">
                <a:solidFill>
                  <a:srgbClr val="1A1A1A"/>
                </a:solidFill>
                <a:latin typeface="Times New Roman"/>
                <a:ea typeface="Times New Roman"/>
                <a:cs typeface="Times New Roman"/>
              </a:rPr>
              <a:t> CAPTCHA</a:t>
            </a:r>
            <a:r>
              <a:rPr lang="ar-SA"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[6][5][4]</a:t>
            </a:r>
            <a:endParaRPr lang="ar-SY" altLang="en-US" sz="1200" b="0" i="0" dirty="0">
              <a:solidFill>
                <a:srgbClr val="1A1A1A"/>
              </a:solidFill>
              <a:latin typeface="Times New Roman"/>
              <a:ea typeface="Times New Roman"/>
              <a:cs typeface="Times New Roman"/>
            </a:endParaRPr>
          </a:p>
        </p:txBody>
      </p:sp>
      <p:sp>
        <p:nvSpPr>
          <p:cNvPr id="13" name="Importance number 2"/>
          <p:cNvSpPr/>
          <p:nvPr/>
        </p:nvSpPr>
        <p:spPr>
          <a:xfrm>
            <a:off x="11000232" y="347472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2</a:t>
            </a:r>
            <a:endParaRPr lang="ar-SY" altLang="en-US" sz="2000" b="1" i="0" dirty="0">
              <a:solidFill>
                <a:srgbClr val="FFFFFF"/>
              </a:solidFill>
              <a:latin typeface="Times New Roman"/>
              <a:ea typeface="Times New Roman"/>
              <a:cs typeface="Times New Roman"/>
            </a:endParaRPr>
          </a:p>
        </p:txBody>
      </p:sp>
      <p:sp>
        <p:nvSpPr>
          <p:cNvPr id="14" name="Importance card 3"/>
          <p:cNvSpPr/>
          <p:nvPr/>
        </p:nvSpPr>
        <p:spPr>
          <a:xfrm>
            <a:off x="6355080" y="457200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تحليل المشاعر مدفوع وبالإنجليزية غالباً: </a:t>
            </a:r>
            <a:r>
              <a:rPr lang="en-US" altLang="en-US" sz="1600" b="1" i="0" dirty="0">
                <a:solidFill>
                  <a:srgbClr val="1A1A1A"/>
                </a:solidFill>
                <a:latin typeface="Times New Roman"/>
                <a:ea typeface="Times New Roman"/>
                <a:cs typeface="Times New Roman"/>
              </a:rPr>
              <a:t> </a:t>
            </a:r>
            <a:r>
              <a:rPr lang="en-US" altLang="en-US" sz="1600" b="0" i="0" dirty="0" err="1">
                <a:solidFill>
                  <a:srgbClr val="1A1A1A"/>
                </a:solidFill>
                <a:latin typeface="Times New Roman"/>
                <a:ea typeface="Times New Roman"/>
                <a:cs typeface="Times New Roman"/>
              </a:rPr>
              <a:t>Typeform</a:t>
            </a:r>
            <a:r>
              <a:rPr lang="en-US" altLang="en-US" sz="1600" b="0"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للإنجليزية فقط، و</a:t>
            </a:r>
            <a:r>
              <a:rPr lang="en-US" altLang="en-US" sz="1600" b="0" i="0" dirty="0">
                <a:solidFill>
                  <a:srgbClr val="1A1A1A"/>
                </a:solidFill>
                <a:latin typeface="Times New Roman"/>
                <a:ea typeface="Times New Roman"/>
                <a:cs typeface="Times New Roman"/>
              </a:rPr>
              <a:t> SurveyMonkey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Google Forms </a:t>
            </a:r>
            <a:r>
              <a:rPr lang="ar-SY" altLang="en-US" sz="1600" b="0" i="0" dirty="0">
                <a:solidFill>
                  <a:srgbClr val="1A1A1A"/>
                </a:solidFill>
                <a:latin typeface="Times New Roman"/>
                <a:ea typeface="Times New Roman"/>
                <a:cs typeface="Times New Roman"/>
              </a:rPr>
              <a:t>في خطط مدفوعة دون ذكر العربية</a:t>
            </a:r>
            <a:r>
              <a:rPr lang="en-US"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a:t>
            </a:r>
            <a:r>
              <a:rPr lang="en-US" altLang="en-US" sz="1200" dirty="0">
                <a:solidFill>
                  <a:srgbClr val="1A1A1A"/>
                </a:solidFill>
                <a:latin typeface="Times New Roman"/>
                <a:ea typeface="Times New Roman"/>
                <a:cs typeface="Times New Roman"/>
              </a:rPr>
              <a:t>9</a:t>
            </a:r>
            <a:r>
              <a:rPr lang="en-US" altLang="en-US" sz="1200" b="0" i="0" dirty="0">
                <a:solidFill>
                  <a:srgbClr val="1A1A1A"/>
                </a:solidFill>
                <a:latin typeface="Times New Roman"/>
                <a:ea typeface="Times New Roman"/>
                <a:cs typeface="Times New Roman"/>
              </a:rPr>
              <a:t>][8][7] </a:t>
            </a:r>
            <a:endParaRPr lang="ar-SY" altLang="en-US" sz="1600" b="0" i="0" dirty="0">
              <a:solidFill>
                <a:srgbClr val="1A1A1A"/>
              </a:solidFill>
              <a:latin typeface="Times New Roman"/>
              <a:ea typeface="Times New Roman"/>
              <a:cs typeface="Times New Roman"/>
            </a:endParaRPr>
          </a:p>
        </p:txBody>
      </p:sp>
      <p:sp>
        <p:nvSpPr>
          <p:cNvPr id="15" name="Importance number 3"/>
          <p:cNvSpPr/>
          <p:nvPr/>
        </p:nvSpPr>
        <p:spPr>
          <a:xfrm>
            <a:off x="11000232" y="502920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3</a:t>
            </a:r>
            <a:endParaRPr lang="ar-SY" altLang="en-US" sz="2000" b="1" i="0" dirty="0">
              <a:solidFill>
                <a:srgbClr val="FFFFFF"/>
              </a:solidFill>
              <a:latin typeface="Times New Roman"/>
              <a:ea typeface="Times New Roman"/>
              <a:cs typeface="Times New Roman"/>
            </a:endParaRPr>
          </a:p>
        </p:txBody>
      </p:sp>
      <p:sp>
        <p:nvSpPr>
          <p:cNvPr id="16" name="Goals heading"/>
          <p:cNvSpPr txBox="1"/>
          <p:nvPr/>
        </p:nvSpPr>
        <p:spPr>
          <a:xfrm>
            <a:off x="548640" y="960120"/>
            <a:ext cx="5532120" cy="41148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2000" b="1" i="0" dirty="0">
                <a:solidFill>
                  <a:srgbClr val="2F5496"/>
                </a:solidFill>
                <a:latin typeface="Times New Roman"/>
                <a:ea typeface="Times New Roman"/>
                <a:cs typeface="Times New Roman"/>
              </a:rPr>
              <a:t>الأهداف</a:t>
            </a:r>
          </a:p>
        </p:txBody>
      </p:sp>
      <p:sp>
        <p:nvSpPr>
          <p:cNvPr id="17" name="Main goal"/>
          <p:cNvSpPr/>
          <p:nvPr/>
        </p:nvSpPr>
        <p:spPr>
          <a:xfrm>
            <a:off x="548640" y="1463040"/>
            <a:ext cx="5532120" cy="1417320"/>
          </a:xfrm>
          <a:prstGeom prst="roundRect">
            <a:avLst>
              <a:gd name="adj" fmla="val 8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noAutofit/>
          </a:bodyPr>
          <a:lstStyle/>
          <a:p>
            <a:pPr algn="r" rtl="1">
              <a:spcBef>
                <a:spcPts val="0"/>
              </a:spcBef>
              <a:spcAft>
                <a:spcPts val="300"/>
              </a:spcAft>
              <a:buNone/>
            </a:pPr>
            <a:r>
              <a:rPr lang="ar-SY" altLang="en-US" sz="1600" b="1" i="0" dirty="0">
                <a:solidFill>
                  <a:srgbClr val="FFFFFF"/>
                </a:solidFill>
                <a:latin typeface="Times New Roman"/>
                <a:ea typeface="Times New Roman"/>
                <a:cs typeface="Times New Roman"/>
              </a:rPr>
              <a:t>الهدف الرئيسي</a:t>
            </a:r>
          </a:p>
          <a:p>
            <a:pPr algn="r" rtl="1">
              <a:lnSpc>
                <a:spcPct val="100000"/>
              </a:lnSpc>
              <a:spcBef>
                <a:spcPts val="0"/>
              </a:spcBef>
              <a:spcAft>
                <a:spcPts val="0"/>
              </a:spcAft>
              <a:buNone/>
            </a:pPr>
            <a:r>
              <a:rPr lang="ar-SY" altLang="en-US" sz="1600" b="0" i="0" dirty="0">
                <a:solidFill>
                  <a:srgbClr val="FFFFFF"/>
                </a:solidFill>
                <a:latin typeface="Times New Roman"/>
                <a:ea typeface="Times New Roman"/>
                <a:cs typeface="Times New Roman"/>
              </a:rPr>
              <a:t>بناء منصة استبيانات توصل كل استبيان إلى المستجيبين المناسبين، وتكشف الإجابات منخفضة الجودة، وتحلل مشاعر الإجابات المفتوحة — بنهاية تخرج </a:t>
            </a:r>
            <a:r>
              <a:rPr lang="en-US" altLang="en-US" sz="1600" b="0" i="0" dirty="0">
                <a:solidFill>
                  <a:srgbClr val="FFFFFF"/>
                </a:solidFill>
                <a:latin typeface="Times New Roman"/>
                <a:ea typeface="Times New Roman"/>
                <a:cs typeface="Times New Roman"/>
              </a:rPr>
              <a:t>1 )</a:t>
            </a:r>
            <a:r>
              <a:rPr lang="ar-SY" altLang="en-US" sz="1600" b="0" i="0" dirty="0">
                <a:solidFill>
                  <a:srgbClr val="FFFFFF"/>
                </a:solidFill>
                <a:latin typeface="Times New Roman"/>
                <a:ea typeface="Times New Roman"/>
                <a:cs typeface="Times New Roman"/>
              </a:rPr>
              <a:t>يناير</a:t>
            </a:r>
            <a:r>
              <a:rPr lang="en-US" altLang="en-US" sz="1600" b="0" i="0" dirty="0">
                <a:solidFill>
                  <a:srgbClr val="FFFFFF"/>
                </a:solidFill>
                <a:latin typeface="Times New Roman"/>
                <a:ea typeface="Times New Roman"/>
                <a:cs typeface="Times New Roman"/>
              </a:rPr>
              <a:t>2027 (</a:t>
            </a:r>
            <a:endParaRPr lang="ar-SY" altLang="en-US" sz="1600" b="0" i="0" dirty="0">
              <a:solidFill>
                <a:srgbClr val="FFFFFF"/>
              </a:solidFill>
              <a:latin typeface="Times New Roman"/>
              <a:ea typeface="Times New Roman"/>
              <a:cs typeface="Times New Roman"/>
            </a:endParaRPr>
          </a:p>
        </p:txBody>
      </p:sp>
      <p:sp>
        <p:nvSpPr>
          <p:cNvPr id="18" name="Sub goals"/>
          <p:cNvSpPr/>
          <p:nvPr/>
        </p:nvSpPr>
        <p:spPr>
          <a:xfrm>
            <a:off x="548640" y="3017520"/>
            <a:ext cx="5532120" cy="3108960"/>
          </a:xfrm>
          <a:prstGeom prst="roundRect">
            <a:avLst>
              <a:gd name="adj" fmla="val 8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54864" rtlCol="0" anchor="t">
            <a:noAutofit/>
          </a:bodyPr>
          <a:lstStyle/>
          <a:p>
            <a:pPr algn="r" rtl="1">
              <a:spcBef>
                <a:spcPts val="0"/>
              </a:spcBef>
              <a:spcAft>
                <a:spcPts val="400"/>
              </a:spcAft>
              <a:buNone/>
            </a:pPr>
            <a:r>
              <a:rPr lang="ar-SY" altLang="en-US" sz="1600" b="1" i="0" dirty="0">
                <a:solidFill>
                  <a:srgbClr val="2F5496"/>
                </a:solidFill>
                <a:latin typeface="Times New Roman"/>
                <a:ea typeface="Times New Roman"/>
                <a:cs typeface="Times New Roman"/>
              </a:rPr>
              <a:t>الأهداف الفرعية</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تطبيق جوال للمستجيب</a:t>
            </a:r>
            <a:r>
              <a:rPr lang="en-US" altLang="en-US" sz="1500" b="0" i="0" dirty="0">
                <a:solidFill>
                  <a:srgbClr val="1A1A1A"/>
                </a:solidFill>
                <a:latin typeface="Times New Roman"/>
                <a:ea typeface="Times New Roman"/>
                <a:cs typeface="Times New Roman"/>
              </a:rPr>
              <a:t> (Flutter) </a:t>
            </a:r>
            <a:r>
              <a:rPr lang="ar-SY" altLang="en-US" sz="1500" b="0" i="0" dirty="0">
                <a:solidFill>
                  <a:srgbClr val="1A1A1A"/>
                </a:solidFill>
                <a:latin typeface="Times New Roman"/>
                <a:ea typeface="Times New Roman"/>
                <a:cs typeface="Times New Roman"/>
              </a:rPr>
              <a:t>يغطي التسجيل والملف الديموغرافي والإجابة</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استهداف بالملف الموسّع مع عرض عدد المؤهلين قبل النشر</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محرك جودة يسِم الإجابات المشبوهة ولا يحذفها</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اختيار نموذج تحليل المشاعر بمقياس</a:t>
            </a:r>
            <a:r>
              <a:rPr lang="en-US" altLang="en-US" sz="1500" b="0" i="0" dirty="0">
                <a:solidFill>
                  <a:srgbClr val="1A1A1A"/>
                </a:solidFill>
                <a:latin typeface="Times New Roman"/>
                <a:ea typeface="Times New Roman"/>
                <a:cs typeface="Times New Roman"/>
              </a:rPr>
              <a:t> macro‑F1 </a:t>
            </a:r>
            <a:r>
              <a:rPr lang="ar-SY" altLang="en-US" sz="1500" b="0" i="0" dirty="0">
                <a:solidFill>
                  <a:srgbClr val="1A1A1A"/>
                </a:solidFill>
                <a:latin typeface="Times New Roman"/>
                <a:ea typeface="Times New Roman"/>
                <a:cs typeface="Times New Roman"/>
              </a:rPr>
              <a:t>بعد مقارنة</a:t>
            </a:r>
            <a:r>
              <a:rPr lang="en-US" altLang="en-US" sz="1500" b="0" i="0" dirty="0">
                <a:solidFill>
                  <a:srgbClr val="1A1A1A"/>
                </a:solidFill>
                <a:latin typeface="Times New Roman"/>
                <a:ea typeface="Times New Roman"/>
                <a:cs typeface="Times New Roman"/>
              </a:rPr>
              <a:t> 4 </a:t>
            </a:r>
            <a:r>
              <a:rPr lang="ar-SY" altLang="en-US" sz="1500" b="0" i="0" dirty="0">
                <a:solidFill>
                  <a:srgbClr val="1A1A1A"/>
                </a:solidFill>
                <a:latin typeface="Times New Roman"/>
                <a:ea typeface="Times New Roman"/>
                <a:cs typeface="Times New Roman"/>
              </a:rPr>
              <a:t>نماذج على الأقل</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استجابة</a:t>
            </a:r>
            <a:r>
              <a:rPr lang="en-US" altLang="en-US" sz="1500" b="0" i="0" dirty="0">
                <a:solidFill>
                  <a:srgbClr val="1A1A1A"/>
                </a:solidFill>
                <a:latin typeface="Times New Roman"/>
                <a:ea typeface="Times New Roman"/>
                <a:cs typeface="Times New Roman"/>
              </a:rPr>
              <a:t> ‎95%‎ </a:t>
            </a:r>
            <a:r>
              <a:rPr lang="ar-SY" altLang="en-US" sz="1500" b="0" i="0" dirty="0">
                <a:solidFill>
                  <a:srgbClr val="1A1A1A"/>
                </a:solidFill>
                <a:latin typeface="Times New Roman"/>
                <a:ea typeface="Times New Roman"/>
                <a:cs typeface="Times New Roman"/>
              </a:rPr>
              <a:t>من طلبات الـ</a:t>
            </a:r>
            <a:r>
              <a:rPr lang="en-US" altLang="en-US" sz="1500" b="0" i="0" dirty="0">
                <a:solidFill>
                  <a:srgbClr val="1A1A1A"/>
                </a:solidFill>
                <a:latin typeface="Times New Roman"/>
                <a:ea typeface="Times New Roman"/>
                <a:cs typeface="Times New Roman"/>
              </a:rPr>
              <a:t> API </a:t>
            </a:r>
            <a:r>
              <a:rPr lang="ar-SY" altLang="en-US" sz="1500" b="0" i="0" dirty="0">
                <a:solidFill>
                  <a:srgbClr val="1A1A1A"/>
                </a:solidFill>
                <a:latin typeface="Times New Roman"/>
                <a:ea typeface="Times New Roman"/>
                <a:cs typeface="Times New Roman"/>
              </a:rPr>
              <a:t>في أقل من ثانيتين</a:t>
            </a:r>
            <a:r>
              <a:rPr lang="ar-SA" altLang="en-US" sz="1500" b="0" i="0" dirty="0">
                <a:solidFill>
                  <a:srgbClr val="1A1A1A"/>
                </a:solidFill>
                <a:latin typeface="Times New Roman"/>
                <a:ea typeface="Times New Roman"/>
                <a:cs typeface="Times New Roman"/>
              </a:rPr>
              <a:t> </a:t>
            </a:r>
            <a:r>
              <a:rPr lang="en-US" altLang="en-US" sz="1500" b="0" i="0" dirty="0">
                <a:solidFill>
                  <a:srgbClr val="1A1A1A"/>
                </a:solidFill>
                <a:latin typeface="Times New Roman"/>
                <a:ea typeface="Times New Roman"/>
                <a:cs typeface="Times New Roman"/>
              </a:rPr>
              <a:t> (NFR-01)</a:t>
            </a:r>
            <a:endParaRPr lang="ar-SY" altLang="en-US" sz="1500" b="0" i="0" dirty="0">
              <a:solidFill>
                <a:srgbClr val="1A1A1A"/>
              </a:solidFill>
              <a:latin typeface="Times New Roman"/>
              <a:ea typeface="Times New Roman"/>
              <a:cs typeface="Times New Roman"/>
            </a:endParaRPr>
          </a:p>
        </p:txBody>
      </p:sp>
    </p:spTree>
    <p:extLst>
      <p:ext uri="{BB962C8B-B14F-4D97-AF65-F5344CB8AC3E}">
        <p14:creationId xmlns:p14="http://schemas.microsoft.com/office/powerpoint/2010/main" val="214356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ate Placeholder 3">
            <a:extLst>
              <a:ext uri="{FF2B5EF4-FFF2-40B4-BE49-F238E27FC236}">
                <a16:creationId xmlns:a16="http://schemas.microsoft.com/office/drawing/2014/main" id="{68343A48-9918-5396-9D36-75CC176EFFB3}"/>
              </a:ext>
            </a:extLst>
          </p:cNvPr>
          <p:cNvSpPr>
            <a:spLocks noGrp="1"/>
          </p:cNvSpPr>
          <p:nvPr>
            <p:ph type="dt" sz="half" idx="10"/>
          </p:nvPr>
        </p:nvSpPr>
        <p:spPr>
          <a:xfrm>
            <a:off x="838200" y="6356350"/>
            <a:ext cx="2743200" cy="365125"/>
          </a:xfrm>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46" name="Footer Placeholder 4">
            <a:extLst>
              <a:ext uri="{FF2B5EF4-FFF2-40B4-BE49-F238E27FC236}">
                <a16:creationId xmlns:a16="http://schemas.microsoft.com/office/drawing/2014/main" id="{3E825D1B-E64B-FFA8-9DB9-ABB55D250F41}"/>
              </a:ext>
            </a:extLst>
          </p:cNvPr>
          <p:cNvSpPr>
            <a:spLocks noGrp="1"/>
          </p:cNvSpPr>
          <p:nvPr>
            <p:ph type="ftr" sz="quarter" idx="11"/>
          </p:nvPr>
        </p:nvSpPr>
        <p:spPr>
          <a:xfrm>
            <a:off x="4038600" y="6356350"/>
            <a:ext cx="4114800" cy="365125"/>
          </a:xfrm>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47" name="Slide Number Placeholder 5">
            <a:extLst>
              <a:ext uri="{FF2B5EF4-FFF2-40B4-BE49-F238E27FC236}">
                <a16:creationId xmlns:a16="http://schemas.microsoft.com/office/drawing/2014/main" id="{C96E1AB9-B9B1-F1C3-6379-716EDAE1B4CB}"/>
              </a:ext>
            </a:extLst>
          </p:cNvPr>
          <p:cNvSpPr>
            <a:spLocks noGrp="1"/>
          </p:cNvSpPr>
          <p:nvPr>
            <p:ph type="sldNum" sz="quarter" idx="12"/>
          </p:nvPr>
        </p:nvSpPr>
        <p:spPr>
          <a:xfrm>
            <a:off x="8610600" y="6356350"/>
            <a:ext cx="2743200" cy="365125"/>
          </a:xfrm>
        </p:spPr>
        <p:txBody>
          <a:bodyPr/>
          <a:lstStyle/>
          <a:p>
            <a:fld id="{2C11977B-EEE1-4D56-A6CE-8035002D8A82}" type="slidenum">
              <a:rPr lang="en-US" smtClean="0">
                <a:latin typeface="Times New Roman"/>
                <a:cs typeface="Times New Roman"/>
              </a:rPr>
              <a:t>3</a:t>
            </a:fld>
            <a:endParaRPr lang="en-US"/>
          </a:p>
        </p:txBody>
      </p:sp>
      <p:sp>
        <p:nvSpPr>
          <p:cNvPr id="48" name="Title">
            <a:extLst>
              <a:ext uri="{FF2B5EF4-FFF2-40B4-BE49-F238E27FC236}">
                <a16:creationId xmlns:a16="http://schemas.microsoft.com/office/drawing/2014/main" id="{889AB346-5256-0E50-32AC-C2D853342130}"/>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المراحل المنفذة سابقاً — المشروع الفصلي</a:t>
            </a:r>
            <a:r>
              <a:rPr lang="ar-SA" altLang="en-US" sz="2800" b="1" i="0" dirty="0">
                <a:solidFill>
                  <a:srgbClr val="2F5496"/>
                </a:solidFill>
                <a:latin typeface="Times New Roman"/>
                <a:ea typeface="Times New Roman"/>
                <a:cs typeface="Times New Roman"/>
              </a:rPr>
              <a:t> </a:t>
            </a:r>
            <a:r>
              <a:rPr lang="en-US" altLang="en-US" sz="2800" b="1" i="0" dirty="0">
                <a:solidFill>
                  <a:srgbClr val="2F5496"/>
                </a:solidFill>
                <a:latin typeface="Times New Roman"/>
                <a:ea typeface="Times New Roman"/>
                <a:cs typeface="Times New Roman"/>
              </a:rPr>
              <a:t> (V1.0)</a:t>
            </a:r>
            <a:endParaRPr lang="ar-SY" altLang="en-US" sz="2800" b="1" i="0" dirty="0">
              <a:solidFill>
                <a:srgbClr val="2F5496"/>
              </a:solidFill>
              <a:latin typeface="Times New Roman"/>
              <a:ea typeface="Times New Roman"/>
              <a:cs typeface="Times New Roman"/>
            </a:endParaRPr>
          </a:p>
        </p:txBody>
      </p:sp>
      <p:sp>
        <p:nvSpPr>
          <p:cNvPr id="49" name="Subtitle">
            <a:extLst>
              <a:ext uri="{FF2B5EF4-FFF2-40B4-BE49-F238E27FC236}">
                <a16:creationId xmlns:a16="http://schemas.microsoft.com/office/drawing/2014/main" id="{535E1CE0-6B38-F493-3766-AFD2F44C9F32}"/>
              </a:ext>
            </a:extLst>
          </p:cNvPr>
          <p:cNvSpPr txBox="1"/>
          <p:nvPr/>
        </p:nvSpPr>
        <p:spPr>
          <a:xfrm>
            <a:off x="548640" y="822960"/>
            <a:ext cx="11091672" cy="329184"/>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400" b="1" i="0" dirty="0">
                <a:solidFill>
                  <a:srgbClr val="595959"/>
                </a:solidFill>
                <a:latin typeface="Times New Roman"/>
                <a:ea typeface="Times New Roman"/>
                <a:cs typeface="Times New Roman"/>
              </a:rPr>
              <a:t> Smart Opinion Survey Platform</a:t>
            </a:r>
            <a:r>
              <a:rPr lang="en-US" altLang="en-US" sz="1400" b="0" i="0" dirty="0">
                <a:solidFill>
                  <a:srgbClr val="595959"/>
                </a:solidFill>
                <a:latin typeface="Times New Roman"/>
                <a:ea typeface="Times New Roman"/>
                <a:cs typeface="Times New Roman"/>
              </a:rPr>
              <a:t> </a:t>
            </a:r>
            <a:r>
              <a:rPr lang="ar-SY" altLang="en-US" sz="1400" b="0" i="0" dirty="0">
                <a:solidFill>
                  <a:srgbClr val="595959"/>
                </a:solidFill>
                <a:latin typeface="Times New Roman"/>
                <a:ea typeface="Times New Roman"/>
                <a:cs typeface="Times New Roman"/>
              </a:rPr>
              <a:t>من</a:t>
            </a:r>
            <a:r>
              <a:rPr lang="en-US" altLang="en-US" sz="1400" b="0" i="0" dirty="0">
                <a:solidFill>
                  <a:srgbClr val="595959"/>
                </a:solidFill>
                <a:latin typeface="Times New Roman"/>
                <a:ea typeface="Times New Roman"/>
                <a:cs typeface="Times New Roman"/>
              </a:rPr>
              <a:t> 1 </a:t>
            </a:r>
            <a:r>
              <a:rPr lang="ar-SY" altLang="en-US" sz="1400" b="0" i="0" dirty="0">
                <a:solidFill>
                  <a:srgbClr val="595959"/>
                </a:solidFill>
                <a:latin typeface="Times New Roman"/>
                <a:ea typeface="Times New Roman"/>
                <a:cs typeface="Times New Roman"/>
              </a:rPr>
              <a:t>مارس إلى</a:t>
            </a:r>
            <a:r>
              <a:rPr lang="en-US" altLang="en-US" sz="1400" b="0" i="0" dirty="0">
                <a:solidFill>
                  <a:srgbClr val="595959"/>
                </a:solidFill>
                <a:latin typeface="Times New Roman"/>
                <a:ea typeface="Times New Roman"/>
                <a:cs typeface="Times New Roman"/>
              </a:rPr>
              <a:t> 11 </a:t>
            </a:r>
            <a:r>
              <a:rPr lang="ar-SY" altLang="en-US" sz="1400" b="0" i="0" dirty="0">
                <a:solidFill>
                  <a:srgbClr val="595959"/>
                </a:solidFill>
                <a:latin typeface="Times New Roman"/>
                <a:ea typeface="Times New Roman"/>
                <a:cs typeface="Times New Roman"/>
              </a:rPr>
              <a:t>مايو</a:t>
            </a:r>
            <a:r>
              <a:rPr lang="en-US" altLang="en-US" sz="1400" b="0" i="0" dirty="0">
                <a:solidFill>
                  <a:srgbClr val="595959"/>
                </a:solidFill>
                <a:latin typeface="Times New Roman"/>
                <a:ea typeface="Times New Roman"/>
                <a:cs typeface="Times New Roman"/>
              </a:rPr>
              <a:t> 2026  —  </a:t>
            </a:r>
            <a:r>
              <a:rPr lang="ar-SY" altLang="en-US" sz="1400" b="0" i="0" dirty="0">
                <a:solidFill>
                  <a:srgbClr val="595959"/>
                </a:solidFill>
                <a:latin typeface="Times New Roman"/>
                <a:ea typeface="Times New Roman"/>
                <a:cs typeface="Times New Roman"/>
              </a:rPr>
              <a:t>منهجية</a:t>
            </a:r>
            <a:r>
              <a:rPr lang="en-US" altLang="en-US" sz="1400" b="0" i="0" dirty="0">
                <a:solidFill>
                  <a:srgbClr val="595959"/>
                </a:solidFill>
                <a:latin typeface="Times New Roman"/>
                <a:ea typeface="Times New Roman"/>
                <a:cs typeface="Times New Roman"/>
              </a:rPr>
              <a:t> Agile Iterative &amp; Incremental </a:t>
            </a:r>
            <a:endParaRPr lang="ar-SY" altLang="en-US" sz="1400" b="0" i="0" dirty="0">
              <a:solidFill>
                <a:srgbClr val="595959"/>
              </a:solidFill>
              <a:latin typeface="Times New Roman"/>
              <a:ea typeface="Times New Roman"/>
              <a:cs typeface="Times New Roman"/>
            </a:endParaRPr>
          </a:p>
        </p:txBody>
      </p:sp>
      <p:sp>
        <p:nvSpPr>
          <p:cNvPr id="50" name="Sprint head 0">
            <a:extLst>
              <a:ext uri="{FF2B5EF4-FFF2-40B4-BE49-F238E27FC236}">
                <a16:creationId xmlns:a16="http://schemas.microsoft.com/office/drawing/2014/main" id="{7250BB2C-D69C-BC08-E664-18D61DBF1BE9}"/>
              </a:ext>
            </a:extLst>
          </p:cNvPr>
          <p:cNvSpPr/>
          <p:nvPr/>
        </p:nvSpPr>
        <p:spPr>
          <a:xfrm>
            <a:off x="9528048" y="1261872"/>
            <a:ext cx="2112264"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0</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1/3 – 10/3 2026</a:t>
            </a:r>
          </a:p>
        </p:txBody>
      </p:sp>
      <p:sp>
        <p:nvSpPr>
          <p:cNvPr id="51" name="Sprint body 0">
            <a:extLst>
              <a:ext uri="{FF2B5EF4-FFF2-40B4-BE49-F238E27FC236}">
                <a16:creationId xmlns:a16="http://schemas.microsoft.com/office/drawing/2014/main" id="{1F054096-B738-78E8-8D6B-0FF1628DEF24}"/>
              </a:ext>
            </a:extLst>
          </p:cNvPr>
          <p:cNvSpPr/>
          <p:nvPr/>
        </p:nvSpPr>
        <p:spPr>
          <a:xfrm>
            <a:off x="9528048"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Requirements &amp; Design</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MVP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Product Backlog</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SRS </a:t>
            </a:r>
            <a:r>
              <a:rPr lang="ar-SY" altLang="en-US" sz="1300" b="0" i="0" dirty="0">
                <a:solidFill>
                  <a:srgbClr val="1A1A1A"/>
                </a:solidFill>
                <a:latin typeface="Times New Roman"/>
                <a:ea typeface="Times New Roman"/>
                <a:cs typeface="Times New Roman"/>
              </a:rPr>
              <a:t>أولي و </a:t>
            </a:r>
            <a:r>
              <a:rPr lang="en-US" altLang="en-US" sz="1300" b="0" i="0" dirty="0">
                <a:solidFill>
                  <a:srgbClr val="1A1A1A"/>
                </a:solidFill>
                <a:latin typeface="Times New Roman"/>
                <a:ea typeface="Times New Roman"/>
                <a:cs typeface="Times New Roman"/>
              </a:rPr>
              <a:t> Use Cases</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Architecture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ERD</a:t>
            </a:r>
            <a:endParaRPr lang="ar-SY" altLang="en-US" sz="1300" b="0" i="0" dirty="0">
              <a:solidFill>
                <a:srgbClr val="1A1A1A"/>
              </a:solidFill>
              <a:latin typeface="Times New Roman"/>
              <a:ea typeface="Times New Roman"/>
              <a:cs typeface="Times New Roman"/>
            </a:endParaRPr>
          </a:p>
        </p:txBody>
      </p:sp>
      <p:cxnSp>
        <p:nvCxnSpPr>
          <p:cNvPr id="52" name="Sprint arrow 0">
            <a:extLst>
              <a:ext uri="{FF2B5EF4-FFF2-40B4-BE49-F238E27FC236}">
                <a16:creationId xmlns:a16="http://schemas.microsoft.com/office/drawing/2014/main" id="{FD1A67F2-FEB8-4626-FD23-0EFF4ABF2B1C}"/>
              </a:ext>
            </a:extLst>
          </p:cNvPr>
          <p:cNvCxnSpPr/>
          <p:nvPr/>
        </p:nvCxnSpPr>
        <p:spPr>
          <a:xfrm flipH="1">
            <a:off x="9400032"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print head 1">
            <a:extLst>
              <a:ext uri="{FF2B5EF4-FFF2-40B4-BE49-F238E27FC236}">
                <a16:creationId xmlns:a16="http://schemas.microsoft.com/office/drawing/2014/main" id="{3628A1FE-2E5A-2912-4057-E4EA903328A5}"/>
              </a:ext>
            </a:extLst>
          </p:cNvPr>
          <p:cNvSpPr/>
          <p:nvPr/>
        </p:nvSpPr>
        <p:spPr>
          <a:xfrm>
            <a:off x="7283196"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1</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11/3 – 24/3 2026</a:t>
            </a:r>
          </a:p>
        </p:txBody>
      </p:sp>
      <p:sp>
        <p:nvSpPr>
          <p:cNvPr id="54" name="Sprint body 1">
            <a:extLst>
              <a:ext uri="{FF2B5EF4-FFF2-40B4-BE49-F238E27FC236}">
                <a16:creationId xmlns:a16="http://schemas.microsoft.com/office/drawing/2014/main" id="{FB3DE4A8-C9D0-AF9B-A6FD-9141E5FC1DA8}"/>
              </a:ext>
            </a:extLst>
          </p:cNvPr>
          <p:cNvSpPr/>
          <p:nvPr/>
        </p:nvSpPr>
        <p:spPr>
          <a:xfrm>
            <a:off x="7283196" y="1828800"/>
            <a:ext cx="2112264" cy="1261872"/>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Identity &amp; Profile</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Registration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Login </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Role-based Access</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الملف الديموغرافي وقاعدة البيانات</a:t>
            </a:r>
          </a:p>
        </p:txBody>
      </p:sp>
      <p:cxnSp>
        <p:nvCxnSpPr>
          <p:cNvPr id="55" name="Sprint arrow 1">
            <a:extLst>
              <a:ext uri="{FF2B5EF4-FFF2-40B4-BE49-F238E27FC236}">
                <a16:creationId xmlns:a16="http://schemas.microsoft.com/office/drawing/2014/main" id="{57EE2177-670D-6553-2117-356C5C4E7057}"/>
              </a:ext>
            </a:extLst>
          </p:cNvPr>
          <p:cNvCxnSpPr/>
          <p:nvPr/>
        </p:nvCxnSpPr>
        <p:spPr>
          <a:xfrm flipH="1">
            <a:off x="7155180"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print head 2">
            <a:extLst>
              <a:ext uri="{FF2B5EF4-FFF2-40B4-BE49-F238E27FC236}">
                <a16:creationId xmlns:a16="http://schemas.microsoft.com/office/drawing/2014/main" id="{459760E7-1180-EC01-FD34-FF3DCC78DAE6}"/>
              </a:ext>
            </a:extLst>
          </p:cNvPr>
          <p:cNvSpPr/>
          <p:nvPr/>
        </p:nvSpPr>
        <p:spPr>
          <a:xfrm>
            <a:off x="5038344"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2</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25/3 – 10/4 2026</a:t>
            </a:r>
          </a:p>
        </p:txBody>
      </p:sp>
      <p:sp>
        <p:nvSpPr>
          <p:cNvPr id="57" name="Sprint body 2">
            <a:extLst>
              <a:ext uri="{FF2B5EF4-FFF2-40B4-BE49-F238E27FC236}">
                <a16:creationId xmlns:a16="http://schemas.microsoft.com/office/drawing/2014/main" id="{1F81E377-6BF4-C239-753F-25F1635B4FB4}"/>
              </a:ext>
            </a:extLst>
          </p:cNvPr>
          <p:cNvSpPr/>
          <p:nvPr/>
        </p:nvSpPr>
        <p:spPr>
          <a:xfrm>
            <a:off x="5038344"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Survey Builder &amp; Targeting</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إدارة الاستبيانات والأسئلة</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معايير الاستهداف</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منطق مطابقة المستجيبين</a:t>
            </a:r>
          </a:p>
        </p:txBody>
      </p:sp>
      <p:cxnSp>
        <p:nvCxnSpPr>
          <p:cNvPr id="58" name="Sprint arrow 2">
            <a:extLst>
              <a:ext uri="{FF2B5EF4-FFF2-40B4-BE49-F238E27FC236}">
                <a16:creationId xmlns:a16="http://schemas.microsoft.com/office/drawing/2014/main" id="{53776C29-02D3-F084-B335-235B2FB7E372}"/>
              </a:ext>
            </a:extLst>
          </p:cNvPr>
          <p:cNvCxnSpPr/>
          <p:nvPr/>
        </p:nvCxnSpPr>
        <p:spPr>
          <a:xfrm flipH="1">
            <a:off x="4910328"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print head 3">
            <a:extLst>
              <a:ext uri="{FF2B5EF4-FFF2-40B4-BE49-F238E27FC236}">
                <a16:creationId xmlns:a16="http://schemas.microsoft.com/office/drawing/2014/main" id="{BAB2A092-EB0E-43F8-D4D4-4517682BF289}"/>
              </a:ext>
            </a:extLst>
          </p:cNvPr>
          <p:cNvSpPr/>
          <p:nvPr/>
        </p:nvSpPr>
        <p:spPr>
          <a:xfrm>
            <a:off x="2793491"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3</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11/4 – 23/4 2026</a:t>
            </a:r>
          </a:p>
        </p:txBody>
      </p:sp>
      <p:sp>
        <p:nvSpPr>
          <p:cNvPr id="60" name="Sprint body 3">
            <a:extLst>
              <a:ext uri="{FF2B5EF4-FFF2-40B4-BE49-F238E27FC236}">
                <a16:creationId xmlns:a16="http://schemas.microsoft.com/office/drawing/2014/main" id="{9EE0AC52-C11D-090B-662B-596225A6B3E1}"/>
              </a:ext>
            </a:extLst>
          </p:cNvPr>
          <p:cNvSpPr/>
          <p:nvPr/>
        </p:nvSpPr>
        <p:spPr>
          <a:xfrm>
            <a:off x="2793491" y="1828800"/>
            <a:ext cx="2112264" cy="1261872"/>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Participation &amp; AI</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الاستبيانات المؤهلة والإجابة</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منع الإجابة المكررة</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Sentiment Analysis </a:t>
            </a:r>
            <a:r>
              <a:rPr lang="ar-SY" altLang="en-US" sz="1300" b="0" i="0" dirty="0">
                <a:solidFill>
                  <a:srgbClr val="1A1A1A"/>
                </a:solidFill>
                <a:latin typeface="Times New Roman"/>
                <a:ea typeface="Times New Roman"/>
                <a:cs typeface="Times New Roman"/>
              </a:rPr>
              <a:t>عبر</a:t>
            </a:r>
            <a:r>
              <a:rPr lang="en-US" altLang="en-US" sz="1300" b="0" i="0" dirty="0">
                <a:solidFill>
                  <a:srgbClr val="1A1A1A"/>
                </a:solidFill>
                <a:latin typeface="Times New Roman"/>
                <a:ea typeface="Times New Roman"/>
                <a:cs typeface="Times New Roman"/>
              </a:rPr>
              <a:t> Hugging Face</a:t>
            </a:r>
            <a:endParaRPr lang="ar-SY" altLang="en-US" sz="1300" b="0" i="0" dirty="0">
              <a:solidFill>
                <a:srgbClr val="1A1A1A"/>
              </a:solidFill>
              <a:latin typeface="Times New Roman"/>
              <a:ea typeface="Times New Roman"/>
              <a:cs typeface="Times New Roman"/>
            </a:endParaRPr>
          </a:p>
        </p:txBody>
      </p:sp>
      <p:cxnSp>
        <p:nvCxnSpPr>
          <p:cNvPr id="61" name="Sprint arrow 3">
            <a:extLst>
              <a:ext uri="{FF2B5EF4-FFF2-40B4-BE49-F238E27FC236}">
                <a16:creationId xmlns:a16="http://schemas.microsoft.com/office/drawing/2014/main" id="{2F7462F3-54C3-41F0-9F33-A1495DE7F617}"/>
              </a:ext>
            </a:extLst>
          </p:cNvPr>
          <p:cNvCxnSpPr/>
          <p:nvPr/>
        </p:nvCxnSpPr>
        <p:spPr>
          <a:xfrm flipH="1">
            <a:off x="2665475" y="1545336"/>
            <a:ext cx="123445"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print head 4">
            <a:extLst>
              <a:ext uri="{FF2B5EF4-FFF2-40B4-BE49-F238E27FC236}">
                <a16:creationId xmlns:a16="http://schemas.microsoft.com/office/drawing/2014/main" id="{EF8542FE-917D-6BD7-3D87-BF12CA80D47F}"/>
              </a:ext>
            </a:extLst>
          </p:cNvPr>
          <p:cNvSpPr/>
          <p:nvPr/>
        </p:nvSpPr>
        <p:spPr>
          <a:xfrm>
            <a:off x="548639"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4</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24/4 – 11/5 2026</a:t>
            </a:r>
          </a:p>
        </p:txBody>
      </p:sp>
      <p:sp>
        <p:nvSpPr>
          <p:cNvPr id="63" name="Sprint body 4">
            <a:extLst>
              <a:ext uri="{FF2B5EF4-FFF2-40B4-BE49-F238E27FC236}">
                <a16:creationId xmlns:a16="http://schemas.microsoft.com/office/drawing/2014/main" id="{6DA627A8-4F41-6CAB-305D-0711BE6B5BEF}"/>
              </a:ext>
            </a:extLst>
          </p:cNvPr>
          <p:cNvSpPr/>
          <p:nvPr/>
        </p:nvSpPr>
        <p:spPr>
          <a:xfrm>
            <a:off x="548639"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Results &amp; Delivery</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Analytics Dashboard </a:t>
            </a:r>
            <a:r>
              <a:rPr lang="ar-SY" altLang="en-US" sz="1300" b="0" i="0" dirty="0">
                <a:solidFill>
                  <a:srgbClr val="1A1A1A"/>
                </a:solidFill>
                <a:latin typeface="Times New Roman"/>
                <a:ea typeface="Times New Roman"/>
                <a:cs typeface="Times New Roman"/>
              </a:rPr>
              <a:t>وتقارير المدير</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التكامل والاختبار النهائي</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التقرير والعرض النهائي</a:t>
            </a:r>
          </a:p>
        </p:txBody>
      </p:sp>
      <p:sp>
        <p:nvSpPr>
          <p:cNvPr id="64" name="Outputs heading">
            <a:extLst>
              <a:ext uri="{FF2B5EF4-FFF2-40B4-BE49-F238E27FC236}">
                <a16:creationId xmlns:a16="http://schemas.microsoft.com/office/drawing/2014/main" id="{E556E0C0-2AE1-C5FC-DA5D-E2C43C794819}"/>
              </a:ext>
            </a:extLst>
          </p:cNvPr>
          <p:cNvSpPr txBox="1"/>
          <p:nvPr/>
        </p:nvSpPr>
        <p:spPr>
          <a:xfrm>
            <a:off x="548640" y="3236976"/>
            <a:ext cx="11091672" cy="310896"/>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500" b="1" i="0" dirty="0">
                <a:solidFill>
                  <a:srgbClr val="2F5496"/>
                </a:solidFill>
                <a:latin typeface="Times New Roman"/>
                <a:ea typeface="Times New Roman"/>
                <a:cs typeface="Times New Roman"/>
              </a:rPr>
              <a:t>مخرجات المشروع الفصلي</a:t>
            </a:r>
            <a:r>
              <a:rPr lang="en-US" altLang="en-US" sz="1200" b="0" i="0" dirty="0">
                <a:solidFill>
                  <a:srgbClr val="595959"/>
                </a:solidFill>
                <a:latin typeface="Times New Roman"/>
                <a:ea typeface="Times New Roman"/>
                <a:cs typeface="Times New Roman"/>
              </a:rPr>
              <a:t>  (</a:t>
            </a:r>
            <a:r>
              <a:rPr lang="ar-SY" altLang="en-US" sz="1200" b="0" i="0" dirty="0">
                <a:solidFill>
                  <a:srgbClr val="595959"/>
                </a:solidFill>
                <a:latin typeface="Times New Roman"/>
                <a:ea typeface="Times New Roman"/>
                <a:cs typeface="Times New Roman"/>
              </a:rPr>
              <a:t>من تقرير المشروع المسلَّم والكود على الوسم </a:t>
            </a:r>
            <a:r>
              <a:rPr lang="en-US" altLang="en-US" sz="1200" b="0" i="0" dirty="0">
                <a:solidFill>
                  <a:srgbClr val="595959"/>
                </a:solidFill>
                <a:latin typeface="Times New Roman"/>
                <a:ea typeface="Times New Roman"/>
                <a:cs typeface="Times New Roman"/>
              </a:rPr>
              <a:t> (v1.0-junior-final)</a:t>
            </a:r>
            <a:endParaRPr lang="ar-SY" altLang="en-US" sz="1200" b="0" i="0" dirty="0">
              <a:solidFill>
                <a:srgbClr val="595959"/>
              </a:solidFill>
              <a:latin typeface="Times New Roman"/>
              <a:ea typeface="Times New Roman"/>
              <a:cs typeface="Times New Roman"/>
            </a:endParaRPr>
          </a:p>
        </p:txBody>
      </p:sp>
      <p:sp>
        <p:nvSpPr>
          <p:cNvPr id="65" name="Tile 0">
            <a:extLst>
              <a:ext uri="{FF2B5EF4-FFF2-40B4-BE49-F238E27FC236}">
                <a16:creationId xmlns:a16="http://schemas.microsoft.com/office/drawing/2014/main" id="{1372DF40-A79D-F8D2-94E5-D60C4B48AC61}"/>
              </a:ext>
            </a:extLst>
          </p:cNvPr>
          <p:cNvSpPr/>
          <p:nvPr/>
        </p:nvSpPr>
        <p:spPr>
          <a:xfrm>
            <a:off x="9902952" y="3566160"/>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22</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Functional Req. (FR)</a:t>
            </a:r>
          </a:p>
        </p:txBody>
      </p:sp>
      <p:sp>
        <p:nvSpPr>
          <p:cNvPr id="66" name="Tile 2">
            <a:extLst>
              <a:ext uri="{FF2B5EF4-FFF2-40B4-BE49-F238E27FC236}">
                <a16:creationId xmlns:a16="http://schemas.microsoft.com/office/drawing/2014/main" id="{AA231435-2CF9-00E0-C4C2-080EE9896DC7}"/>
              </a:ext>
            </a:extLst>
          </p:cNvPr>
          <p:cNvSpPr/>
          <p:nvPr/>
        </p:nvSpPr>
        <p:spPr>
          <a:xfrm>
            <a:off x="7520812" y="3566160"/>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7</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UML Diagrams</a:t>
            </a:r>
          </a:p>
        </p:txBody>
      </p:sp>
      <p:sp>
        <p:nvSpPr>
          <p:cNvPr id="67" name="Tile 3">
            <a:extLst>
              <a:ext uri="{FF2B5EF4-FFF2-40B4-BE49-F238E27FC236}">
                <a16:creationId xmlns:a16="http://schemas.microsoft.com/office/drawing/2014/main" id="{71DB48ED-9731-E9CB-E3C4-B8BB2849BCAD}"/>
              </a:ext>
            </a:extLst>
          </p:cNvPr>
          <p:cNvSpPr/>
          <p:nvPr/>
        </p:nvSpPr>
        <p:spPr>
          <a:xfrm>
            <a:off x="5225796" y="3547872"/>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9</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Database Entities (ERD)</a:t>
            </a:r>
          </a:p>
        </p:txBody>
      </p:sp>
      <p:sp>
        <p:nvSpPr>
          <p:cNvPr id="68" name="Tile 4">
            <a:extLst>
              <a:ext uri="{FF2B5EF4-FFF2-40B4-BE49-F238E27FC236}">
                <a16:creationId xmlns:a16="http://schemas.microsoft.com/office/drawing/2014/main" id="{F077424B-761E-272B-932B-33EEF8EB3024}"/>
              </a:ext>
            </a:extLst>
          </p:cNvPr>
          <p:cNvSpPr/>
          <p:nvPr/>
        </p:nvSpPr>
        <p:spPr>
          <a:xfrm>
            <a:off x="2933828" y="3547872"/>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22</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Web Pages (3 roles)</a:t>
            </a:r>
          </a:p>
        </p:txBody>
      </p:sp>
      <p:sp>
        <p:nvSpPr>
          <p:cNvPr id="69" name="Tile 5">
            <a:extLst>
              <a:ext uri="{FF2B5EF4-FFF2-40B4-BE49-F238E27FC236}">
                <a16:creationId xmlns:a16="http://schemas.microsoft.com/office/drawing/2014/main" id="{4365B4D9-85A6-DB86-D42C-E7D0FB767616}"/>
              </a:ext>
            </a:extLst>
          </p:cNvPr>
          <p:cNvSpPr/>
          <p:nvPr/>
        </p:nvSpPr>
        <p:spPr>
          <a:xfrm>
            <a:off x="552273" y="3520439"/>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163</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Tests Passed · 0 Failed</a:t>
            </a:r>
          </a:p>
        </p:txBody>
      </p:sp>
      <p:sp>
        <p:nvSpPr>
          <p:cNvPr id="70" name="Engineering work">
            <a:extLst>
              <a:ext uri="{FF2B5EF4-FFF2-40B4-BE49-F238E27FC236}">
                <a16:creationId xmlns:a16="http://schemas.microsoft.com/office/drawing/2014/main" id="{FB0D7B92-6AAE-E893-0A7B-3431E390CED2}"/>
              </a:ext>
            </a:extLst>
          </p:cNvPr>
          <p:cNvSpPr/>
          <p:nvPr/>
        </p:nvSpPr>
        <p:spPr>
          <a:xfrm>
            <a:off x="5074920" y="4553712"/>
            <a:ext cx="6565392" cy="1627632"/>
          </a:xfrm>
          <a:prstGeom prst="roundRect">
            <a:avLst>
              <a:gd name="adj" fmla="val 5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137160" bIns="36576" rtlCol="0" anchor="t">
            <a:noAutofit/>
          </a:bodyPr>
          <a:lstStyle/>
          <a:p>
            <a:pPr algn="r" rtl="1">
              <a:spcBef>
                <a:spcPts val="0"/>
              </a:spcBef>
              <a:spcAft>
                <a:spcPts val="200"/>
              </a:spcAft>
              <a:buNone/>
            </a:pPr>
            <a:r>
              <a:rPr lang="ar-SY" altLang="en-US" sz="1400" b="1" i="0" dirty="0">
                <a:solidFill>
                  <a:srgbClr val="2F5496"/>
                </a:solidFill>
                <a:latin typeface="Times New Roman"/>
                <a:ea typeface="Times New Roman"/>
                <a:cs typeface="Times New Roman"/>
              </a:rPr>
              <a:t>ما طبّقناه هندسياً</a:t>
            </a:r>
          </a:p>
          <a:p>
            <a:pPr marL="228600" indent="-228600" algn="r" rtl="1">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UML  Use Case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Activity (3)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Sequence (3)</a:t>
            </a:r>
            <a:r>
              <a:rPr lang="ar-SY" altLang="en-US" sz="1300" b="0" i="0" dirty="0">
                <a:solidFill>
                  <a:srgbClr val="1A1A1A"/>
                </a:solidFill>
                <a:latin typeface="Times New Roman"/>
                <a:ea typeface="Times New Roman"/>
                <a:cs typeface="Times New Roman"/>
              </a:rPr>
              <a:t>، و</a:t>
            </a:r>
            <a:r>
              <a:rPr lang="en-US" altLang="en-US" sz="1300" b="0" i="0" dirty="0">
                <a:solidFill>
                  <a:srgbClr val="1A1A1A"/>
                </a:solidFill>
                <a:latin typeface="Times New Roman"/>
                <a:ea typeface="Times New Roman"/>
                <a:cs typeface="Times New Roman"/>
              </a:rPr>
              <a:t> ERD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Relational Schema</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 User Stories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a:t>
            </a:r>
            <a:r>
              <a:rPr lang="en-US" altLang="en-US" sz="1300" b="0" i="0" dirty="0" err="1">
                <a:solidFill>
                  <a:srgbClr val="1A1A1A"/>
                </a:solidFill>
                <a:latin typeface="Times New Roman"/>
                <a:ea typeface="Times New Roman"/>
                <a:cs typeface="Times New Roman"/>
              </a:rPr>
              <a:t>MoSCoW</a:t>
            </a:r>
            <a:r>
              <a:rPr lang="en-US" altLang="en-US" sz="1300" b="0"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Traceability Matrix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Risk Register</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ar-SY" altLang="en-US" sz="1300" b="0" i="0" dirty="0">
                <a:solidFill>
                  <a:srgbClr val="1A1A1A"/>
                </a:solidFill>
                <a:latin typeface="Times New Roman"/>
                <a:ea typeface="Times New Roman"/>
                <a:cs typeface="Times New Roman"/>
              </a:rPr>
              <a:t>طبقات</a:t>
            </a:r>
            <a:r>
              <a:rPr lang="en-US" altLang="en-US" sz="1300" b="0" i="0" dirty="0">
                <a:solidFill>
                  <a:srgbClr val="1A1A1A"/>
                </a:solidFill>
                <a:latin typeface="Times New Roman"/>
                <a:ea typeface="Times New Roman"/>
                <a:cs typeface="Times New Roman"/>
              </a:rPr>
              <a:t>: Views </a:t>
            </a:r>
            <a:r>
              <a:rPr lang="ar-SY" altLang="en-US" sz="1300" b="0" i="0" dirty="0">
                <a:solidFill>
                  <a:srgbClr val="1A1A1A"/>
                </a:solidFill>
                <a:latin typeface="Times New Roman"/>
                <a:ea typeface="Times New Roman"/>
                <a:cs typeface="Times New Roman"/>
              </a:rPr>
              <a:t>ثم</a:t>
            </a:r>
            <a:r>
              <a:rPr lang="en-US" altLang="en-US" sz="1300" b="0" i="0" dirty="0">
                <a:solidFill>
                  <a:srgbClr val="1A1A1A"/>
                </a:solidFill>
                <a:latin typeface="Times New Roman"/>
                <a:ea typeface="Times New Roman"/>
                <a:cs typeface="Times New Roman"/>
              </a:rPr>
              <a:t> Services </a:t>
            </a:r>
            <a:r>
              <a:rPr lang="ar-SY" altLang="en-US" sz="1300" b="0" i="0" dirty="0">
                <a:solidFill>
                  <a:srgbClr val="1A1A1A"/>
                </a:solidFill>
                <a:latin typeface="Times New Roman"/>
                <a:ea typeface="Times New Roman"/>
                <a:cs typeface="Times New Roman"/>
              </a:rPr>
              <a:t>ثم</a:t>
            </a:r>
            <a:r>
              <a:rPr lang="en-US" altLang="en-US" sz="1300" b="0" i="0" dirty="0">
                <a:solidFill>
                  <a:srgbClr val="1A1A1A"/>
                </a:solidFill>
                <a:latin typeface="Times New Roman"/>
                <a:ea typeface="Times New Roman"/>
                <a:cs typeface="Times New Roman"/>
              </a:rPr>
              <a:t> Repositories </a:t>
            </a:r>
            <a:r>
              <a:rPr lang="ar-SY" altLang="en-US" sz="1300" b="0" i="0" dirty="0">
                <a:solidFill>
                  <a:srgbClr val="1A1A1A"/>
                </a:solidFill>
                <a:latin typeface="Times New Roman"/>
                <a:ea typeface="Times New Roman"/>
                <a:cs typeface="Times New Roman"/>
              </a:rPr>
              <a:t>ثم </a:t>
            </a:r>
            <a:r>
              <a:rPr lang="en-US" altLang="en-US" sz="1300" b="0" i="0" dirty="0">
                <a:solidFill>
                  <a:srgbClr val="1A1A1A"/>
                </a:solidFill>
                <a:latin typeface="Times New Roman"/>
                <a:ea typeface="Times New Roman"/>
                <a:cs typeface="Times New Roman"/>
              </a:rPr>
              <a:t> ORM</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ar-SY" altLang="en-US" sz="1300" b="0" i="0" dirty="0">
                <a:solidFill>
                  <a:srgbClr val="1A1A1A"/>
                </a:solidFill>
                <a:latin typeface="Times New Roman"/>
                <a:ea typeface="Times New Roman"/>
                <a:cs typeface="Times New Roman"/>
              </a:rPr>
              <a:t>تحليل المشاعر عبر</a:t>
            </a:r>
            <a:r>
              <a:rPr lang="en-US" altLang="en-US" sz="1300" b="0" i="0" dirty="0">
                <a:solidFill>
                  <a:srgbClr val="1A1A1A"/>
                </a:solidFill>
                <a:latin typeface="Times New Roman"/>
                <a:ea typeface="Times New Roman"/>
                <a:cs typeface="Times New Roman"/>
              </a:rPr>
              <a:t> Hugging Face Inference API </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0"/>
              </a:spcAft>
              <a:buClr>
                <a:srgbClr val="2F5496"/>
              </a:buClr>
              <a:buFont typeface="Arial"/>
              <a:buChar char="■"/>
            </a:pPr>
            <a:r>
              <a:rPr lang="en-US" altLang="en-US" sz="1300" b="0" i="0" dirty="0">
                <a:solidFill>
                  <a:srgbClr val="1A1A1A"/>
                </a:solidFill>
                <a:latin typeface="Times New Roman"/>
                <a:ea typeface="Times New Roman"/>
                <a:cs typeface="Times New Roman"/>
              </a:rPr>
              <a:t>Django 4.2 · PostgreSQL 15 · Bootstrap · Chart.js · pytest · GitHub Actions</a:t>
            </a:r>
            <a:endParaRPr lang="ar-SY" altLang="en-US" sz="1300" b="0" i="0" dirty="0">
              <a:solidFill>
                <a:srgbClr val="1A1A1A"/>
              </a:solidFill>
              <a:latin typeface="Times New Roman"/>
              <a:ea typeface="Times New Roman"/>
              <a:cs typeface="Times New Roman"/>
            </a:endParaRPr>
          </a:p>
        </p:txBody>
      </p:sp>
      <p:sp>
        <p:nvSpPr>
          <p:cNvPr id="71" name="V1.0 limits">
            <a:extLst>
              <a:ext uri="{FF2B5EF4-FFF2-40B4-BE49-F238E27FC236}">
                <a16:creationId xmlns:a16="http://schemas.microsoft.com/office/drawing/2014/main" id="{3B852EA6-60CF-C72E-41B0-559F18DCB976}"/>
              </a:ext>
            </a:extLst>
          </p:cNvPr>
          <p:cNvSpPr/>
          <p:nvPr/>
        </p:nvSpPr>
        <p:spPr>
          <a:xfrm>
            <a:off x="548640" y="4553712"/>
            <a:ext cx="4389120" cy="1627632"/>
          </a:xfrm>
          <a:prstGeom prst="roundRect">
            <a:avLst>
              <a:gd name="adj" fmla="val 5000"/>
            </a:avLst>
          </a:prstGeom>
          <a:solidFill>
            <a:srgbClr val="FBE5D6"/>
          </a:solidFill>
          <a:ln w="9525">
            <a:solidFill>
              <a:srgbClr val="E07B28"/>
            </a:solidFill>
          </a:ln>
          <a:effectLst/>
        </p:spPr>
        <p:style>
          <a:lnRef idx="1">
            <a:schemeClr val="accent1"/>
          </a:lnRef>
          <a:fillRef idx="3">
            <a:schemeClr val="accent1"/>
          </a:fillRef>
          <a:effectRef idx="2">
            <a:schemeClr val="accent1"/>
          </a:effectRef>
          <a:fontRef idx="minor">
            <a:schemeClr val="lt1"/>
          </a:fontRef>
        </p:style>
        <p:txBody>
          <a:bodyPr wrap="square" lIns="137160" tIns="54864" rIns="137160" bIns="36576" rtlCol="0" anchor="t">
            <a:noAutofit/>
          </a:bodyPr>
          <a:lstStyle/>
          <a:p>
            <a:pPr algn="r" rtl="1">
              <a:spcBef>
                <a:spcPts val="0"/>
              </a:spcBef>
              <a:spcAft>
                <a:spcPts val="200"/>
              </a:spcAft>
              <a:buNone/>
            </a:pPr>
            <a:r>
              <a:rPr lang="ar-SY" altLang="en-US" sz="1400" b="1" i="0" dirty="0">
                <a:solidFill>
                  <a:srgbClr val="2F5496"/>
                </a:solidFill>
                <a:latin typeface="Times New Roman"/>
                <a:ea typeface="Times New Roman"/>
                <a:cs typeface="Times New Roman"/>
              </a:rPr>
              <a:t>حدود</a:t>
            </a:r>
            <a:r>
              <a:rPr lang="en-US" altLang="en-US" sz="1400" b="1" i="0" dirty="0">
                <a:solidFill>
                  <a:srgbClr val="2F5496"/>
                </a:solidFill>
                <a:latin typeface="Times New Roman"/>
                <a:ea typeface="Times New Roman"/>
                <a:cs typeface="Times New Roman"/>
              </a:rPr>
              <a:t> V1.0 </a:t>
            </a:r>
            <a:r>
              <a:rPr lang="ar-SY" altLang="en-US" sz="1400" b="1" i="0" dirty="0">
                <a:solidFill>
                  <a:srgbClr val="2F5496"/>
                </a:solidFill>
                <a:latin typeface="Times New Roman"/>
                <a:ea typeface="Times New Roman"/>
                <a:cs typeface="Times New Roman"/>
              </a:rPr>
              <a:t>من التقرير وملاحظات المشرف</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واجهة المستجيب صفحات ويب ثابتة، ولا يوجد تطبيق جوال</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استهداف بالجنس والعمر ومنطقة نصية حرة فقط</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دقة نموذج المشاعر غير مقاسة</a:t>
            </a:r>
            <a:r>
              <a:rPr lang="en-US" altLang="en-US" sz="1300" b="0" i="0" dirty="0">
                <a:solidFill>
                  <a:srgbClr val="1A1A1A"/>
                </a:solidFill>
                <a:latin typeface="Times New Roman"/>
                <a:ea typeface="Times New Roman"/>
                <a:cs typeface="Times New Roman"/>
              </a:rPr>
              <a:t>.</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0"/>
              </a:spcAft>
              <a:buClr>
                <a:srgbClr val="E07B28"/>
              </a:buClr>
              <a:buFont typeface="Arial"/>
              <a:buChar char="■"/>
            </a:pPr>
            <a:r>
              <a:rPr lang="ar-SY" altLang="en-US" sz="1300" b="0" i="0" dirty="0">
                <a:solidFill>
                  <a:srgbClr val="1A1A1A"/>
                </a:solidFill>
                <a:latin typeface="Times New Roman"/>
                <a:ea typeface="Times New Roman"/>
                <a:cs typeface="Times New Roman"/>
              </a:rPr>
              <a:t>لا فحص لجودة الإجابات سوى منع الإجابة المكررة</a:t>
            </a:r>
          </a:p>
        </p:txBody>
      </p:sp>
    </p:spTree>
    <p:extLst>
      <p:ext uri="{BB962C8B-B14F-4D97-AF65-F5344CB8AC3E}">
        <p14:creationId xmlns:p14="http://schemas.microsoft.com/office/powerpoint/2010/main" val="3473733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8AE7ED3-C13B-D163-23FA-3ACDDB15519A}"/>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5A98B2C3-8337-C2D2-EA88-9E4BC9F9FBB4}"/>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61F01E66-EBB7-BF9F-40E8-B58F9CB73FCA}"/>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4</a:t>
            </a:fld>
            <a:endParaRPr lang="en-US"/>
          </a:p>
        </p:txBody>
      </p:sp>
      <p:sp>
        <p:nvSpPr>
          <p:cNvPr id="7" name="Title">
            <a:extLst>
              <a:ext uri="{FF2B5EF4-FFF2-40B4-BE49-F238E27FC236}">
                <a16:creationId xmlns:a16="http://schemas.microsoft.com/office/drawing/2014/main" id="{CD7444CC-9A95-8B29-7BB5-90CFC2E2D96D}"/>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الدراسات المرجعية والأعمال السابقة</a:t>
            </a:r>
            <a:r>
              <a:rPr lang="en-US" altLang="en-US" sz="2800" b="1" i="0" dirty="0">
                <a:solidFill>
                  <a:srgbClr val="2F5496"/>
                </a:solidFill>
                <a:latin typeface="Times New Roman"/>
                <a:ea typeface="Times New Roman"/>
                <a:cs typeface="Times New Roman"/>
              </a:rPr>
              <a:t>  (Literature Review) </a:t>
            </a:r>
            <a:endParaRPr lang="ar-SY" altLang="en-US" sz="2800" b="1" i="0" dirty="0">
              <a:solidFill>
                <a:srgbClr val="2F5496"/>
              </a:solidFill>
              <a:latin typeface="Times New Roman"/>
              <a:ea typeface="Times New Roman"/>
              <a:cs typeface="Times New Roman"/>
            </a:endParaRPr>
          </a:p>
        </p:txBody>
      </p:sp>
      <p:sp>
        <p:nvSpPr>
          <p:cNvPr id="8" name="Study 1"/>
          <p:cNvSpPr/>
          <p:nvPr/>
        </p:nvSpPr>
        <p:spPr>
          <a:xfrm>
            <a:off x="548640" y="1005840"/>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الأولى — </a:t>
            </a:r>
            <a:r>
              <a:rPr lang="en-US" altLang="en-US" sz="1600" b="1" i="0" dirty="0">
                <a:solidFill>
                  <a:srgbClr val="1A1A1A"/>
                </a:solidFill>
                <a:latin typeface="Times New Roman"/>
                <a:ea typeface="Times New Roman"/>
                <a:cs typeface="Times New Roman"/>
              </a:rPr>
              <a:t>:</a:t>
            </a:r>
            <a:r>
              <a:rPr lang="en-US" altLang="en-US" sz="1600" b="1" i="0" dirty="0" err="1">
                <a:solidFill>
                  <a:srgbClr val="1A1A1A"/>
                </a:solidFill>
                <a:latin typeface="Times New Roman"/>
                <a:ea typeface="Times New Roman"/>
                <a:cs typeface="Times New Roman"/>
              </a:rPr>
              <a:t>Pozzar</a:t>
            </a:r>
            <a:r>
              <a:rPr lang="en-US" altLang="en-US" sz="1600" b="1" i="0" dirty="0">
                <a:solidFill>
                  <a:srgbClr val="1A1A1A"/>
                </a:solidFill>
                <a:latin typeface="Times New Roman"/>
                <a:ea typeface="Times New Roman"/>
                <a:cs typeface="Times New Roman"/>
              </a:rPr>
              <a:t> et al. (2020)</a:t>
            </a:r>
            <a:r>
              <a:rPr lang="ar-SY" altLang="en-US" sz="1600" b="1"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من</a:t>
            </a:r>
            <a:r>
              <a:rPr lang="en-US" altLang="en-US" sz="1600" b="0" i="0" dirty="0">
                <a:solidFill>
                  <a:srgbClr val="1A1A1A"/>
                </a:solidFill>
                <a:latin typeface="Times New Roman"/>
                <a:ea typeface="Times New Roman"/>
                <a:cs typeface="Times New Roman"/>
              </a:rPr>
              <a:t> 271 </a:t>
            </a:r>
            <a:r>
              <a:rPr lang="ar-SY" altLang="en-US" sz="1600" b="0" i="0" dirty="0">
                <a:solidFill>
                  <a:srgbClr val="1A1A1A"/>
                </a:solidFill>
                <a:latin typeface="Times New Roman"/>
                <a:ea typeface="Times New Roman"/>
                <a:cs typeface="Times New Roman"/>
              </a:rPr>
              <a:t>إجابة عبر رابط مفتوح على وسائل التواصل،</a:t>
            </a:r>
            <a:r>
              <a:rPr lang="en-US" altLang="en-US" sz="1600" b="0" i="0" dirty="0">
                <a:solidFill>
                  <a:srgbClr val="1A1A1A"/>
                </a:solidFill>
                <a:latin typeface="Times New Roman"/>
                <a:ea typeface="Times New Roman"/>
                <a:cs typeface="Times New Roman"/>
              </a:rPr>
              <a:t> ‎94.5%‎ </a:t>
            </a:r>
            <a:r>
              <a:rPr lang="ar-SY" altLang="en-US" sz="1600" b="0" i="0" dirty="0">
                <a:solidFill>
                  <a:srgbClr val="1A1A1A"/>
                </a:solidFill>
                <a:latin typeface="Times New Roman"/>
                <a:ea typeface="Times New Roman"/>
                <a:cs typeface="Times New Roman"/>
              </a:rPr>
              <a:t>احتيالية وكلها تجاوزت</a:t>
            </a:r>
            <a:r>
              <a:rPr lang="en-US" altLang="en-US" sz="1600" b="0" i="0" dirty="0">
                <a:solidFill>
                  <a:srgbClr val="1A1A1A"/>
                </a:solidFill>
                <a:latin typeface="Times New Roman"/>
                <a:ea typeface="Times New Roman"/>
                <a:cs typeface="Times New Roman"/>
              </a:rPr>
              <a:t> CAPTCHA ← </a:t>
            </a:r>
            <a:r>
              <a:rPr lang="ar-SY" altLang="en-US" sz="1600" b="0" i="0" dirty="0">
                <a:solidFill>
                  <a:srgbClr val="1A1A1A"/>
                </a:solidFill>
                <a:latin typeface="Times New Roman"/>
                <a:ea typeface="Times New Roman"/>
                <a:cs typeface="Times New Roman"/>
              </a:rPr>
              <a:t>نحتاج دفاعاً متعدد الطبقات </a:t>
            </a:r>
            <a:r>
              <a:rPr lang="en-US" altLang="en-US" sz="1200" b="0" i="0" dirty="0">
                <a:solidFill>
                  <a:srgbClr val="595959"/>
                </a:solidFill>
                <a:latin typeface="Times New Roman"/>
                <a:ea typeface="Times New Roman"/>
                <a:cs typeface="Times New Roman"/>
              </a:rPr>
              <a:t>[4]</a:t>
            </a:r>
            <a:endParaRPr lang="ar-SY" altLang="en-US" sz="1600" b="0" i="0" dirty="0">
              <a:solidFill>
                <a:srgbClr val="595959"/>
              </a:solidFill>
              <a:latin typeface="Times New Roman"/>
              <a:ea typeface="Times New Roman"/>
              <a:cs typeface="Times New Roman"/>
            </a:endParaRPr>
          </a:p>
        </p:txBody>
      </p:sp>
      <p:sp>
        <p:nvSpPr>
          <p:cNvPr id="9" name="Study 2"/>
          <p:cNvSpPr/>
          <p:nvPr/>
        </p:nvSpPr>
        <p:spPr>
          <a:xfrm>
            <a:off x="548640" y="1847088"/>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الثانية</a:t>
            </a:r>
            <a:r>
              <a:rPr lang="en-US"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 </a:t>
            </a:r>
            <a:r>
              <a:rPr lang="en-US" altLang="en-US" sz="1600" b="1" i="0" dirty="0">
                <a:solidFill>
                  <a:schemeClr val="tx1"/>
                </a:solidFill>
                <a:latin typeface="Times New Roman"/>
                <a:ea typeface="Times New Roman"/>
                <a:cs typeface="Times New Roman"/>
              </a:rPr>
              <a:t>Westwood (2025) </a:t>
            </a:r>
            <a:r>
              <a:rPr lang="ar-SA" altLang="en-US" sz="1600" b="1" i="0" dirty="0">
                <a:solidFill>
                  <a:schemeClr val="tx1"/>
                </a:solidFill>
                <a:latin typeface="Times New Roman"/>
                <a:ea typeface="Times New Roman"/>
                <a:cs typeface="Times New Roman"/>
              </a:rPr>
              <a:t>: </a:t>
            </a:r>
            <a:r>
              <a:rPr lang="ar-SY" altLang="en-US" sz="1600" i="0" dirty="0">
                <a:solidFill>
                  <a:schemeClr val="tx1"/>
                </a:solidFill>
                <a:latin typeface="Times New Roman"/>
                <a:ea typeface="Times New Roman"/>
                <a:cs typeface="Times New Roman"/>
              </a:rPr>
              <a:t>وكيل ذكاء اصطناعي اجتاز 99.8% من أسئلة الانتباه في 43,000 اختبار ولم تكشفه أدوات الكشف المجرّبة ← سؤال الانتباه وحده لا يكفي </a:t>
            </a:r>
            <a:r>
              <a:rPr lang="ar-SY" altLang="en-US" sz="1050" i="0" dirty="0">
                <a:solidFill>
                  <a:schemeClr val="tx1"/>
                </a:solidFill>
                <a:latin typeface="Times New Roman"/>
                <a:ea typeface="Times New Roman"/>
                <a:cs typeface="Times New Roman"/>
              </a:rPr>
              <a:t>[10]</a:t>
            </a:r>
            <a:endParaRPr lang="ar-SY" altLang="en-US" sz="1600" i="0" dirty="0">
              <a:solidFill>
                <a:schemeClr val="tx1"/>
              </a:solidFill>
              <a:latin typeface="Times New Roman"/>
              <a:ea typeface="Times New Roman"/>
              <a:cs typeface="Times New Roman"/>
            </a:endParaRPr>
          </a:p>
        </p:txBody>
      </p:sp>
      <p:sp>
        <p:nvSpPr>
          <p:cNvPr id="10" name="Study 3"/>
          <p:cNvSpPr/>
          <p:nvPr/>
        </p:nvSpPr>
        <p:spPr>
          <a:xfrm>
            <a:off x="548640" y="2688336"/>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الثالثة — </a:t>
            </a:r>
            <a:r>
              <a:rPr lang="en-US" altLang="en-US" sz="1600" b="1" i="0" dirty="0">
                <a:solidFill>
                  <a:srgbClr val="2F5496"/>
                </a:solidFill>
                <a:latin typeface="Times New Roman"/>
                <a:ea typeface="Times New Roman"/>
                <a:cs typeface="Times New Roman"/>
              </a:rPr>
              <a:t> </a:t>
            </a:r>
            <a:r>
              <a:rPr lang="en-US" altLang="en-US" sz="1600" b="1" i="0" dirty="0">
                <a:solidFill>
                  <a:srgbClr val="1A1A1A"/>
                </a:solidFill>
                <a:latin typeface="Times New Roman"/>
                <a:ea typeface="Times New Roman"/>
                <a:cs typeface="Times New Roman"/>
              </a:rPr>
              <a:t>:Peer et al. (2022) </a:t>
            </a:r>
            <a:r>
              <a:rPr lang="ar-SY" altLang="en-US" sz="1600" b="0" i="0" dirty="0">
                <a:solidFill>
                  <a:srgbClr val="1A1A1A"/>
                </a:solidFill>
                <a:latin typeface="Times New Roman"/>
                <a:ea typeface="Times New Roman"/>
                <a:cs typeface="Times New Roman"/>
              </a:rPr>
              <a:t>نسبة من اجتازوا فحصَي الانتباه تراوحت بين</a:t>
            </a:r>
            <a:r>
              <a:rPr lang="en-US" altLang="en-US" sz="1600" b="0" i="0" dirty="0">
                <a:solidFill>
                  <a:srgbClr val="1A1A1A"/>
                </a:solidFill>
                <a:latin typeface="Times New Roman"/>
                <a:ea typeface="Times New Roman"/>
                <a:cs typeface="Times New Roman"/>
              </a:rPr>
              <a:t> ‎68.7%‎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22.1%‎ </a:t>
            </a:r>
            <a:r>
              <a:rPr lang="ar-SY" altLang="en-US" sz="1600" b="0" i="0" dirty="0">
                <a:solidFill>
                  <a:srgbClr val="1A1A1A"/>
                </a:solidFill>
                <a:latin typeface="Times New Roman"/>
                <a:ea typeface="Times New Roman"/>
                <a:cs typeface="Times New Roman"/>
              </a:rPr>
              <a:t>بحسب المنصة ← الجودة تُقاس ولا تُفترض </a:t>
            </a:r>
            <a:r>
              <a:rPr lang="en-US" altLang="en-US" sz="1100" b="0" i="0" dirty="0">
                <a:solidFill>
                  <a:srgbClr val="595959"/>
                </a:solidFill>
                <a:latin typeface="Times New Roman"/>
                <a:ea typeface="Times New Roman"/>
                <a:cs typeface="Times New Roman"/>
              </a:rPr>
              <a:t>[11]</a:t>
            </a:r>
            <a:endParaRPr lang="ar-SY" altLang="en-US" sz="1600" b="0" i="0" dirty="0">
              <a:solidFill>
                <a:srgbClr val="595959"/>
              </a:solidFill>
              <a:latin typeface="Times New Roman"/>
              <a:ea typeface="Times New Roman"/>
              <a:cs typeface="Times New Roman"/>
            </a:endParaRPr>
          </a:p>
        </p:txBody>
      </p:sp>
      <p:sp>
        <p:nvSpPr>
          <p:cNvPr id="11" name="Study 4"/>
          <p:cNvSpPr/>
          <p:nvPr/>
        </p:nvSpPr>
        <p:spPr>
          <a:xfrm>
            <a:off x="548640" y="3529584"/>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الرابعة — </a:t>
            </a:r>
            <a:r>
              <a:rPr lang="en-US" altLang="en-US" sz="1600" b="1" i="0" dirty="0">
                <a:solidFill>
                  <a:schemeClr val="tx1"/>
                </a:solidFill>
                <a:latin typeface="Times New Roman"/>
                <a:ea typeface="Times New Roman"/>
                <a:cs typeface="Times New Roman"/>
              </a:rPr>
              <a:t>Khondaker et al. (2023) </a:t>
            </a:r>
            <a:r>
              <a:rPr lang="ar-SA" altLang="en-US" sz="1600" b="1" i="0" dirty="0">
                <a:solidFill>
                  <a:schemeClr val="tx1"/>
                </a:solidFill>
                <a:latin typeface="Times New Roman"/>
                <a:ea typeface="Times New Roman"/>
                <a:cs typeface="Times New Roman"/>
              </a:rPr>
              <a:t>: </a:t>
            </a:r>
            <a:r>
              <a:rPr lang="ar-SY" altLang="en-US" sz="1600" i="0" dirty="0">
                <a:solidFill>
                  <a:schemeClr val="tx1"/>
                </a:solidFill>
                <a:latin typeface="Times New Roman"/>
                <a:ea typeface="Times New Roman"/>
                <a:cs typeface="Times New Roman"/>
              </a:rPr>
              <a:t>في 44 مهمة عربية تفوقت نماذج عربية صغيرة مضبوطة على </a:t>
            </a:r>
            <a:r>
              <a:rPr lang="en-US" altLang="en-US" sz="1600" i="0" dirty="0">
                <a:solidFill>
                  <a:schemeClr val="tx1"/>
                </a:solidFill>
                <a:latin typeface="Times New Roman"/>
                <a:ea typeface="Times New Roman"/>
                <a:cs typeface="Times New Roman"/>
              </a:rPr>
              <a:t>ChatGPT، </a:t>
            </a:r>
            <a:r>
              <a:rPr lang="ar-SY" altLang="en-US" sz="1600" i="0" dirty="0">
                <a:solidFill>
                  <a:schemeClr val="tx1"/>
                </a:solidFill>
                <a:latin typeface="Times New Roman"/>
                <a:ea typeface="Times New Roman"/>
                <a:cs typeface="Times New Roman"/>
              </a:rPr>
              <a:t>وكان أضعف في اللهجات منه في الفصحى ← نختار النموذج بالقياس </a:t>
            </a:r>
            <a:r>
              <a:rPr lang="ar-SY" altLang="en-US" sz="1200" i="0" dirty="0">
                <a:solidFill>
                  <a:schemeClr val="tx1"/>
                </a:solidFill>
                <a:latin typeface="Times New Roman"/>
                <a:ea typeface="Times New Roman"/>
                <a:cs typeface="Times New Roman"/>
              </a:rPr>
              <a:t>[12]</a:t>
            </a:r>
            <a:endParaRPr lang="ar-SY" altLang="en-US" sz="1600" i="0" dirty="0">
              <a:solidFill>
                <a:schemeClr val="tx1"/>
              </a:solidFill>
              <a:latin typeface="Times New Roman"/>
              <a:ea typeface="Times New Roman"/>
              <a:cs typeface="Times New Roman"/>
            </a:endParaRPr>
          </a:p>
        </p:txBody>
      </p:sp>
      <p:sp>
        <p:nvSpPr>
          <p:cNvPr id="12" name="Study 5"/>
          <p:cNvSpPr/>
          <p:nvPr/>
        </p:nvSpPr>
        <p:spPr>
          <a:xfrm>
            <a:off x="548640" y="4370832"/>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pPr>
            <a:r>
              <a:rPr lang="ar-SY" altLang="en-US" sz="1600" b="1" i="0" dirty="0">
                <a:solidFill>
                  <a:srgbClr val="2F5496"/>
                </a:solidFill>
                <a:latin typeface="Times New Roman"/>
                <a:ea typeface="Times New Roman"/>
                <a:cs typeface="Times New Roman"/>
              </a:rPr>
              <a:t>الدراسة الخامسة — </a:t>
            </a:r>
            <a:r>
              <a:rPr lang="en-US" altLang="en-US" sz="1600" b="1" i="0" dirty="0">
                <a:solidFill>
                  <a:srgbClr val="2F5496"/>
                </a:solidFill>
                <a:latin typeface="Times New Roman"/>
                <a:ea typeface="Times New Roman"/>
                <a:cs typeface="Times New Roman"/>
              </a:rPr>
              <a:t> </a:t>
            </a:r>
            <a:r>
              <a:rPr lang="en-US" altLang="en-US" sz="1600" b="1" i="0" dirty="0">
                <a:solidFill>
                  <a:srgbClr val="1A1A1A"/>
                </a:solidFill>
                <a:latin typeface="Times New Roman"/>
                <a:ea typeface="Times New Roman"/>
                <a:cs typeface="Times New Roman"/>
              </a:rPr>
              <a:t>:Abu Farha &amp; Magdy (2021) </a:t>
            </a:r>
            <a:r>
              <a:rPr lang="ar-SY" altLang="en-US" sz="1600" b="0" i="0" dirty="0">
                <a:solidFill>
                  <a:srgbClr val="1A1A1A"/>
                </a:solidFill>
                <a:latin typeface="Times New Roman"/>
                <a:ea typeface="Times New Roman"/>
                <a:cs typeface="Times New Roman"/>
              </a:rPr>
              <a:t>مقارنة</a:t>
            </a:r>
            <a:r>
              <a:rPr lang="en-US" altLang="en-US" sz="1600" b="0" i="0" dirty="0">
                <a:solidFill>
                  <a:srgbClr val="1A1A1A"/>
                </a:solidFill>
                <a:latin typeface="Times New Roman"/>
                <a:ea typeface="Times New Roman"/>
                <a:cs typeface="Times New Roman"/>
              </a:rPr>
              <a:t> 24 </a:t>
            </a:r>
            <a:r>
              <a:rPr lang="ar-SY" altLang="en-US" sz="1600" b="0" i="0" dirty="0">
                <a:solidFill>
                  <a:srgbClr val="1A1A1A"/>
                </a:solidFill>
                <a:latin typeface="Times New Roman"/>
                <a:ea typeface="Times New Roman"/>
                <a:cs typeface="Times New Roman"/>
              </a:rPr>
              <a:t>نموذجاً لتحليل المشاعر العربية</a:t>
            </a:r>
            <a:r>
              <a:rPr lang="en-US" altLang="en-US" sz="1600" b="0" i="0" dirty="0">
                <a:solidFill>
                  <a:srgbClr val="1A1A1A"/>
                </a:solidFill>
                <a:latin typeface="Times New Roman"/>
                <a:ea typeface="Times New Roman"/>
                <a:cs typeface="Times New Roman"/>
              </a:rPr>
              <a:t>: MARBERT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AraBERT </a:t>
            </a:r>
            <a:r>
              <a:rPr lang="ar-SY" altLang="en-US" sz="1600" b="0" i="0" dirty="0">
                <a:solidFill>
                  <a:srgbClr val="1A1A1A"/>
                </a:solidFill>
                <a:latin typeface="Times New Roman"/>
                <a:ea typeface="Times New Roman"/>
                <a:cs typeface="Times New Roman"/>
              </a:rPr>
              <a:t>الأفضل</a:t>
            </a:r>
            <a:r>
              <a:rPr lang="en-US" altLang="en-US" sz="1600" b="0" i="0" dirty="0">
                <a:solidFill>
                  <a:srgbClr val="1A1A1A"/>
                </a:solidFill>
                <a:latin typeface="Times New Roman"/>
                <a:ea typeface="Times New Roman"/>
                <a:cs typeface="Times New Roman"/>
              </a:rPr>
              <a:t> (0.724) </a:t>
            </a:r>
            <a:r>
              <a:rPr lang="ar-SY" altLang="en-US" sz="1600" b="0" i="0" dirty="0">
                <a:solidFill>
                  <a:srgbClr val="1A1A1A"/>
                </a:solidFill>
                <a:latin typeface="Times New Roman"/>
                <a:ea typeface="Times New Roman"/>
                <a:cs typeface="Times New Roman"/>
              </a:rPr>
              <a:t>مقابل</a:t>
            </a:r>
            <a:r>
              <a:rPr lang="en-US" altLang="en-US" sz="1600" b="0" i="0" dirty="0">
                <a:solidFill>
                  <a:srgbClr val="1A1A1A"/>
                </a:solidFill>
                <a:latin typeface="Times New Roman"/>
                <a:ea typeface="Times New Roman"/>
                <a:cs typeface="Times New Roman"/>
              </a:rPr>
              <a:t>      </a:t>
            </a:r>
            <a:r>
              <a:rPr lang="ar-SA" altLang="en-US" sz="1600" b="0" i="0" dirty="0">
                <a:solidFill>
                  <a:srgbClr val="1A1A1A"/>
                </a:solidFill>
                <a:latin typeface="Times New Roman"/>
                <a:ea typeface="Times New Roman"/>
                <a:cs typeface="Times New Roman"/>
              </a:rPr>
              <a:t> </a:t>
            </a:r>
            <a:r>
              <a:rPr lang="en-US" altLang="en-US" sz="1600" b="0" i="0" dirty="0">
                <a:solidFill>
                  <a:srgbClr val="1A1A1A"/>
                </a:solidFill>
                <a:latin typeface="Times New Roman"/>
                <a:ea typeface="Times New Roman"/>
                <a:cs typeface="Times New Roman"/>
              </a:rPr>
              <a:t>  0.625 </a:t>
            </a:r>
            <a:r>
              <a:rPr lang="ar-SY" altLang="en-US" sz="1600" b="0" i="0" dirty="0">
                <a:solidFill>
                  <a:srgbClr val="1A1A1A"/>
                </a:solidFill>
                <a:latin typeface="Times New Roman"/>
                <a:ea typeface="Times New Roman"/>
                <a:cs typeface="Times New Roman"/>
              </a:rPr>
              <a:t>لـ </a:t>
            </a:r>
            <a:r>
              <a:rPr lang="en-US" altLang="en-US" sz="1600" b="0" i="0" dirty="0">
                <a:solidFill>
                  <a:srgbClr val="1A1A1A"/>
                </a:solidFill>
                <a:latin typeface="Times New Roman"/>
                <a:ea typeface="Times New Roman"/>
                <a:cs typeface="Times New Roman"/>
              </a:rPr>
              <a:t> </a:t>
            </a:r>
            <a:r>
              <a:rPr lang="en-US" altLang="en-US" sz="1600" b="0" i="0" dirty="0" err="1">
                <a:solidFill>
                  <a:srgbClr val="1A1A1A"/>
                </a:solidFill>
                <a:latin typeface="Times New Roman"/>
                <a:ea typeface="Times New Roman"/>
                <a:cs typeface="Times New Roman"/>
              </a:rPr>
              <a:t>mBERT</a:t>
            </a:r>
            <a:r>
              <a:rPr lang="ar-SA" altLang="en-US" sz="1600" b="0" i="0" dirty="0">
                <a:solidFill>
                  <a:srgbClr val="1A1A1A"/>
                </a:solidFill>
                <a:latin typeface="Times New Roman"/>
                <a:ea typeface="Times New Roman"/>
                <a:cs typeface="Times New Roman"/>
              </a:rPr>
              <a:t> </a:t>
            </a:r>
            <a:r>
              <a:rPr lang="en-US" altLang="en-US" sz="1200" dirty="0">
                <a:solidFill>
                  <a:srgbClr val="595959"/>
                </a:solidFill>
                <a:latin typeface="Times New Roman"/>
                <a:ea typeface="Times New Roman"/>
                <a:cs typeface="Times New Roman"/>
              </a:rPr>
              <a:t>[13]</a:t>
            </a:r>
            <a:endParaRPr lang="ar-SY" altLang="en-US" sz="1200" dirty="0">
              <a:solidFill>
                <a:srgbClr val="595959"/>
              </a:solidFill>
              <a:latin typeface="Times New Roman"/>
              <a:ea typeface="Times New Roman"/>
              <a:cs typeface="Times New Roman"/>
            </a:endParaRPr>
          </a:p>
          <a:p>
            <a:pPr algn="r" rtl="1">
              <a:lnSpc>
                <a:spcPct val="95000"/>
              </a:lnSpc>
              <a:spcBef>
                <a:spcPts val="0"/>
              </a:spcBef>
              <a:spcAft>
                <a:spcPts val="0"/>
              </a:spcAft>
              <a:buNone/>
            </a:pPr>
            <a:endParaRPr lang="ar-SA" altLang="en-US" sz="1600" b="0" i="0" dirty="0">
              <a:solidFill>
                <a:srgbClr val="1A1A1A"/>
              </a:solidFill>
              <a:latin typeface="Times New Roman"/>
              <a:ea typeface="Times New Roman"/>
              <a:cs typeface="Times New Roman"/>
            </a:endParaRPr>
          </a:p>
        </p:txBody>
      </p:sp>
      <p:sp>
        <p:nvSpPr>
          <p:cNvPr id="13" name="Study 6"/>
          <p:cNvSpPr/>
          <p:nvPr/>
        </p:nvSpPr>
        <p:spPr>
          <a:xfrm>
            <a:off x="548640" y="5212080"/>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السادسة — </a:t>
            </a:r>
            <a:r>
              <a:rPr lang="en-US" altLang="en-US" sz="1600" b="1" i="0" dirty="0">
                <a:solidFill>
                  <a:srgbClr val="1A1A1A"/>
                </a:solidFill>
                <a:latin typeface="Times New Roman"/>
                <a:ea typeface="Times New Roman"/>
                <a:cs typeface="Times New Roman"/>
              </a:rPr>
              <a:t>:</a:t>
            </a:r>
            <a:r>
              <a:rPr lang="en-US" altLang="en-US" sz="1600" b="1" i="0" dirty="0" err="1">
                <a:solidFill>
                  <a:srgbClr val="1A1A1A"/>
                </a:solidFill>
                <a:latin typeface="Times New Roman"/>
                <a:ea typeface="Times New Roman"/>
                <a:cs typeface="Times New Roman"/>
              </a:rPr>
              <a:t>Lossio</a:t>
            </a:r>
            <a:r>
              <a:rPr lang="en-US" altLang="en-US" sz="1600" b="1" i="0" dirty="0">
                <a:solidFill>
                  <a:srgbClr val="1A1A1A"/>
                </a:solidFill>
                <a:latin typeface="Times New Roman"/>
                <a:ea typeface="Times New Roman"/>
                <a:cs typeface="Times New Roman"/>
              </a:rPr>
              <a:t>-Ventura et al. (2024)</a:t>
            </a:r>
            <a:r>
              <a:rPr lang="ar-SY" altLang="en-US" sz="1600" b="1"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على إجابات استبيان مفتوحة حقيقية: أدوات المعاجم</a:t>
            </a:r>
            <a:r>
              <a:rPr lang="en-US" altLang="en-US" sz="1600" b="0" i="0" dirty="0">
                <a:solidFill>
                  <a:srgbClr val="1A1A1A"/>
                </a:solidFill>
                <a:latin typeface="Times New Roman"/>
                <a:ea typeface="Times New Roman"/>
                <a:cs typeface="Times New Roman"/>
              </a:rPr>
              <a:t> 0.43–0.66 </a:t>
            </a:r>
            <a:r>
              <a:rPr lang="ar-SY" altLang="en-US" sz="1600" b="0" i="0" dirty="0">
                <a:solidFill>
                  <a:srgbClr val="1A1A1A"/>
                </a:solidFill>
                <a:latin typeface="Times New Roman"/>
                <a:ea typeface="Times New Roman"/>
                <a:cs typeface="Times New Roman"/>
              </a:rPr>
              <a:t>دقة، و</a:t>
            </a:r>
            <a:r>
              <a:rPr lang="en-US" altLang="en-US" sz="1600" b="0" i="0" dirty="0">
                <a:solidFill>
                  <a:srgbClr val="1A1A1A"/>
                </a:solidFill>
                <a:latin typeface="Times New Roman"/>
                <a:ea typeface="Times New Roman"/>
                <a:cs typeface="Times New Roman"/>
              </a:rPr>
              <a:t> ChatGPT </a:t>
            </a:r>
            <a:r>
              <a:rPr lang="ar-SY" altLang="en-US" sz="1600" b="0" i="0" dirty="0">
                <a:solidFill>
                  <a:srgbClr val="1A1A1A"/>
                </a:solidFill>
                <a:latin typeface="Times New Roman"/>
                <a:ea typeface="Times New Roman"/>
                <a:cs typeface="Times New Roman"/>
              </a:rPr>
              <a:t>بين</a:t>
            </a:r>
            <a:r>
              <a:rPr lang="en-US" altLang="en-US" sz="1600" b="0" i="0" dirty="0">
                <a:solidFill>
                  <a:srgbClr val="1A1A1A"/>
                </a:solidFill>
                <a:latin typeface="Times New Roman"/>
                <a:ea typeface="Times New Roman"/>
                <a:cs typeface="Times New Roman"/>
              </a:rPr>
              <a:t> 0.86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0.87 ← </a:t>
            </a:r>
            <a:r>
              <a:rPr lang="ar-SY" altLang="en-US" sz="1600" b="0" i="0" dirty="0">
                <a:solidFill>
                  <a:srgbClr val="1A1A1A"/>
                </a:solidFill>
                <a:latin typeface="Times New Roman"/>
                <a:ea typeface="Times New Roman"/>
                <a:cs typeface="Times New Roman"/>
              </a:rPr>
              <a:t>نقارن النماذج بتصنيف بشري </a:t>
            </a:r>
            <a:r>
              <a:rPr lang="en-US" altLang="en-US" sz="1200" b="0" i="0" dirty="0">
                <a:solidFill>
                  <a:srgbClr val="595959"/>
                </a:solidFill>
                <a:latin typeface="Times New Roman"/>
                <a:ea typeface="Times New Roman"/>
                <a:cs typeface="Times New Roman"/>
              </a:rPr>
              <a:t>[14]</a:t>
            </a:r>
            <a:endParaRPr lang="ar-SY" altLang="en-US" sz="1600" b="0" i="0" dirty="0">
              <a:solidFill>
                <a:srgbClr val="595959"/>
              </a:solidFill>
              <a:latin typeface="Times New Roman"/>
              <a:ea typeface="Times New Roman"/>
              <a:cs typeface="Times New Roman"/>
            </a:endParaRPr>
          </a:p>
        </p:txBody>
      </p:sp>
    </p:spTree>
    <p:extLst>
      <p:ext uri="{BB962C8B-B14F-4D97-AF65-F5344CB8AC3E}">
        <p14:creationId xmlns:p14="http://schemas.microsoft.com/office/powerpoint/2010/main" val="1333343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0E407DD-A187-47D0-F7D0-D8EFECD89112}"/>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453B85F1-EC29-F285-CD6F-1FC6E3D18912}"/>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09FB7830-AE76-FA38-8FDC-9C99C8C6A0E0}"/>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5</a:t>
            </a:fld>
            <a:endParaRPr lang="en-US"/>
          </a:p>
        </p:txBody>
      </p:sp>
      <p:sp>
        <p:nvSpPr>
          <p:cNvPr id="7" name="Title">
            <a:extLst>
              <a:ext uri="{FF2B5EF4-FFF2-40B4-BE49-F238E27FC236}">
                <a16:creationId xmlns:a16="http://schemas.microsoft.com/office/drawing/2014/main" id="{F336949F-FA28-8B4A-2632-3CC4A0938BD9}"/>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مقارنة الأنظمة الحالية والفجوة</a:t>
            </a:r>
            <a:r>
              <a:rPr lang="en-US" altLang="en-US" sz="2800" b="1" i="0" dirty="0">
                <a:solidFill>
                  <a:srgbClr val="2F5496"/>
                </a:solidFill>
                <a:latin typeface="Times New Roman"/>
                <a:ea typeface="Times New Roman"/>
                <a:cs typeface="Times New Roman"/>
              </a:rPr>
              <a:t> (Gap Analysis) </a:t>
            </a:r>
            <a:endParaRPr lang="ar-SY" altLang="en-US" sz="2800" b="1" i="0" dirty="0">
              <a:solidFill>
                <a:srgbClr val="2F5496"/>
              </a:solidFill>
              <a:latin typeface="Times New Roman"/>
              <a:ea typeface="Times New Roman"/>
              <a:cs typeface="Times New Roman"/>
            </a:endParaRPr>
          </a:p>
        </p:txBody>
      </p:sp>
      <p:graphicFrame>
        <p:nvGraphicFramePr>
          <p:cNvPr id="8" name="Comparison table"/>
          <p:cNvGraphicFramePr>
            <a:graphicFrameLocks noGrp="1"/>
          </p:cNvGraphicFramePr>
          <p:nvPr>
            <p:extLst>
              <p:ext uri="{D42A27DB-BD31-4B8C-83A1-F6EECF244321}">
                <p14:modId xmlns:p14="http://schemas.microsoft.com/office/powerpoint/2010/main" val="810708393"/>
              </p:ext>
            </p:extLst>
          </p:nvPr>
        </p:nvGraphicFramePr>
        <p:xfrm>
          <a:off x="548640" y="960120"/>
          <a:ext cx="11091672" cy="4425696"/>
        </p:xfrm>
        <a:graphic>
          <a:graphicData uri="http://schemas.openxmlformats.org/drawingml/2006/table">
            <a:tbl>
              <a:tblPr rtl="1">
                <a:tableStyleId>{5C22544A-7EE6-4342-B048-85BDC9FD1C3A}</a:tableStyleId>
              </a:tblPr>
              <a:tblGrid>
                <a:gridCol w="14630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1353312">
                  <a:extLst>
                    <a:ext uri="{9D8B030D-6E8A-4147-A177-3AD203B41FA5}">
                      <a16:colId xmlns:a16="http://schemas.microsoft.com/office/drawing/2014/main" val="20005"/>
                    </a:ext>
                  </a:extLst>
                </a:gridCol>
                <a:gridCol w="1645920">
                  <a:extLst>
                    <a:ext uri="{9D8B030D-6E8A-4147-A177-3AD203B41FA5}">
                      <a16:colId xmlns:a16="http://schemas.microsoft.com/office/drawing/2014/main" val="20006"/>
                    </a:ext>
                  </a:extLst>
                </a:gridCol>
              </a:tblGrid>
              <a:tr h="566928">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المنصة</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النوع</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الاستهداف</a:t>
                      </a:r>
                      <a:r>
                        <a:rPr lang="en-US" altLang="en-US" sz="1300" b="1" i="0" dirty="0">
                          <a:solidFill>
                            <a:srgbClr val="FFFFFF"/>
                          </a:solidFill>
                          <a:latin typeface="Times New Roman"/>
                          <a:ea typeface="Times New Roman"/>
                          <a:cs typeface="Times New Roman"/>
                        </a:rPr>
                        <a:t> (Targeting)</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فحص الجودة</a:t>
                      </a:r>
                      <a:r>
                        <a:rPr lang="en-US" altLang="en-US" sz="1300" b="1" i="0" dirty="0">
                          <a:solidFill>
                            <a:srgbClr val="FFFFFF"/>
                          </a:solidFill>
                          <a:latin typeface="Times New Roman"/>
                          <a:ea typeface="Times New Roman"/>
                          <a:cs typeface="Times New Roman"/>
                        </a:rPr>
                        <a:t> (Quality)</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تحليل المشاعر</a:t>
                      </a:r>
                      <a:r>
                        <a:rPr lang="en-US" altLang="en-US" sz="1300" b="1" i="0" dirty="0">
                          <a:solidFill>
                            <a:srgbClr val="FFFFFF"/>
                          </a:solidFill>
                          <a:latin typeface="Times New Roman"/>
                          <a:ea typeface="Times New Roman"/>
                          <a:cs typeface="Times New Roman"/>
                        </a:rPr>
                        <a:t> (Sentiment)</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نقطة القوة</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نقطة الضعف</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Google Forms</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يوجد</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إجابة واحدة لكل حساب</a:t>
                      </a:r>
                      <a:r>
                        <a:rPr lang="en-US" altLang="en-US" sz="1200" b="0" i="0" dirty="0">
                          <a:solidFill>
                            <a:srgbClr val="1A1A1A"/>
                          </a:solidFill>
                          <a:latin typeface="Times New Roman"/>
                          <a:ea typeface="Times New Roman"/>
                          <a:cs typeface="Times New Roman"/>
                        </a:rPr>
                        <a:t> </a:t>
                      </a:r>
                      <a:r>
                        <a:rPr lang="en-US" altLang="en-US" sz="1050" b="0" i="0" dirty="0">
                          <a:solidFill>
                            <a:srgbClr val="1A1A1A"/>
                          </a:solidFill>
                          <a:latin typeface="Times New Roman"/>
                          <a:ea typeface="Times New Roman"/>
                          <a:cs typeface="Times New Roman"/>
                        </a:rPr>
                        <a:t>[5]  </a:t>
                      </a:r>
                      <a:r>
                        <a:rPr lang="en-US" altLang="en-US" sz="1200" b="0" i="0" dirty="0">
                          <a:solidFill>
                            <a:srgbClr val="1A1A1A"/>
                          </a:solidFill>
                          <a:latin typeface="Times New Roman"/>
                          <a:ea typeface="Times New Roman"/>
                          <a:cs typeface="Times New Roman"/>
                        </a:rPr>
                        <a:t>Google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ملخصات</a:t>
                      </a:r>
                      <a:r>
                        <a:rPr lang="en-US" altLang="en-US" sz="1200" b="0" i="0" dirty="0">
                          <a:solidFill>
                            <a:srgbClr val="1A1A1A"/>
                          </a:solidFill>
                          <a:latin typeface="Times New Roman"/>
                          <a:ea typeface="Times New Roman"/>
                          <a:cs typeface="Times New Roman"/>
                        </a:rPr>
                        <a:t> Gemini </a:t>
                      </a:r>
                      <a:r>
                        <a:rPr lang="ar-SY" altLang="en-US" sz="1200" b="0" i="0" dirty="0">
                          <a:solidFill>
                            <a:srgbClr val="1A1A1A"/>
                          </a:solidFill>
                          <a:latin typeface="Times New Roman"/>
                          <a:ea typeface="Times New Roman"/>
                          <a:cs typeface="Times New Roman"/>
                        </a:rPr>
                        <a:t>في خطط</a:t>
                      </a:r>
                      <a:r>
                        <a:rPr lang="en-US" altLang="en-US" sz="1200" b="0" i="0" dirty="0">
                          <a:solidFill>
                            <a:srgbClr val="1A1A1A"/>
                          </a:solidFill>
                          <a:latin typeface="Times New Roman"/>
                          <a:ea typeface="Times New Roman"/>
                          <a:cs typeface="Times New Roman"/>
                        </a:rPr>
                        <a:t> Workspace </a:t>
                      </a:r>
                      <a:r>
                        <a:rPr lang="ar-SY" altLang="en-US" sz="1200" b="0" i="0" dirty="0">
                          <a:solidFill>
                            <a:srgbClr val="1A1A1A"/>
                          </a:solidFill>
                          <a:latin typeface="Times New Roman"/>
                          <a:ea typeface="Times New Roman"/>
                          <a:cs typeface="Times New Roman"/>
                        </a:rPr>
                        <a:t>المدفوعة؛ لا تصنيف لكل إجابة</a:t>
                      </a:r>
                      <a:r>
                        <a:rPr lang="en-US" altLang="en-US" sz="1000" b="0" i="0" dirty="0">
                          <a:solidFill>
                            <a:srgbClr val="1A1A1A"/>
                          </a:solidFill>
                          <a:latin typeface="Times New Roman"/>
                          <a:ea typeface="Times New Roman"/>
                          <a:cs typeface="Times New Roman"/>
                        </a:rPr>
                        <a:t> [9]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مجانية وسهلة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استهداف</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Typeform</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يوجد</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reCAPTCHA</a:t>
                      </a:r>
                      <a:r>
                        <a:rPr lang="ar-SY" altLang="en-US" sz="1200" b="0" i="0" dirty="0">
                          <a:solidFill>
                            <a:srgbClr val="1A1A1A"/>
                          </a:solidFill>
                          <a:latin typeface="Times New Roman"/>
                          <a:ea typeface="Times New Roman"/>
                          <a:cs typeface="Times New Roman"/>
                        </a:rPr>
                        <a:t>؛ منع التكرار بالكوكيز في الخطط العليا </a:t>
                      </a:r>
                      <a:r>
                        <a:rPr lang="en-US" altLang="en-US" sz="1050" b="0" i="0" dirty="0">
                          <a:solidFill>
                            <a:srgbClr val="1A1A1A"/>
                          </a:solidFill>
                          <a:latin typeface="Times New Roman"/>
                          <a:ea typeface="Times New Roman"/>
                          <a:cs typeface="Times New Roman"/>
                        </a:rPr>
                        <a:t> [6]</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 Smart Insights </a:t>
                      </a:r>
                      <a:r>
                        <a:rPr lang="ar-SY" altLang="en-US" sz="1200" b="0" i="0" dirty="0">
                          <a:solidFill>
                            <a:srgbClr val="1A1A1A"/>
                          </a:solidFill>
                          <a:latin typeface="Times New Roman"/>
                          <a:ea typeface="Times New Roman"/>
                          <a:cs typeface="Times New Roman"/>
                        </a:rPr>
                        <a:t>في الخطط العليا؛ للإنجليزية فقط </a:t>
                      </a:r>
                      <a:r>
                        <a:rPr lang="en-US" altLang="en-US" sz="1200" b="0" i="0" dirty="0">
                          <a:solidFill>
                            <a:srgbClr val="1A1A1A"/>
                          </a:solidFill>
                          <a:latin typeface="Times New Roman"/>
                          <a:ea typeface="Times New Roman"/>
                          <a:cs typeface="Times New Roman"/>
                        </a:rPr>
                        <a:t> [8]</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سؤال واحد في الشاشة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منع التكرار يُتجاوز بمسح الكوكيز</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SurveyMonkey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عبر</a:t>
                      </a:r>
                      <a:r>
                        <a:rPr lang="en-US" altLang="en-US" sz="1200" b="0" i="0" dirty="0">
                          <a:solidFill>
                            <a:srgbClr val="1A1A1A"/>
                          </a:solidFill>
                          <a:latin typeface="Times New Roman"/>
                          <a:ea typeface="Times New Roman"/>
                          <a:cs typeface="Times New Roman"/>
                        </a:rPr>
                        <a:t> Audience </a:t>
                      </a:r>
                      <a:r>
                        <a:rPr lang="ar-SY" altLang="en-US" sz="1200" b="0" i="0" dirty="0">
                          <a:solidFill>
                            <a:srgbClr val="1A1A1A"/>
                          </a:solidFill>
                          <a:latin typeface="Times New Roman"/>
                          <a:ea typeface="Times New Roman"/>
                          <a:cs typeface="Times New Roman"/>
                        </a:rPr>
                        <a:t>المدفوع فقط</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إجابة واحدة، حظر عناوين</a:t>
                      </a:r>
                      <a:r>
                        <a:rPr lang="en-US" altLang="en-US" sz="1200" b="0" i="0" dirty="0">
                          <a:solidFill>
                            <a:srgbClr val="1A1A1A"/>
                          </a:solidFill>
                          <a:latin typeface="Times New Roman"/>
                          <a:ea typeface="Times New Roman"/>
                          <a:cs typeface="Times New Roman"/>
                        </a:rPr>
                        <a:t> IP </a:t>
                      </a:r>
                      <a:r>
                        <a:rPr lang="ar-SY" altLang="en-US" sz="1200" b="0" i="0" dirty="0">
                          <a:solidFill>
                            <a:srgbClr val="1A1A1A"/>
                          </a:solidFill>
                          <a:latin typeface="Times New Roman"/>
                          <a:ea typeface="Times New Roman"/>
                          <a:cs typeface="Times New Roman"/>
                        </a:rPr>
                        <a:t>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في خطط مدفوعة؛ اللغات غير مذكورة </a:t>
                      </a:r>
                      <a:r>
                        <a:rPr lang="en-US" altLang="en-US" sz="1200" b="0" i="0" dirty="0">
                          <a:solidFill>
                            <a:srgbClr val="1A1A1A"/>
                          </a:solidFill>
                          <a:latin typeface="Times New Roman"/>
                          <a:ea typeface="Times New Roman"/>
                          <a:cs typeface="Times New Roman"/>
                        </a:rPr>
                        <a:t> [7]</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أنواع أسئلة ومنطق غني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الاستهداف منتج منفصل</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SurveyMonkey Audience</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أكثر من</a:t>
                      </a:r>
                      <a:r>
                        <a:rPr lang="en-US" altLang="en-US" sz="1200" b="0" i="0" dirty="0">
                          <a:solidFill>
                            <a:srgbClr val="1A1A1A"/>
                          </a:solidFill>
                          <a:latin typeface="Times New Roman"/>
                          <a:ea typeface="Times New Roman"/>
                          <a:cs typeface="Times New Roman"/>
                        </a:rPr>
                        <a:t> 200 </a:t>
                      </a:r>
                      <a:r>
                        <a:rPr lang="ar-SY" altLang="en-US" sz="1200" b="0" i="0" dirty="0">
                          <a:solidFill>
                            <a:srgbClr val="1A1A1A"/>
                          </a:solidFill>
                          <a:latin typeface="Times New Roman"/>
                          <a:ea typeface="Times New Roman"/>
                          <a:cs typeface="Times New Roman"/>
                        </a:rPr>
                        <a:t>خيار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Machine Learning </a:t>
                      </a:r>
                      <a:r>
                        <a:rPr lang="ar-SY" altLang="en-US" sz="1200" b="0" i="0" dirty="0">
                          <a:solidFill>
                            <a:srgbClr val="1A1A1A"/>
                          </a:solidFill>
                          <a:latin typeface="Times New Roman"/>
                          <a:ea typeface="Times New Roman"/>
                          <a:cs typeface="Times New Roman"/>
                        </a:rPr>
                        <a:t> يستبدل الإجابات الضعيفة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(سحابة كلمات ووسوم)</a:t>
                      </a:r>
                      <a:r>
                        <a:rPr lang="en-US" altLang="en-US" sz="1200" b="0" i="0" dirty="0">
                          <a:solidFill>
                            <a:srgbClr val="1A1A1A"/>
                          </a:solidFill>
                          <a:latin typeface="Times New Roman"/>
                          <a:ea typeface="Times New Roman"/>
                          <a:cs typeface="Times New Roman"/>
                        </a:rPr>
                        <a:t> [15]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وصول سريع</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سوريا غير مدرجة</a:t>
                      </a:r>
                      <a:r>
                        <a:rPr lang="en-US" altLang="en-US" sz="1200" b="0" i="0" dirty="0">
                          <a:solidFill>
                            <a:srgbClr val="1A1A1A"/>
                          </a:solidFill>
                          <a:latin typeface="Times New Roman"/>
                          <a:ea typeface="Times New Roman"/>
                          <a:cs typeface="Times New Roman"/>
                        </a:rPr>
                        <a:t> [1] </a:t>
                      </a:r>
                      <a:r>
                        <a:rPr lang="ar-SY" altLang="en-US" sz="1200" b="0" i="0" dirty="0">
                          <a:solidFill>
                            <a:srgbClr val="1A1A1A"/>
                          </a:solidFill>
                          <a:latin typeface="Times New Roman"/>
                          <a:ea typeface="Times New Roman"/>
                          <a:cs typeface="Times New Roman"/>
                        </a:rPr>
                        <a:t>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Prolific</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أكثر من</a:t>
                      </a:r>
                      <a:r>
                        <a:rPr lang="en-US" altLang="en-US" sz="1200" b="0" i="0" dirty="0">
                          <a:solidFill>
                            <a:srgbClr val="1A1A1A"/>
                          </a:solidFill>
                          <a:latin typeface="Times New Roman"/>
                          <a:ea typeface="Times New Roman"/>
                          <a:cs typeface="Times New Roman"/>
                        </a:rPr>
                        <a:t> 300 </a:t>
                      </a:r>
                      <a:r>
                        <a:rPr lang="ar-SY" altLang="en-US" sz="1200" b="0" i="0" dirty="0">
                          <a:solidFill>
                            <a:srgbClr val="1A1A1A"/>
                          </a:solidFill>
                          <a:latin typeface="Times New Roman"/>
                          <a:ea typeface="Times New Roman"/>
                          <a:cs typeface="Times New Roman"/>
                        </a:rPr>
                        <a:t>فلتر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تحقق هوية، وسم السرعة،</a:t>
                      </a:r>
                      <a:r>
                        <a:rPr lang="en-US" altLang="en-US" sz="1200" b="0" i="0" dirty="0">
                          <a:solidFill>
                            <a:srgbClr val="1A1A1A"/>
                          </a:solidFill>
                          <a:latin typeface="Times New Roman"/>
                          <a:ea typeface="Times New Roman"/>
                          <a:cs typeface="Times New Roman"/>
                        </a:rPr>
                        <a:t> Quality Scores</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(الاستبيان يُستضاف خارجها)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جودة للأبحاث</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سوريا غير مدرجة</a:t>
                      </a:r>
                      <a:r>
                        <a:rPr lang="en-US" altLang="en-US" sz="1200" b="0" i="0" dirty="0">
                          <a:solidFill>
                            <a:srgbClr val="1A1A1A"/>
                          </a:solidFill>
                          <a:latin typeface="Times New Roman"/>
                          <a:ea typeface="Times New Roman"/>
                          <a:cs typeface="Times New Roman"/>
                        </a:rPr>
                        <a:t> [2]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Pollfish</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ديموغرافي وجغرافي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كشف احتيال آلي، يستبعد حتى</a:t>
                      </a:r>
                      <a:r>
                        <a:rPr lang="en-US" altLang="en-US" sz="1200" b="0" i="0" dirty="0">
                          <a:solidFill>
                            <a:srgbClr val="1A1A1A"/>
                          </a:solidFill>
                          <a:latin typeface="Times New Roman"/>
                          <a:ea typeface="Times New Roman"/>
                          <a:cs typeface="Times New Roman"/>
                        </a:rPr>
                        <a:t> ‎30%‎ [16]</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في لوحة النتائج </a:t>
                      </a:r>
                      <a:r>
                        <a:rPr lang="en-US" altLang="en-US" sz="1200" b="0" i="0" dirty="0">
                          <a:solidFill>
                            <a:srgbClr val="1A1A1A"/>
                          </a:solidFill>
                          <a:latin typeface="Times New Roman"/>
                          <a:ea typeface="Times New Roman"/>
                          <a:cs typeface="Times New Roman"/>
                        </a:rPr>
                        <a:t> [17]</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توزيع داخل التطبيقات</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العربية غير مدعومة </a:t>
                      </a:r>
                      <a:r>
                        <a:rPr lang="en-US" altLang="en-US" sz="1200" b="0" i="0" dirty="0">
                          <a:solidFill>
                            <a:srgbClr val="1A1A1A"/>
                          </a:solidFill>
                          <a:latin typeface="Times New Roman"/>
                          <a:ea typeface="Times New Roman"/>
                          <a:cs typeface="Times New Roman"/>
                        </a:rPr>
                        <a:t>  [3]</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566928">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Smart Survey</a:t>
                      </a:r>
                      <a:endParaRPr lang="ar-SY" altLang="en-US" sz="1200" b="1" i="0" dirty="0">
                        <a:solidFill>
                          <a:srgbClr val="1A1A1A"/>
                        </a:solidFill>
                        <a:latin typeface="Times New Roman"/>
                        <a:ea typeface="Times New Roman"/>
                        <a:cs typeface="Times New Roman"/>
                      </a:endParaRPr>
                    </a:p>
                    <a:p>
                      <a:pPr algn="r" rtl="1">
                        <a:spcBef>
                          <a:spcPts val="0"/>
                        </a:spcBef>
                        <a:spcAft>
                          <a:spcPts val="0"/>
                        </a:spcAft>
                        <a:buNone/>
                      </a:pPr>
                      <a:r>
                        <a:rPr lang="ar-SY" altLang="en-US" sz="1200" b="1" i="0" dirty="0">
                          <a:solidFill>
                            <a:srgbClr val="1A1A1A"/>
                          </a:solidFill>
                          <a:latin typeface="Times New Roman"/>
                          <a:ea typeface="Times New Roman"/>
                          <a:cs typeface="Times New Roman"/>
                        </a:rPr>
                        <a:t>(مخطط له)</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Platform/</a:t>
                      </a:r>
                      <a:endParaRPr lang="ar-SY" altLang="en-US" sz="1200" b="1" i="0" dirty="0">
                        <a:solidFill>
                          <a:srgbClr val="1A1A1A"/>
                        </a:solidFill>
                        <a:latin typeface="Times New Roman"/>
                        <a:ea typeface="Times New Roman"/>
                        <a:cs typeface="Times New Roman"/>
                      </a:endParaRPr>
                    </a:p>
                    <a:p>
                      <a:pPr algn="r" rtl="1">
                        <a:spcBef>
                          <a:spcPts val="0"/>
                        </a:spcBef>
                        <a:spcAft>
                          <a:spcPts val="0"/>
                        </a:spcAft>
                        <a:buNone/>
                      </a:pPr>
                      <a:r>
                        <a:rPr lang="en-US" altLang="en-US" sz="1200" b="1" i="0" dirty="0">
                          <a:solidFill>
                            <a:srgbClr val="1A1A1A"/>
                          </a:solidFill>
                          <a:latin typeface="Times New Roman"/>
                          <a:ea typeface="Times New Roman"/>
                          <a:cs typeface="Times New Roman"/>
                        </a:rPr>
                        <a:t>Panel</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ملف موسّع ومحافظات سورية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متعدد الطبقات: انتباه، سرعة، نمط، تكرار، درجة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مدمج لكل إجابة: عربي فصحى وإنجليزي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يجمع الثلاثة لسوريا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قيد التنفيذ حتى</a:t>
                      </a:r>
                      <a:r>
                        <a:rPr lang="en-US" altLang="en-US" sz="1200" b="1" i="0" dirty="0">
                          <a:solidFill>
                            <a:srgbClr val="1A1A1A"/>
                          </a:solidFill>
                          <a:latin typeface="Times New Roman"/>
                          <a:ea typeface="Times New Roman"/>
                          <a:cs typeface="Times New Roman"/>
                        </a:rPr>
                        <a:t> 1/2027</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extLst>
                  <a:ext uri="{0D108BD9-81ED-4DB2-BD59-A6C34878D82A}">
                    <a16:rowId xmlns:a16="http://schemas.microsoft.com/office/drawing/2014/main" val="10007"/>
                  </a:ext>
                </a:extLst>
              </a:tr>
            </a:tbl>
          </a:graphicData>
        </a:graphic>
      </p:graphicFrame>
      <p:sp>
        <p:nvSpPr>
          <p:cNvPr id="9" name="Gap statement"/>
          <p:cNvSpPr/>
          <p:nvPr/>
        </p:nvSpPr>
        <p:spPr>
          <a:xfrm>
            <a:off x="548640" y="5440680"/>
            <a:ext cx="11091672" cy="457200"/>
          </a:xfrm>
          <a:prstGeom prst="roundRect">
            <a:avLst>
              <a:gd name="adj" fmla="val 8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27432" rIns="137160" bIns="27432" rtlCol="0" anchor="ctr">
            <a:noAutofit/>
          </a:bodyPr>
          <a:lstStyle/>
          <a:p>
            <a:pPr algn="r" rtl="1">
              <a:spcBef>
                <a:spcPts val="0"/>
              </a:spcBef>
              <a:spcAft>
                <a:spcPts val="0"/>
              </a:spcAft>
              <a:buNone/>
            </a:pPr>
            <a:r>
              <a:rPr lang="ar-SY" altLang="en-US" sz="1600" b="1" i="0" dirty="0">
                <a:solidFill>
                  <a:srgbClr val="FFFFFF"/>
                </a:solidFill>
                <a:latin typeface="Times New Roman"/>
                <a:ea typeface="Times New Roman"/>
                <a:cs typeface="Times New Roman"/>
              </a:rPr>
              <a:t>الفجوة: </a:t>
            </a:r>
            <a:r>
              <a:rPr lang="ar-SY" altLang="en-US" sz="1600" b="0" i="0" dirty="0">
                <a:solidFill>
                  <a:srgbClr val="FFFFFF"/>
                </a:solidFill>
                <a:latin typeface="Times New Roman"/>
                <a:ea typeface="Times New Roman"/>
                <a:cs typeface="Times New Roman"/>
              </a:rPr>
              <a:t>لا تجمع أي منصة من الست بين الاستهداف بالملف لسوريا، وفحص الجودة متعدد الطبقات، وتحليل المشاعر المدمج بالعربية.</a:t>
            </a:r>
          </a:p>
        </p:txBody>
      </p:sp>
      <p:sp>
        <p:nvSpPr>
          <p:cNvPr id="10" name="Comparison source"/>
          <p:cNvSpPr txBox="1"/>
          <p:nvPr/>
        </p:nvSpPr>
        <p:spPr>
          <a:xfrm>
            <a:off x="548640" y="5916168"/>
            <a:ext cx="11091672" cy="27432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100" b="0" i="0" dirty="0">
                <a:solidFill>
                  <a:srgbClr val="595959"/>
                </a:solidFill>
                <a:latin typeface="Times New Roman"/>
                <a:ea typeface="Times New Roman"/>
                <a:cs typeface="Times New Roman"/>
              </a:rPr>
              <a:t>المصدر: صفحات المساعدة الرسمية للمنصات،</a:t>
            </a:r>
            <a:r>
              <a:rPr lang="en-US" altLang="en-US" sz="1100" b="0" i="0" dirty="0">
                <a:solidFill>
                  <a:srgbClr val="595959"/>
                </a:solidFill>
                <a:latin typeface="Times New Roman"/>
                <a:ea typeface="Times New Roman"/>
                <a:cs typeface="Times New Roman"/>
              </a:rPr>
              <a:t> 23–27/10/2026. «</a:t>
            </a:r>
            <a:r>
              <a:rPr lang="ar-SY" altLang="en-US" sz="1100" b="0" i="0" dirty="0">
                <a:solidFill>
                  <a:srgbClr val="595959"/>
                </a:solidFill>
                <a:latin typeface="Times New Roman"/>
                <a:ea typeface="Times New Roman"/>
                <a:cs typeface="Times New Roman"/>
              </a:rPr>
              <a:t>غير مذكور» = لم تذكره الصفحات المقروءة، ولا يعني بالضرورة أن الميزة غير موجودة.</a:t>
            </a:r>
          </a:p>
        </p:txBody>
      </p:sp>
    </p:spTree>
    <p:extLst>
      <p:ext uri="{BB962C8B-B14F-4D97-AF65-F5344CB8AC3E}">
        <p14:creationId xmlns:p14="http://schemas.microsoft.com/office/powerpoint/2010/main" val="2201279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2812627-07FD-457B-3E38-682993769D31}"/>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E83FE5E1-8F32-7A75-D549-1B986529101A}"/>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C10EB202-87AB-2A68-ACDD-C0D1E32103D4}"/>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6</a:t>
            </a:fld>
            <a:endParaRPr lang="en-US"/>
          </a:p>
        </p:txBody>
      </p:sp>
      <p:sp>
        <p:nvSpPr>
          <p:cNvPr id="7" name="Title">
            <a:extLst>
              <a:ext uri="{FF2B5EF4-FFF2-40B4-BE49-F238E27FC236}">
                <a16:creationId xmlns:a16="http://schemas.microsoft.com/office/drawing/2014/main" id="{3238F884-D39F-11EE-4D51-5280663BEB05}"/>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المتطلبات الوظيفية العامة</a:t>
            </a:r>
            <a:r>
              <a:rPr lang="en-US" altLang="en-US" sz="2800" b="1" i="0" dirty="0">
                <a:solidFill>
                  <a:srgbClr val="2F5496"/>
                </a:solidFill>
                <a:latin typeface="Times New Roman"/>
                <a:ea typeface="Times New Roman"/>
                <a:cs typeface="Times New Roman"/>
              </a:rPr>
              <a:t> (General FR) </a:t>
            </a:r>
            <a:r>
              <a:rPr lang="ar-SY" altLang="en-US" sz="2800" b="1" i="0" dirty="0">
                <a:solidFill>
                  <a:srgbClr val="2F5496"/>
                </a:solidFill>
                <a:latin typeface="Times New Roman"/>
                <a:ea typeface="Times New Roman"/>
                <a:cs typeface="Times New Roman"/>
              </a:rPr>
              <a:t>وغير الوظيفية</a:t>
            </a:r>
            <a:r>
              <a:rPr lang="en-US" altLang="en-US" sz="2800" b="1" i="0" dirty="0">
                <a:solidFill>
                  <a:srgbClr val="2F5496"/>
                </a:solidFill>
                <a:latin typeface="Times New Roman"/>
                <a:ea typeface="Times New Roman"/>
                <a:cs typeface="Times New Roman"/>
              </a:rPr>
              <a:t>  (NFR) </a:t>
            </a:r>
            <a:endParaRPr lang="ar-SY" altLang="en-US" sz="2800" b="1" i="0" dirty="0">
              <a:solidFill>
                <a:srgbClr val="2F5496"/>
              </a:solidFill>
              <a:latin typeface="Times New Roman"/>
              <a:ea typeface="Times New Roman"/>
              <a:cs typeface="Times New Roman"/>
            </a:endParaRPr>
          </a:p>
        </p:txBody>
      </p:sp>
      <p:sp>
        <p:nvSpPr>
          <p:cNvPr id="8" name="FR-G heading"/>
          <p:cNvSpPr txBox="1"/>
          <p:nvPr/>
        </p:nvSpPr>
        <p:spPr>
          <a:xfrm>
            <a:off x="6355080" y="914400"/>
            <a:ext cx="5285232" cy="384048"/>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600" b="1" i="0" dirty="0">
                <a:solidFill>
                  <a:srgbClr val="2F5496"/>
                </a:solidFill>
                <a:latin typeface="Times New Roman"/>
                <a:ea typeface="Times New Roman"/>
                <a:cs typeface="Times New Roman"/>
              </a:rPr>
              <a:t>General Functional Requirements</a:t>
            </a:r>
            <a:endParaRPr lang="ar-SY" altLang="en-US" sz="1600" b="1" i="0" dirty="0">
              <a:solidFill>
                <a:srgbClr val="2F5496"/>
              </a:solidFill>
              <a:latin typeface="Times New Roman"/>
              <a:ea typeface="Times New Roman"/>
              <a:cs typeface="Times New Roman"/>
            </a:endParaRPr>
          </a:p>
        </p:txBody>
      </p:sp>
      <p:graphicFrame>
        <p:nvGraphicFramePr>
          <p:cNvPr id="9" name="FR-G table"/>
          <p:cNvGraphicFramePr>
            <a:graphicFrameLocks noGrp="1"/>
          </p:cNvGraphicFramePr>
          <p:nvPr/>
        </p:nvGraphicFramePr>
        <p:xfrm>
          <a:off x="6355080" y="1344168"/>
          <a:ext cx="5285232" cy="4517136"/>
        </p:xfrm>
        <a:graphic>
          <a:graphicData uri="http://schemas.openxmlformats.org/drawingml/2006/table">
            <a:tbl>
              <a:tblPr rtl="1">
                <a:tableStyleId>{5C22544A-7EE6-4342-B048-85BDC9FD1C3A}</a:tableStyleId>
              </a:tblPr>
              <a:tblGrid>
                <a:gridCol w="96012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tblGrid>
              <a:tr h="457200">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 الوظيفي العام</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يتيح النظام للمستجيب التسجيل والإجابة عن الاستبيانات عبر الويب ثم عبر تطبيق جوال</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يطابق النظام الاستبيانات مع المستجيبين حسب ملفهم الديموغرافي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يتيح النظام للمزوّد إنشاء الاستبيانات وإدارة دورة حياتها، ولمدير النظام</a:t>
                      </a:r>
                      <a:r>
                        <a:rPr lang="en-US" altLang="en-US" sz="1400" b="0" i="0" dirty="0">
                          <a:solidFill>
                            <a:srgbClr val="1A1A1A"/>
                          </a:solidFill>
                          <a:latin typeface="Times New Roman"/>
                          <a:ea typeface="Times New Roman"/>
                          <a:cs typeface="Times New Roman"/>
                        </a:rPr>
                        <a:t> (Admin) </a:t>
                      </a:r>
                      <a:r>
                        <a:rPr lang="ar-SY" altLang="en-US" sz="1400" b="0" i="0" dirty="0">
                          <a:solidFill>
                            <a:srgbClr val="1A1A1A"/>
                          </a:solidFill>
                          <a:latin typeface="Times New Roman"/>
                          <a:ea typeface="Times New Roman"/>
                          <a:cs typeface="Times New Roman"/>
                        </a:rPr>
                        <a:t>مراجعتها قبل النشر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يكشف النظام الإجابات منخفضة الجودة ويسِمها دون حذفها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يحلل النظام النتائج ومشاعر الإجابات المفتوحة ويتيح تصديرها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يحمي النظام الحسابات وخصوصية المستجيب، ويتيح إدارة المستخدمين وإشعارات المستجيب</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bl>
          </a:graphicData>
        </a:graphic>
      </p:graphicFrame>
      <p:sp>
        <p:nvSpPr>
          <p:cNvPr id="10" name="NFR heading"/>
          <p:cNvSpPr txBox="1"/>
          <p:nvPr/>
        </p:nvSpPr>
        <p:spPr>
          <a:xfrm>
            <a:off x="548640" y="914400"/>
            <a:ext cx="5623560" cy="384048"/>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600" b="1" i="0" dirty="0">
                <a:solidFill>
                  <a:srgbClr val="2F5496"/>
                </a:solidFill>
                <a:latin typeface="Times New Roman"/>
                <a:ea typeface="Times New Roman"/>
                <a:cs typeface="Times New Roman"/>
              </a:rPr>
              <a:t>Non-Functional Requirements — </a:t>
            </a:r>
            <a:r>
              <a:rPr lang="en-US" altLang="en-US" sz="1200" b="1" i="0" dirty="0">
                <a:solidFill>
                  <a:srgbClr val="2F5496"/>
                </a:solidFill>
                <a:latin typeface="Times New Roman"/>
                <a:ea typeface="Times New Roman"/>
                <a:cs typeface="Times New Roman"/>
              </a:rPr>
              <a:t>ISO/IEC 25010:2023 [18]</a:t>
            </a:r>
            <a:endParaRPr lang="ar-SY" altLang="en-US" sz="1600" b="1" i="0" dirty="0">
              <a:solidFill>
                <a:srgbClr val="2F5496"/>
              </a:solidFill>
              <a:latin typeface="Times New Roman"/>
              <a:ea typeface="Times New Roman"/>
              <a:cs typeface="Times New Roman"/>
            </a:endParaRPr>
          </a:p>
        </p:txBody>
      </p:sp>
      <p:graphicFrame>
        <p:nvGraphicFramePr>
          <p:cNvPr id="11" name="NFR table"/>
          <p:cNvGraphicFramePr>
            <a:graphicFrameLocks noGrp="1"/>
          </p:cNvGraphicFramePr>
          <p:nvPr>
            <p:extLst>
              <p:ext uri="{D42A27DB-BD31-4B8C-83A1-F6EECF244321}">
                <p14:modId xmlns:p14="http://schemas.microsoft.com/office/powerpoint/2010/main" val="3846145622"/>
              </p:ext>
            </p:extLst>
          </p:nvPr>
        </p:nvGraphicFramePr>
        <p:xfrm>
          <a:off x="548640" y="1344168"/>
          <a:ext cx="5623560" cy="4706112"/>
        </p:xfrm>
        <a:graphic>
          <a:graphicData uri="http://schemas.openxmlformats.org/drawingml/2006/table">
            <a:tbl>
              <a:tblPr rtl="1">
                <a:tableStyleId>{5C22544A-7EE6-4342-B048-85BDC9FD1C3A}</a:tableStyleId>
              </a:tblPr>
              <a:tblGrid>
                <a:gridCol w="868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457200">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Quality Characteristic</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NFR-01</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Performance Efficiency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 95%‎  </a:t>
                      </a:r>
                      <a:r>
                        <a:rPr lang="ar-SY" altLang="en-US" sz="1300" b="0" i="0" dirty="0">
                          <a:solidFill>
                            <a:srgbClr val="1A1A1A"/>
                          </a:solidFill>
                          <a:latin typeface="Times New Roman"/>
                          <a:ea typeface="Times New Roman"/>
                          <a:cs typeface="Times New Roman"/>
                        </a:rPr>
                        <a:t>من طلبات الـ</a:t>
                      </a:r>
                      <a:r>
                        <a:rPr lang="en-US" altLang="en-US" sz="1300" b="0" i="0" dirty="0">
                          <a:solidFill>
                            <a:srgbClr val="1A1A1A"/>
                          </a:solidFill>
                          <a:latin typeface="Times New Roman"/>
                          <a:ea typeface="Times New Roman"/>
                          <a:cs typeface="Times New Roman"/>
                        </a:rPr>
                        <a:t> API </a:t>
                      </a:r>
                      <a:r>
                        <a:rPr lang="ar-SY" altLang="en-US" sz="1300" b="0" i="0" dirty="0">
                          <a:solidFill>
                            <a:srgbClr val="1A1A1A"/>
                          </a:solidFill>
                          <a:latin typeface="Times New Roman"/>
                          <a:ea typeface="Times New Roman"/>
                          <a:cs typeface="Times New Roman"/>
                        </a:rPr>
                        <a:t>في أقل من ثانيتين؛</a:t>
                      </a:r>
                      <a:r>
                        <a:rPr lang="en-US" altLang="en-US" sz="1300" b="0" i="0" dirty="0">
                          <a:solidFill>
                            <a:srgbClr val="1A1A1A"/>
                          </a:solidFill>
                          <a:latin typeface="Times New Roman"/>
                          <a:ea typeface="Times New Roman"/>
                          <a:cs typeface="Times New Roman"/>
                        </a:rPr>
                        <a:t> Sentiment Analysis  </a:t>
                      </a:r>
                      <a:r>
                        <a:rPr lang="ar-SA" altLang="en-US" sz="1300" b="0" i="0" dirty="0">
                          <a:solidFill>
                            <a:srgbClr val="1A1A1A"/>
                          </a:solidFill>
                          <a:latin typeface="Times New Roman"/>
                          <a:ea typeface="Times New Roman"/>
                          <a:cs typeface="Times New Roman"/>
                        </a:rPr>
                        <a:t> ي</a:t>
                      </a:r>
                      <a:r>
                        <a:rPr lang="ar-SY" altLang="en-US" sz="1300" b="0" i="0" dirty="0">
                          <a:solidFill>
                            <a:srgbClr val="1A1A1A"/>
                          </a:solidFill>
                          <a:latin typeface="Times New Roman"/>
                          <a:ea typeface="Times New Roman"/>
                          <a:cs typeface="Times New Roman"/>
                        </a:rPr>
                        <a:t>جري بعد حفظ الإجابة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NFR-02</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Security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JWT</a:t>
                      </a:r>
                      <a:r>
                        <a:rPr lang="ar-SY" altLang="en-US" sz="1300" b="0" i="0" dirty="0">
                          <a:solidFill>
                            <a:srgbClr val="1A1A1A"/>
                          </a:solidFill>
                          <a:latin typeface="Times New Roman"/>
                          <a:ea typeface="Times New Roman"/>
                          <a:cs typeface="Times New Roman"/>
                        </a:rPr>
                        <a:t>، فحص الدور والملكية في</a:t>
                      </a:r>
                      <a:r>
                        <a:rPr lang="en-US" altLang="en-US" sz="1300" b="0" i="0" dirty="0">
                          <a:solidFill>
                            <a:srgbClr val="1A1A1A"/>
                          </a:solidFill>
                          <a:latin typeface="Times New Roman"/>
                          <a:ea typeface="Times New Roman"/>
                          <a:cs typeface="Times New Roman"/>
                        </a:rPr>
                        <a:t> Business Layer </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Password Hashing</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Login Throttling</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NFR-03</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Reliability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حفظ ذرّي</a:t>
                      </a:r>
                      <a:r>
                        <a:rPr lang="en-US" altLang="en-US" sz="1300" b="0" i="0" dirty="0">
                          <a:solidFill>
                            <a:srgbClr val="1A1A1A"/>
                          </a:solidFill>
                          <a:latin typeface="Times New Roman"/>
                          <a:ea typeface="Times New Roman"/>
                          <a:cs typeface="Times New Roman"/>
                        </a:rPr>
                        <a:t> (Atomic) </a:t>
                      </a:r>
                      <a:r>
                        <a:rPr lang="ar-SY" altLang="en-US" sz="1300" b="0" i="0" dirty="0">
                          <a:solidFill>
                            <a:srgbClr val="1A1A1A"/>
                          </a:solidFill>
                          <a:latin typeface="Times New Roman"/>
                          <a:ea typeface="Times New Roman"/>
                          <a:cs typeface="Times New Roman"/>
                        </a:rPr>
                        <a:t>، وإجابة واحدة لكل مستجيب بقيد</a:t>
                      </a:r>
                      <a:r>
                        <a:rPr lang="en-US" altLang="en-US" sz="1300" b="0" i="0" dirty="0">
                          <a:solidFill>
                            <a:srgbClr val="1A1A1A"/>
                          </a:solidFill>
                          <a:latin typeface="Times New Roman"/>
                          <a:ea typeface="Times New Roman"/>
                          <a:cs typeface="Times New Roman"/>
                        </a:rPr>
                        <a:t> Unique (409) </a:t>
                      </a:r>
                      <a:r>
                        <a:rPr lang="ar-SA" altLang="en-US" sz="1300" b="0"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عند التكرار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NFR-04</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Maintainability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Layered Architecture</a:t>
                      </a:r>
                      <a:r>
                        <a:rPr lang="ar-SY" altLang="en-US" sz="1300" b="0" i="0" dirty="0">
                          <a:solidFill>
                            <a:srgbClr val="1A1A1A"/>
                          </a:solidFill>
                          <a:latin typeface="Times New Roman"/>
                          <a:ea typeface="Times New Roman"/>
                          <a:cs typeface="Times New Roman"/>
                        </a:rPr>
                        <a:t>، واختبارات آلية تعمل في</a:t>
                      </a:r>
                      <a:r>
                        <a:rPr lang="en-US" altLang="en-US" sz="1300" b="0" i="0" dirty="0">
                          <a:solidFill>
                            <a:srgbClr val="1A1A1A"/>
                          </a:solidFill>
                          <a:latin typeface="Times New Roman"/>
                          <a:ea typeface="Times New Roman"/>
                          <a:cs typeface="Times New Roman"/>
                        </a:rPr>
                        <a:t> CI </a:t>
                      </a:r>
                      <a:r>
                        <a:rPr lang="ar-SY" altLang="en-US" sz="1300" b="0" i="0" dirty="0">
                          <a:solidFill>
                            <a:srgbClr val="1A1A1A"/>
                          </a:solidFill>
                          <a:latin typeface="Times New Roman"/>
                          <a:ea typeface="Times New Roman"/>
                          <a:cs typeface="Times New Roman"/>
                        </a:rPr>
                        <a:t>قبل كل</a:t>
                      </a:r>
                      <a:r>
                        <a:rPr lang="ar-SA"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Merge</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NFR-05</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Interaction Capability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حالات</a:t>
                      </a:r>
                      <a:r>
                        <a:rPr lang="en-US" altLang="en-US" sz="1300" b="0" i="0" dirty="0">
                          <a:solidFill>
                            <a:srgbClr val="1A1A1A"/>
                          </a:solidFill>
                          <a:latin typeface="Times New Roman"/>
                          <a:ea typeface="Times New Roman"/>
                          <a:cs typeface="Times New Roman"/>
                        </a:rPr>
                        <a:t> Loading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Error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Empty </a:t>
                      </a:r>
                      <a:r>
                        <a:rPr lang="ar-SY" altLang="en-US" sz="1300" b="0" i="0" dirty="0">
                          <a:solidFill>
                            <a:srgbClr val="1A1A1A"/>
                          </a:solidFill>
                          <a:latin typeface="Times New Roman"/>
                          <a:ea typeface="Times New Roman"/>
                          <a:cs typeface="Times New Roman"/>
                        </a:rPr>
                        <a:t>في كل شاشة من التطبيق</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NFR-06</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Flexibility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Codebase </a:t>
                      </a:r>
                      <a:r>
                        <a:rPr lang="ar-SY" altLang="en-US" sz="1300" b="0" i="0" dirty="0">
                          <a:solidFill>
                            <a:srgbClr val="1A1A1A"/>
                          </a:solidFill>
                          <a:latin typeface="Times New Roman"/>
                          <a:ea typeface="Times New Roman"/>
                          <a:cs typeface="Times New Roman"/>
                        </a:rPr>
                        <a:t>واحد لـ</a:t>
                      </a:r>
                      <a:r>
                        <a:rPr lang="en-US" altLang="en-US" sz="1300" b="0" i="0" dirty="0">
                          <a:solidFill>
                            <a:srgbClr val="1A1A1A"/>
                          </a:solidFill>
                          <a:latin typeface="Times New Roman"/>
                          <a:ea typeface="Times New Roman"/>
                          <a:cs typeface="Times New Roman"/>
                        </a:rPr>
                        <a:t> Flutter </a:t>
                      </a:r>
                      <a:r>
                        <a:rPr lang="ar-SY" altLang="en-US" sz="1300" b="0" i="0" dirty="0">
                          <a:solidFill>
                            <a:srgbClr val="1A1A1A"/>
                          </a:solidFill>
                          <a:latin typeface="Times New Roman"/>
                          <a:ea typeface="Times New Roman"/>
                          <a:cs typeface="Times New Roman"/>
                        </a:rPr>
                        <a:t>على</a:t>
                      </a:r>
                      <a:r>
                        <a:rPr lang="en-US" altLang="en-US" sz="1300" b="0" i="0" dirty="0">
                          <a:solidFill>
                            <a:srgbClr val="1A1A1A"/>
                          </a:solidFill>
                          <a:latin typeface="Times New Roman"/>
                          <a:ea typeface="Times New Roman"/>
                          <a:cs typeface="Times New Roman"/>
                        </a:rPr>
                        <a:t> Android </a:t>
                      </a:r>
                      <a:r>
                        <a:rPr lang="ar-SY" altLang="en-US" sz="1300" b="0" i="0" dirty="0">
                          <a:solidFill>
                            <a:srgbClr val="1A1A1A"/>
                          </a:solidFill>
                          <a:latin typeface="Times New Roman"/>
                          <a:ea typeface="Times New Roman"/>
                          <a:cs typeface="Times New Roman"/>
                        </a:rPr>
                        <a:t>والويب؛ الإعدادات عبر</a:t>
                      </a:r>
                      <a:r>
                        <a:rPr lang="en-US" altLang="en-US" sz="1300" b="0" i="0" dirty="0">
                          <a:solidFill>
                            <a:srgbClr val="1A1A1A"/>
                          </a:solidFill>
                          <a:latin typeface="Times New Roman"/>
                          <a:ea typeface="Times New Roman"/>
                          <a:cs typeface="Times New Roman"/>
                        </a:rPr>
                        <a:t> Environment Variables</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NFR-07</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Functional Correctness</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اختيار نموذج المشاعر بمقياس</a:t>
                      </a:r>
                      <a:r>
                        <a:rPr lang="en-US" altLang="en-US" sz="1300" b="0" i="0" dirty="0">
                          <a:solidFill>
                            <a:srgbClr val="1A1A1A"/>
                          </a:solidFill>
                          <a:latin typeface="Times New Roman"/>
                          <a:ea typeface="Times New Roman"/>
                          <a:cs typeface="Times New Roman"/>
                        </a:rPr>
                        <a:t> macro‑F1 </a:t>
                      </a:r>
                      <a:r>
                        <a:rPr lang="ar-SY" altLang="en-US" sz="1300" b="0" i="0" dirty="0">
                          <a:solidFill>
                            <a:srgbClr val="1A1A1A"/>
                          </a:solidFill>
                          <a:latin typeface="Times New Roman"/>
                          <a:ea typeface="Times New Roman"/>
                          <a:cs typeface="Times New Roman"/>
                        </a:rPr>
                        <a:t>على</a:t>
                      </a:r>
                      <a:r>
                        <a:rPr lang="en-US" altLang="en-US" sz="1300" b="0" i="0" dirty="0">
                          <a:solidFill>
                            <a:srgbClr val="1A1A1A"/>
                          </a:solidFill>
                          <a:latin typeface="Times New Roman"/>
                          <a:ea typeface="Times New Roman"/>
                          <a:cs typeface="Times New Roman"/>
                        </a:rPr>
                        <a:t> 300 </a:t>
                      </a:r>
                      <a:r>
                        <a:rPr lang="ar-SY" altLang="en-US" sz="1300" b="0" i="0" dirty="0">
                          <a:solidFill>
                            <a:srgbClr val="1A1A1A"/>
                          </a:solidFill>
                          <a:latin typeface="Times New Roman"/>
                          <a:ea typeface="Times New Roman"/>
                          <a:cs typeface="Times New Roman"/>
                        </a:rPr>
                        <a:t>إجابة موسومة (</a:t>
                      </a:r>
                      <a:r>
                        <a:rPr lang="en-US" altLang="en-US" sz="1300" b="0" i="0" dirty="0">
                          <a:solidFill>
                            <a:srgbClr val="1A1A1A"/>
                          </a:solidFill>
                          <a:latin typeface="Times New Roman"/>
                          <a:ea typeface="Times New Roman"/>
                          <a:cs typeface="Times New Roman"/>
                        </a:rPr>
                        <a:t> 150 </a:t>
                      </a:r>
                      <a:r>
                        <a:rPr lang="ar-SY" altLang="en-US" sz="1300" b="0" i="0" dirty="0">
                          <a:solidFill>
                            <a:srgbClr val="1A1A1A"/>
                          </a:solidFill>
                          <a:latin typeface="Times New Roman"/>
                          <a:ea typeface="Times New Roman"/>
                          <a:cs typeface="Times New Roman"/>
                        </a:rPr>
                        <a:t>فصحى،</a:t>
                      </a:r>
                      <a:r>
                        <a:rPr lang="en-US" altLang="en-US" sz="1300" b="0" i="0" dirty="0">
                          <a:solidFill>
                            <a:srgbClr val="1A1A1A"/>
                          </a:solidFill>
                          <a:latin typeface="Times New Roman"/>
                          <a:ea typeface="Times New Roman"/>
                          <a:cs typeface="Times New Roman"/>
                        </a:rPr>
                        <a:t> 150 </a:t>
                      </a:r>
                      <a:r>
                        <a:rPr lang="ar-SY" altLang="en-US" sz="1300" b="0" i="0" dirty="0">
                          <a:solidFill>
                            <a:srgbClr val="1A1A1A"/>
                          </a:solidFill>
                          <a:latin typeface="Times New Roman"/>
                          <a:ea typeface="Times New Roman"/>
                          <a:cs typeface="Times New Roman"/>
                        </a:rPr>
                        <a:t>إنجليزية)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12" name="FR note"/>
          <p:cNvSpPr txBox="1"/>
          <p:nvPr/>
        </p:nvSpPr>
        <p:spPr>
          <a:xfrm>
            <a:off x="6355080" y="5916168"/>
            <a:ext cx="5285232" cy="27432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100" b="0" i="0" dirty="0">
                <a:solidFill>
                  <a:srgbClr val="595959"/>
                </a:solidFill>
                <a:latin typeface="Times New Roman"/>
                <a:ea typeface="Times New Roman"/>
                <a:cs typeface="Times New Roman"/>
              </a:rPr>
              <a:t>تغطي المتطلبات العامة</a:t>
            </a:r>
            <a:r>
              <a:rPr lang="en-US" altLang="en-US" sz="1100" b="0" i="0" dirty="0">
                <a:solidFill>
                  <a:srgbClr val="595959"/>
                </a:solidFill>
                <a:latin typeface="Times New Roman"/>
                <a:ea typeface="Times New Roman"/>
                <a:cs typeface="Times New Roman"/>
              </a:rPr>
              <a:t> V1.0 </a:t>
            </a:r>
            <a:r>
              <a:rPr lang="ar-SY" altLang="en-US" sz="1100" b="0" i="0" dirty="0">
                <a:solidFill>
                  <a:srgbClr val="595959"/>
                </a:solidFill>
                <a:latin typeface="Times New Roman"/>
                <a:ea typeface="Times New Roman"/>
                <a:cs typeface="Times New Roman"/>
              </a:rPr>
              <a:t>وتخرج</a:t>
            </a:r>
            <a:r>
              <a:rPr lang="en-US" altLang="en-US" sz="1100" b="0" i="0" dirty="0">
                <a:solidFill>
                  <a:srgbClr val="595959"/>
                </a:solidFill>
                <a:latin typeface="Times New Roman"/>
                <a:ea typeface="Times New Roman"/>
                <a:cs typeface="Times New Roman"/>
              </a:rPr>
              <a:t> 1 </a:t>
            </a:r>
            <a:r>
              <a:rPr lang="ar-SY" altLang="en-US" sz="1100" b="0" i="0" dirty="0">
                <a:solidFill>
                  <a:srgbClr val="595959"/>
                </a:solidFill>
                <a:latin typeface="Times New Roman"/>
                <a:ea typeface="Times New Roman"/>
                <a:cs typeface="Times New Roman"/>
              </a:rPr>
              <a:t>فقط؛ تفاصيل هذا الفصل في الشريحة التالية.</a:t>
            </a:r>
          </a:p>
        </p:txBody>
      </p:sp>
    </p:spTree>
    <p:extLst>
      <p:ext uri="{BB962C8B-B14F-4D97-AF65-F5344CB8AC3E}">
        <p14:creationId xmlns:p14="http://schemas.microsoft.com/office/powerpoint/2010/main" val="1681626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1D67413-4A80-7A0A-CB0B-B1C55BC293E3}"/>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9E896BA6-32B1-D3CE-5D0F-8B0F7DCCAECD}"/>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A7C85B69-20DE-8D7B-2FF6-B020A9BD1745}"/>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7</a:t>
            </a:fld>
            <a:endParaRPr lang="en-US"/>
          </a:p>
        </p:txBody>
      </p:sp>
      <p:sp>
        <p:nvSpPr>
          <p:cNvPr id="7" name="Title">
            <a:extLst>
              <a:ext uri="{FF2B5EF4-FFF2-40B4-BE49-F238E27FC236}">
                <a16:creationId xmlns:a16="http://schemas.microsoft.com/office/drawing/2014/main" id="{36036810-8581-F1F0-2198-A22F32810AD5}"/>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المتطلبات الوظيفية لمشروع تخرج </a:t>
            </a:r>
            <a:r>
              <a:rPr lang="en-US" altLang="en-US" sz="2800" b="1" i="0" dirty="0">
                <a:solidFill>
                  <a:srgbClr val="2F5496"/>
                </a:solidFill>
                <a:latin typeface="Times New Roman"/>
                <a:ea typeface="Times New Roman"/>
                <a:cs typeface="Times New Roman"/>
              </a:rPr>
              <a:t>1 (FR-01 – FR-20)</a:t>
            </a:r>
            <a:endParaRPr lang="ar-SY" altLang="en-US" sz="2800" b="1" i="0" dirty="0">
              <a:solidFill>
                <a:srgbClr val="2F5496"/>
              </a:solidFill>
              <a:latin typeface="Times New Roman"/>
              <a:ea typeface="Times New Roman"/>
              <a:cs typeface="Times New Roman"/>
            </a:endParaRPr>
          </a:p>
        </p:txBody>
      </p:sp>
      <p:graphicFrame>
        <p:nvGraphicFramePr>
          <p:cNvPr id="8" name="Requirements 1-10"/>
          <p:cNvGraphicFramePr>
            <a:graphicFrameLocks noGrp="1"/>
          </p:cNvGraphicFramePr>
          <p:nvPr>
            <p:extLst>
              <p:ext uri="{D42A27DB-BD31-4B8C-83A1-F6EECF244321}">
                <p14:modId xmlns:p14="http://schemas.microsoft.com/office/powerpoint/2010/main" val="3355608667"/>
              </p:ext>
            </p:extLst>
          </p:nvPr>
        </p:nvGraphicFramePr>
        <p:xfrm>
          <a:off x="6355080" y="932688"/>
          <a:ext cx="5285232" cy="4576572"/>
        </p:xfrm>
        <a:graphic>
          <a:graphicData uri="http://schemas.openxmlformats.org/drawingml/2006/table">
            <a:tbl>
              <a:tblPr rtl="1">
                <a:tableStyleId>{5C22544A-7EE6-4342-B048-85BDC9FD1C3A}</a:tableStyleId>
              </a:tblPr>
              <a:tblGrid>
                <a:gridCol w="914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3593592">
                  <a:extLst>
                    <a:ext uri="{9D8B030D-6E8A-4147-A177-3AD203B41FA5}">
                      <a16:colId xmlns:a16="http://schemas.microsoft.com/office/drawing/2014/main" val="20002"/>
                    </a:ext>
                  </a:extLst>
                </a:gridCol>
              </a:tblGrid>
              <a:tr h="416052">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Priority</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تطبيق جوال للمستجيب</a:t>
                      </a:r>
                      <a:r>
                        <a:rPr lang="en-US" altLang="en-US" sz="1400" b="0" i="0" dirty="0">
                          <a:solidFill>
                            <a:srgbClr val="1A1A1A"/>
                          </a:solidFill>
                          <a:latin typeface="Times New Roman"/>
                          <a:ea typeface="Times New Roman"/>
                          <a:cs typeface="Times New Roman"/>
                        </a:rPr>
                        <a:t> (Flutter) </a:t>
                      </a:r>
                      <a:r>
                        <a:rPr lang="ar-SY" altLang="en-US" sz="1400" b="0" i="0" dirty="0">
                          <a:solidFill>
                            <a:srgbClr val="1A1A1A"/>
                          </a:solidFill>
                          <a:latin typeface="Times New Roman"/>
                          <a:ea typeface="Times New Roman"/>
                          <a:cs typeface="Times New Roman"/>
                        </a:rPr>
                        <a:t>مع دخول آمن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ملف ديموغرافي موسّع مع نسبة اكتماله</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استهداف متقدم وعرض عدد المؤهلين قبل النشر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محرك جودة: انتباه، سرعة، نمط، تكرار، درجة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تحليل مشاعر الإجابات المفتوحة (</a:t>
                      </a:r>
                      <a:r>
                        <a:rPr lang="ar-SA" altLang="en-US" sz="1400" b="0" i="0" dirty="0">
                          <a:solidFill>
                            <a:srgbClr val="1A1A1A"/>
                          </a:solidFill>
                          <a:latin typeface="Times New Roman"/>
                          <a:ea typeface="Times New Roman"/>
                          <a:cs typeface="Times New Roman"/>
                        </a:rPr>
                        <a:t>عربي </a:t>
                      </a:r>
                      <a:r>
                        <a:rPr lang="ar-SY" altLang="en-US" sz="1400" b="0" i="0" dirty="0">
                          <a:solidFill>
                            <a:srgbClr val="1A1A1A"/>
                          </a:solidFill>
                          <a:latin typeface="Times New Roman"/>
                          <a:ea typeface="Times New Roman"/>
                          <a:cs typeface="Times New Roman"/>
                        </a:rPr>
                        <a:t>فصحى، إنجليزي)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تجربة إجابة: تقدم، تحقق، تخطي الاختياري، مسودة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FR-07</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عرض كل إجابة مع علاماتها وإدراجها أو استبعادها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FR-08</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قائمة استبيانات مرتبة حسب التطابق مع بحث وفلاتر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8"/>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FR-09</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إجابات مستعارة وإخفاء المجموعات الأصغر من</a:t>
                      </a:r>
                      <a:r>
                        <a:rPr lang="en-US" altLang="en-US" sz="1400" b="0" i="0" dirty="0">
                          <a:solidFill>
                            <a:srgbClr val="1A1A1A"/>
                          </a:solidFill>
                          <a:latin typeface="Times New Roman"/>
                          <a:ea typeface="Times New Roman"/>
                          <a:cs typeface="Times New Roman"/>
                        </a:rPr>
                        <a:t> 5</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9"/>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FR-10</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رابط دعوة فريد مع نسخ سريع ورمز</a:t>
                      </a:r>
                      <a:r>
                        <a:rPr lang="ar-SA" altLang="en-US" sz="1400" b="0" i="0" dirty="0">
                          <a:solidFill>
                            <a:srgbClr val="1A1A1A"/>
                          </a:solidFill>
                          <a:latin typeface="Times New Roman"/>
                          <a:ea typeface="Times New Roman"/>
                          <a:cs typeface="Times New Roman"/>
                        </a:rPr>
                        <a:t> </a:t>
                      </a:r>
                      <a:r>
                        <a:rPr lang="en-US" altLang="en-US" sz="1400" b="0" i="0" dirty="0">
                          <a:solidFill>
                            <a:srgbClr val="1A1A1A"/>
                          </a:solidFill>
                          <a:latin typeface="Times New Roman"/>
                          <a:ea typeface="Times New Roman"/>
                          <a:cs typeface="Times New Roman"/>
                        </a:rPr>
                        <a:t> QR</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10"/>
                  </a:ext>
                </a:extLst>
              </a:tr>
            </a:tbl>
          </a:graphicData>
        </a:graphic>
      </p:graphicFrame>
      <p:graphicFrame>
        <p:nvGraphicFramePr>
          <p:cNvPr id="9" name="Requirements 11-20"/>
          <p:cNvGraphicFramePr>
            <a:graphicFrameLocks noGrp="1"/>
          </p:cNvGraphicFramePr>
          <p:nvPr>
            <p:extLst>
              <p:ext uri="{D42A27DB-BD31-4B8C-83A1-F6EECF244321}">
                <p14:modId xmlns:p14="http://schemas.microsoft.com/office/powerpoint/2010/main" val="223109059"/>
              </p:ext>
            </p:extLst>
          </p:nvPr>
        </p:nvGraphicFramePr>
        <p:xfrm>
          <a:off x="548640" y="932688"/>
          <a:ext cx="5285232" cy="4576572"/>
        </p:xfrm>
        <a:graphic>
          <a:graphicData uri="http://schemas.openxmlformats.org/drawingml/2006/table">
            <a:tbl>
              <a:tblPr rtl="1">
                <a:tableStyleId>{5C22544A-7EE6-4342-B048-85BDC9FD1C3A}</a:tableStyleId>
              </a:tblPr>
              <a:tblGrid>
                <a:gridCol w="914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3593592">
                  <a:extLst>
                    <a:ext uri="{9D8B030D-6E8A-4147-A177-3AD203B41FA5}">
                      <a16:colId xmlns:a16="http://schemas.microsoft.com/office/drawing/2014/main" val="20002"/>
                    </a:ext>
                  </a:extLst>
                </a:gridCol>
              </a:tblGrid>
              <a:tr h="416052">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Priority</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دورة حياة الاستبيان: جدولة، إغلاق تلقائي، إيقاف</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مراجعة الاستبيان من مدير النظام</a:t>
                      </a:r>
                      <a:r>
                        <a:rPr lang="en-US" altLang="en-US" sz="1400" b="0" i="0" dirty="0">
                          <a:solidFill>
                            <a:srgbClr val="1A1A1A"/>
                          </a:solidFill>
                          <a:latin typeface="Times New Roman"/>
                          <a:ea typeface="Times New Roman"/>
                          <a:cs typeface="Times New Roman"/>
                        </a:rPr>
                        <a:t> (Admin) </a:t>
                      </a:r>
                      <a:r>
                        <a:rPr lang="ar-SY" altLang="en-US" sz="1400" b="0" i="0" dirty="0">
                          <a:solidFill>
                            <a:srgbClr val="1A1A1A"/>
                          </a:solidFill>
                          <a:latin typeface="Times New Roman"/>
                          <a:ea typeface="Times New Roman"/>
                          <a:cs typeface="Times New Roman"/>
                        </a:rPr>
                        <a:t>قبل النشر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تحليلات متقدمة: فلاتر، جداول تقاطعية، عبر الزمن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تصدير النتائج وعلامات الجودة إلى</a:t>
                      </a:r>
                      <a:r>
                        <a:rPr lang="en-US" altLang="en-US" sz="1400" b="0" i="0" dirty="0">
                          <a:solidFill>
                            <a:srgbClr val="1A1A1A"/>
                          </a:solidFill>
                          <a:latin typeface="Times New Roman"/>
                          <a:ea typeface="Times New Roman"/>
                          <a:cs typeface="Times New Roman"/>
                        </a:rPr>
                        <a:t> Excel </a:t>
                      </a:r>
                      <a:r>
                        <a:rPr lang="ar-SY" altLang="en-US" sz="1400" b="0" i="0" dirty="0">
                          <a:solidFill>
                            <a:srgbClr val="1A1A1A"/>
                          </a:solidFill>
                          <a:latin typeface="Times New Roman"/>
                          <a:ea typeface="Times New Roman"/>
                          <a:cs typeface="Times New Roman"/>
                        </a:rPr>
                        <a:t>و</a:t>
                      </a:r>
                      <a:r>
                        <a:rPr lang="en-US" altLang="en-US" sz="1400" b="0" i="0" dirty="0">
                          <a:solidFill>
                            <a:srgbClr val="1A1A1A"/>
                          </a:solidFill>
                          <a:latin typeface="Times New Roman"/>
                          <a:ea typeface="Times New Roman"/>
                          <a:cs typeface="Times New Roman"/>
                        </a:rPr>
                        <a:t> CSV</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أمان الحساب: تحقق البريد واستعادة كلمة المرور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ترتيب عشوائي للأسئلة والخيارات</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FR-17</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منشئ متقدم: أنواع أسئلة، ترتيب، معاينة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FR-18</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معدل الإكمال والانسحاب</a:t>
                      </a:r>
                      <a:r>
                        <a:rPr lang="en-US" altLang="en-US" sz="1400" b="0" i="0" dirty="0">
                          <a:solidFill>
                            <a:srgbClr val="1A1A1A"/>
                          </a:solidFill>
                          <a:latin typeface="Times New Roman"/>
                          <a:ea typeface="Times New Roman"/>
                          <a:cs typeface="Times New Roman"/>
                        </a:rPr>
                        <a:t> (Completion / Drop-off) </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8"/>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FR-19</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مكتبة قوالب ونسخ استبيان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9"/>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FR-20</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مركز إشعارات داخل التطبيق</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10"/>
                  </a:ext>
                </a:extLst>
              </a:tr>
            </a:tbl>
          </a:graphicData>
        </a:graphic>
      </p:graphicFrame>
      <p:sp>
        <p:nvSpPr>
          <p:cNvPr id="10" name="Priority legend"/>
          <p:cNvSpPr/>
          <p:nvPr/>
        </p:nvSpPr>
        <p:spPr>
          <a:xfrm>
            <a:off x="548640" y="5643118"/>
            <a:ext cx="11091672" cy="71323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noAutofit/>
          </a:bodyPr>
          <a:lstStyle/>
          <a:p>
            <a:pPr algn="r" rtl="1">
              <a:spcAft>
                <a:spcPts val="300"/>
              </a:spcAft>
            </a:pPr>
            <a:r>
              <a:rPr lang="ar-SY" altLang="en-US" sz="1300" b="0" i="0" dirty="0">
                <a:solidFill>
                  <a:srgbClr val="1A1A1A"/>
                </a:solidFill>
                <a:latin typeface="Times New Roman"/>
                <a:ea typeface="Times New Roman"/>
                <a:cs typeface="Times New Roman"/>
              </a:rPr>
              <a:t>ضروري</a:t>
            </a:r>
            <a:r>
              <a:rPr lang="en-US" altLang="en-US" sz="1300" b="0" i="0" dirty="0">
                <a:solidFill>
                  <a:srgbClr val="1A1A1A"/>
                </a:solidFill>
                <a:latin typeface="Times New Roman"/>
                <a:ea typeface="Times New Roman"/>
                <a:cs typeface="Times New Roman"/>
              </a:rPr>
              <a:t>     (5) </a:t>
            </a:r>
            <a:r>
              <a:rPr lang="en-US" altLang="en-US" sz="1300" b="1" dirty="0">
                <a:solidFill>
                  <a:srgbClr val="FFFFFF"/>
                </a:solidFill>
                <a:highlight>
                  <a:srgbClr val="FF0000"/>
                </a:highlight>
                <a:latin typeface="Times New Roman"/>
                <a:ea typeface="Times New Roman"/>
                <a:cs typeface="Times New Roman"/>
              </a:rPr>
              <a:t>Must</a:t>
            </a:r>
            <a:r>
              <a:rPr lang="en-US" altLang="en-US" sz="1300" b="1" dirty="0">
                <a:solidFill>
                  <a:srgbClr val="FFFFFF"/>
                </a:solidFill>
                <a:latin typeface="Times New Roman"/>
                <a:ea typeface="Times New Roman"/>
                <a:cs typeface="Times New Roman"/>
              </a:rPr>
              <a:t> </a:t>
            </a:r>
            <a:r>
              <a:rPr lang="en-US" altLang="en-US" sz="1300" b="1"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مهم</a:t>
            </a:r>
            <a:r>
              <a:rPr lang="ar-SA" altLang="en-US" sz="1300" b="0" i="0" dirty="0">
                <a:solidFill>
                  <a:srgbClr val="1A1A1A"/>
                </a:solidFill>
                <a:latin typeface="Times New Roman"/>
                <a:ea typeface="Times New Roman"/>
                <a:cs typeface="Times New Roman"/>
              </a:rPr>
              <a:t> </a:t>
            </a:r>
            <a:r>
              <a:rPr lang="en-US" altLang="en-US" sz="1300" b="1" dirty="0">
                <a:solidFill>
                  <a:srgbClr val="1A1A1A"/>
                </a:solidFill>
                <a:highlight>
                  <a:srgbClr val="00FF00"/>
                </a:highlight>
                <a:latin typeface="Times New Roman"/>
                <a:ea typeface="Times New Roman"/>
                <a:cs typeface="Times New Roman"/>
              </a:rPr>
              <a:t> Should </a:t>
            </a:r>
            <a:r>
              <a:rPr lang="ar-SY"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a:t>
            </a:r>
            <a:r>
              <a:rPr lang="en-US" altLang="en-US" sz="1300" dirty="0">
                <a:solidFill>
                  <a:srgbClr val="1A1A1A"/>
                </a:solidFill>
                <a:latin typeface="Times New Roman"/>
                <a:ea typeface="Times New Roman"/>
                <a:cs typeface="Times New Roman"/>
              </a:rPr>
              <a:t>(11)</a:t>
            </a:r>
            <a:r>
              <a:rPr lang="ar-SY" altLang="en-US" sz="1300" b="0" i="0" dirty="0">
                <a:solidFill>
                  <a:srgbClr val="1A1A1A"/>
                </a:solidFill>
                <a:latin typeface="Times New Roman"/>
                <a:ea typeface="Times New Roman"/>
                <a:cs typeface="Times New Roman"/>
              </a:rPr>
              <a:t>مرغوب</a:t>
            </a:r>
            <a:r>
              <a:rPr lang="ar-SA"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(4) </a:t>
            </a:r>
            <a:r>
              <a:rPr lang="en-US" altLang="en-US" sz="1300" b="1" dirty="0">
                <a:solidFill>
                  <a:srgbClr val="1A1A1A"/>
                </a:solidFill>
                <a:highlight>
                  <a:srgbClr val="FFFF00"/>
                </a:highlight>
                <a:latin typeface="Times New Roman"/>
                <a:ea typeface="Times New Roman"/>
                <a:cs typeface="Times New Roman"/>
              </a:rPr>
              <a:t>Could</a:t>
            </a:r>
            <a:r>
              <a:rPr lang="en-US" altLang="en-US" sz="1300" dirty="0">
                <a:solidFill>
                  <a:srgbClr val="1A1A1A"/>
                </a:solidFill>
                <a:highlight>
                  <a:srgbClr val="FFFF00"/>
                </a:highlight>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يثبت فكرة المشروع  </a:t>
            </a:r>
            <a:r>
              <a:rPr lang="ar-SY" altLang="en-US" sz="1200" b="0" i="0" dirty="0">
                <a:solidFill>
                  <a:srgbClr val="1A1A1A"/>
                </a:solidFill>
                <a:latin typeface="Times New Roman"/>
                <a:ea typeface="Times New Roman"/>
                <a:cs typeface="Times New Roman"/>
              </a:rPr>
              <a:t>★</a:t>
            </a:r>
            <a:r>
              <a:rPr lang="ar-SY" altLang="en-US" sz="1300" b="1" i="0" dirty="0">
                <a:solidFill>
                  <a:srgbClr val="1A1A1A"/>
                </a:solidFill>
                <a:latin typeface="Times New Roman"/>
                <a:ea typeface="Times New Roman"/>
                <a:cs typeface="Times New Roman"/>
              </a:rPr>
              <a:t>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  </a:t>
            </a:r>
            <a:r>
              <a:rPr lang="ar-SY" altLang="en-US" sz="1300" b="0" i="0" dirty="0">
                <a:solidFill>
                  <a:srgbClr val="595959"/>
                </a:solidFill>
                <a:latin typeface="Times New Roman"/>
                <a:ea typeface="Times New Roman"/>
                <a:cs typeface="Times New Roman"/>
              </a:rPr>
              <a:t>ترتيب الرقم = ترتيب الأولوية </a:t>
            </a:r>
            <a:r>
              <a:rPr lang="en-US" altLang="en-US" sz="1300" b="0" i="0" dirty="0" err="1">
                <a:solidFill>
                  <a:srgbClr val="595959"/>
                </a:solidFill>
                <a:latin typeface="Times New Roman"/>
                <a:ea typeface="Times New Roman"/>
                <a:cs typeface="Times New Roman"/>
              </a:rPr>
              <a:t>MoSCoW</a:t>
            </a:r>
            <a:r>
              <a:rPr lang="en-US" altLang="en-US" sz="1300" b="0" i="0" dirty="0">
                <a:solidFill>
                  <a:srgbClr val="595959"/>
                </a:solidFill>
                <a:latin typeface="Times New Roman"/>
                <a:ea typeface="Times New Roman"/>
                <a:cs typeface="Times New Roman"/>
              </a:rPr>
              <a:t> [19] </a:t>
            </a:r>
            <a:endParaRPr lang="ar-SA" altLang="en-US" sz="1300" b="0" i="0" dirty="0">
              <a:solidFill>
                <a:srgbClr val="595959"/>
              </a:solidFill>
              <a:latin typeface="Times New Roman"/>
              <a:ea typeface="Times New Roman"/>
              <a:cs typeface="Times New Roman"/>
            </a:endParaRPr>
          </a:p>
          <a:p>
            <a:pPr algn="r" rtl="1">
              <a:spcBef>
                <a:spcPts val="0"/>
              </a:spcBef>
              <a:spcAft>
                <a:spcPts val="300"/>
              </a:spcAft>
              <a:buNone/>
            </a:pPr>
            <a:r>
              <a:rPr lang="ar-SA" altLang="en-US" sz="1600" b="1" dirty="0">
                <a:solidFill>
                  <a:srgbClr val="595959"/>
                </a:solidFill>
                <a:latin typeface="Times New Roman"/>
                <a:ea typeface="Times New Roman"/>
                <a:cs typeface="Times New Roman"/>
              </a:rPr>
              <a:t>تخرج</a:t>
            </a:r>
            <a:r>
              <a:rPr lang="en-US" altLang="en-US" sz="1600" b="1" dirty="0">
                <a:solidFill>
                  <a:srgbClr val="595959"/>
                </a:solidFill>
                <a:latin typeface="Times New Roman"/>
                <a:ea typeface="Times New Roman"/>
                <a:cs typeface="Times New Roman"/>
              </a:rPr>
              <a:t>2</a:t>
            </a:r>
            <a:r>
              <a:rPr lang="ar-SA" altLang="en-US" sz="1600" b="1" dirty="0">
                <a:solidFill>
                  <a:srgbClr val="595959"/>
                </a:solidFill>
                <a:latin typeface="Times New Roman"/>
                <a:ea typeface="Times New Roman"/>
                <a:cs typeface="Times New Roman"/>
              </a:rPr>
              <a:t> (</a:t>
            </a:r>
            <a:r>
              <a:rPr lang="en-US" altLang="en-US" sz="1600" b="1" dirty="0">
                <a:solidFill>
                  <a:srgbClr val="595959"/>
                </a:solidFill>
                <a:latin typeface="Times New Roman"/>
                <a:ea typeface="Times New Roman"/>
                <a:cs typeface="Times New Roman"/>
              </a:rPr>
              <a:t>Won't</a:t>
            </a:r>
            <a:r>
              <a:rPr lang="ar-SY" altLang="en-US" sz="1600" b="1" dirty="0">
                <a:solidFill>
                  <a:srgbClr val="595959"/>
                </a:solidFill>
                <a:latin typeface="Times New Roman"/>
                <a:ea typeface="Times New Roman"/>
                <a:cs typeface="Times New Roman"/>
              </a:rPr>
              <a:t>):</a:t>
            </a:r>
            <a:endParaRPr lang="ar-SY" altLang="en-US" sz="1600" b="1" i="0" dirty="0">
              <a:solidFill>
                <a:srgbClr val="595959"/>
              </a:solidFill>
              <a:latin typeface="Times New Roman"/>
              <a:ea typeface="Times New Roman"/>
              <a:cs typeface="Times New Roman"/>
            </a:endParaRPr>
          </a:p>
          <a:p>
            <a:pPr algn="r" rtl="1">
              <a:spcBef>
                <a:spcPts val="0"/>
              </a:spcBef>
              <a:spcAft>
                <a:spcPts val="0"/>
              </a:spcAft>
              <a:buNone/>
            </a:pPr>
            <a:r>
              <a:rPr lang="en-US" altLang="en-US" sz="1300" b="0" i="0" dirty="0">
                <a:solidFill>
                  <a:srgbClr val="1A1A1A"/>
                </a:solidFill>
                <a:latin typeface="Times New Roman"/>
                <a:ea typeface="Times New Roman"/>
                <a:cs typeface="Times New Roman"/>
              </a:rPr>
              <a:t> FR-21 </a:t>
            </a:r>
            <a:r>
              <a:rPr lang="en-US" altLang="en-US" sz="130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المكافآت،</a:t>
            </a:r>
            <a:r>
              <a:rPr lang="en-US" altLang="en-US" sz="1300" b="0" i="0" dirty="0">
                <a:solidFill>
                  <a:srgbClr val="1A1A1A"/>
                </a:solidFill>
                <a:latin typeface="Times New Roman"/>
                <a:ea typeface="Times New Roman"/>
                <a:cs typeface="Times New Roman"/>
              </a:rPr>
              <a:t> FR-22 </a:t>
            </a:r>
            <a:r>
              <a:rPr lang="ar-SY" altLang="en-US" sz="1300" b="0" i="0" dirty="0">
                <a:solidFill>
                  <a:srgbClr val="1A1A1A"/>
                </a:solidFill>
                <a:latin typeface="Times New Roman"/>
                <a:ea typeface="Times New Roman"/>
                <a:cs typeface="Times New Roman"/>
              </a:rPr>
              <a:t>منطق التخطي الشرطي</a:t>
            </a:r>
            <a:r>
              <a:rPr lang="en-US" altLang="en-US" sz="1300" b="0" i="0" dirty="0">
                <a:solidFill>
                  <a:srgbClr val="1A1A1A"/>
                </a:solidFill>
                <a:latin typeface="Times New Roman"/>
                <a:ea typeface="Times New Roman"/>
                <a:cs typeface="Times New Roman"/>
              </a:rPr>
              <a:t> (Skip Logic)</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FR-23 </a:t>
            </a:r>
            <a:r>
              <a:rPr lang="ar-SY" altLang="en-US" sz="1300" b="0" i="0" dirty="0">
                <a:solidFill>
                  <a:srgbClr val="1A1A1A"/>
                </a:solidFill>
                <a:latin typeface="Times New Roman"/>
                <a:ea typeface="Times New Roman"/>
                <a:cs typeface="Times New Roman"/>
              </a:rPr>
              <a:t>لوحة الإدارة،</a:t>
            </a:r>
            <a:r>
              <a:rPr lang="en-US" altLang="en-US" sz="1300" b="0" i="0" dirty="0">
                <a:solidFill>
                  <a:srgbClr val="1A1A1A"/>
                </a:solidFill>
                <a:latin typeface="Times New Roman"/>
                <a:ea typeface="Times New Roman"/>
                <a:cs typeface="Times New Roman"/>
              </a:rPr>
              <a:t> FR-24 </a:t>
            </a:r>
            <a:r>
              <a:rPr lang="ar-SY" altLang="en-US" sz="1300" b="0" i="0" dirty="0">
                <a:solidFill>
                  <a:srgbClr val="1A1A1A"/>
                </a:solidFill>
                <a:latin typeface="Times New Roman"/>
                <a:ea typeface="Times New Roman"/>
                <a:cs typeface="Times New Roman"/>
              </a:rPr>
              <a:t>ثقة المستجيب،</a:t>
            </a:r>
            <a:r>
              <a:rPr lang="en-US" altLang="en-US" sz="1300" b="0" i="0" dirty="0">
                <a:solidFill>
                  <a:srgbClr val="1A1A1A"/>
                </a:solidFill>
                <a:latin typeface="Times New Roman"/>
                <a:ea typeface="Times New Roman"/>
                <a:cs typeface="Times New Roman"/>
              </a:rPr>
              <a:t> FR-25 </a:t>
            </a:r>
            <a:r>
              <a:rPr lang="ar-SY" altLang="en-US" sz="1300" b="0" i="0" dirty="0">
                <a:solidFill>
                  <a:srgbClr val="1A1A1A"/>
                </a:solidFill>
                <a:latin typeface="Times New Roman"/>
                <a:ea typeface="Times New Roman"/>
                <a:cs typeface="Times New Roman"/>
              </a:rPr>
              <a:t>إشعارات المزوّد</a:t>
            </a:r>
          </a:p>
        </p:txBody>
      </p:sp>
    </p:spTree>
    <p:extLst>
      <p:ext uri="{BB962C8B-B14F-4D97-AF65-F5344CB8AC3E}">
        <p14:creationId xmlns:p14="http://schemas.microsoft.com/office/powerpoint/2010/main" val="1553074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EB43481-1474-F6FB-E26F-234BCCE3D5AF}"/>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DABFC852-467C-BAA7-9AA2-ED3CA591D458}"/>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04D459B6-EF1D-127F-DE97-C8FB9F0305EE}"/>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8</a:t>
            </a:fld>
            <a:endParaRPr lang="en-US"/>
          </a:p>
        </p:txBody>
      </p:sp>
      <p:sp>
        <p:nvSpPr>
          <p:cNvPr id="9" name="Title">
            <a:extLst>
              <a:ext uri="{FF2B5EF4-FFF2-40B4-BE49-F238E27FC236}">
                <a16:creationId xmlns:a16="http://schemas.microsoft.com/office/drawing/2014/main" id="{01D2A0AE-4E08-201B-39E7-C0595AAEF0C8}"/>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منهجية التطوير ومراحل التنفيذ </a:t>
            </a:r>
            <a:r>
              <a:rPr lang="en-US" altLang="en-US" sz="2800" b="1" i="0" dirty="0">
                <a:solidFill>
                  <a:srgbClr val="2F5496"/>
                </a:solidFill>
                <a:latin typeface="Times New Roman"/>
                <a:ea typeface="Times New Roman"/>
                <a:cs typeface="Times New Roman"/>
              </a:rPr>
              <a:t>(Kanban + Agile Modeling)</a:t>
            </a:r>
            <a:endParaRPr lang="ar-SY" altLang="en-US" sz="2800" b="1" i="0" dirty="0">
              <a:solidFill>
                <a:srgbClr val="2F5496"/>
              </a:solidFill>
              <a:latin typeface="Times New Roman"/>
              <a:ea typeface="Times New Roman"/>
              <a:cs typeface="Times New Roman"/>
            </a:endParaRPr>
          </a:p>
        </p:txBody>
      </p:sp>
      <p:sp>
        <p:nvSpPr>
          <p:cNvPr id="10" name="Method summary"/>
          <p:cNvSpPr/>
          <p:nvPr/>
        </p:nvSpPr>
        <p:spPr>
          <a:xfrm>
            <a:off x="548640" y="914400"/>
            <a:ext cx="11091672" cy="77724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noAutofit/>
          </a:bodyPr>
          <a:lstStyle/>
          <a:p>
            <a:pPr algn="r" rtl="1">
              <a:spcBef>
                <a:spcPts val="0"/>
              </a:spcBef>
              <a:spcAft>
                <a:spcPts val="200"/>
              </a:spcAft>
              <a:buNone/>
            </a:pPr>
            <a:r>
              <a:rPr lang="en-US" altLang="en-US" sz="1600" b="1" i="0" dirty="0">
                <a:solidFill>
                  <a:srgbClr val="2F5496"/>
                </a:solidFill>
                <a:latin typeface="Times New Roman"/>
                <a:ea typeface="Times New Roman"/>
                <a:cs typeface="Times New Roman"/>
              </a:rPr>
              <a:t>Kanban </a:t>
            </a:r>
            <a:r>
              <a:rPr lang="ar-SA"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لإدارة سير العمل </a:t>
            </a:r>
            <a:r>
              <a:rPr lang="en-US" altLang="en-US" sz="1600" b="1" dirty="0">
                <a:solidFill>
                  <a:srgbClr val="2F5496"/>
                </a:solidFill>
                <a:latin typeface="Times New Roman"/>
                <a:ea typeface="Times New Roman"/>
                <a:cs typeface="Times New Roman"/>
              </a:rPr>
              <a:t> </a:t>
            </a:r>
            <a:r>
              <a:rPr lang="en-US"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ممارسات </a:t>
            </a:r>
            <a:r>
              <a:rPr lang="en-US" altLang="en-US" sz="1600" b="1" i="0" dirty="0">
                <a:solidFill>
                  <a:srgbClr val="2F5496"/>
                </a:solidFill>
                <a:latin typeface="Times New Roman"/>
                <a:ea typeface="Times New Roman"/>
                <a:cs typeface="Times New Roman"/>
              </a:rPr>
              <a:t> Agile Modeling </a:t>
            </a:r>
            <a:r>
              <a:rPr lang="ar-SY" altLang="en-US" sz="1600" b="1" i="0" dirty="0">
                <a:solidFill>
                  <a:srgbClr val="2F5496"/>
                </a:solidFill>
                <a:latin typeface="Times New Roman"/>
                <a:ea typeface="Times New Roman"/>
                <a:cs typeface="Times New Roman"/>
              </a:rPr>
              <a:t>للتصميم</a:t>
            </a:r>
            <a:r>
              <a:rPr lang="en-US" altLang="en-US" sz="1600" b="1" i="0" dirty="0">
                <a:solidFill>
                  <a:srgbClr val="2F5496"/>
                </a:solidFill>
                <a:latin typeface="Times New Roman"/>
                <a:ea typeface="Times New Roman"/>
                <a:cs typeface="Times New Roman"/>
              </a:rPr>
              <a:t>:</a:t>
            </a:r>
            <a:r>
              <a:rPr kumimoji="0" lang="en-US" altLang="en-US" sz="1100" b="0" i="0" u="none" strike="noStrike" kern="1200" cap="none" spc="0" normalizeH="0" baseline="0" noProof="0" dirty="0">
                <a:ln>
                  <a:noFill/>
                </a:ln>
                <a:solidFill>
                  <a:srgbClr val="1A1A1A"/>
                </a:solidFill>
                <a:effectLst/>
                <a:uLnTx/>
                <a:uFillTx/>
                <a:latin typeface="Times New Roman"/>
                <a:ea typeface="Times New Roman"/>
                <a:cs typeface="Times New Roman"/>
              </a:rPr>
              <a:t> [20][21][22] </a:t>
            </a:r>
            <a:r>
              <a:rPr lang="en-US" altLang="en-US" sz="1600" b="0" i="0" dirty="0">
                <a:solidFill>
                  <a:srgbClr val="1A1A1A"/>
                </a:solidFill>
                <a:latin typeface="Times New Roman"/>
                <a:ea typeface="Times New Roman"/>
                <a:cs typeface="Times New Roman"/>
              </a:rPr>
              <a:t>Iterative &amp; Incremental Development </a:t>
            </a:r>
            <a:r>
              <a:rPr lang="en-US" altLang="en-US" sz="1100" b="0" i="0" dirty="0">
                <a:solidFill>
                  <a:srgbClr val="1A1A1A"/>
                </a:solidFill>
                <a:latin typeface="Times New Roman"/>
                <a:ea typeface="Times New Roman"/>
                <a:cs typeface="Times New Roman"/>
              </a:rPr>
              <a:t> </a:t>
            </a:r>
            <a:r>
              <a:rPr lang="en-US" altLang="en-US" sz="1600" b="0" i="0" dirty="0">
                <a:solidFill>
                  <a:srgbClr val="1A1A1A"/>
                </a:solidFill>
                <a:latin typeface="Times New Roman"/>
                <a:ea typeface="Times New Roman"/>
                <a:cs typeface="Times New Roman"/>
              </a:rPr>
              <a:t>‎</a:t>
            </a:r>
            <a:endParaRPr lang="ar-SY" altLang="en-US" sz="1600" b="0" i="0" dirty="0">
              <a:solidFill>
                <a:srgbClr val="1A1A1A"/>
              </a:solidFill>
              <a:latin typeface="Times New Roman"/>
              <a:ea typeface="Times New Roman"/>
              <a:cs typeface="Times New Roman"/>
            </a:endParaRPr>
          </a:p>
          <a:p>
            <a:pPr algn="r" rtl="1">
              <a:spcBef>
                <a:spcPts val="0"/>
              </a:spcBef>
              <a:spcAft>
                <a:spcPts val="0"/>
              </a:spcAft>
              <a:buNone/>
            </a:pPr>
            <a:r>
              <a:rPr lang="ar-SY" altLang="en-US" sz="1400" b="1" i="0" dirty="0">
                <a:solidFill>
                  <a:srgbClr val="1A1A1A"/>
                </a:solidFill>
                <a:latin typeface="Times New Roman"/>
                <a:ea typeface="Times New Roman"/>
                <a:cs typeface="Times New Roman"/>
              </a:rPr>
              <a:t>لماذا؟ </a:t>
            </a:r>
            <a:r>
              <a:rPr lang="ar-SY" altLang="en-US" sz="1400" b="0" i="0" dirty="0">
                <a:solidFill>
                  <a:srgbClr val="1A1A1A"/>
                </a:solidFill>
                <a:latin typeface="Times New Roman"/>
                <a:ea typeface="Times New Roman"/>
                <a:cs typeface="Times New Roman"/>
              </a:rPr>
              <a:t>نعمل معاً ومن المنازل؛ </a:t>
            </a:r>
            <a:r>
              <a:rPr lang="en-US" altLang="en-US" sz="1400" b="0" i="0" dirty="0">
                <a:solidFill>
                  <a:srgbClr val="1A1A1A"/>
                </a:solidFill>
                <a:latin typeface="Times New Roman"/>
                <a:ea typeface="Times New Roman"/>
                <a:cs typeface="Times New Roman"/>
              </a:rPr>
              <a:t> Kanban </a:t>
            </a:r>
            <a:r>
              <a:rPr lang="ar-SY" altLang="en-US" sz="1400" b="0" i="0" dirty="0">
                <a:solidFill>
                  <a:srgbClr val="1A1A1A"/>
                </a:solidFill>
                <a:latin typeface="Times New Roman"/>
                <a:ea typeface="Times New Roman"/>
                <a:cs typeface="Times New Roman"/>
              </a:rPr>
              <a:t>لا يفرض </a:t>
            </a:r>
            <a:r>
              <a:rPr lang="en-US" altLang="en-US" sz="1400" b="0" i="0" dirty="0">
                <a:solidFill>
                  <a:srgbClr val="1A1A1A"/>
                </a:solidFill>
                <a:latin typeface="Times New Roman"/>
                <a:ea typeface="Times New Roman"/>
                <a:cs typeface="Times New Roman"/>
              </a:rPr>
              <a:t> Daily Scrum </a:t>
            </a:r>
            <a:r>
              <a:rPr lang="ar-SY" altLang="en-US" sz="1400" b="0" i="0" dirty="0">
                <a:solidFill>
                  <a:srgbClr val="1A1A1A"/>
                </a:solidFill>
                <a:latin typeface="Times New Roman"/>
                <a:ea typeface="Times New Roman"/>
                <a:cs typeface="Times New Roman"/>
              </a:rPr>
              <a:t>ولا أدواراً، بل سير عمل معرّفاً وحدود </a:t>
            </a:r>
            <a:r>
              <a:rPr lang="en-US" altLang="en-US" sz="1400" b="0" i="0" dirty="0">
                <a:solidFill>
                  <a:srgbClr val="1A1A1A"/>
                </a:solidFill>
                <a:latin typeface="Times New Roman"/>
                <a:ea typeface="Times New Roman"/>
                <a:cs typeface="Times New Roman"/>
              </a:rPr>
              <a:t> WIP </a:t>
            </a:r>
            <a:r>
              <a:rPr lang="ar-SY" altLang="en-US" sz="1400" b="0" i="0" dirty="0">
                <a:solidFill>
                  <a:srgbClr val="1A1A1A"/>
                </a:solidFill>
                <a:latin typeface="Times New Roman"/>
                <a:ea typeface="Times New Roman"/>
                <a:cs typeface="Times New Roman"/>
              </a:rPr>
              <a:t>ومقاييس تدفق، وتفوّق على </a:t>
            </a:r>
            <a:r>
              <a:rPr lang="en-US" altLang="en-US" sz="1400" b="0" i="0" dirty="0">
                <a:solidFill>
                  <a:srgbClr val="1A1A1A"/>
                </a:solidFill>
                <a:latin typeface="Times New Roman"/>
                <a:ea typeface="Times New Roman"/>
                <a:cs typeface="Times New Roman"/>
              </a:rPr>
              <a:t> Scrum </a:t>
            </a:r>
            <a:r>
              <a:rPr lang="ar-SY" altLang="en-US" sz="1400" b="0" i="0" dirty="0">
                <a:solidFill>
                  <a:srgbClr val="1A1A1A"/>
                </a:solidFill>
                <a:latin typeface="Times New Roman"/>
                <a:ea typeface="Times New Roman"/>
                <a:cs typeface="Times New Roman"/>
              </a:rPr>
              <a:t>في تجربة على مشاريع طلابية </a:t>
            </a:r>
            <a:r>
              <a:rPr lang="en-US" altLang="en-US" sz="1100" b="0" i="0" dirty="0">
                <a:solidFill>
                  <a:srgbClr val="1A1A1A"/>
                </a:solidFill>
                <a:latin typeface="Times New Roman"/>
                <a:ea typeface="Times New Roman"/>
                <a:cs typeface="Times New Roman"/>
              </a:rPr>
              <a:t>[23].</a:t>
            </a:r>
            <a:endParaRPr lang="en-US" altLang="en-US" sz="1400" b="0" i="0" dirty="0">
              <a:solidFill>
                <a:srgbClr val="1A1A1A"/>
              </a:solidFill>
              <a:latin typeface="Times New Roman"/>
              <a:ea typeface="Times New Roman"/>
              <a:cs typeface="Times New Roman"/>
            </a:endParaRPr>
          </a:p>
        </p:txBody>
      </p:sp>
      <p:sp>
        <p:nvSpPr>
          <p:cNvPr id="11" name="Iter0 head"/>
          <p:cNvSpPr/>
          <p:nvPr/>
        </p:nvSpPr>
        <p:spPr>
          <a:xfrm>
            <a:off x="9674352" y="1874519"/>
            <a:ext cx="196596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en-US" altLang="en-US" sz="1500" b="1" i="0" dirty="0">
                <a:solidFill>
                  <a:srgbClr val="FFFFFF"/>
                </a:solidFill>
                <a:latin typeface="Times New Roman"/>
                <a:ea typeface="Times New Roman"/>
                <a:cs typeface="Times New Roman"/>
              </a:rPr>
              <a:t>Iteration 0</a:t>
            </a:r>
            <a:endParaRPr lang="ar-SY" altLang="en-US" sz="1500" b="1" i="0" dirty="0">
              <a:solidFill>
                <a:srgbClr val="FFFFFF"/>
              </a:solidFill>
              <a:latin typeface="Times New Roman"/>
              <a:ea typeface="Times New Roman"/>
              <a:cs typeface="Times New Roman"/>
            </a:endParaRPr>
          </a:p>
        </p:txBody>
      </p:sp>
      <p:sp>
        <p:nvSpPr>
          <p:cNvPr id="12" name="Iter0 body"/>
          <p:cNvSpPr/>
          <p:nvPr/>
        </p:nvSpPr>
        <p:spPr>
          <a:xfrm>
            <a:off x="9674352" y="2441448"/>
            <a:ext cx="1965960" cy="2331720"/>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300" b="1" i="0" dirty="0">
                <a:solidFill>
                  <a:srgbClr val="595959"/>
                </a:solidFill>
                <a:latin typeface="Times New Roman"/>
                <a:ea typeface="Times New Roman"/>
                <a:cs typeface="Times New Roman"/>
              </a:rPr>
              <a:t>22/10 – 1/11</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Literature Review</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FR / NFR + MoSCoW</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Use Case Diagrams</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Architecture + Initial Class Diagram</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Prototype: REST API + Flutter Login</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Product Backlog: 25 Issues on GitHub Projects</a:t>
            </a:r>
          </a:p>
        </p:txBody>
      </p:sp>
      <p:sp>
        <p:nvSpPr>
          <p:cNvPr id="13" name="Step head 1"/>
          <p:cNvSpPr/>
          <p:nvPr/>
        </p:nvSpPr>
        <p:spPr>
          <a:xfrm>
            <a:off x="7726679"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1  Backlog → Ready</a:t>
            </a:r>
          </a:p>
        </p:txBody>
      </p:sp>
      <p:sp>
        <p:nvSpPr>
          <p:cNvPr id="14" name="Step body 1"/>
          <p:cNvSpPr/>
          <p:nvPr/>
        </p:nvSpPr>
        <p:spPr>
          <a:xfrm>
            <a:off x="7726679"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User Story + Acceptance Criteria</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MoSCoW order: Must, Should, Could</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Weekly replenishment</a:t>
            </a:r>
          </a:p>
        </p:txBody>
      </p:sp>
      <p:pic>
        <p:nvPicPr>
          <p:cNvPr id="15" name="Step icon 1" descr="tasks_blue.png"/>
          <p:cNvPicPr>
            <a:picLocks noChangeAspect="1"/>
          </p:cNvPicPr>
          <p:nvPr/>
        </p:nvPicPr>
        <p:blipFill>
          <a:blip r:embed="rId3"/>
          <a:stretch>
            <a:fillRect/>
          </a:stretch>
        </p:blipFill>
        <p:spPr>
          <a:xfrm>
            <a:off x="8417051" y="2496312"/>
            <a:ext cx="274320" cy="274320"/>
          </a:xfrm>
          <a:prstGeom prst="rect">
            <a:avLst/>
          </a:prstGeom>
        </p:spPr>
      </p:pic>
      <p:cxnSp>
        <p:nvCxnSpPr>
          <p:cNvPr id="16" name="Step arrow 1"/>
          <p:cNvCxnSpPr/>
          <p:nvPr/>
        </p:nvCxnSpPr>
        <p:spPr>
          <a:xfrm flipH="1">
            <a:off x="7607807" y="2157984"/>
            <a:ext cx="109729"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tep head 2"/>
          <p:cNvSpPr/>
          <p:nvPr/>
        </p:nvSpPr>
        <p:spPr>
          <a:xfrm>
            <a:off x="5925311"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2  In Progress · WIP 3</a:t>
            </a:r>
          </a:p>
        </p:txBody>
      </p:sp>
      <p:sp>
        <p:nvSpPr>
          <p:cNvPr id="18" name="Step body 2"/>
          <p:cNvSpPr/>
          <p:nvPr/>
        </p:nvSpPr>
        <p:spPr>
          <a:xfrm>
            <a:off x="5925311"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Model storming: Sequence, Activity, ERD</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One branch per item</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Code + unit tests</a:t>
            </a:r>
          </a:p>
        </p:txBody>
      </p:sp>
      <p:pic>
        <p:nvPicPr>
          <p:cNvPr id="19" name="Step icon 2" descr="pencil_blue.png"/>
          <p:cNvPicPr>
            <a:picLocks noChangeAspect="1"/>
          </p:cNvPicPr>
          <p:nvPr/>
        </p:nvPicPr>
        <p:blipFill>
          <a:blip r:embed="rId4"/>
          <a:stretch>
            <a:fillRect/>
          </a:stretch>
        </p:blipFill>
        <p:spPr>
          <a:xfrm>
            <a:off x="6615683" y="2496312"/>
            <a:ext cx="274320" cy="274320"/>
          </a:xfrm>
          <a:prstGeom prst="rect">
            <a:avLst/>
          </a:prstGeom>
        </p:spPr>
      </p:pic>
      <p:cxnSp>
        <p:nvCxnSpPr>
          <p:cNvPr id="20" name="Step arrow 2"/>
          <p:cNvCxnSpPr/>
          <p:nvPr/>
        </p:nvCxnSpPr>
        <p:spPr>
          <a:xfrm flipH="1">
            <a:off x="5806439" y="2157984"/>
            <a:ext cx="109728"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tep head 3"/>
          <p:cNvSpPr/>
          <p:nvPr/>
        </p:nvSpPr>
        <p:spPr>
          <a:xfrm>
            <a:off x="4123943"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3  Review · WIP 2</a:t>
            </a:r>
          </a:p>
        </p:txBody>
      </p:sp>
      <p:sp>
        <p:nvSpPr>
          <p:cNvPr id="22" name="Step body 3"/>
          <p:cNvSpPr/>
          <p:nvPr/>
        </p:nvSpPr>
        <p:spPr>
          <a:xfrm>
            <a:off x="4123943"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Pull Request + CI</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Reviewed by another member</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Integration tests</a:t>
            </a:r>
          </a:p>
        </p:txBody>
      </p:sp>
      <p:pic>
        <p:nvPicPr>
          <p:cNvPr id="23" name="Step icon 3" descr="code_blue.png"/>
          <p:cNvPicPr>
            <a:picLocks noChangeAspect="1"/>
          </p:cNvPicPr>
          <p:nvPr/>
        </p:nvPicPr>
        <p:blipFill>
          <a:blip r:embed="rId5"/>
          <a:stretch>
            <a:fillRect/>
          </a:stretch>
        </p:blipFill>
        <p:spPr>
          <a:xfrm>
            <a:off x="4814315" y="2496312"/>
            <a:ext cx="274320" cy="274320"/>
          </a:xfrm>
          <a:prstGeom prst="rect">
            <a:avLst/>
          </a:prstGeom>
        </p:spPr>
      </p:pic>
      <p:cxnSp>
        <p:nvCxnSpPr>
          <p:cNvPr id="24" name="Step arrow 3"/>
          <p:cNvCxnSpPr/>
          <p:nvPr/>
        </p:nvCxnSpPr>
        <p:spPr>
          <a:xfrm flipH="1">
            <a:off x="4005071" y="2157984"/>
            <a:ext cx="109728"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tep head 4"/>
          <p:cNvSpPr/>
          <p:nvPr/>
        </p:nvSpPr>
        <p:spPr>
          <a:xfrm>
            <a:off x="2322575"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4  Done → Released</a:t>
            </a:r>
          </a:p>
        </p:txBody>
      </p:sp>
      <p:sp>
        <p:nvSpPr>
          <p:cNvPr id="26" name="Step body 4"/>
          <p:cNvSpPr/>
          <p:nvPr/>
        </p:nvSpPr>
        <p:spPr>
          <a:xfrm>
            <a:off x="2322575"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Merged into develop</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Review with supervisors every 2 weeks</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Release tag + workflow review</a:t>
            </a:r>
          </a:p>
        </p:txBody>
      </p:sp>
      <p:pic>
        <p:nvPicPr>
          <p:cNvPr id="27" name="Step icon 4" descr="check_blue.png"/>
          <p:cNvPicPr>
            <a:picLocks noChangeAspect="1"/>
          </p:cNvPicPr>
          <p:nvPr/>
        </p:nvPicPr>
        <p:blipFill>
          <a:blip r:embed="rId6"/>
          <a:stretch>
            <a:fillRect/>
          </a:stretch>
        </p:blipFill>
        <p:spPr>
          <a:xfrm>
            <a:off x="3012947" y="2496312"/>
            <a:ext cx="274320" cy="274320"/>
          </a:xfrm>
          <a:prstGeom prst="rect">
            <a:avLst/>
          </a:prstGeom>
        </p:spPr>
      </p:pic>
      <p:cxnSp>
        <p:nvCxnSpPr>
          <p:cNvPr id="28" name="Iter0 arrow"/>
          <p:cNvCxnSpPr/>
          <p:nvPr/>
        </p:nvCxnSpPr>
        <p:spPr>
          <a:xfrm flipH="1">
            <a:off x="9418319" y="2157984"/>
            <a:ext cx="237745" cy="0"/>
          </a:xfrm>
          <a:prstGeom prst="line">
            <a:avLst/>
          </a:prstGeom>
          <a:ln w="3175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 band"/>
          <p:cNvSpPr/>
          <p:nvPr/>
        </p:nvSpPr>
        <p:spPr>
          <a:xfrm>
            <a:off x="2322575" y="4224528"/>
            <a:ext cx="7077456" cy="438912"/>
          </a:xfrm>
          <a:prstGeom prst="roundRect">
            <a:avLst>
              <a:gd name="adj" fmla="val 8000"/>
            </a:avLst>
          </a:prstGeom>
          <a:solidFill>
            <a:srgbClr val="FBE5D6"/>
          </a:solidFill>
          <a:ln w="9525">
            <a:solidFill>
              <a:srgbClr val="E07B28"/>
            </a:solid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1A1A1A"/>
                </a:solidFill>
                <a:latin typeface="Times New Roman"/>
                <a:ea typeface="Times New Roman"/>
                <a:cs typeface="Times New Roman"/>
              </a:rPr>
              <a:t>↻  أربعة </a:t>
            </a:r>
            <a:r>
              <a:rPr lang="en-US" altLang="en-US" sz="1300" b="1" i="0" dirty="0">
                <a:solidFill>
                  <a:srgbClr val="1A1A1A"/>
                </a:solidFill>
                <a:latin typeface="Times New Roman"/>
                <a:ea typeface="Times New Roman"/>
                <a:cs typeface="Times New Roman"/>
              </a:rPr>
              <a:t>Increments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من </a:t>
            </a:r>
            <a:r>
              <a:rPr lang="en-US" altLang="en-US" sz="1300" b="1" i="0" dirty="0">
                <a:solidFill>
                  <a:srgbClr val="1A1A1A"/>
                </a:solidFill>
                <a:latin typeface="Times New Roman"/>
                <a:ea typeface="Times New Roman"/>
                <a:cs typeface="Times New Roman"/>
              </a:rPr>
              <a:t> 2/11 </a:t>
            </a:r>
            <a:r>
              <a:rPr lang="ar-SY" altLang="en-US" sz="1300" b="1" i="0" dirty="0">
                <a:solidFill>
                  <a:srgbClr val="1A1A1A"/>
                </a:solidFill>
                <a:latin typeface="Times New Roman"/>
                <a:ea typeface="Times New Roman"/>
                <a:cs typeface="Times New Roman"/>
              </a:rPr>
              <a:t>حتى </a:t>
            </a:r>
            <a:r>
              <a:rPr lang="en-US" altLang="en-US" sz="1300" b="1" i="0" dirty="0">
                <a:solidFill>
                  <a:srgbClr val="1A1A1A"/>
                </a:solidFill>
                <a:latin typeface="Times New Roman"/>
                <a:ea typeface="Times New Roman"/>
                <a:cs typeface="Times New Roman"/>
              </a:rPr>
              <a:t>27/12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ومراجعة مع المشرفين كل أسبوعين، ثم </a:t>
            </a:r>
            <a:r>
              <a:rPr lang="en-US" altLang="en-US" sz="1300" b="1" i="0" dirty="0">
                <a:solidFill>
                  <a:srgbClr val="1A1A1A"/>
                </a:solidFill>
                <a:latin typeface="Times New Roman"/>
                <a:ea typeface="Times New Roman"/>
                <a:cs typeface="Times New Roman"/>
              </a:rPr>
              <a:t>Feature Freeze</a:t>
            </a:r>
            <a:endParaRPr lang="ar-SY" altLang="en-US" sz="1300" b="1" i="0" dirty="0">
              <a:solidFill>
                <a:srgbClr val="1A1A1A"/>
              </a:solidFill>
              <a:latin typeface="Times New Roman"/>
              <a:ea typeface="Times New Roman"/>
              <a:cs typeface="Times New Roman"/>
            </a:endParaRPr>
          </a:p>
        </p:txBody>
      </p:sp>
      <p:sp>
        <p:nvSpPr>
          <p:cNvPr id="30" name="Release head"/>
          <p:cNvSpPr/>
          <p:nvPr/>
        </p:nvSpPr>
        <p:spPr>
          <a:xfrm>
            <a:off x="548640" y="1874519"/>
            <a:ext cx="164592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en-US" altLang="en-US" sz="1500" b="1" i="0" dirty="0">
                <a:solidFill>
                  <a:srgbClr val="FFFFFF"/>
                </a:solidFill>
                <a:latin typeface="Times New Roman"/>
                <a:ea typeface="Times New Roman"/>
                <a:cs typeface="Times New Roman"/>
              </a:rPr>
              <a:t>Release</a:t>
            </a:r>
            <a:endParaRPr lang="ar-SY" altLang="en-US" sz="1500" b="1" i="0" dirty="0">
              <a:solidFill>
                <a:srgbClr val="FFFFFF"/>
              </a:solidFill>
              <a:latin typeface="Times New Roman"/>
              <a:ea typeface="Times New Roman"/>
              <a:cs typeface="Times New Roman"/>
            </a:endParaRPr>
          </a:p>
        </p:txBody>
      </p:sp>
      <p:sp>
        <p:nvSpPr>
          <p:cNvPr id="31" name="Release body"/>
          <p:cNvSpPr/>
          <p:nvPr/>
        </p:nvSpPr>
        <p:spPr>
          <a:xfrm>
            <a:off x="548640" y="2441448"/>
            <a:ext cx="1645920" cy="2331720"/>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595959"/>
                </a:solidFill>
                <a:latin typeface="Times New Roman"/>
                <a:ea typeface="Times New Roman"/>
                <a:cs typeface="Times New Roman"/>
              </a:rPr>
              <a:t>28/12 – 10/1</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System Testing</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Performance Test (NFR-01)</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Seminar 2</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Final Report</a:t>
            </a:r>
          </a:p>
        </p:txBody>
      </p:sp>
      <p:cxnSp>
        <p:nvCxnSpPr>
          <p:cNvPr id="32" name="Release arrow"/>
          <p:cNvCxnSpPr/>
          <p:nvPr/>
        </p:nvCxnSpPr>
        <p:spPr>
          <a:xfrm flipH="1">
            <a:off x="2212848" y="2157984"/>
            <a:ext cx="91439" cy="0"/>
          </a:xfrm>
          <a:prstGeom prst="line">
            <a:avLst/>
          </a:prstGeom>
          <a:ln w="3175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le 1"/>
          <p:cNvSpPr/>
          <p:nvPr/>
        </p:nvSpPr>
        <p:spPr>
          <a:xfrm>
            <a:off x="8970264"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2F5496"/>
                </a:solidFill>
                <a:latin typeface="Times New Roman"/>
                <a:ea typeface="Times New Roman"/>
                <a:cs typeface="Times New Roman"/>
              </a:rPr>
              <a:t>يمان المطر</a:t>
            </a:r>
            <a:r>
              <a:rPr lang="en-US" altLang="en-US" sz="1300" b="1" i="0" dirty="0">
                <a:solidFill>
                  <a:srgbClr val="2F5496"/>
                </a:solidFill>
                <a:latin typeface="Times New Roman"/>
                <a:ea typeface="Times New Roman"/>
                <a:cs typeface="Times New Roman"/>
              </a:rPr>
              <a:t>:</a:t>
            </a:r>
            <a:r>
              <a:rPr lang="ar-SA" altLang="en-US" sz="13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ترتيب الـ </a:t>
            </a:r>
            <a:r>
              <a:rPr lang="en-US" altLang="en-US" sz="1400" b="0" i="0" dirty="0">
                <a:solidFill>
                  <a:schemeClr val="tx1"/>
                </a:solidFill>
                <a:latin typeface="Times New Roman"/>
                <a:ea typeface="Times New Roman"/>
                <a:cs typeface="Times New Roman"/>
              </a:rPr>
              <a:t> Backlog </a:t>
            </a:r>
            <a:r>
              <a:rPr lang="ar-SY" altLang="en-US" sz="1400" b="0" i="0" dirty="0">
                <a:solidFill>
                  <a:schemeClr val="tx1"/>
                </a:solidFill>
                <a:latin typeface="Times New Roman"/>
                <a:ea typeface="Times New Roman"/>
                <a:cs typeface="Times New Roman"/>
              </a:rPr>
              <a:t>والتواصل مع المشرفين</a:t>
            </a:r>
            <a:endParaRPr lang="ar-SY" altLang="en-US" sz="1300" b="0" i="0" dirty="0">
              <a:solidFill>
                <a:srgbClr val="1A1A1A"/>
              </a:solidFill>
              <a:latin typeface="Times New Roman"/>
              <a:ea typeface="Times New Roman"/>
              <a:cs typeface="Times New Roman"/>
            </a:endParaRPr>
          </a:p>
        </p:txBody>
      </p:sp>
      <p:sp>
        <p:nvSpPr>
          <p:cNvPr id="34" name="Role 2"/>
          <p:cNvSpPr/>
          <p:nvPr/>
        </p:nvSpPr>
        <p:spPr>
          <a:xfrm>
            <a:off x="6163056"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2F5496"/>
                </a:solidFill>
                <a:latin typeface="Times New Roman"/>
                <a:ea typeface="Times New Roman"/>
                <a:cs typeface="Times New Roman"/>
              </a:rPr>
              <a:t>يوسف الزعبي</a:t>
            </a:r>
            <a:r>
              <a:rPr lang="ar-SA" altLang="en-US" sz="1300" b="1" i="0" dirty="0">
                <a:solidFill>
                  <a:srgbClr val="2F5496"/>
                </a:solidFill>
                <a:latin typeface="Times New Roman"/>
                <a:ea typeface="Times New Roman"/>
                <a:cs typeface="Times New Roman"/>
              </a:rPr>
              <a:t> </a:t>
            </a:r>
            <a:r>
              <a:rPr lang="en-US" altLang="en-US" sz="13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اللوحة وحدود </a:t>
            </a:r>
            <a:r>
              <a:rPr lang="en-US" altLang="en-US" sz="1400" b="0" i="0" dirty="0">
                <a:solidFill>
                  <a:schemeClr val="tx1"/>
                </a:solidFill>
                <a:latin typeface="Times New Roman"/>
                <a:ea typeface="Times New Roman"/>
                <a:cs typeface="Times New Roman"/>
              </a:rPr>
              <a:t> WIP </a:t>
            </a:r>
            <a:r>
              <a:rPr lang="ar-SY" altLang="en-US" sz="1400" b="0" i="0" dirty="0">
                <a:solidFill>
                  <a:schemeClr val="tx1"/>
                </a:solidFill>
                <a:latin typeface="Times New Roman"/>
                <a:ea typeface="Times New Roman"/>
                <a:cs typeface="Times New Roman"/>
              </a:rPr>
              <a:t>ومقاييس التدفق</a:t>
            </a:r>
            <a:endParaRPr lang="ar-SY" altLang="en-US" sz="1300" b="0" i="0" dirty="0">
              <a:solidFill>
                <a:schemeClr val="tx1"/>
              </a:solidFill>
              <a:latin typeface="Times New Roman"/>
              <a:ea typeface="Times New Roman"/>
              <a:cs typeface="Times New Roman"/>
            </a:endParaRPr>
          </a:p>
        </p:txBody>
      </p:sp>
      <p:sp>
        <p:nvSpPr>
          <p:cNvPr id="35" name="Role 3"/>
          <p:cNvSpPr/>
          <p:nvPr/>
        </p:nvSpPr>
        <p:spPr>
          <a:xfrm>
            <a:off x="3355848"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400" b="1" i="0" dirty="0">
                <a:solidFill>
                  <a:srgbClr val="2F5496"/>
                </a:solidFill>
                <a:latin typeface="Times New Roman"/>
                <a:ea typeface="Times New Roman"/>
                <a:cs typeface="Times New Roman"/>
              </a:rPr>
              <a:t>حسن يحيى</a:t>
            </a:r>
            <a:r>
              <a:rPr lang="en-US" altLang="en-US" sz="1400" b="1" i="0" dirty="0">
                <a:solidFill>
                  <a:srgbClr val="2F5496"/>
                </a:solidFill>
                <a:latin typeface="Times New Roman"/>
                <a:ea typeface="Times New Roman"/>
                <a:cs typeface="Times New Roman"/>
              </a:rPr>
              <a:t>: </a:t>
            </a:r>
            <a:r>
              <a:rPr lang="ar-SA" altLang="en-US" sz="14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بنود الذكاء الاصطناعي وتقييم النموذج</a:t>
            </a:r>
          </a:p>
        </p:txBody>
      </p:sp>
      <p:sp>
        <p:nvSpPr>
          <p:cNvPr id="36" name="Role 4"/>
          <p:cNvSpPr/>
          <p:nvPr/>
        </p:nvSpPr>
        <p:spPr>
          <a:xfrm>
            <a:off x="548639"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400" b="1" i="0" dirty="0">
                <a:solidFill>
                  <a:srgbClr val="2F5496"/>
                </a:solidFill>
                <a:latin typeface="Times New Roman"/>
                <a:ea typeface="Times New Roman"/>
                <a:cs typeface="Times New Roman"/>
              </a:rPr>
              <a:t>المشرفان</a:t>
            </a:r>
            <a:r>
              <a:rPr lang="en-US" altLang="en-US" sz="1400" b="1" i="0" dirty="0">
                <a:solidFill>
                  <a:srgbClr val="2F5496"/>
                </a:solidFill>
                <a:latin typeface="Times New Roman"/>
                <a:ea typeface="Times New Roman"/>
                <a:cs typeface="Times New Roman"/>
              </a:rPr>
              <a:t>(Stakeholders) </a:t>
            </a:r>
            <a:r>
              <a:rPr lang="ar-SA" altLang="en-US" sz="1400" b="1" i="0" dirty="0">
                <a:solidFill>
                  <a:srgbClr val="2F5496"/>
                </a:solidFill>
                <a:latin typeface="Times New Roman"/>
                <a:ea typeface="Times New Roman"/>
                <a:cs typeface="Times New Roman"/>
              </a:rPr>
              <a:t> :</a:t>
            </a:r>
            <a:endParaRPr lang="ar-SY" altLang="en-US" sz="1400" b="1" i="0" dirty="0">
              <a:solidFill>
                <a:srgbClr val="2F5496"/>
              </a:solidFill>
              <a:latin typeface="Times New Roman"/>
              <a:ea typeface="Times New Roman"/>
              <a:cs typeface="Times New Roman"/>
            </a:endParaRPr>
          </a:p>
          <a:p>
            <a:pPr algn="ctr" rtl="1">
              <a:spcBef>
                <a:spcPts val="0"/>
              </a:spcBef>
              <a:spcAft>
                <a:spcPts val="0"/>
              </a:spcAft>
              <a:buNone/>
            </a:pPr>
            <a:r>
              <a:rPr lang="ar-SY" altLang="en-US" sz="1400" b="0" i="0" dirty="0">
                <a:solidFill>
                  <a:srgbClr val="1A1A1A"/>
                </a:solidFill>
                <a:latin typeface="Times New Roman"/>
                <a:ea typeface="Times New Roman"/>
                <a:cs typeface="Times New Roman"/>
              </a:rPr>
              <a:t>مراجعة ما أُنجز كل أسبوعين</a:t>
            </a:r>
          </a:p>
        </p:txBody>
      </p:sp>
      <p:sp>
        <p:nvSpPr>
          <p:cNvPr id="37" name="Definition of Done"/>
          <p:cNvSpPr/>
          <p:nvPr/>
        </p:nvSpPr>
        <p:spPr>
          <a:xfrm>
            <a:off x="548640" y="5596128"/>
            <a:ext cx="11091672" cy="502920"/>
          </a:xfrm>
          <a:prstGeom prst="roundRect">
            <a:avLst>
              <a:gd name="adj" fmla="val 8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spcBef>
                <a:spcPts val="0"/>
              </a:spcBef>
              <a:spcAft>
                <a:spcPts val="0"/>
              </a:spcAft>
              <a:buNone/>
            </a:pPr>
            <a:r>
              <a:rPr lang="en-US" altLang="en-US" sz="1400" b="1" i="0" dirty="0">
                <a:solidFill>
                  <a:srgbClr val="2F5496"/>
                </a:solidFill>
                <a:latin typeface="Times New Roman"/>
                <a:ea typeface="Times New Roman"/>
                <a:cs typeface="Times New Roman"/>
              </a:rPr>
              <a:t>Definition of Done </a:t>
            </a:r>
            <a:r>
              <a:rPr lang="ar-SA" altLang="en-US" sz="1400" b="1" i="0" dirty="0">
                <a:solidFill>
                  <a:srgbClr val="2F5496"/>
                </a:solidFill>
                <a:latin typeface="Times New Roman"/>
                <a:ea typeface="Times New Roman"/>
                <a:cs typeface="Times New Roman"/>
              </a:rPr>
              <a:t>:</a:t>
            </a:r>
            <a:r>
              <a:rPr lang="en-US" altLang="en-US" sz="1400" b="1" i="0" dirty="0">
                <a:solidFill>
                  <a:srgbClr val="2F5496"/>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اختبارات </a:t>
            </a:r>
            <a:r>
              <a:rPr lang="en-US" altLang="en-US" sz="1400" b="0" i="0" dirty="0">
                <a:solidFill>
                  <a:srgbClr val="1A1A1A"/>
                </a:solidFill>
                <a:latin typeface="Times New Roman"/>
                <a:ea typeface="Times New Roman"/>
                <a:cs typeface="Times New Roman"/>
              </a:rPr>
              <a:t>CI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ناجحة </a:t>
            </a:r>
            <a:r>
              <a:rPr lang="en-US" altLang="en-US" sz="1400" b="0" i="0" dirty="0">
                <a:solidFill>
                  <a:srgbClr val="1A1A1A"/>
                </a:solidFill>
                <a:latin typeface="Times New Roman"/>
                <a:ea typeface="Times New Roman"/>
                <a:cs typeface="Times New Roman"/>
              </a:rPr>
              <a:t>+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مراجعة عضو آخر </a:t>
            </a:r>
            <a:r>
              <a:rPr lang="en-US" altLang="en-US" sz="1400" b="0" i="0" dirty="0">
                <a:solidFill>
                  <a:srgbClr val="1A1A1A"/>
                </a:solidFill>
                <a:latin typeface="Times New Roman"/>
                <a:ea typeface="Times New Roman"/>
                <a:cs typeface="Times New Roman"/>
              </a:rPr>
              <a:t>+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مخططات وتقرير محدّثة</a:t>
            </a:r>
            <a:r>
              <a:rPr lang="en-US" altLang="en-US" sz="1400" b="0" i="0" dirty="0">
                <a:solidFill>
                  <a:srgbClr val="1A1A1A"/>
                </a:solidFill>
                <a:latin typeface="Times New Roman"/>
                <a:ea typeface="Times New Roman"/>
                <a:cs typeface="Times New Roman"/>
              </a:rPr>
              <a:t> </a:t>
            </a:r>
            <a:r>
              <a:rPr lang="en-US" altLang="en-US" sz="1400" b="1" i="0" dirty="0">
                <a:solidFill>
                  <a:srgbClr val="2F5496"/>
                </a:solidFill>
                <a:latin typeface="Times New Roman"/>
                <a:ea typeface="Times New Roman"/>
                <a:cs typeface="Times New Roman"/>
              </a:rPr>
              <a:t>     Flow Metrics: </a:t>
            </a:r>
            <a:r>
              <a:rPr lang="en-US" altLang="en-US" sz="1400" b="0" i="0" dirty="0">
                <a:solidFill>
                  <a:srgbClr val="1A1A1A"/>
                </a:solidFill>
                <a:latin typeface="Times New Roman"/>
                <a:ea typeface="Times New Roman"/>
                <a:cs typeface="Times New Roman"/>
              </a:rPr>
              <a:t>WIP · Throughput · Cycle Time · Item Age </a:t>
            </a:r>
            <a:r>
              <a:rPr lang="ar-SA" altLang="en-US" sz="1400" b="0" i="0" dirty="0">
                <a:solidFill>
                  <a:srgbClr val="1A1A1A"/>
                </a:solidFill>
                <a:latin typeface="Times New Roman"/>
                <a:ea typeface="Times New Roman"/>
                <a:cs typeface="Times New Roman"/>
              </a:rPr>
              <a:t> </a:t>
            </a:r>
            <a:endParaRPr lang="en-US" altLang="en-US" sz="1400" b="0" i="0" dirty="0">
              <a:solidFill>
                <a:srgbClr val="1A1A1A"/>
              </a:solidFill>
              <a:latin typeface="Times New Roman"/>
              <a:ea typeface="Times New Roman"/>
              <a:cs typeface="Times New Roman"/>
            </a:endParaRPr>
          </a:p>
        </p:txBody>
      </p:sp>
    </p:spTree>
    <p:extLst>
      <p:ext uri="{BB962C8B-B14F-4D97-AF65-F5344CB8AC3E}">
        <p14:creationId xmlns:p14="http://schemas.microsoft.com/office/powerpoint/2010/main" val="29172193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DB5F87B-DB91-279C-A082-B365333316FB}"/>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2F2DDC9-5CB8-7BD5-C787-157F1291301F}"/>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8BAB69BB-1E0D-E2FB-517B-56C9C8D1905C}"/>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9</a:t>
            </a:fld>
            <a:endParaRPr lang="en-US"/>
          </a:p>
        </p:txBody>
      </p:sp>
      <p:sp>
        <p:nvSpPr>
          <p:cNvPr id="9" name="Title">
            <a:extLst>
              <a:ext uri="{FF2B5EF4-FFF2-40B4-BE49-F238E27FC236}">
                <a16:creationId xmlns:a16="http://schemas.microsoft.com/office/drawing/2014/main" id="{7F4D8816-9B85-AB6D-1909-13902986402F}"/>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معمارية النظام والأدوات المستخدمة</a:t>
            </a:r>
            <a:r>
              <a:rPr lang="en-US" altLang="en-US" sz="2800" b="1" i="0" dirty="0">
                <a:solidFill>
                  <a:srgbClr val="2F5496"/>
                </a:solidFill>
                <a:latin typeface="Times New Roman"/>
                <a:ea typeface="Times New Roman"/>
                <a:cs typeface="Times New Roman"/>
              </a:rPr>
              <a:t> (System Architecture) </a:t>
            </a:r>
            <a:endParaRPr lang="ar-SY" altLang="en-US" sz="2800" b="1" i="0" dirty="0">
              <a:solidFill>
                <a:srgbClr val="2F5496"/>
              </a:solidFill>
              <a:latin typeface="Times New Roman"/>
              <a:ea typeface="Times New Roman"/>
              <a:cs typeface="Times New Roman"/>
            </a:endParaRPr>
          </a:p>
        </p:txBody>
      </p:sp>
      <p:sp>
        <p:nvSpPr>
          <p:cNvPr id="10" name="Tier client"/>
          <p:cNvSpPr/>
          <p:nvPr/>
        </p:nvSpPr>
        <p:spPr>
          <a:xfrm>
            <a:off x="548640" y="932688"/>
            <a:ext cx="7955280" cy="914400"/>
          </a:xfrm>
          <a:prstGeom prst="roundRect">
            <a:avLst>
              <a:gd name="adj" fmla="val 4000"/>
            </a:avLst>
          </a:prstGeom>
          <a:solidFill>
            <a:srgbClr val="F7F9FC"/>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36576" bIns="18288" rtlCol="0" anchor="t">
            <a:noAutofit/>
          </a:bodyPr>
          <a:lstStyle/>
          <a:p>
            <a:pPr algn="l" rtl="0">
              <a:spcBef>
                <a:spcPts val="0"/>
              </a:spcBef>
              <a:spcAft>
                <a:spcPts val="0"/>
              </a:spcAft>
              <a:buNone/>
            </a:pPr>
            <a:r>
              <a:rPr lang="en-US" altLang="en-US" sz="1200" b="1" i="0" dirty="0">
                <a:solidFill>
                  <a:srgbClr val="595959"/>
                </a:solidFill>
                <a:latin typeface="Times New Roman"/>
                <a:ea typeface="Times New Roman"/>
                <a:cs typeface="Times New Roman"/>
              </a:rPr>
              <a:t>Client Tier</a:t>
            </a:r>
          </a:p>
        </p:txBody>
      </p:sp>
      <p:sp>
        <p:nvSpPr>
          <p:cNvPr id="11" name="Client app"/>
          <p:cNvSpPr/>
          <p:nvPr/>
        </p:nvSpPr>
        <p:spPr>
          <a:xfrm>
            <a:off x="4526280" y="1188720"/>
            <a:ext cx="2971800" cy="566928"/>
          </a:xfrm>
          <a:prstGeom prst="roundRect">
            <a:avLst>
              <a:gd name="adj" fmla="val 8000"/>
            </a:avLst>
          </a:prstGeom>
          <a:solidFill>
            <a:srgbClr val="FFFFFF"/>
          </a:solidFill>
          <a:ln w="15875">
            <a:solidFill>
              <a:srgbClr val="E07B28"/>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457200" tIns="18288" rIns="54864" bIns="18288" rtlCol="0" anchor="ctr">
            <a:noAutofit/>
          </a:bodyPr>
          <a:lstStyle/>
          <a:p>
            <a:pPr algn="ctr" rtl="0">
              <a:spcBef>
                <a:spcPts val="0"/>
              </a:spcBef>
              <a:spcAft>
                <a:spcPts val="0"/>
              </a:spcAft>
              <a:buNone/>
            </a:pPr>
            <a:r>
              <a:rPr lang="en-US" altLang="en-US" sz="1300" b="1" i="0" dirty="0">
                <a:solidFill>
                  <a:srgbClr val="1A1A1A"/>
                </a:solidFill>
                <a:latin typeface="Times New Roman"/>
                <a:ea typeface="Times New Roman"/>
                <a:cs typeface="Times New Roman"/>
              </a:rPr>
              <a:t>Respondent Mobile App</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Flutter (Android / Web)</a:t>
            </a:r>
          </a:p>
        </p:txBody>
      </p:sp>
      <p:pic>
        <p:nvPicPr>
          <p:cNvPr id="12" name="Client app icon" descr="mobile_orange.png"/>
          <p:cNvPicPr>
            <a:picLocks noChangeAspect="1"/>
          </p:cNvPicPr>
          <p:nvPr/>
        </p:nvPicPr>
        <p:blipFill>
          <a:blip r:embed="rId3"/>
          <a:stretch>
            <a:fillRect/>
          </a:stretch>
        </p:blipFill>
        <p:spPr>
          <a:xfrm>
            <a:off x="4617720" y="1298448"/>
            <a:ext cx="347472" cy="347472"/>
          </a:xfrm>
          <a:prstGeom prst="rect">
            <a:avLst/>
          </a:prstGeom>
        </p:spPr>
      </p:pic>
      <p:sp>
        <p:nvSpPr>
          <p:cNvPr id="13" name="Client web"/>
          <p:cNvSpPr/>
          <p:nvPr/>
        </p:nvSpPr>
        <p:spPr>
          <a:xfrm>
            <a:off x="1463040" y="1188720"/>
            <a:ext cx="2971800" cy="566928"/>
          </a:xfrm>
          <a:prstGeom prst="roundRect">
            <a:avLst>
              <a:gd name="adj" fmla="val 8000"/>
            </a:avLst>
          </a:prstGeom>
          <a:solidFill>
            <a:srgbClr val="FFFFFF"/>
          </a:solidFill>
          <a:ln w="15875">
            <a:solidFill>
              <a:srgbClr val="E07B28"/>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457200" tIns="18288" rIns="54864" bIns="18288" rtlCol="0" anchor="ctr">
            <a:noAutofit/>
          </a:bodyPr>
          <a:lstStyle/>
          <a:p>
            <a:pPr algn="ctr" rtl="0">
              <a:spcBef>
                <a:spcPts val="0"/>
              </a:spcBef>
              <a:spcAft>
                <a:spcPts val="0"/>
              </a:spcAft>
              <a:buNone/>
            </a:pPr>
            <a:r>
              <a:rPr lang="en-US" altLang="en-US" sz="1300" b="1" i="0" dirty="0">
                <a:solidFill>
                  <a:srgbClr val="1A1A1A"/>
                </a:solidFill>
                <a:latin typeface="Times New Roman"/>
                <a:ea typeface="Times New Roman"/>
                <a:cs typeface="Times New Roman"/>
              </a:rPr>
              <a:t>Provider &amp; Admin Web</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Browser — Django Templates</a:t>
            </a:r>
          </a:p>
        </p:txBody>
      </p:sp>
      <p:pic>
        <p:nvPicPr>
          <p:cNvPr id="14" name="Client web icon" descr="browser_orange.png"/>
          <p:cNvPicPr>
            <a:picLocks noChangeAspect="1"/>
          </p:cNvPicPr>
          <p:nvPr/>
        </p:nvPicPr>
        <p:blipFill>
          <a:blip r:embed="rId4"/>
          <a:stretch>
            <a:fillRect/>
          </a:stretch>
        </p:blipFill>
        <p:spPr>
          <a:xfrm>
            <a:off x="1554480" y="1298448"/>
            <a:ext cx="347472" cy="347472"/>
          </a:xfrm>
          <a:prstGeom prst="rect">
            <a:avLst/>
          </a:prstGeom>
        </p:spPr>
      </p:pic>
      <p:cxnSp>
        <p:nvCxnSpPr>
          <p:cNvPr id="15" name="Arrow app"/>
          <p:cNvCxnSpPr/>
          <p:nvPr/>
        </p:nvCxnSpPr>
        <p:spPr>
          <a:xfrm>
            <a:off x="6007608" y="1773936"/>
            <a:ext cx="0" cy="62179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Arrow web"/>
          <p:cNvCxnSpPr/>
          <p:nvPr/>
        </p:nvCxnSpPr>
        <p:spPr>
          <a:xfrm>
            <a:off x="2944368" y="1773936"/>
            <a:ext cx="0" cy="62179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abel REST"/>
          <p:cNvSpPr txBox="1"/>
          <p:nvPr/>
        </p:nvSpPr>
        <p:spPr>
          <a:xfrm>
            <a:off x="6080760" y="1847088"/>
            <a:ext cx="2377440" cy="27432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1100" b="0" i="0" dirty="0">
                <a:solidFill>
                  <a:srgbClr val="595959"/>
                </a:solidFill>
                <a:latin typeface="Times New Roman"/>
                <a:ea typeface="Times New Roman"/>
                <a:cs typeface="Times New Roman"/>
              </a:rPr>
              <a:t>HTTPS · REST / JSON · JWT</a:t>
            </a:r>
          </a:p>
        </p:txBody>
      </p:sp>
      <p:sp>
        <p:nvSpPr>
          <p:cNvPr id="18" name="Label HTML"/>
          <p:cNvSpPr txBox="1"/>
          <p:nvPr/>
        </p:nvSpPr>
        <p:spPr>
          <a:xfrm>
            <a:off x="3017520" y="1847088"/>
            <a:ext cx="1463040" cy="27432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1100" b="0" i="0" dirty="0">
                <a:solidFill>
                  <a:srgbClr val="595959"/>
                </a:solidFill>
                <a:latin typeface="Times New Roman"/>
                <a:ea typeface="Times New Roman"/>
                <a:cs typeface="Times New Roman"/>
              </a:rPr>
              <a:t>HTTPS · HTML</a:t>
            </a:r>
          </a:p>
        </p:txBody>
      </p:sp>
      <p:sp>
        <p:nvSpPr>
          <p:cNvPr id="19" name="Tier app"/>
          <p:cNvSpPr/>
          <p:nvPr/>
        </p:nvSpPr>
        <p:spPr>
          <a:xfrm>
            <a:off x="548640" y="2103120"/>
            <a:ext cx="7955280" cy="3154680"/>
          </a:xfrm>
          <a:prstGeom prst="roundRect">
            <a:avLst>
              <a:gd name="adj" fmla="val 4000"/>
            </a:avLst>
          </a:prstGeom>
          <a:solidFill>
            <a:srgbClr val="F7F9FC"/>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36576" bIns="18288" rtlCol="0" anchor="t">
            <a:noAutofit/>
          </a:bodyPr>
          <a:lstStyle/>
          <a:p>
            <a:pPr algn="l" rtl="0">
              <a:spcBef>
                <a:spcPts val="0"/>
              </a:spcBef>
              <a:spcAft>
                <a:spcPts val="0"/>
              </a:spcAft>
              <a:buNone/>
            </a:pPr>
            <a:r>
              <a:rPr lang="en-US" altLang="en-US" sz="1200" b="1" i="0" dirty="0">
                <a:solidFill>
                  <a:srgbClr val="595959"/>
                </a:solidFill>
                <a:latin typeface="Times New Roman"/>
                <a:ea typeface="Times New Roman"/>
                <a:cs typeface="Times New Roman"/>
              </a:rPr>
              <a:t>Application Tier — Django 4.2 Server</a:t>
            </a:r>
          </a:p>
        </p:txBody>
      </p:sp>
      <p:sp>
        <p:nvSpPr>
          <p:cNvPr id="20" name="Layer 1"/>
          <p:cNvSpPr/>
          <p:nvPr/>
        </p:nvSpPr>
        <p:spPr>
          <a:xfrm>
            <a:off x="2514600" y="24231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Presentation Layer</a:t>
            </a:r>
          </a:p>
        </p:txBody>
      </p:sp>
      <p:sp>
        <p:nvSpPr>
          <p:cNvPr id="21" name="Comp 1-1"/>
          <p:cNvSpPr/>
          <p:nvPr/>
        </p:nvSpPr>
        <p:spPr>
          <a:xfrm>
            <a:off x="2651760" y="27340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DRF API Views + Serializers</a:t>
            </a:r>
          </a:p>
        </p:txBody>
      </p:sp>
      <p:sp>
        <p:nvSpPr>
          <p:cNvPr id="22" name="Comp 1-2"/>
          <p:cNvSpPr/>
          <p:nvPr/>
        </p:nvSpPr>
        <p:spPr>
          <a:xfrm>
            <a:off x="5509260" y="27340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Django Views + Templates (MVT)</a:t>
            </a:r>
          </a:p>
        </p:txBody>
      </p:sp>
      <p:cxnSp>
        <p:nvCxnSpPr>
          <p:cNvPr id="23" name="Layer arrow 1"/>
          <p:cNvCxnSpPr/>
          <p:nvPr/>
        </p:nvCxnSpPr>
        <p:spPr>
          <a:xfrm>
            <a:off x="5440680" y="3218688"/>
            <a:ext cx="0" cy="118872"/>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ayer 2"/>
          <p:cNvSpPr/>
          <p:nvPr/>
        </p:nvSpPr>
        <p:spPr>
          <a:xfrm>
            <a:off x="2514600" y="33375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Business Layer</a:t>
            </a:r>
          </a:p>
        </p:txBody>
      </p:sp>
      <p:sp>
        <p:nvSpPr>
          <p:cNvPr id="25" name="Comp 2-1"/>
          <p:cNvSpPr/>
          <p:nvPr/>
        </p:nvSpPr>
        <p:spPr>
          <a:xfrm>
            <a:off x="2651760" y="3648456"/>
            <a:ext cx="55778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Services — Service Layer pattern</a:t>
            </a:r>
          </a:p>
        </p:txBody>
      </p:sp>
      <p:cxnSp>
        <p:nvCxnSpPr>
          <p:cNvPr id="26" name="Layer arrow 2"/>
          <p:cNvCxnSpPr/>
          <p:nvPr/>
        </p:nvCxnSpPr>
        <p:spPr>
          <a:xfrm>
            <a:off x="5440680" y="4133087"/>
            <a:ext cx="0" cy="118873"/>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ayer 3"/>
          <p:cNvSpPr/>
          <p:nvPr/>
        </p:nvSpPr>
        <p:spPr>
          <a:xfrm>
            <a:off x="2514600" y="42519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Data Source Layer</a:t>
            </a:r>
          </a:p>
        </p:txBody>
      </p:sp>
      <p:sp>
        <p:nvSpPr>
          <p:cNvPr id="28" name="Comp 3-1"/>
          <p:cNvSpPr/>
          <p:nvPr/>
        </p:nvSpPr>
        <p:spPr>
          <a:xfrm>
            <a:off x="2651760" y="45628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Repositories — Repository pattern</a:t>
            </a:r>
          </a:p>
        </p:txBody>
      </p:sp>
      <p:sp>
        <p:nvSpPr>
          <p:cNvPr id="29" name="Comp 3-2"/>
          <p:cNvSpPr/>
          <p:nvPr/>
        </p:nvSpPr>
        <p:spPr>
          <a:xfrm>
            <a:off x="5509260" y="45628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HuggingFaceClient — Gateway pattern</a:t>
            </a:r>
          </a:p>
        </p:txBody>
      </p:sp>
      <p:sp>
        <p:nvSpPr>
          <p:cNvPr id="30" name="Domain model"/>
          <p:cNvSpPr/>
          <p:nvPr/>
        </p:nvSpPr>
        <p:spPr>
          <a:xfrm>
            <a:off x="713232" y="3337560"/>
            <a:ext cx="1600200" cy="1700784"/>
          </a:xfrm>
          <a:prstGeom prst="roundRect">
            <a:avLst>
              <a:gd name="adj" fmla="val 8000"/>
            </a:avLst>
          </a:prstGeom>
          <a:solidFill>
            <a:srgbClr val="FFFFFF"/>
          </a:solidFill>
          <a:ln w="15875">
            <a:solidFill>
              <a:srgbClr val="2F549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36576" tIns="365760" rIns="36576" bIns="36576" rtlCol="0" anchor="ctr">
            <a:noAutofit/>
          </a:bodyPr>
          <a:lstStyle/>
          <a:p>
            <a:pPr algn="ctr" rtl="0">
              <a:spcBef>
                <a:spcPts val="0"/>
              </a:spcBef>
              <a:spcAft>
                <a:spcPts val="0"/>
              </a:spcAft>
              <a:buNone/>
            </a:pPr>
            <a:r>
              <a:rPr lang="en-US" altLang="en-US" sz="1300" b="1" i="0" dirty="0">
                <a:solidFill>
                  <a:srgbClr val="2F5496"/>
                </a:solidFill>
                <a:latin typeface="Times New Roman"/>
                <a:ea typeface="Times New Roman"/>
                <a:cs typeface="Times New Roman"/>
              </a:rPr>
              <a:t>Domain Model</a:t>
            </a:r>
          </a:p>
          <a:p>
            <a:pPr algn="ctr" rtl="0">
              <a:spcBef>
                <a:spcPts val="0"/>
              </a:spcBef>
              <a:spcAft>
                <a:spcPts val="0"/>
              </a:spcAft>
              <a:buNone/>
            </a:pPr>
            <a:r>
              <a:rPr lang="en-US" altLang="en-US" sz="1200" b="0" i="0" dirty="0">
                <a:solidFill>
                  <a:srgbClr val="1A1A1A"/>
                </a:solidFill>
                <a:latin typeface="Times New Roman"/>
                <a:ea typeface="Times New Roman"/>
                <a:cs typeface="Times New Roman"/>
              </a:rPr>
              <a:t>Django Models</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(Active Record)</a:t>
            </a:r>
          </a:p>
        </p:txBody>
      </p:sp>
      <p:pic>
        <p:nvPicPr>
          <p:cNvPr id="31" name="Domain icon" descr="cube_blue.png"/>
          <p:cNvPicPr>
            <a:picLocks noChangeAspect="1"/>
          </p:cNvPicPr>
          <p:nvPr/>
        </p:nvPicPr>
        <p:blipFill>
          <a:blip r:embed="rId5"/>
          <a:stretch>
            <a:fillRect/>
          </a:stretch>
        </p:blipFill>
        <p:spPr>
          <a:xfrm>
            <a:off x="1353312" y="3401568"/>
            <a:ext cx="310896" cy="310896"/>
          </a:xfrm>
          <a:prstGeom prst="rect">
            <a:avLst/>
          </a:prstGeom>
        </p:spPr>
      </p:pic>
      <p:cxnSp>
        <p:nvCxnSpPr>
          <p:cNvPr id="32" name="Uses domain business"/>
          <p:cNvCxnSpPr/>
          <p:nvPr/>
        </p:nvCxnSpPr>
        <p:spPr>
          <a:xfrm flipH="1">
            <a:off x="2331720" y="3730752"/>
            <a:ext cx="182880" cy="0"/>
          </a:xfrm>
          <a:prstGeom prst="line">
            <a:avLst/>
          </a:prstGeom>
          <a:ln w="15875">
            <a:solidFill>
              <a:srgbClr val="2F549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Uses domain data"/>
          <p:cNvCxnSpPr/>
          <p:nvPr/>
        </p:nvCxnSpPr>
        <p:spPr>
          <a:xfrm flipH="1">
            <a:off x="2331720" y="4645152"/>
            <a:ext cx="182880" cy="0"/>
          </a:xfrm>
          <a:prstGeom prst="line">
            <a:avLst/>
          </a:prstGeom>
          <a:ln w="15875">
            <a:solidFill>
              <a:srgbClr val="2F549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Database"/>
          <p:cNvSpPr/>
          <p:nvPr/>
        </p:nvSpPr>
        <p:spPr>
          <a:xfrm>
            <a:off x="2686050" y="5432060"/>
            <a:ext cx="2651760" cy="713232"/>
          </a:xfrm>
          <a:prstGeom prst="can">
            <a:avLst/>
          </a:prstGeom>
          <a:solidFill>
            <a:srgbClr val="EEF3FA"/>
          </a:solidFill>
          <a:ln w="15875">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lIns="36576" tIns="109728" rIns="36576" bIns="18288" rtlCol="0" anchor="ctr">
            <a:noAutofit/>
          </a:bodyPr>
          <a:lstStyle/>
          <a:p>
            <a:pPr algn="ctr" rtl="0">
              <a:spcBef>
                <a:spcPts val="0"/>
              </a:spcBef>
              <a:spcAft>
                <a:spcPts val="0"/>
              </a:spcAft>
              <a:buNone/>
            </a:pPr>
            <a:r>
              <a:rPr lang="en-US" altLang="en-US" sz="1100" b="0" i="0" dirty="0">
                <a:solidFill>
                  <a:srgbClr val="595959"/>
                </a:solidFill>
                <a:latin typeface="Times New Roman"/>
                <a:ea typeface="Times New Roman"/>
                <a:cs typeface="Times New Roman"/>
              </a:rPr>
              <a:t>Data Tier</a:t>
            </a:r>
          </a:p>
          <a:p>
            <a:pPr algn="ctr" rtl="0">
              <a:spcBef>
                <a:spcPts val="0"/>
              </a:spcBef>
              <a:spcAft>
                <a:spcPts val="0"/>
              </a:spcAft>
              <a:buNone/>
            </a:pPr>
            <a:r>
              <a:rPr lang="en-US" altLang="en-US" sz="1300" b="1" i="0" dirty="0">
                <a:solidFill>
                  <a:srgbClr val="1A1A1A"/>
                </a:solidFill>
                <a:latin typeface="Times New Roman"/>
                <a:ea typeface="Times New Roman"/>
                <a:cs typeface="Times New Roman"/>
              </a:rPr>
              <a:t>PostgreSQL 15 (Docker)</a:t>
            </a:r>
          </a:p>
        </p:txBody>
      </p:sp>
      <p:cxnSp>
        <p:nvCxnSpPr>
          <p:cNvPr id="35" name="Arrow db"/>
          <p:cNvCxnSpPr/>
          <p:nvPr/>
        </p:nvCxnSpPr>
        <p:spPr>
          <a:xfrm>
            <a:off x="4041648" y="4956048"/>
            <a:ext cx="0" cy="621792"/>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External AI"/>
          <p:cNvSpPr/>
          <p:nvPr/>
        </p:nvSpPr>
        <p:spPr>
          <a:xfrm>
            <a:off x="5852160" y="5468112"/>
            <a:ext cx="2651760" cy="713232"/>
          </a:xfrm>
          <a:prstGeom prst="roundRect">
            <a:avLst>
              <a:gd name="adj" fmla="val 8000"/>
            </a:avLst>
          </a:prstGeom>
          <a:solidFill>
            <a:srgbClr val="FFFFFF"/>
          </a:solidFill>
          <a:ln w="1587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0" tIns="18288" rIns="36576" bIns="18288" rtlCol="0" anchor="ctr">
            <a:noAutofit/>
          </a:bodyPr>
          <a:lstStyle/>
          <a:p>
            <a:pPr algn="ctr" rtl="0">
              <a:spcBef>
                <a:spcPts val="0"/>
              </a:spcBef>
              <a:spcAft>
                <a:spcPts val="0"/>
              </a:spcAft>
              <a:buNone/>
            </a:pPr>
            <a:r>
              <a:rPr lang="en-US" altLang="en-US" sz="1100" b="0" i="0" dirty="0">
                <a:solidFill>
                  <a:srgbClr val="595959"/>
                </a:solidFill>
                <a:latin typeface="Times New Roman"/>
                <a:ea typeface="Times New Roman"/>
                <a:cs typeface="Times New Roman"/>
              </a:rPr>
              <a:t>External System</a:t>
            </a:r>
          </a:p>
          <a:p>
            <a:pPr algn="ctr" rtl="0">
              <a:spcBef>
                <a:spcPts val="0"/>
              </a:spcBef>
              <a:spcAft>
                <a:spcPts val="0"/>
              </a:spcAft>
              <a:buNone/>
            </a:pPr>
            <a:r>
              <a:rPr lang="en-US" altLang="en-US" sz="1300" b="1" i="0" dirty="0">
                <a:solidFill>
                  <a:srgbClr val="1A1A1A"/>
                </a:solidFill>
                <a:latin typeface="Times New Roman"/>
                <a:ea typeface="Times New Roman"/>
                <a:cs typeface="Times New Roman"/>
              </a:rPr>
              <a:t>Sentiment Model API</a:t>
            </a:r>
          </a:p>
        </p:txBody>
      </p:sp>
      <p:pic>
        <p:nvPicPr>
          <p:cNvPr id="37" name="AI icon" descr="brain_blue.png"/>
          <p:cNvPicPr>
            <a:picLocks noChangeAspect="1"/>
          </p:cNvPicPr>
          <p:nvPr/>
        </p:nvPicPr>
        <p:blipFill>
          <a:blip r:embed="rId6"/>
          <a:stretch>
            <a:fillRect/>
          </a:stretch>
        </p:blipFill>
        <p:spPr>
          <a:xfrm>
            <a:off x="5961888" y="5650992"/>
            <a:ext cx="347472" cy="347472"/>
          </a:xfrm>
          <a:prstGeom prst="rect">
            <a:avLst/>
          </a:prstGeom>
        </p:spPr>
      </p:pic>
      <p:cxnSp>
        <p:nvCxnSpPr>
          <p:cNvPr id="38" name="Arrow ai"/>
          <p:cNvCxnSpPr/>
          <p:nvPr/>
        </p:nvCxnSpPr>
        <p:spPr>
          <a:xfrm>
            <a:off x="7178040" y="4956048"/>
            <a:ext cx="0" cy="512064"/>
          </a:xfrm>
          <a:prstGeom prst="line">
            <a:avLst/>
          </a:prstGeom>
          <a:ln w="15875">
            <a:solidFill>
              <a:srgbClr val="59595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9" name="Styles"/>
          <p:cNvSpPr/>
          <p:nvPr/>
        </p:nvSpPr>
        <p:spPr>
          <a:xfrm>
            <a:off x="8686800" y="932688"/>
            <a:ext cx="2953512" cy="1810512"/>
          </a:xfrm>
          <a:prstGeom prst="roundRect">
            <a:avLst>
              <a:gd name="adj" fmla="val 5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Architectural Styles</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Client–Server (3-Tier) </a:t>
            </a:r>
            <a:r>
              <a:rPr lang="en-US" altLang="en-US" sz="1050" b="0" i="0" dirty="0">
                <a:solidFill>
                  <a:srgbClr val="1A1A1A"/>
                </a:solidFill>
                <a:latin typeface="Times New Roman"/>
                <a:ea typeface="Times New Roman"/>
                <a:cs typeface="Times New Roman"/>
              </a:rPr>
              <a:t>[22]</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Layered </a:t>
            </a:r>
            <a:r>
              <a:rPr lang="en-US" altLang="en-US" sz="1100" b="0" i="0" dirty="0">
                <a:solidFill>
                  <a:srgbClr val="1A1A1A"/>
                </a:solidFill>
                <a:latin typeface="Times New Roman"/>
                <a:ea typeface="Times New Roman"/>
                <a:cs typeface="Times New Roman"/>
              </a:rPr>
              <a:t>[22][24]</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REST </a:t>
            </a:r>
            <a:r>
              <a:rPr lang="en-US" altLang="en-US" sz="1050" b="0" i="0" dirty="0">
                <a:solidFill>
                  <a:srgbClr val="1A1A1A"/>
                </a:solidFill>
                <a:latin typeface="Times New Roman"/>
                <a:ea typeface="Times New Roman"/>
                <a:cs typeface="Times New Roman"/>
              </a:rPr>
              <a:t>[25]</a:t>
            </a:r>
          </a:p>
          <a:p>
            <a:pPr marL="228600" indent="-228600" algn="l" rtl="0">
              <a:spcBef>
                <a:spcPts val="0"/>
              </a:spcBef>
              <a:spcAft>
                <a:spcPts val="400"/>
              </a:spcAft>
              <a:buClr>
                <a:srgbClr val="2F5496"/>
              </a:buClr>
              <a:buFont typeface="Arial"/>
              <a:buChar char="■"/>
            </a:pPr>
            <a:r>
              <a:rPr lang="en-US" altLang="en-US" sz="1200" b="0" i="0" dirty="0">
                <a:solidFill>
                  <a:srgbClr val="1A1A1A"/>
                </a:solidFill>
                <a:latin typeface="Times New Roman"/>
                <a:ea typeface="Times New Roman"/>
                <a:cs typeface="Times New Roman"/>
              </a:rPr>
              <a:t>MVT (Django</a:t>
            </a:r>
            <a:r>
              <a:rPr lang="en-US" altLang="en-US" sz="1050" b="0" i="0" dirty="0">
                <a:solidFill>
                  <a:srgbClr val="1A1A1A"/>
                </a:solidFill>
                <a:latin typeface="Times New Roman"/>
                <a:ea typeface="Times New Roman"/>
                <a:cs typeface="Times New Roman"/>
              </a:rPr>
              <a:t>) [26]</a:t>
            </a:r>
            <a:endParaRPr lang="en-US" altLang="en-US" sz="1200" b="0" i="0" dirty="0">
              <a:solidFill>
                <a:srgbClr val="1A1A1A"/>
              </a:solidFill>
              <a:latin typeface="Times New Roman"/>
              <a:ea typeface="Times New Roman"/>
              <a:cs typeface="Times New Roman"/>
            </a:endParaRPr>
          </a:p>
          <a:p>
            <a:pPr algn="l" rtl="0">
              <a:spcBef>
                <a:spcPts val="0"/>
              </a:spcBef>
              <a:spcAft>
                <a:spcPts val="200"/>
              </a:spcAft>
              <a:buNone/>
            </a:pPr>
            <a:r>
              <a:rPr lang="en-US" altLang="en-US" sz="1400" b="1" i="0" dirty="0">
                <a:solidFill>
                  <a:srgbClr val="2F5496"/>
                </a:solidFill>
                <a:latin typeface="Times New Roman"/>
                <a:ea typeface="Times New Roman"/>
                <a:cs typeface="Times New Roman"/>
              </a:rPr>
              <a:t>Design Patterns</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Service Layer · Repository · Active Record · Gateway </a:t>
            </a:r>
            <a:r>
              <a:rPr lang="en-US" altLang="en-US" sz="1050" b="0" i="0" dirty="0">
                <a:solidFill>
                  <a:srgbClr val="1A1A1A"/>
                </a:solidFill>
                <a:latin typeface="Times New Roman"/>
                <a:ea typeface="Times New Roman"/>
                <a:cs typeface="Times New Roman"/>
              </a:rPr>
              <a:t>[24]</a:t>
            </a:r>
            <a:endParaRPr lang="en-US" altLang="en-US" sz="1200" b="0" i="0" dirty="0">
              <a:solidFill>
                <a:srgbClr val="1A1A1A"/>
              </a:solidFill>
              <a:latin typeface="Times New Roman"/>
              <a:ea typeface="Times New Roman"/>
              <a:cs typeface="Times New Roman"/>
            </a:endParaRPr>
          </a:p>
        </p:txBody>
      </p:sp>
      <p:sp>
        <p:nvSpPr>
          <p:cNvPr id="40" name="Legend"/>
          <p:cNvSpPr/>
          <p:nvPr/>
        </p:nvSpPr>
        <p:spPr>
          <a:xfrm>
            <a:off x="8686800" y="2834640"/>
            <a:ext cx="2953512" cy="1737360"/>
          </a:xfrm>
          <a:prstGeom prst="roundRect">
            <a:avLst>
              <a:gd name="adj" fmla="val 5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Legend</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Grey frame = Tier (physical)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Blue frame = Layer (logical)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Dark-blue block = Component</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Cylinder = Database</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Solid arrow = request / call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Dashed = external call or</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          uses the Domain Model</a:t>
            </a:r>
          </a:p>
        </p:txBody>
      </p:sp>
      <p:sp>
        <p:nvSpPr>
          <p:cNvPr id="41" name="Tools"/>
          <p:cNvSpPr/>
          <p:nvPr/>
        </p:nvSpPr>
        <p:spPr>
          <a:xfrm>
            <a:off x="8686800" y="4663439"/>
            <a:ext cx="2953512" cy="1867989"/>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Tools</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Backend: </a:t>
            </a:r>
            <a:r>
              <a:rPr lang="en-US" altLang="en-US" sz="1200" b="0" i="0" dirty="0">
                <a:solidFill>
                  <a:srgbClr val="1A1A1A"/>
                </a:solidFill>
                <a:latin typeface="Times New Roman"/>
                <a:ea typeface="Times New Roman"/>
                <a:cs typeface="Times New Roman"/>
              </a:rPr>
              <a:t>Python · Django · DRF · </a:t>
            </a:r>
            <a:r>
              <a:rPr lang="en-US" altLang="en-US" sz="1200" b="0" i="0" dirty="0" err="1">
                <a:solidFill>
                  <a:srgbClr val="1A1A1A"/>
                </a:solidFill>
                <a:latin typeface="Times New Roman"/>
                <a:ea typeface="Times New Roman"/>
                <a:cs typeface="Times New Roman"/>
              </a:rPr>
              <a:t>SimpleJWT</a:t>
            </a:r>
            <a:endParaRPr lang="en-US" altLang="en-US" sz="1200" b="0" i="0" dirty="0">
              <a:solidFill>
                <a:srgbClr val="1A1A1A"/>
              </a:solidFill>
              <a:latin typeface="Times New Roman"/>
              <a:ea typeface="Times New Roman"/>
              <a:cs typeface="Times New Roman"/>
            </a:endParaRPr>
          </a:p>
          <a:p>
            <a:pPr algn="l" rtl="0">
              <a:spcBef>
                <a:spcPts val="0"/>
              </a:spcBef>
              <a:spcAft>
                <a:spcPts val="0"/>
              </a:spcAft>
              <a:buNone/>
            </a:pPr>
            <a:r>
              <a:rPr lang="en-US" altLang="en-US" sz="1200" b="1" i="0" dirty="0">
                <a:solidFill>
                  <a:srgbClr val="1A1A1A"/>
                </a:solidFill>
                <a:latin typeface="Times New Roman"/>
                <a:ea typeface="Times New Roman"/>
                <a:cs typeface="Times New Roman"/>
              </a:rPr>
              <a:t>Data: </a:t>
            </a:r>
            <a:r>
              <a:rPr lang="en-US" altLang="en-US" sz="1200" b="0" i="0" dirty="0">
                <a:solidFill>
                  <a:srgbClr val="1A1A1A"/>
                </a:solidFill>
                <a:latin typeface="Times New Roman"/>
                <a:ea typeface="Times New Roman"/>
                <a:cs typeface="Times New Roman"/>
              </a:rPr>
              <a:t>PostgreSQL · Docker</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Mobile: </a:t>
            </a:r>
            <a:r>
              <a:rPr lang="en-US" altLang="en-US" sz="1200" b="0" i="0" dirty="0">
                <a:solidFill>
                  <a:srgbClr val="1A1A1A"/>
                </a:solidFill>
                <a:latin typeface="Times New Roman"/>
                <a:ea typeface="Times New Roman"/>
                <a:cs typeface="Times New Roman"/>
              </a:rPr>
              <a:t>Flutter · Dart</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DevOps: </a:t>
            </a:r>
            <a:r>
              <a:rPr lang="en-US" altLang="en-US" sz="1200" b="0" i="0" dirty="0">
                <a:solidFill>
                  <a:srgbClr val="1A1A1A"/>
                </a:solidFill>
                <a:latin typeface="Times New Roman"/>
                <a:ea typeface="Times New Roman"/>
                <a:cs typeface="Times New Roman"/>
              </a:rPr>
              <a:t>Git · GitHub · GitHub Actions</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Management</a:t>
            </a:r>
            <a:r>
              <a:rPr lang="en-US" altLang="en-US" sz="1200" b="0" i="0" dirty="0">
                <a:solidFill>
                  <a:srgbClr val="1A1A1A"/>
                </a:solidFill>
                <a:latin typeface="Times New Roman"/>
                <a:ea typeface="Times New Roman"/>
                <a:cs typeface="Times New Roman"/>
              </a:rPr>
              <a:t>: GitHub Projects (Kanban)</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Modeling: </a:t>
            </a:r>
            <a:r>
              <a:rPr lang="en-US" altLang="en-US" sz="1200" b="0" i="0" dirty="0">
                <a:solidFill>
                  <a:srgbClr val="1A1A1A"/>
                </a:solidFill>
                <a:latin typeface="Times New Roman"/>
                <a:ea typeface="Times New Roman"/>
                <a:cs typeface="Times New Roman"/>
              </a:rPr>
              <a:t>Mermaid · Canva</a:t>
            </a:r>
          </a:p>
        </p:txBody>
      </p:sp>
      <p:sp>
        <p:nvSpPr>
          <p:cNvPr id="42" name="Basis"/>
          <p:cNvSpPr txBox="1"/>
          <p:nvPr/>
        </p:nvSpPr>
        <p:spPr>
          <a:xfrm>
            <a:off x="548640" y="6199632"/>
            <a:ext cx="4572000" cy="18288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900" b="0" i="0" dirty="0">
                <a:solidFill>
                  <a:srgbClr val="595959"/>
                </a:solidFill>
                <a:latin typeface="Times New Roman"/>
                <a:ea typeface="Times New Roman"/>
                <a:cs typeface="Times New Roman"/>
              </a:rPr>
              <a:t>Basis: develop @ 0789e8b · Fowler PoEAA (Ch. 1, 3) · Sommerville Ch. 6</a:t>
            </a:r>
          </a:p>
        </p:txBody>
      </p:sp>
    </p:spTree>
    <p:extLst>
      <p:ext uri="{BB962C8B-B14F-4D97-AF65-F5344CB8AC3E}">
        <p14:creationId xmlns:p14="http://schemas.microsoft.com/office/powerpoint/2010/main" val="3473733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FD386D7-737F-883F-4763-97835B7BADED}"/>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B5497AA4-2DE6-2DB1-C9EE-4F0AC41050E9}"/>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D848C7D9-B29E-EE99-58C1-F5694697115A}"/>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10</a:t>
            </a:fld>
            <a:endParaRPr lang="en-US"/>
          </a:p>
        </p:txBody>
      </p:sp>
      <p:sp>
        <p:nvSpPr>
          <p:cNvPr id="7" name="Title">
            <a:extLst>
              <a:ext uri="{FF2B5EF4-FFF2-40B4-BE49-F238E27FC236}">
                <a16:creationId xmlns:a16="http://schemas.microsoft.com/office/drawing/2014/main" id="{3184BE27-27D0-9F26-4991-C1922E4AD8DB}"/>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خطة تنفيذ المشروع</a:t>
            </a:r>
            <a:r>
              <a:rPr lang="en-US" altLang="en-US" sz="2800" b="1" i="0" dirty="0">
                <a:solidFill>
                  <a:srgbClr val="2F5496"/>
                </a:solidFill>
                <a:latin typeface="Times New Roman"/>
                <a:ea typeface="Times New Roman"/>
                <a:cs typeface="Times New Roman"/>
              </a:rPr>
              <a:t> (Gantt Chart)</a:t>
            </a:r>
            <a:endParaRPr lang="ar-SY" altLang="en-US" sz="2800" b="1" i="0" dirty="0">
              <a:solidFill>
                <a:srgbClr val="2F5496"/>
              </a:solidFill>
              <a:latin typeface="Times New Roman"/>
              <a:ea typeface="Times New Roman"/>
              <a:cs typeface="Times New Roman"/>
            </a:endParaRPr>
          </a:p>
        </p:txBody>
      </p:sp>
      <p:sp>
        <p:nvSpPr>
          <p:cNvPr id="8" name="Month 0"/>
          <p:cNvSpPr/>
          <p:nvPr/>
        </p:nvSpPr>
        <p:spPr>
          <a:xfrm>
            <a:off x="7603274" y="914400"/>
            <a:ext cx="845781"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أكتوبر</a:t>
            </a:r>
          </a:p>
        </p:txBody>
      </p:sp>
      <p:sp>
        <p:nvSpPr>
          <p:cNvPr id="9" name="Month 1"/>
          <p:cNvSpPr/>
          <p:nvPr/>
        </p:nvSpPr>
        <p:spPr>
          <a:xfrm>
            <a:off x="5609267" y="914400"/>
            <a:ext cx="1975718" cy="329184"/>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نوفمبر</a:t>
            </a:r>
            <a:r>
              <a:rPr lang="en-US" altLang="en-US" sz="1200" b="1" i="0" dirty="0">
                <a:solidFill>
                  <a:srgbClr val="FFFFFF"/>
                </a:solidFill>
                <a:latin typeface="Times New Roman"/>
                <a:ea typeface="Times New Roman"/>
                <a:cs typeface="Times New Roman"/>
              </a:rPr>
              <a:t> 2026</a:t>
            </a:r>
            <a:endParaRPr lang="ar-SY" altLang="en-US" sz="1200" b="1" i="0" dirty="0">
              <a:solidFill>
                <a:srgbClr val="FFFFFF"/>
              </a:solidFill>
              <a:latin typeface="Times New Roman"/>
              <a:ea typeface="Times New Roman"/>
              <a:cs typeface="Times New Roman"/>
            </a:endParaRPr>
          </a:p>
        </p:txBody>
      </p:sp>
      <p:sp>
        <p:nvSpPr>
          <p:cNvPr id="10" name="Month 2"/>
          <p:cNvSpPr/>
          <p:nvPr/>
        </p:nvSpPr>
        <p:spPr>
          <a:xfrm>
            <a:off x="3548794" y="914400"/>
            <a:ext cx="2042185"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ديسمبر</a:t>
            </a:r>
            <a:r>
              <a:rPr lang="en-US" altLang="en-US" sz="1200" b="1" i="0" dirty="0">
                <a:solidFill>
                  <a:srgbClr val="FFFFFF"/>
                </a:solidFill>
                <a:latin typeface="Times New Roman"/>
                <a:ea typeface="Times New Roman"/>
                <a:cs typeface="Times New Roman"/>
              </a:rPr>
              <a:t> 2026</a:t>
            </a:r>
            <a:endParaRPr lang="ar-SY" altLang="en-US" sz="1200" b="1" i="0" dirty="0">
              <a:solidFill>
                <a:srgbClr val="FFFFFF"/>
              </a:solidFill>
              <a:latin typeface="Times New Roman"/>
              <a:ea typeface="Times New Roman"/>
              <a:cs typeface="Times New Roman"/>
            </a:endParaRPr>
          </a:p>
        </p:txBody>
      </p:sp>
      <p:sp>
        <p:nvSpPr>
          <p:cNvPr id="11" name="Month 3"/>
          <p:cNvSpPr/>
          <p:nvPr/>
        </p:nvSpPr>
        <p:spPr>
          <a:xfrm>
            <a:off x="1488320" y="914400"/>
            <a:ext cx="2042185" cy="329184"/>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يناير</a:t>
            </a:r>
            <a:r>
              <a:rPr lang="en-US" altLang="en-US" sz="1200" b="1" i="0" dirty="0">
                <a:solidFill>
                  <a:srgbClr val="FFFFFF"/>
                </a:solidFill>
                <a:latin typeface="Times New Roman"/>
                <a:ea typeface="Times New Roman"/>
                <a:cs typeface="Times New Roman"/>
              </a:rPr>
              <a:t> 2027</a:t>
            </a:r>
            <a:endParaRPr lang="ar-SY" altLang="en-US" sz="1200" b="1" i="0" dirty="0">
              <a:solidFill>
                <a:srgbClr val="FFFFFF"/>
              </a:solidFill>
              <a:latin typeface="Times New Roman"/>
              <a:ea typeface="Times New Roman"/>
              <a:cs typeface="Times New Roman"/>
            </a:endParaRPr>
          </a:p>
        </p:txBody>
      </p:sp>
      <p:sp>
        <p:nvSpPr>
          <p:cNvPr id="12" name="Month 4"/>
          <p:cNvSpPr/>
          <p:nvPr/>
        </p:nvSpPr>
        <p:spPr>
          <a:xfrm>
            <a:off x="557783" y="914400"/>
            <a:ext cx="912248"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فبراير</a:t>
            </a:r>
            <a:r>
              <a:rPr lang="en-US" altLang="en-US" sz="1200" b="1" i="0" dirty="0">
                <a:solidFill>
                  <a:srgbClr val="FFFFFF"/>
                </a:solidFill>
                <a:latin typeface="Times New Roman"/>
                <a:ea typeface="Times New Roman"/>
                <a:cs typeface="Times New Roman"/>
              </a:rPr>
              <a:t> 2027</a:t>
            </a:r>
            <a:endParaRPr lang="ar-SY" altLang="en-US" sz="1200" b="1" i="0" dirty="0">
              <a:solidFill>
                <a:srgbClr val="FFFFFF"/>
              </a:solidFill>
              <a:latin typeface="Times New Roman"/>
              <a:ea typeface="Times New Roman"/>
              <a:cs typeface="Times New Roman"/>
            </a:endParaRPr>
          </a:p>
        </p:txBody>
      </p:sp>
      <p:sp>
        <p:nvSpPr>
          <p:cNvPr id="13" name="Label head"/>
          <p:cNvSpPr/>
          <p:nvPr/>
        </p:nvSpPr>
        <p:spPr>
          <a:xfrm>
            <a:off x="8549640" y="914400"/>
            <a:ext cx="3090672"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Phase / Requirements</a:t>
            </a:r>
          </a:p>
        </p:txBody>
      </p:sp>
      <p:cxnSp>
        <p:nvCxnSpPr>
          <p:cNvPr id="14" name="Week 0"/>
          <p:cNvCxnSpPr/>
          <p:nvPr/>
        </p:nvCxnSpPr>
        <p:spPr>
          <a:xfrm>
            <a:off x="8458200"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5" name="Week 1"/>
          <p:cNvCxnSpPr/>
          <p:nvPr/>
        </p:nvCxnSpPr>
        <p:spPr>
          <a:xfrm>
            <a:off x="7992931"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6" name="Week 2"/>
          <p:cNvCxnSpPr/>
          <p:nvPr/>
        </p:nvCxnSpPr>
        <p:spPr>
          <a:xfrm>
            <a:off x="7527663"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7" name="Week 3"/>
          <p:cNvCxnSpPr/>
          <p:nvPr/>
        </p:nvCxnSpPr>
        <p:spPr>
          <a:xfrm>
            <a:off x="7062395"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8" name="Week 4"/>
          <p:cNvCxnSpPr/>
          <p:nvPr/>
        </p:nvCxnSpPr>
        <p:spPr>
          <a:xfrm>
            <a:off x="6597127"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9" name="Week 5"/>
          <p:cNvCxnSpPr/>
          <p:nvPr/>
        </p:nvCxnSpPr>
        <p:spPr>
          <a:xfrm>
            <a:off x="6131858"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0" name="Week 6"/>
          <p:cNvCxnSpPr/>
          <p:nvPr/>
        </p:nvCxnSpPr>
        <p:spPr>
          <a:xfrm>
            <a:off x="5666590"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1" name="Week 7"/>
          <p:cNvCxnSpPr/>
          <p:nvPr/>
        </p:nvCxnSpPr>
        <p:spPr>
          <a:xfrm>
            <a:off x="5201322"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2" name="Week 8"/>
          <p:cNvCxnSpPr/>
          <p:nvPr/>
        </p:nvCxnSpPr>
        <p:spPr>
          <a:xfrm>
            <a:off x="4736054"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3" name="Week 9"/>
          <p:cNvCxnSpPr/>
          <p:nvPr/>
        </p:nvCxnSpPr>
        <p:spPr>
          <a:xfrm>
            <a:off x="4270785"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4" name="Week 10"/>
          <p:cNvCxnSpPr/>
          <p:nvPr/>
        </p:nvCxnSpPr>
        <p:spPr>
          <a:xfrm>
            <a:off x="3805517"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5" name="Week 11"/>
          <p:cNvCxnSpPr/>
          <p:nvPr/>
        </p:nvCxnSpPr>
        <p:spPr>
          <a:xfrm>
            <a:off x="3340249"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6" name="Week 12"/>
          <p:cNvCxnSpPr/>
          <p:nvPr/>
        </p:nvCxnSpPr>
        <p:spPr>
          <a:xfrm>
            <a:off x="2874981"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7" name="Week 13"/>
          <p:cNvCxnSpPr/>
          <p:nvPr/>
        </p:nvCxnSpPr>
        <p:spPr>
          <a:xfrm>
            <a:off x="2409712"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8" name="Week 14"/>
          <p:cNvCxnSpPr/>
          <p:nvPr/>
        </p:nvCxnSpPr>
        <p:spPr>
          <a:xfrm>
            <a:off x="1944444"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9" name="Week 15"/>
          <p:cNvCxnSpPr/>
          <p:nvPr/>
        </p:nvCxnSpPr>
        <p:spPr>
          <a:xfrm>
            <a:off x="1479176"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30" name="Week 16"/>
          <p:cNvCxnSpPr/>
          <p:nvPr/>
        </p:nvCxnSpPr>
        <p:spPr>
          <a:xfrm>
            <a:off x="1013908"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31" name="Week 17"/>
          <p:cNvCxnSpPr/>
          <p:nvPr/>
        </p:nvCxnSpPr>
        <p:spPr>
          <a:xfrm>
            <a:off x="548639"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sp>
        <p:nvSpPr>
          <p:cNvPr id="32" name="Row label 0"/>
          <p:cNvSpPr/>
          <p:nvPr/>
        </p:nvSpPr>
        <p:spPr>
          <a:xfrm>
            <a:off x="8549640" y="1316736"/>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Iteration 0: Envisioning + Prototype</a:t>
            </a:r>
          </a:p>
        </p:txBody>
      </p:sp>
      <p:sp>
        <p:nvSpPr>
          <p:cNvPr id="33" name="Bar 0-0"/>
          <p:cNvSpPr/>
          <p:nvPr/>
        </p:nvSpPr>
        <p:spPr>
          <a:xfrm>
            <a:off x="7869141" y="1380744"/>
            <a:ext cx="380513"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4" name="Bar 0-1"/>
          <p:cNvSpPr/>
          <p:nvPr/>
        </p:nvSpPr>
        <p:spPr>
          <a:xfrm>
            <a:off x="7603274" y="1380744"/>
            <a:ext cx="247579"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I0</a:t>
            </a:r>
          </a:p>
        </p:txBody>
      </p:sp>
      <p:sp>
        <p:nvSpPr>
          <p:cNvPr id="35" name="Row label 1"/>
          <p:cNvSpPr/>
          <p:nvPr/>
        </p:nvSpPr>
        <p:spPr>
          <a:xfrm>
            <a:off x="8549640" y="1664207"/>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1: FR-01, FR-02, FR-06, FR-08, FR-16</a:t>
            </a:r>
          </a:p>
        </p:txBody>
      </p:sp>
      <p:sp>
        <p:nvSpPr>
          <p:cNvPr id="36" name="Bar 1-0"/>
          <p:cNvSpPr/>
          <p:nvPr/>
        </p:nvSpPr>
        <p:spPr>
          <a:xfrm>
            <a:off x="7337406" y="1728216"/>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7" name="Bar 1-1"/>
          <p:cNvSpPr/>
          <p:nvPr/>
        </p:nvSpPr>
        <p:spPr>
          <a:xfrm>
            <a:off x="6805671" y="1728216"/>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I1</a:t>
            </a:r>
          </a:p>
        </p:txBody>
      </p:sp>
      <p:sp>
        <p:nvSpPr>
          <p:cNvPr id="38" name="Bar 1-2"/>
          <p:cNvSpPr/>
          <p:nvPr/>
        </p:nvSpPr>
        <p:spPr>
          <a:xfrm>
            <a:off x="6606271" y="1728216"/>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9" name="Row label 2"/>
          <p:cNvSpPr/>
          <p:nvPr/>
        </p:nvSpPr>
        <p:spPr>
          <a:xfrm>
            <a:off x="8549640" y="2011680"/>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2: FR-03, FR-04, FR-07, FR-09 + Eval</a:t>
            </a:r>
          </a:p>
        </p:txBody>
      </p:sp>
      <p:sp>
        <p:nvSpPr>
          <p:cNvPr id="40" name="Bar 2-0"/>
          <p:cNvSpPr/>
          <p:nvPr/>
        </p:nvSpPr>
        <p:spPr>
          <a:xfrm>
            <a:off x="6406870" y="2075688"/>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1" name="Bar 2-1"/>
          <p:cNvSpPr/>
          <p:nvPr/>
        </p:nvSpPr>
        <p:spPr>
          <a:xfrm>
            <a:off x="5875135" y="2075688"/>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I2</a:t>
            </a:r>
          </a:p>
        </p:txBody>
      </p:sp>
      <p:sp>
        <p:nvSpPr>
          <p:cNvPr id="42" name="Bar 2-2"/>
          <p:cNvSpPr/>
          <p:nvPr/>
        </p:nvSpPr>
        <p:spPr>
          <a:xfrm>
            <a:off x="5675734" y="2075688"/>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3" name="Row label 3"/>
          <p:cNvSpPr/>
          <p:nvPr/>
        </p:nvSpPr>
        <p:spPr>
          <a:xfrm>
            <a:off x="8549640" y="2359152"/>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3: FR-05, FR-10, FR-11, FR-12</a:t>
            </a:r>
          </a:p>
        </p:txBody>
      </p:sp>
      <p:sp>
        <p:nvSpPr>
          <p:cNvPr id="44" name="Bar 3-0"/>
          <p:cNvSpPr/>
          <p:nvPr/>
        </p:nvSpPr>
        <p:spPr>
          <a:xfrm>
            <a:off x="5476333" y="2423160"/>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5" name="Bar 3-1"/>
          <p:cNvSpPr/>
          <p:nvPr/>
        </p:nvSpPr>
        <p:spPr>
          <a:xfrm>
            <a:off x="4944598" y="2423160"/>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I3</a:t>
            </a:r>
          </a:p>
        </p:txBody>
      </p:sp>
      <p:sp>
        <p:nvSpPr>
          <p:cNvPr id="46" name="Bar 3-2"/>
          <p:cNvSpPr/>
          <p:nvPr/>
        </p:nvSpPr>
        <p:spPr>
          <a:xfrm>
            <a:off x="4745198" y="2423160"/>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7" name="Row label 4"/>
          <p:cNvSpPr/>
          <p:nvPr/>
        </p:nvSpPr>
        <p:spPr>
          <a:xfrm>
            <a:off x="8549640" y="2706624"/>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4: FR-13 – FR-15 + FR-17 – FR-20</a:t>
            </a:r>
          </a:p>
        </p:txBody>
      </p:sp>
      <p:sp>
        <p:nvSpPr>
          <p:cNvPr id="48" name="Bar 4-0"/>
          <p:cNvSpPr/>
          <p:nvPr/>
        </p:nvSpPr>
        <p:spPr>
          <a:xfrm>
            <a:off x="4545797" y="2770632"/>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9" name="Bar 4-1"/>
          <p:cNvSpPr/>
          <p:nvPr/>
        </p:nvSpPr>
        <p:spPr>
          <a:xfrm>
            <a:off x="4014062" y="2770632"/>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I4</a:t>
            </a:r>
          </a:p>
        </p:txBody>
      </p:sp>
      <p:sp>
        <p:nvSpPr>
          <p:cNvPr id="50" name="Bar 4-2"/>
          <p:cNvSpPr/>
          <p:nvPr/>
        </p:nvSpPr>
        <p:spPr>
          <a:xfrm>
            <a:off x="3814661" y="2770632"/>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1" name="Row label 5"/>
          <p:cNvSpPr/>
          <p:nvPr/>
        </p:nvSpPr>
        <p:spPr>
          <a:xfrm>
            <a:off x="8549640" y="3054096"/>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Release: System &amp; Performance Tests</a:t>
            </a:r>
          </a:p>
        </p:txBody>
      </p:sp>
      <p:sp>
        <p:nvSpPr>
          <p:cNvPr id="52" name="Bar 5-0"/>
          <p:cNvSpPr/>
          <p:nvPr/>
        </p:nvSpPr>
        <p:spPr>
          <a:xfrm>
            <a:off x="2884125" y="3118103"/>
            <a:ext cx="912248"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3" name="Row label 6"/>
          <p:cNvSpPr/>
          <p:nvPr/>
        </p:nvSpPr>
        <p:spPr>
          <a:xfrm>
            <a:off x="8549640" y="3401568"/>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0" i="0" dirty="0">
                <a:solidFill>
                  <a:srgbClr val="1A1A1A"/>
                </a:solidFill>
                <a:latin typeface="Times New Roman"/>
                <a:ea typeface="Times New Roman"/>
                <a:cs typeface="Times New Roman"/>
              </a:rPr>
              <a:t>Report Writing (every Increment)</a:t>
            </a:r>
          </a:p>
        </p:txBody>
      </p:sp>
      <p:sp>
        <p:nvSpPr>
          <p:cNvPr id="54" name="Bar 6-0"/>
          <p:cNvSpPr/>
          <p:nvPr/>
        </p:nvSpPr>
        <p:spPr>
          <a:xfrm>
            <a:off x="2551790" y="3465576"/>
            <a:ext cx="4966728" cy="219456"/>
          </a:xfrm>
          <a:prstGeom prst="roundRect">
            <a:avLst>
              <a:gd name="adj" fmla="val 20000"/>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5" name="Row label 7"/>
          <p:cNvSpPr/>
          <p:nvPr/>
        </p:nvSpPr>
        <p:spPr>
          <a:xfrm>
            <a:off x="8549640" y="3749039"/>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Seminar 1 — 1/11</a:t>
            </a:r>
          </a:p>
        </p:txBody>
      </p:sp>
      <p:sp>
        <p:nvSpPr>
          <p:cNvPr id="56" name="Milestone 7"/>
          <p:cNvSpPr/>
          <p:nvPr/>
        </p:nvSpPr>
        <p:spPr>
          <a:xfrm>
            <a:off x="7466114" y="3794759"/>
            <a:ext cx="256032" cy="25603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7" name="Row label 8"/>
          <p:cNvSpPr/>
          <p:nvPr/>
        </p:nvSpPr>
        <p:spPr>
          <a:xfrm>
            <a:off x="8549640" y="4096512"/>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Seminar 2 — 2–5/1</a:t>
            </a:r>
          </a:p>
        </p:txBody>
      </p:sp>
      <p:sp>
        <p:nvSpPr>
          <p:cNvPr id="58" name="Bar 8-0"/>
          <p:cNvSpPr/>
          <p:nvPr/>
        </p:nvSpPr>
        <p:spPr>
          <a:xfrm>
            <a:off x="3216459" y="4160520"/>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9" name="Row label 9"/>
          <p:cNvSpPr/>
          <p:nvPr/>
        </p:nvSpPr>
        <p:spPr>
          <a:xfrm>
            <a:off x="8549640" y="4443983"/>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Report Submission — 16–19/1</a:t>
            </a:r>
          </a:p>
        </p:txBody>
      </p:sp>
      <p:sp>
        <p:nvSpPr>
          <p:cNvPr id="60" name="Bar 9-0"/>
          <p:cNvSpPr/>
          <p:nvPr/>
        </p:nvSpPr>
        <p:spPr>
          <a:xfrm>
            <a:off x="2285923" y="4507992"/>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1" name="Row label 10"/>
          <p:cNvSpPr/>
          <p:nvPr/>
        </p:nvSpPr>
        <p:spPr>
          <a:xfrm>
            <a:off x="8549640" y="4791456"/>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Code Audit Interview — 27/1–4/2</a:t>
            </a:r>
          </a:p>
        </p:txBody>
      </p:sp>
      <p:sp>
        <p:nvSpPr>
          <p:cNvPr id="62" name="Bar 10-0"/>
          <p:cNvSpPr/>
          <p:nvPr/>
        </p:nvSpPr>
        <p:spPr>
          <a:xfrm>
            <a:off x="1222452" y="4855464"/>
            <a:ext cx="579914"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3" name="Row label 11"/>
          <p:cNvSpPr/>
          <p:nvPr/>
        </p:nvSpPr>
        <p:spPr>
          <a:xfrm>
            <a:off x="8549640" y="5138927"/>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Final Judging — 6–9/2</a:t>
            </a:r>
          </a:p>
        </p:txBody>
      </p:sp>
      <p:sp>
        <p:nvSpPr>
          <p:cNvPr id="64" name="Bar 11-0"/>
          <p:cNvSpPr/>
          <p:nvPr/>
        </p:nvSpPr>
        <p:spPr>
          <a:xfrm>
            <a:off x="890118" y="5202936"/>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cxnSp>
        <p:nvCxnSpPr>
          <p:cNvPr id="65" name="Feature freeze"/>
          <p:cNvCxnSpPr/>
          <p:nvPr/>
        </p:nvCxnSpPr>
        <p:spPr>
          <a:xfrm>
            <a:off x="3805517" y="1271016"/>
            <a:ext cx="0" cy="2478023"/>
          </a:xfrm>
          <a:prstGeom prst="line">
            <a:avLst/>
          </a:prstGeom>
          <a:ln w="158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66" name="Feature freeze label"/>
          <p:cNvSpPr txBox="1"/>
          <p:nvPr/>
        </p:nvSpPr>
        <p:spPr>
          <a:xfrm>
            <a:off x="2205317" y="1353312"/>
            <a:ext cx="1554480" cy="274320"/>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1" i="0" dirty="0">
                <a:solidFill>
                  <a:srgbClr val="C00000"/>
                </a:solidFill>
                <a:latin typeface="Times New Roman"/>
                <a:ea typeface="Times New Roman"/>
                <a:cs typeface="Times New Roman"/>
              </a:rPr>
              <a:t>Feature Freeze 27/12</a:t>
            </a:r>
          </a:p>
        </p:txBody>
      </p:sp>
      <p:sp>
        <p:nvSpPr>
          <p:cNvPr id="67" name="Legend chip Design"/>
          <p:cNvSpPr/>
          <p:nvPr/>
        </p:nvSpPr>
        <p:spPr>
          <a:xfrm>
            <a:off x="11347704" y="5632703"/>
            <a:ext cx="292608" cy="182880"/>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8" name="Legend text Design"/>
          <p:cNvSpPr txBox="1"/>
          <p:nvPr/>
        </p:nvSpPr>
        <p:spPr>
          <a:xfrm>
            <a:off x="949147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Design</a:t>
            </a:r>
          </a:p>
        </p:txBody>
      </p:sp>
      <p:sp>
        <p:nvSpPr>
          <p:cNvPr id="69" name="Legend chip Implem"/>
          <p:cNvSpPr/>
          <p:nvPr/>
        </p:nvSpPr>
        <p:spPr>
          <a:xfrm>
            <a:off x="9107424" y="5632703"/>
            <a:ext cx="292608" cy="182880"/>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0" name="Legend text Implem"/>
          <p:cNvSpPr txBox="1"/>
          <p:nvPr/>
        </p:nvSpPr>
        <p:spPr>
          <a:xfrm>
            <a:off x="725119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Implementation + Tests</a:t>
            </a:r>
          </a:p>
        </p:txBody>
      </p:sp>
      <p:sp>
        <p:nvSpPr>
          <p:cNvPr id="71" name="Legend chip Testin"/>
          <p:cNvSpPr/>
          <p:nvPr/>
        </p:nvSpPr>
        <p:spPr>
          <a:xfrm>
            <a:off x="6867144" y="5632703"/>
            <a:ext cx="292608" cy="182880"/>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2" name="Legend text Testin"/>
          <p:cNvSpPr txBox="1"/>
          <p:nvPr/>
        </p:nvSpPr>
        <p:spPr>
          <a:xfrm>
            <a:off x="501091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Testing &amp; Review</a:t>
            </a:r>
          </a:p>
        </p:txBody>
      </p:sp>
      <p:sp>
        <p:nvSpPr>
          <p:cNvPr id="73" name="Legend chip Report"/>
          <p:cNvSpPr/>
          <p:nvPr/>
        </p:nvSpPr>
        <p:spPr>
          <a:xfrm>
            <a:off x="4626864" y="5632703"/>
            <a:ext cx="292608" cy="182880"/>
          </a:xfrm>
          <a:prstGeom prst="roundRect">
            <a:avLst>
              <a:gd name="adj" fmla="val 20000"/>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4" name="Legend text Report"/>
          <p:cNvSpPr txBox="1"/>
          <p:nvPr/>
        </p:nvSpPr>
        <p:spPr>
          <a:xfrm>
            <a:off x="277063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Report</a:t>
            </a:r>
          </a:p>
        </p:txBody>
      </p:sp>
      <p:sp>
        <p:nvSpPr>
          <p:cNvPr id="75" name="Legend chip Univer"/>
          <p:cNvSpPr/>
          <p:nvPr/>
        </p:nvSpPr>
        <p:spPr>
          <a:xfrm>
            <a:off x="2386584" y="5632703"/>
            <a:ext cx="292608" cy="182880"/>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6" name="Legend text Univer"/>
          <p:cNvSpPr txBox="1"/>
          <p:nvPr/>
        </p:nvSpPr>
        <p:spPr>
          <a:xfrm>
            <a:off x="53035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University Milestone</a:t>
            </a:r>
          </a:p>
        </p:txBody>
      </p:sp>
      <p:sp>
        <p:nvSpPr>
          <p:cNvPr id="77" name="Gantt note"/>
          <p:cNvSpPr txBox="1"/>
          <p:nvPr/>
        </p:nvSpPr>
        <p:spPr>
          <a:xfrm>
            <a:off x="586022" y="6027762"/>
            <a:ext cx="11091672" cy="256032"/>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400" b="1" i="0" dirty="0">
                <a:solidFill>
                  <a:srgbClr val="595959"/>
                </a:solidFill>
                <a:latin typeface="Times New Roman"/>
                <a:ea typeface="Times New Roman"/>
                <a:cs typeface="Times New Roman"/>
              </a:rPr>
              <a:t>الزمن يتقدم من اليمين إلى اليسار، والخطوط الرمادية تفصل الأسابيع. كل </a:t>
            </a:r>
            <a:r>
              <a:rPr lang="en-US" altLang="en-US" sz="1400" b="1" i="0" dirty="0">
                <a:solidFill>
                  <a:srgbClr val="595959"/>
                </a:solidFill>
                <a:latin typeface="Times New Roman"/>
                <a:ea typeface="Times New Roman"/>
                <a:cs typeface="Times New Roman"/>
              </a:rPr>
              <a:t> Increment </a:t>
            </a:r>
            <a:r>
              <a:rPr lang="ar-SY" altLang="en-US" sz="1400" b="1" i="0" dirty="0">
                <a:solidFill>
                  <a:srgbClr val="595959"/>
                </a:solidFill>
                <a:latin typeface="Times New Roman"/>
                <a:ea typeface="Times New Roman"/>
                <a:cs typeface="Times New Roman"/>
              </a:rPr>
              <a:t>أسبوعان وينتهي بمراجعة مع المشرفين.</a:t>
            </a:r>
          </a:p>
        </p:txBody>
      </p:sp>
    </p:spTree>
    <p:extLst>
      <p:ext uri="{BB962C8B-B14F-4D97-AF65-F5344CB8AC3E}">
        <p14:creationId xmlns:p14="http://schemas.microsoft.com/office/powerpoint/2010/main" val="1184324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DB5F87B-DB91-279C-A082-B365333316FB}"/>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2F2DDC9-5CB8-7BD5-C787-157F1291301F}"/>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8BAB69BB-1E0D-E2FB-517B-56C9C8D1905C}"/>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11</a:t>
            </a:fld>
            <a:endParaRPr lang="en-US"/>
          </a:p>
        </p:txBody>
      </p:sp>
      <p:sp>
        <p:nvSpPr>
          <p:cNvPr id="9" name="Title">
            <a:extLst>
              <a:ext uri="{FF2B5EF4-FFF2-40B4-BE49-F238E27FC236}">
                <a16:creationId xmlns:a16="http://schemas.microsoft.com/office/drawing/2014/main" id="{7F4D8816-9B85-AB6D-1909-13902986402F}"/>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المراجع</a:t>
            </a:r>
            <a:r>
              <a:rPr lang="en-US" altLang="en-US" sz="2800" b="1" i="0" dirty="0">
                <a:solidFill>
                  <a:srgbClr val="2F5496"/>
                </a:solidFill>
                <a:latin typeface="Times New Roman"/>
                <a:ea typeface="Times New Roman"/>
                <a:cs typeface="Times New Roman"/>
              </a:rPr>
              <a:t>   (References) </a:t>
            </a:r>
            <a:r>
              <a:rPr lang="ar-SA" altLang="en-US" sz="2800" b="1" i="0" dirty="0">
                <a:solidFill>
                  <a:srgbClr val="2F5496"/>
                </a:solidFill>
                <a:latin typeface="Times New Roman"/>
                <a:ea typeface="Times New Roman"/>
                <a:cs typeface="Times New Roman"/>
              </a:rPr>
              <a:t>  </a:t>
            </a:r>
            <a:endParaRPr lang="ar-SY" altLang="en-US" sz="2800" b="1" i="0" dirty="0">
              <a:solidFill>
                <a:srgbClr val="2F5496"/>
              </a:solidFill>
              <a:latin typeface="Times New Roman"/>
              <a:ea typeface="Times New Roman"/>
              <a:cs typeface="Times New Roman"/>
            </a:endParaRPr>
          </a:p>
        </p:txBody>
      </p:sp>
      <p:sp>
        <p:nvSpPr>
          <p:cNvPr id="10" name="References left"/>
          <p:cNvSpPr txBox="1"/>
          <p:nvPr/>
        </p:nvSpPr>
        <p:spPr>
          <a:xfrm>
            <a:off x="548640" y="914400"/>
            <a:ext cx="5486400" cy="5303520"/>
          </a:xfrm>
          <a:prstGeom prst="rect">
            <a:avLst/>
          </a:prstGeom>
          <a:noFill/>
        </p:spPr>
        <p:txBody>
          <a:bodyPr wrap="square" lIns="45720" tIns="27432" rIns="45720" bIns="27432" rtlCol="0" anchor="t">
            <a:noAutofit/>
          </a:bodyPr>
          <a:lstStyle/>
          <a:p>
            <a:pPr algn="l" rtl="0">
              <a:spcBef>
                <a:spcPts val="0"/>
              </a:spcBef>
              <a:spcAft>
                <a:spcPts val="300"/>
              </a:spcAft>
              <a:buNone/>
            </a:pPr>
            <a:r>
              <a:rPr lang="en-US" altLang="en-US" sz="1100" b="1" i="0" dirty="0">
                <a:solidFill>
                  <a:srgbClr val="2F5496"/>
                </a:solidFill>
                <a:latin typeface="Times New Roman"/>
                <a:ea typeface="Times New Roman"/>
                <a:cs typeface="Times New Roman"/>
              </a:rPr>
              <a:t>[1] </a:t>
            </a:r>
            <a:r>
              <a:rPr lang="en-US" altLang="en-US" sz="1100" b="0" i="0" dirty="0">
                <a:solidFill>
                  <a:srgbClr val="1A1A1A"/>
                </a:solidFill>
                <a:latin typeface="Times New Roman"/>
                <a:ea typeface="Times New Roman"/>
                <a:cs typeface="Times New Roman"/>
              </a:rPr>
              <a:t>SurveyMonkey, "SurveyMonkey Audience: supported countries," help.surveymonkey.com,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 </a:t>
            </a:r>
            <a:r>
              <a:rPr lang="en-US" altLang="en-US" sz="1100" b="0" i="0" dirty="0">
                <a:solidFill>
                  <a:srgbClr val="1A1A1A"/>
                </a:solidFill>
                <a:latin typeface="Times New Roman"/>
                <a:ea typeface="Times New Roman"/>
                <a:cs typeface="Times New Roman"/>
              </a:rPr>
              <a:t>Prolific, "Who are the participants on Prolific?," researcher-help.prolific.com,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[3] </a:t>
            </a:r>
            <a:r>
              <a:rPr lang="en-US" altLang="en-US" sz="1100" b="0" i="0" dirty="0">
                <a:solidFill>
                  <a:srgbClr val="1A1A1A"/>
                </a:solidFill>
                <a:latin typeface="Times New Roman"/>
                <a:ea typeface="Times New Roman"/>
                <a:cs typeface="Times New Roman"/>
              </a:rPr>
              <a:t>Pollfish, "Creating a survey in multiple languages," pollfish.com,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[4] </a:t>
            </a:r>
            <a:r>
              <a:rPr lang="en-US" altLang="en-US" sz="1100" b="0" i="0" dirty="0">
                <a:solidFill>
                  <a:srgbClr val="1A1A1A"/>
                </a:solidFill>
                <a:latin typeface="Times New Roman"/>
                <a:ea typeface="Times New Roman"/>
                <a:cs typeface="Times New Roman"/>
              </a:rPr>
              <a:t>R. Pozzar et al., "Threats of bots and other bad actors to data quality following research participant recruitment through social media," J. Med. Internet Res., vol. 22, no. 10, e23021, 2020.</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[5] </a:t>
            </a:r>
            <a:r>
              <a:rPr lang="en-US" altLang="en-US" sz="1100" b="0" i="0" dirty="0">
                <a:solidFill>
                  <a:srgbClr val="1A1A1A"/>
                </a:solidFill>
                <a:latin typeface="Times New Roman"/>
                <a:ea typeface="Times New Roman"/>
                <a:cs typeface="Times New Roman"/>
              </a:rPr>
              <a:t>Google, "Publish &amp; share your form with responders," support.google.com/docs/answer/2839588,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[6] </a:t>
            </a:r>
            <a:r>
              <a:rPr lang="en-US" altLang="en-US" sz="1100" b="0" i="0" dirty="0">
                <a:solidFill>
                  <a:srgbClr val="1A1A1A"/>
                </a:solidFill>
                <a:latin typeface="Times New Roman"/>
                <a:ea typeface="Times New Roman"/>
                <a:cs typeface="Times New Roman"/>
              </a:rPr>
              <a:t>Typeform, "Prevent duplicate responses," help.typeform.com,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[7] </a:t>
            </a:r>
            <a:r>
              <a:rPr lang="en-US" altLang="en-US" sz="1100" b="0" i="0" dirty="0">
                <a:solidFill>
                  <a:srgbClr val="1A1A1A"/>
                </a:solidFill>
                <a:latin typeface="Times New Roman"/>
                <a:ea typeface="Times New Roman"/>
                <a:cs typeface="Times New Roman"/>
              </a:rPr>
              <a:t>SurveyMonkey, "Sentiment analysis," help.surveymonkey.com/en/analyze/sentiment-analysis,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[8] </a:t>
            </a:r>
            <a:r>
              <a:rPr lang="en-US" altLang="en-US" sz="1100" b="0" i="0" dirty="0">
                <a:solidFill>
                  <a:srgbClr val="1A1A1A"/>
                </a:solidFill>
                <a:latin typeface="Times New Roman"/>
                <a:ea typeface="Times New Roman"/>
                <a:cs typeface="Times New Roman"/>
              </a:rPr>
              <a:t>Typeform, "Smart Insights: qualitative and quantitative analysis," help.typeform.com,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[9] </a:t>
            </a:r>
            <a:r>
              <a:rPr lang="en-US" altLang="en-US" sz="1100" b="0" i="0" dirty="0">
                <a:solidFill>
                  <a:srgbClr val="1A1A1A"/>
                </a:solidFill>
                <a:latin typeface="Times New Roman"/>
                <a:ea typeface="Times New Roman"/>
                <a:cs typeface="Times New Roman"/>
              </a:rPr>
              <a:t>Google, "Summarize &amp; analyze responses with Gemini in Google Forms," support.google.com/docs/answer/16231981,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[10] </a:t>
            </a:r>
            <a:r>
              <a:rPr lang="en-US" altLang="en-US" sz="1100" b="0" i="0" dirty="0">
                <a:solidFill>
                  <a:srgbClr val="1A1A1A"/>
                </a:solidFill>
                <a:latin typeface="Times New Roman"/>
                <a:ea typeface="Times New Roman"/>
                <a:cs typeface="Times New Roman"/>
              </a:rPr>
              <a:t>S. Westwood, "The potential existential threat of large language models to online survey research," Proc. Natl. Acad. Sci. U.S.A., 2025, doi: 10.1073/pnas.2518075122.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[11] </a:t>
            </a:r>
            <a:r>
              <a:rPr lang="en-US" altLang="en-US" sz="1100" b="0" i="0" dirty="0">
                <a:solidFill>
                  <a:srgbClr val="1A1A1A"/>
                </a:solidFill>
                <a:latin typeface="Times New Roman"/>
                <a:ea typeface="Times New Roman"/>
                <a:cs typeface="Times New Roman"/>
              </a:rPr>
              <a:t>E. Peer et al., "Data quality of platforms and panels for online behavioral research," Behav. Res. Methods, vol. 54, no. 4, pp. 1643-1662, 2022.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[12] </a:t>
            </a:r>
            <a:r>
              <a:rPr lang="en-US" altLang="en-US" sz="1100" b="0" i="0" dirty="0">
                <a:solidFill>
                  <a:srgbClr val="1A1A1A"/>
                </a:solidFill>
                <a:latin typeface="Times New Roman"/>
                <a:ea typeface="Times New Roman"/>
                <a:cs typeface="Times New Roman"/>
              </a:rPr>
              <a:t>M. T. I. Khondaker, A. Waheed, E. M. B. Nagoudi, and M. Abdul-Mageed, "GPTAraEval: A comprehensive evaluation of ChatGPT on Arabic NLP," in Proc. EMNLP, 2023, pp. 220–247.</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[13] </a:t>
            </a:r>
            <a:r>
              <a:rPr lang="en-US" altLang="en-US" sz="1100" b="0" i="0" dirty="0">
                <a:solidFill>
                  <a:srgbClr val="1A1A1A"/>
                </a:solidFill>
                <a:latin typeface="Times New Roman"/>
                <a:ea typeface="Times New Roman"/>
                <a:cs typeface="Times New Roman"/>
              </a:rPr>
              <a:t>I. Abu Farha and W. Magdy, "Benchmarking transformer-based language models for Arabic sentiment and sarcasm detection," in Proc. WANLP, 2021, pp. 21-31.</a:t>
            </a:r>
          </a:p>
        </p:txBody>
      </p:sp>
      <p:sp>
        <p:nvSpPr>
          <p:cNvPr id="11" name="References right"/>
          <p:cNvSpPr txBox="1"/>
          <p:nvPr/>
        </p:nvSpPr>
        <p:spPr>
          <a:xfrm>
            <a:off x="6153912" y="914400"/>
            <a:ext cx="5486400" cy="5303520"/>
          </a:xfrm>
          <a:prstGeom prst="rect">
            <a:avLst/>
          </a:prstGeom>
          <a:noFill/>
        </p:spPr>
        <p:txBody>
          <a:bodyPr wrap="square" lIns="45720" tIns="27432" rIns="45720" bIns="27432" rtlCol="0" anchor="t">
            <a:noAutofit/>
          </a:bodyPr>
          <a:lstStyle/>
          <a:p>
            <a:pPr algn="l" rtl="0">
              <a:spcBef>
                <a:spcPts val="0"/>
              </a:spcBef>
              <a:spcAft>
                <a:spcPts val="300"/>
              </a:spcAft>
              <a:buNone/>
            </a:pPr>
            <a:r>
              <a:rPr lang="en-US" altLang="en-US" sz="1100" b="1" i="0" dirty="0">
                <a:solidFill>
                  <a:srgbClr val="2F5496"/>
                </a:solidFill>
                <a:latin typeface="Times New Roman"/>
                <a:ea typeface="Times New Roman"/>
                <a:cs typeface="Times New Roman"/>
              </a:rPr>
              <a:t>[14] </a:t>
            </a:r>
            <a:r>
              <a:rPr lang="en-US" altLang="en-US" sz="1100" b="0" i="0" dirty="0">
                <a:solidFill>
                  <a:srgbClr val="1A1A1A"/>
                </a:solidFill>
                <a:latin typeface="Times New Roman"/>
                <a:ea typeface="Times New Roman"/>
                <a:cs typeface="Times New Roman"/>
              </a:rPr>
              <a:t>J. A. Lossio-Ventura et al., "A comparison of ChatGPT and fine-tuned OPT against widely used sentiment analysis tools," JMIR Ment. Health, vol. 11, e50150, 2024.</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[15] </a:t>
            </a:r>
            <a:r>
              <a:rPr lang="en-US" altLang="en-US" sz="1100" b="0" i="0" dirty="0">
                <a:solidFill>
                  <a:srgbClr val="1A1A1A"/>
                </a:solidFill>
                <a:latin typeface="Times New Roman"/>
                <a:ea typeface="Times New Roman"/>
                <a:cs typeface="Times New Roman"/>
              </a:rPr>
              <a:t>SurveyMonkey, "SurveyMonkey Audience" (analyze results), help.surveymonkey.com,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[16] </a:t>
            </a:r>
            <a:r>
              <a:rPr lang="en-US" altLang="en-US" sz="1100" b="0" i="0" dirty="0">
                <a:solidFill>
                  <a:srgbClr val="1A1A1A"/>
                </a:solidFill>
                <a:latin typeface="Times New Roman"/>
                <a:ea typeface="Times New Roman"/>
                <a:cs typeface="Times New Roman"/>
              </a:rPr>
              <a:t>Pollfish, "How the Pollfish methodology works," pollfish.com,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[17] </a:t>
            </a:r>
            <a:r>
              <a:rPr lang="en-US" altLang="en-US" sz="1100" b="0" i="0" dirty="0">
                <a:solidFill>
                  <a:srgbClr val="1A1A1A"/>
                </a:solidFill>
                <a:latin typeface="Times New Roman"/>
                <a:ea typeface="Times New Roman"/>
                <a:cs typeface="Times New Roman"/>
              </a:rPr>
              <a:t>Pollfish, "The Pollfish survey results dashboard," pollfish.com,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[18] </a:t>
            </a:r>
            <a:r>
              <a:rPr lang="en-US" altLang="en-US" sz="1100" b="0" i="0" dirty="0">
                <a:solidFill>
                  <a:srgbClr val="1A1A1A"/>
                </a:solidFill>
                <a:latin typeface="Times New Roman"/>
                <a:ea typeface="Times New Roman"/>
                <a:cs typeface="Times New Roman"/>
              </a:rPr>
              <a:t>ISO/IEC 25010:2023, Systems and software engineering — Product quality model. ISO, 2023.</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[19] </a:t>
            </a:r>
            <a:r>
              <a:rPr lang="en-US" altLang="en-US" sz="1100" b="0" i="0" dirty="0">
                <a:solidFill>
                  <a:srgbClr val="1A1A1A"/>
                </a:solidFill>
                <a:latin typeface="Times New Roman"/>
                <a:ea typeface="Times New Roman"/>
                <a:cs typeface="Times New Roman"/>
              </a:rPr>
              <a:t>Agile Business Consortium, "MoSCoW prioritisation," agilebusiness.org, accessed Oct. 26,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[20] </a:t>
            </a:r>
            <a:r>
              <a:rPr lang="en-US" altLang="en-US" sz="1100" b="0" i="0" dirty="0">
                <a:solidFill>
                  <a:srgbClr val="1A1A1A"/>
                </a:solidFill>
                <a:latin typeface="Times New Roman"/>
                <a:ea typeface="Times New Roman"/>
                <a:cs typeface="Times New Roman"/>
              </a:rPr>
              <a:t>J. Coleman and D. S. Vacanti, The Kanban Guide, May 2025. [Online]. Available: kanbanguides.org</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[21] </a:t>
            </a:r>
            <a:r>
              <a:rPr lang="en-US" altLang="en-US" sz="1100" b="0" i="0" dirty="0">
                <a:solidFill>
                  <a:srgbClr val="1A1A1A"/>
                </a:solidFill>
                <a:latin typeface="Times New Roman"/>
                <a:ea typeface="Times New Roman"/>
                <a:cs typeface="Times New Roman"/>
              </a:rPr>
              <a:t>S. W. Ambler, "Agile Model Driven Development (AMDD)," agilemodeling.com,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[22] </a:t>
            </a:r>
            <a:r>
              <a:rPr lang="en-US" altLang="en-US" sz="1100" b="0" i="0" dirty="0">
                <a:solidFill>
                  <a:srgbClr val="1A1A1A"/>
                </a:solidFill>
                <a:latin typeface="Times New Roman"/>
                <a:ea typeface="Times New Roman"/>
                <a:cs typeface="Times New Roman"/>
              </a:rPr>
              <a:t>I. Sommerville, Software Engineering, 10th ed. Pearson, 2016.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[23] </a:t>
            </a:r>
            <a:r>
              <a:rPr lang="en-US" altLang="en-US" sz="1100" b="0" i="0" dirty="0">
                <a:solidFill>
                  <a:srgbClr val="1A1A1A"/>
                </a:solidFill>
                <a:latin typeface="Times New Roman"/>
                <a:ea typeface="Times New Roman"/>
                <a:cs typeface="Times New Roman"/>
              </a:rPr>
              <a:t>J. Saltz, R. Heckman, and I. Shamshurin, "Exploring how different project management methodologies impact data science students," in Proc. 25th Eur. Conf. Inf. Syst. (ECIS), 2017, pp. 2939–2948.</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[24] </a:t>
            </a:r>
            <a:r>
              <a:rPr lang="en-US" altLang="en-US" sz="1100" b="0" i="0" dirty="0">
                <a:solidFill>
                  <a:srgbClr val="1A1A1A"/>
                </a:solidFill>
                <a:latin typeface="Times New Roman"/>
                <a:ea typeface="Times New Roman"/>
                <a:cs typeface="Times New Roman"/>
              </a:rPr>
              <a:t>M. Fowler, Patterns of Enterprise Application Architecture. Addison-Wesley, 2002.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[25] </a:t>
            </a:r>
            <a:r>
              <a:rPr lang="en-US" altLang="en-US" sz="1100" b="0" i="0" dirty="0">
                <a:solidFill>
                  <a:srgbClr val="1A1A1A"/>
                </a:solidFill>
                <a:latin typeface="Times New Roman"/>
                <a:ea typeface="Times New Roman"/>
                <a:cs typeface="Times New Roman"/>
              </a:rPr>
              <a:t>R. T. Fielding, "Architectural styles and the design of network-based software architectures," Ph.D. dissertation, Univ. of California, Irvine, 2000.</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[26] </a:t>
            </a:r>
            <a:r>
              <a:rPr lang="en-US" altLang="en-US" sz="1100" b="0" i="0" dirty="0">
                <a:solidFill>
                  <a:srgbClr val="1A1A1A"/>
                </a:solidFill>
                <a:latin typeface="Times New Roman"/>
                <a:ea typeface="Times New Roman"/>
                <a:cs typeface="Times New Roman"/>
              </a:rPr>
              <a:t>Django Software Foundation, "FAQ: General" (MTV pattern), docs.djangoproject.com, accessed Oct. 24, 2026.</a:t>
            </a:r>
          </a:p>
        </p:txBody>
      </p:sp>
    </p:spTree>
    <p:extLst>
      <p:ext uri="{BB962C8B-B14F-4D97-AF65-F5344CB8AC3E}">
        <p14:creationId xmlns:p14="http://schemas.microsoft.com/office/powerpoint/2010/main" val="34737330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301</TotalTime>
  <Words>3564</Words>
  <Application>Microsoft Office PowerPoint</Application>
  <PresentationFormat>شاشة عريضة</PresentationFormat>
  <Paragraphs>449</Paragraphs>
  <Slides>11</Slides>
  <Notes>11</Notes>
  <HiddenSlides>0</HiddenSlides>
  <MMClips>0</MMClips>
  <ScaleCrop>false</ScaleCrop>
  <HeadingPairs>
    <vt:vector size="6" baseType="variant">
      <vt:variant>
        <vt:lpstr>الخطوط المستخدمة</vt:lpstr>
      </vt:variant>
      <vt:variant>
        <vt:i4>4</vt:i4>
      </vt:variant>
      <vt:variant>
        <vt:lpstr>نسق</vt:lpstr>
      </vt:variant>
      <vt:variant>
        <vt:i4>1</vt:i4>
      </vt:variant>
      <vt:variant>
        <vt:lpstr>عناوين الشرائح</vt:lpstr>
      </vt:variant>
      <vt:variant>
        <vt:i4>11</vt:i4>
      </vt:variant>
    </vt:vector>
  </HeadingPairs>
  <TitlesOfParts>
    <vt:vector size="16" baseType="lpstr">
      <vt:lpstr>Arial</vt:lpstr>
      <vt:lpstr>Calibri</vt:lpstr>
      <vt:lpstr>Calibri Light</vt:lpstr>
      <vt:lpstr>Times New Roman</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عرض تقديمي في PowerPoint</dc:title>
  <dc:creator>akram massouh</dc:creator>
  <cp:lastModifiedBy>YAMAN BASAM</cp:lastModifiedBy>
  <cp:revision>17</cp:revision>
  <dcterms:created xsi:type="dcterms:W3CDTF">2026-10-17T18:22:22Z</dcterms:created>
  <dcterms:modified xsi:type="dcterms:W3CDTF">2026-10-30T11:41:25Z</dcterms:modified>
</cp:coreProperties>
</file>