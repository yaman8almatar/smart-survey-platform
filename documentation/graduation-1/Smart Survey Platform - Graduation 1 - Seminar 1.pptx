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3" r:id="rId8"/>
    <p:sldId id="264" r:id="rId9"/>
    <p:sldId id="266" r:id="rId10"/>
    <p:sldId id="265" r:id="rId11"/>
    <p:sldId id="267"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2" d="100"/>
          <a:sy n="82" d="100"/>
        </p:scale>
        <p:origin x="720" y="72"/>
      </p:cViewPr>
      <p:guideLst>
        <p:guide orient="horz" pos="2160"/>
        <p:guide pos="3840"/>
      </p:guideLst>
    </p:cSldViewPr>
  </p:slideViewPr>
  <p:notesTextViewPr>
    <p:cViewPr>
      <p:scale>
        <a:sx n="1" d="1"/>
        <a:sy n="1" d="1"/>
      </p:scale>
      <p:origin x="0" y="0"/>
    </p:cViewPr>
  </p:notesTextViewPr>
  <p:sorterViewPr>
    <p:cViewPr>
      <p:scale>
        <a:sx n="100" d="100"/>
        <a:sy n="100" d="100"/>
      </p:scale>
      <p:origin x="0" y="-60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2D380A-B25C-4554-9D12-6A864851EAA3}" type="datetimeFigureOut">
              <a:rPr lang="en-US" smtClean="0"/>
              <a:t>10/29/2026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C53628-D422-490A-B670-D481D4DAFA63}" type="slidenum">
              <a:rPr lang="en-US" smtClean="0"/>
              <a:t>‹#›</a:t>
            </a:fld>
            <a:endParaRPr lang="en-US"/>
          </a:p>
        </p:txBody>
      </p:sp>
    </p:spTree>
    <p:extLst>
      <p:ext uri="{BB962C8B-B14F-4D97-AF65-F5344CB8AC3E}">
        <p14:creationId xmlns:p14="http://schemas.microsoft.com/office/powerpoint/2010/main" val="340914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تقديم الفريق والمشرفين وعنوان المشروع. (15 ثانية)</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لماذا</a:t>
            </a:r>
            <a:r>
              <a:rPr dirty="0"/>
              <a:t> </a:t>
            </a:r>
            <a:r>
              <a:rPr dirty="0" err="1"/>
              <a:t>المشروع</a:t>
            </a:r>
            <a:r>
              <a:rPr dirty="0"/>
              <a:t>؟ </a:t>
            </a:r>
            <a:r>
              <a:rPr dirty="0" err="1"/>
              <a:t>ثلاث</a:t>
            </a:r>
            <a:r>
              <a:rPr dirty="0"/>
              <a:t> </a:t>
            </a:r>
            <a:r>
              <a:rPr dirty="0" err="1"/>
              <a:t>فجوات</a:t>
            </a:r>
            <a:r>
              <a:rPr dirty="0"/>
              <a:t> </a:t>
            </a:r>
            <a:r>
              <a:rPr dirty="0" err="1"/>
              <a:t>من</a:t>
            </a:r>
            <a:r>
              <a:rPr dirty="0"/>
              <a:t> </a:t>
            </a:r>
            <a:r>
              <a:rPr dirty="0" err="1"/>
              <a:t>الدراسة</a:t>
            </a:r>
            <a:r>
              <a:rPr dirty="0"/>
              <a:t> </a:t>
            </a:r>
            <a:r>
              <a:rPr dirty="0" err="1"/>
              <a:t>المرجعية</a:t>
            </a:r>
            <a:r>
              <a:rPr dirty="0"/>
              <a:t>. </a:t>
            </a:r>
            <a:r>
              <a:rPr dirty="0" err="1"/>
              <a:t>ثم</a:t>
            </a:r>
            <a:r>
              <a:rPr dirty="0"/>
              <a:t> </a:t>
            </a:r>
            <a:r>
              <a:rPr dirty="0" err="1"/>
              <a:t>الهدف</a:t>
            </a:r>
            <a:r>
              <a:rPr dirty="0"/>
              <a:t> </a:t>
            </a:r>
            <a:r>
              <a:rPr dirty="0" err="1"/>
              <a:t>الرئيسي</a:t>
            </a:r>
            <a:r>
              <a:rPr dirty="0"/>
              <a:t> </a:t>
            </a:r>
            <a:r>
              <a:rPr dirty="0" err="1"/>
              <a:t>وخمسة</a:t>
            </a:r>
            <a:r>
              <a:rPr dirty="0"/>
              <a:t> </a:t>
            </a:r>
            <a:r>
              <a:rPr dirty="0" err="1"/>
              <a:t>أهداف</a:t>
            </a:r>
            <a:r>
              <a:rPr dirty="0"/>
              <a:t> </a:t>
            </a:r>
            <a:r>
              <a:rPr dirty="0" err="1"/>
              <a:t>قابلة</a:t>
            </a:r>
            <a:r>
              <a:rPr dirty="0"/>
              <a:t> </a:t>
            </a:r>
            <a:r>
              <a:rPr dirty="0" err="1"/>
              <a:t>للقياس</a:t>
            </a:r>
            <a:r>
              <a:rPr dirty="0"/>
              <a:t>. </a:t>
            </a:r>
            <a:r>
              <a:rPr dirty="0" err="1"/>
              <a:t>لا</a:t>
            </a:r>
            <a:r>
              <a:rPr dirty="0"/>
              <a:t> </a:t>
            </a:r>
            <a:r>
              <a:rPr dirty="0" err="1"/>
              <a:t>نعد</a:t>
            </a:r>
            <a:r>
              <a:rPr dirty="0"/>
              <a:t> </a:t>
            </a:r>
            <a:r>
              <a:rPr dirty="0" err="1"/>
              <a:t>برقم</a:t>
            </a:r>
            <a:r>
              <a:rPr dirty="0"/>
              <a:t> </a:t>
            </a:r>
            <a:r>
              <a:rPr dirty="0" err="1"/>
              <a:t>دقة</a:t>
            </a:r>
            <a:r>
              <a:rPr dirty="0"/>
              <a:t> </a:t>
            </a:r>
            <a:r>
              <a:rPr dirty="0" err="1"/>
              <a:t>للنموذج</a:t>
            </a:r>
            <a:r>
              <a:rPr dirty="0"/>
              <a:t>: </a:t>
            </a:r>
            <a:r>
              <a:rPr dirty="0" err="1"/>
              <a:t>الرقم</a:t>
            </a:r>
            <a:r>
              <a:rPr dirty="0"/>
              <a:t> </a:t>
            </a:r>
            <a:r>
              <a:rPr dirty="0" err="1"/>
              <a:t>يُحدد</a:t>
            </a:r>
            <a:r>
              <a:rPr dirty="0"/>
              <a:t> </a:t>
            </a:r>
            <a:r>
              <a:rPr dirty="0" err="1"/>
              <a:t>بعد</a:t>
            </a:r>
            <a:r>
              <a:rPr dirty="0"/>
              <a:t> </a:t>
            </a:r>
            <a:r>
              <a:rPr dirty="0" err="1"/>
              <a:t>التقييم</a:t>
            </a:r>
            <a:r>
              <a:rPr dirty="0"/>
              <a:t> </a:t>
            </a:r>
            <a:r>
              <a:rPr dirty="0" err="1"/>
              <a:t>في</a:t>
            </a:r>
            <a:r>
              <a:rPr dirty="0"/>
              <a:t> </a:t>
            </a:r>
            <a:r>
              <a:rPr dirty="0" err="1"/>
              <a:t>السيمينار</a:t>
            </a:r>
            <a:r>
              <a:rPr dirty="0"/>
              <a:t> </a:t>
            </a:r>
            <a:r>
              <a:rPr dirty="0" err="1"/>
              <a:t>الثاني</a:t>
            </a:r>
            <a:r>
              <a:rPr dirty="0"/>
              <a:t>. (60 </a:t>
            </a:r>
            <a:r>
              <a:rPr dirty="0" err="1"/>
              <a:t>ثانية</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V1.0 هو أساس العمل. في Iteration 0 بنينا Prototype معمارياً لتقليل خطر Flutter. الرقم 163 هو عدد الاختبارات في تقرير المشروع الفصلي المسلَّم. (60 ثانية)</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ست دراسات من 2020 إلى 2024: ثلاث عن جودة الإجابات وثلاث عن تحليل المشاعر العربية. كل دراسة انتهت بقرار تصميمي في منصتنا. (60 ثانية)</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ثلاث أدوات بناء (Builders) وثلاث لوحات مستجيبين (Panels). صف Smart Survey مخطط له وليس منجزاً. تحليل المشاعر موجود عند المنافسين لكنه مدفوع، و Typeform تحصره بالإنجليزية، والبقية لا تذكر العربية. (60 ثانية)</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يميناً: ماذا يفعل النظام في V1.0 وتخرج 1 بست جمل. يساراً: سبع خصائص جودة من معيار ISO/IEC 25010:2023، كل منها قابل للقياس. (60 ثانية)</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عشرون متطلباً وافق عليها المشرف، مرقمة حسب الأولوية. لا نقرأ الجدول: نذكر الخمسة الضرورية (Must)، والثلاثة التي تثبت الفكرة (★). متطلبات Could آخر ما يُنفذ، وأول ما يُعاد النقاش فيه مع المشرف إذا ضاق الوقت. (75 ثانية)</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اخترنا Kanban لأننا نعمل بنظام مختلط: جلسات مشتركة وأيام يعمل فيها كل واحد من منزله. Scrum الكامل يفترض Daily Scrum في كل يوم عمل وأدوار Product Owner و Scrum Master، وتطبيق جزء منه لا يُعدّ Scrum بحسب دليله. Kanban لا يفرض أدواراً ولا اجتماعات، ويلزمنا بثلاثة أشياء: سير عمل معرّف بأعمدته وسياساته، وحدود WIP (ثلاثة بنود قيد التنفيذ، بند لكل طالب، واثنان في المراجعة)، وأربعة مقاييس تدفق نحسبها من تواريخ GitHub. كل بند يمر بـ Ready ثم In Progress ثم Review ثم Done، ونرسم مخططاته (Agile Modeling) عند سحبه. كل أسبوعين نعرض ما أُنجز على المشرفين ونضع Release Tag. (75 ثانية)</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ثلاث Tiers فيزيائية (Client، Application، Data) وثلاث Layers منطقية داخل الخادم حسب Fowler: Presentation و Business و Data Source. Repository و Service Layer و Gateway أنماط تصميم داخل الطبقات، لا طبقات. نماذج Django تتبع Active Record فتستخدمها طبقتا Business و Data Source. تحقّقنا من الكود: الـ Views لا تستدعي Repositories ولا ORM مباشرة. Sentiment Analysis يجري بعد حفظ الإجابة (NFR-01). (75 ثانية)</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هذه خطة متوقعة وليست التزاماً ثابتاً: بعد Iteration 0 أربعة Increments مدة كل منها أسبوعان، نسحب فيها البنود بترتيب الأولوية، ونعرض ما أُنجز على المشرفين في نهاية كل Increment. متطلبات Must في Increment 1 و Increment 2 لأنها الأعلى خطراً. التقرير يُكتب مع كل Increment لا في النهاية. (60 ثانية)</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المراجع مرقمة بأسلوب IEEE حسب أول ظهور في الشرائح.</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74F2E77-788A-9C1E-A253-E519B641DDB1}"/>
              </a:ext>
            </a:extLst>
          </p:cNvPr>
          <p:cNvSpPr>
            <a:spLocks noGrp="1"/>
          </p:cNvSpPr>
          <p:nvPr>
            <p:ph type="dt" sz="half" idx="10"/>
          </p:nvPr>
        </p:nvSpPr>
        <p:spPr/>
        <p:txBody>
          <a:bodyPr/>
          <a:lstStyle/>
          <a:p>
            <a:fld id="{4E54A005-A4AE-48B5-9B72-AC59F9D0C9F3}" type="datetime1">
              <a:rPr lang="en-US" smtClean="0"/>
              <a:t>10/29/2026</a:t>
            </a:fld>
            <a:endParaRPr lang="en-US"/>
          </a:p>
        </p:txBody>
      </p:sp>
      <p:sp>
        <p:nvSpPr>
          <p:cNvPr id="5" name="Footer Placeholder 4">
            <a:extLst>
              <a:ext uri="{FF2B5EF4-FFF2-40B4-BE49-F238E27FC236}">
                <a16:creationId xmlns:a16="http://schemas.microsoft.com/office/drawing/2014/main" id="{884498E3-ED2D-6826-7063-38EB88912EBA}"/>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58161BF-6988-026C-DC94-2566B9B74374}"/>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735428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947E8-ECBE-386A-59D3-99FCD9C860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B1C658-EDE0-BA68-5E59-5A8AE19B74F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6B6D6-EA20-5153-F9E6-69BE378DA17E}"/>
              </a:ext>
            </a:extLst>
          </p:cNvPr>
          <p:cNvSpPr>
            <a:spLocks noGrp="1"/>
          </p:cNvSpPr>
          <p:nvPr>
            <p:ph type="dt" sz="half" idx="10"/>
          </p:nvPr>
        </p:nvSpPr>
        <p:spPr/>
        <p:txBody>
          <a:bodyPr/>
          <a:lstStyle/>
          <a:p>
            <a:fld id="{CF5F1D80-E922-4C56-BACD-EEFC21DCFF81}" type="datetime1">
              <a:rPr lang="en-US" smtClean="0"/>
              <a:t>10/29/2026</a:t>
            </a:fld>
            <a:endParaRPr lang="en-US"/>
          </a:p>
        </p:txBody>
      </p:sp>
      <p:sp>
        <p:nvSpPr>
          <p:cNvPr id="5" name="Footer Placeholder 4">
            <a:extLst>
              <a:ext uri="{FF2B5EF4-FFF2-40B4-BE49-F238E27FC236}">
                <a16:creationId xmlns:a16="http://schemas.microsoft.com/office/drawing/2014/main" id="{025D8551-6A6D-0059-4C2D-C744DB801887}"/>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6AFFA687-E925-6CDC-8C7E-7C88CD08FADC}"/>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617193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B5B58-257B-3360-2D4E-3A189798CD5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3FB5218-484E-2B62-9425-B97EE0F44D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4002CB-4614-0299-EDD5-8B440101ABD2}"/>
              </a:ext>
            </a:extLst>
          </p:cNvPr>
          <p:cNvSpPr>
            <a:spLocks noGrp="1"/>
          </p:cNvSpPr>
          <p:nvPr>
            <p:ph type="dt" sz="half" idx="10"/>
          </p:nvPr>
        </p:nvSpPr>
        <p:spPr/>
        <p:txBody>
          <a:bodyPr/>
          <a:lstStyle/>
          <a:p>
            <a:fld id="{49343454-2FB9-4C8F-B182-7B2E5743343C}" type="datetime1">
              <a:rPr lang="en-US" smtClean="0"/>
              <a:t>10/29/2026</a:t>
            </a:fld>
            <a:endParaRPr lang="en-US"/>
          </a:p>
        </p:txBody>
      </p:sp>
      <p:sp>
        <p:nvSpPr>
          <p:cNvPr id="5" name="Footer Placeholder 4">
            <a:extLst>
              <a:ext uri="{FF2B5EF4-FFF2-40B4-BE49-F238E27FC236}">
                <a16:creationId xmlns:a16="http://schemas.microsoft.com/office/drawing/2014/main" id="{BE8D11BC-DD39-8C40-2266-8449E8E24A52}"/>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7E50166-28D8-2DDD-636F-FD317779A84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577561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172B2-850D-2F4C-6716-85D5B2D7D4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7800FC-42E7-C5BA-C8AC-E0FEED1D1B6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CF8609-C937-CBCC-AEB9-BF37DF6818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A492CB-5016-8804-EC3D-0E23BC9DE510}"/>
              </a:ext>
            </a:extLst>
          </p:cNvPr>
          <p:cNvSpPr>
            <a:spLocks noGrp="1"/>
          </p:cNvSpPr>
          <p:nvPr>
            <p:ph type="dt" sz="half" idx="10"/>
          </p:nvPr>
        </p:nvSpPr>
        <p:spPr/>
        <p:txBody>
          <a:bodyPr/>
          <a:lstStyle/>
          <a:p>
            <a:fld id="{5D83650C-01B7-4756-A73F-6F4EA1E5431E}" type="datetime1">
              <a:rPr lang="en-US" smtClean="0"/>
              <a:t>10/29/2026</a:t>
            </a:fld>
            <a:endParaRPr lang="en-US"/>
          </a:p>
        </p:txBody>
      </p:sp>
      <p:sp>
        <p:nvSpPr>
          <p:cNvPr id="6" name="Footer Placeholder 5">
            <a:extLst>
              <a:ext uri="{FF2B5EF4-FFF2-40B4-BE49-F238E27FC236}">
                <a16:creationId xmlns:a16="http://schemas.microsoft.com/office/drawing/2014/main" id="{336F2CA0-62A7-3F15-B164-0AEED105DF29}"/>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EC2D77B4-97C3-0109-492A-4CB1B0659F93}"/>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14801741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10D8A-FA99-1027-FEC9-8FDFF362905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A742391-9774-2E4C-C170-3FE9774B85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21A0E3-5607-927A-7181-9A807B9F4C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D18725F-934A-682D-D056-CDE6C388BF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9A43AAD-ACFD-0BD4-4A71-BA3ECBF9919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CE2CC47-F10F-8A91-81CA-F3A857264525}"/>
              </a:ext>
            </a:extLst>
          </p:cNvPr>
          <p:cNvSpPr>
            <a:spLocks noGrp="1"/>
          </p:cNvSpPr>
          <p:nvPr>
            <p:ph type="dt" sz="half" idx="10"/>
          </p:nvPr>
        </p:nvSpPr>
        <p:spPr/>
        <p:txBody>
          <a:bodyPr/>
          <a:lstStyle/>
          <a:p>
            <a:fld id="{733A1D95-9BF9-4CE1-A0EA-90FF297D19D0}" type="datetime1">
              <a:rPr lang="en-US" smtClean="0"/>
              <a:t>10/29/2026</a:t>
            </a:fld>
            <a:endParaRPr lang="en-US"/>
          </a:p>
        </p:txBody>
      </p:sp>
      <p:sp>
        <p:nvSpPr>
          <p:cNvPr id="8" name="Footer Placeholder 7">
            <a:extLst>
              <a:ext uri="{FF2B5EF4-FFF2-40B4-BE49-F238E27FC236}">
                <a16:creationId xmlns:a16="http://schemas.microsoft.com/office/drawing/2014/main" id="{72BC06B0-830C-FBEE-FECE-C6406EF9FF3A}"/>
              </a:ext>
            </a:extLst>
          </p:cNvPr>
          <p:cNvSpPr>
            <a:spLocks noGrp="1"/>
          </p:cNvSpPr>
          <p:nvPr>
            <p:ph type="ftr" sz="quarter" idx="11"/>
          </p:nvPr>
        </p:nvSpPr>
        <p:spPr/>
        <p:txBody>
          <a:bodyPr/>
          <a:lstStyle/>
          <a:p>
            <a:r>
              <a:rPr lang="ar-LB"/>
              <a:t>مشروع فصلي....</a:t>
            </a:r>
            <a:endParaRPr lang="en-US"/>
          </a:p>
        </p:txBody>
      </p:sp>
      <p:sp>
        <p:nvSpPr>
          <p:cNvPr id="9" name="Slide Number Placeholder 8">
            <a:extLst>
              <a:ext uri="{FF2B5EF4-FFF2-40B4-BE49-F238E27FC236}">
                <a16:creationId xmlns:a16="http://schemas.microsoft.com/office/drawing/2014/main" id="{ADBB5166-40BA-5202-2D38-1BA48B8A096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398304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952DB-965F-D567-974C-4831D027315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D18B86-2CE2-5395-B958-F12A10036B39}"/>
              </a:ext>
            </a:extLst>
          </p:cNvPr>
          <p:cNvSpPr>
            <a:spLocks noGrp="1"/>
          </p:cNvSpPr>
          <p:nvPr>
            <p:ph type="dt" sz="half" idx="10"/>
          </p:nvPr>
        </p:nvSpPr>
        <p:spPr/>
        <p:txBody>
          <a:bodyPr/>
          <a:lstStyle/>
          <a:p>
            <a:fld id="{F9E80EBF-8A8A-40F0-86A7-7286F440E0F3}" type="datetime1">
              <a:rPr lang="en-US" smtClean="0"/>
              <a:t>10/29/2026</a:t>
            </a:fld>
            <a:endParaRPr lang="en-US"/>
          </a:p>
        </p:txBody>
      </p:sp>
      <p:sp>
        <p:nvSpPr>
          <p:cNvPr id="4" name="Footer Placeholder 3">
            <a:extLst>
              <a:ext uri="{FF2B5EF4-FFF2-40B4-BE49-F238E27FC236}">
                <a16:creationId xmlns:a16="http://schemas.microsoft.com/office/drawing/2014/main" id="{25D887C2-51F3-E8A5-28C0-2C405A478D61}"/>
              </a:ext>
            </a:extLst>
          </p:cNvPr>
          <p:cNvSpPr>
            <a:spLocks noGrp="1"/>
          </p:cNvSpPr>
          <p:nvPr>
            <p:ph type="ftr" sz="quarter" idx="11"/>
          </p:nvPr>
        </p:nvSpPr>
        <p:spPr/>
        <p:txBody>
          <a:bodyPr/>
          <a:lstStyle/>
          <a:p>
            <a:r>
              <a:rPr lang="ar-LB"/>
              <a:t>مشروع فصلي....</a:t>
            </a:r>
            <a:endParaRPr lang="en-US"/>
          </a:p>
        </p:txBody>
      </p:sp>
      <p:sp>
        <p:nvSpPr>
          <p:cNvPr id="5" name="Slide Number Placeholder 4">
            <a:extLst>
              <a:ext uri="{FF2B5EF4-FFF2-40B4-BE49-F238E27FC236}">
                <a16:creationId xmlns:a16="http://schemas.microsoft.com/office/drawing/2014/main" id="{577BC180-A612-3483-A0E1-6AB31CA0C9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3522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B5F26E7-965A-6AC1-351E-3BF6ACBDDEE2}"/>
              </a:ext>
            </a:extLst>
          </p:cNvPr>
          <p:cNvSpPr>
            <a:spLocks noGrp="1"/>
          </p:cNvSpPr>
          <p:nvPr>
            <p:ph type="dt" sz="half" idx="10"/>
          </p:nvPr>
        </p:nvSpPr>
        <p:spPr/>
        <p:txBody>
          <a:bodyPr/>
          <a:lstStyle/>
          <a:p>
            <a:fld id="{0BEA7337-48F7-4AF7-9A31-C231AA9DABEB}" type="datetime1">
              <a:rPr lang="en-US" smtClean="0"/>
              <a:t>10/29/2026</a:t>
            </a:fld>
            <a:endParaRPr lang="en-US"/>
          </a:p>
        </p:txBody>
      </p:sp>
      <p:sp>
        <p:nvSpPr>
          <p:cNvPr id="3" name="Footer Placeholder 2">
            <a:extLst>
              <a:ext uri="{FF2B5EF4-FFF2-40B4-BE49-F238E27FC236}">
                <a16:creationId xmlns:a16="http://schemas.microsoft.com/office/drawing/2014/main" id="{753F3A08-7728-7EE4-12FE-99584A0608B1}"/>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511E605-1894-7F38-96D7-5711BA104A8A}"/>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0358356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ED52C-F553-7253-3DE6-B294241BB8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6B6EE6A-61D8-D2C7-AC2A-BAD820BACEA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34D0E1-40CD-A415-635E-7B576877B76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DFD09A8-16DE-895E-2FE5-490F44A79359}"/>
              </a:ext>
            </a:extLst>
          </p:cNvPr>
          <p:cNvSpPr>
            <a:spLocks noGrp="1"/>
          </p:cNvSpPr>
          <p:nvPr>
            <p:ph type="dt" sz="half" idx="10"/>
          </p:nvPr>
        </p:nvSpPr>
        <p:spPr/>
        <p:txBody>
          <a:bodyPr/>
          <a:lstStyle/>
          <a:p>
            <a:fld id="{F9F60AB9-8616-4B55-B544-8181381708AB}" type="datetime1">
              <a:rPr lang="en-US" smtClean="0"/>
              <a:t>10/29/2026</a:t>
            </a:fld>
            <a:endParaRPr lang="en-US"/>
          </a:p>
        </p:txBody>
      </p:sp>
      <p:sp>
        <p:nvSpPr>
          <p:cNvPr id="6" name="Footer Placeholder 5">
            <a:extLst>
              <a:ext uri="{FF2B5EF4-FFF2-40B4-BE49-F238E27FC236}">
                <a16:creationId xmlns:a16="http://schemas.microsoft.com/office/drawing/2014/main" id="{FAE81FF2-B792-3CF2-49A0-9DAB42219CF1}"/>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BD1FA9E5-F4BF-CDB1-5103-4CD6FA630BF0}"/>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222876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A2051-2331-215D-2FDD-370D7A88D8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30711D-48C9-0C54-AC74-04A3AAD45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3EC347-4A26-72BD-E2FC-29DFEC1F72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35EAAE-4733-3414-1943-04DD07D957AE}"/>
              </a:ext>
            </a:extLst>
          </p:cNvPr>
          <p:cNvSpPr>
            <a:spLocks noGrp="1"/>
          </p:cNvSpPr>
          <p:nvPr>
            <p:ph type="dt" sz="half" idx="10"/>
          </p:nvPr>
        </p:nvSpPr>
        <p:spPr/>
        <p:txBody>
          <a:bodyPr/>
          <a:lstStyle/>
          <a:p>
            <a:fld id="{E207D518-531C-4414-B657-2CD37CCA6B63}" type="datetime1">
              <a:rPr lang="en-US" smtClean="0"/>
              <a:t>10/29/2026</a:t>
            </a:fld>
            <a:endParaRPr lang="en-US"/>
          </a:p>
        </p:txBody>
      </p:sp>
      <p:sp>
        <p:nvSpPr>
          <p:cNvPr id="6" name="Footer Placeholder 5">
            <a:extLst>
              <a:ext uri="{FF2B5EF4-FFF2-40B4-BE49-F238E27FC236}">
                <a16:creationId xmlns:a16="http://schemas.microsoft.com/office/drawing/2014/main" id="{8D023DCB-8125-80EF-6294-84DE2F57B257}"/>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D63398A8-CDCE-094C-42A2-3D874E3BED05}"/>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447669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848C1-0408-D8AF-69A2-588425BC504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FA3F95-D448-1D26-F510-A0FB77EC631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B69917-0033-D989-92E8-CE98F1132F8D}"/>
              </a:ext>
            </a:extLst>
          </p:cNvPr>
          <p:cNvSpPr>
            <a:spLocks noGrp="1"/>
          </p:cNvSpPr>
          <p:nvPr>
            <p:ph type="dt" sz="half" idx="10"/>
          </p:nvPr>
        </p:nvSpPr>
        <p:spPr/>
        <p:txBody>
          <a:bodyPr/>
          <a:lstStyle/>
          <a:p>
            <a:fld id="{07C97074-5979-461C-BB0D-F24AD7AEA7D7}" type="datetime1">
              <a:rPr lang="en-US" smtClean="0"/>
              <a:t>10/29/2026</a:t>
            </a:fld>
            <a:endParaRPr lang="en-US"/>
          </a:p>
        </p:txBody>
      </p:sp>
      <p:sp>
        <p:nvSpPr>
          <p:cNvPr id="5" name="Footer Placeholder 4">
            <a:extLst>
              <a:ext uri="{FF2B5EF4-FFF2-40B4-BE49-F238E27FC236}">
                <a16:creationId xmlns:a16="http://schemas.microsoft.com/office/drawing/2014/main" id="{DB90D59D-1B12-2463-BE4C-9D8702C27E0D}"/>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114DA28-4071-592C-92AE-FA0CA34DF0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5690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084654F-0ECF-8954-9B9E-9F199056941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073D16A-A760-D48C-1E66-0E3F9C8F4F2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5E059-1E45-81B2-2FD4-F09024827648}"/>
              </a:ext>
            </a:extLst>
          </p:cNvPr>
          <p:cNvSpPr>
            <a:spLocks noGrp="1"/>
          </p:cNvSpPr>
          <p:nvPr>
            <p:ph type="dt" sz="half" idx="10"/>
          </p:nvPr>
        </p:nvSpPr>
        <p:spPr/>
        <p:txBody>
          <a:bodyPr/>
          <a:lstStyle/>
          <a:p>
            <a:fld id="{CF7CA7B2-F8F1-4C99-9A58-0619E9B4236C}" type="datetime1">
              <a:rPr lang="en-US" smtClean="0"/>
              <a:t>10/29/2026</a:t>
            </a:fld>
            <a:endParaRPr lang="en-US"/>
          </a:p>
        </p:txBody>
      </p:sp>
      <p:sp>
        <p:nvSpPr>
          <p:cNvPr id="5" name="Footer Placeholder 4">
            <a:extLst>
              <a:ext uri="{FF2B5EF4-FFF2-40B4-BE49-F238E27FC236}">
                <a16:creationId xmlns:a16="http://schemas.microsoft.com/office/drawing/2014/main" id="{FDDB7F42-4E93-CA7A-A3D6-1E12EACCB8F8}"/>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5C4C34D-6493-F571-4B38-C06CB99FB7C6}"/>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52379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99C9861-6315-7D19-1FC2-C18236A744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E11EFFF-1B3C-0223-E81F-FF7E22B499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7E9D6D-05BC-2BD6-8D4D-8631CA54E7B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59F99F-ECCB-4E1D-B4DE-BB12197DD00B}" type="datetime1">
              <a:rPr lang="en-US" smtClean="0"/>
              <a:t>10/29/2026</a:t>
            </a:fld>
            <a:endParaRPr lang="en-US"/>
          </a:p>
        </p:txBody>
      </p:sp>
      <p:sp>
        <p:nvSpPr>
          <p:cNvPr id="5" name="Footer Placeholder 4">
            <a:extLst>
              <a:ext uri="{FF2B5EF4-FFF2-40B4-BE49-F238E27FC236}">
                <a16:creationId xmlns:a16="http://schemas.microsoft.com/office/drawing/2014/main" id="{F7B39DBC-854C-A039-E3A7-5A146D3F61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ar-LB"/>
              <a:t>مشروع فصلي....</a:t>
            </a:r>
            <a:endParaRPr lang="en-US"/>
          </a:p>
        </p:txBody>
      </p:sp>
      <p:sp>
        <p:nvSpPr>
          <p:cNvPr id="6" name="Slide Number Placeholder 5">
            <a:extLst>
              <a:ext uri="{FF2B5EF4-FFF2-40B4-BE49-F238E27FC236}">
                <a16:creationId xmlns:a16="http://schemas.microsoft.com/office/drawing/2014/main" id="{D585C828-C825-6DB3-1130-384DF2FBA1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11977B-EEE1-4D56-A6CE-8035002D8A82}" type="slidenum">
              <a:rPr lang="en-US" smtClean="0"/>
              <a:t>‹#›</a:t>
            </a:fld>
            <a:endParaRPr lang="en-US"/>
          </a:p>
        </p:txBody>
      </p:sp>
    </p:spTree>
    <p:extLst>
      <p:ext uri="{BB962C8B-B14F-4D97-AF65-F5344CB8AC3E}">
        <p14:creationId xmlns:p14="http://schemas.microsoft.com/office/powerpoint/2010/main" val="6195821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8F847FEE-FA9B-4752-4823-C4FB293F84B8}"/>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37B86990-713E-6624-3539-F3498672DF4C}"/>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D2B66B69-87F5-E43F-D7AA-28CC8FE5F686}"/>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1</a:t>
            </a:fld>
            <a:endParaRPr lang="en-US"/>
          </a:p>
        </p:txBody>
      </p:sp>
      <p:sp>
        <p:nvSpPr>
          <p:cNvPr id="11" name="Rectangle 10">
            <a:extLst>
              <a:ext uri="{FF2B5EF4-FFF2-40B4-BE49-F238E27FC236}">
                <a16:creationId xmlns:a16="http://schemas.microsoft.com/office/drawing/2014/main" id="{A8D43F25-156B-0F51-78BE-D80EA42C9131}"/>
              </a:ext>
            </a:extLst>
          </p:cNvPr>
          <p:cNvSpPr>
            <a:spLocks noChangeArrowheads="1"/>
          </p:cNvSpPr>
          <p:nvPr/>
        </p:nvSpPr>
        <p:spPr bwMode="auto">
          <a:xfrm>
            <a:off x="-1" y="0"/>
            <a:ext cx="23306673" cy="783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2" name="Picture 1" descr="SPU.png">
            <a:extLst>
              <a:ext uri="{FF2B5EF4-FFF2-40B4-BE49-F238E27FC236}">
                <a16:creationId xmlns:a16="http://schemas.microsoft.com/office/drawing/2014/main" id="{6838853A-A59D-CC41-A6E7-6C8A67561D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692356"/>
            <a:ext cx="1878398" cy="998014"/>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140AFF7F-9518-8FB1-FD33-81E9381B82A4}"/>
              </a:ext>
            </a:extLst>
          </p:cNvPr>
          <p:cNvSpPr txBox="1"/>
          <p:nvPr/>
        </p:nvSpPr>
        <p:spPr>
          <a:xfrm>
            <a:off x="6807015" y="729510"/>
            <a:ext cx="4846320" cy="822960"/>
          </a:xfrm>
          <a:prstGeom prst="rect">
            <a:avLst/>
          </a:prstGeom>
          <a:noFill/>
        </p:spPr>
        <p:txBody>
          <a:bodyPr wrap="square" lIns="45720" tIns="27432" rIns="45720" bIns="27432" rtlCol="0" anchor="ctr">
            <a:noAutofit/>
          </a:bodyPr>
          <a:lstStyle/>
          <a:p>
            <a:pPr algn="r" rtl="1">
              <a:spcBef>
                <a:spcPts val="0"/>
              </a:spcBef>
              <a:spcAft>
                <a:spcPts val="0"/>
              </a:spcAft>
              <a:buNone/>
            </a:pPr>
            <a:r>
              <a:rPr lang="ar-SY" altLang="en-US" sz="2000" b="1" i="0" dirty="0">
                <a:solidFill>
                  <a:srgbClr val="1A1A1A"/>
                </a:solidFill>
                <a:latin typeface="Times New Roman"/>
                <a:ea typeface="Times New Roman"/>
                <a:cs typeface="Times New Roman"/>
              </a:rPr>
              <a:t>كلية هندسة الذكاء الاصطناعي</a:t>
            </a:r>
          </a:p>
          <a:p>
            <a:pPr algn="r" rtl="1">
              <a:spcBef>
                <a:spcPts val="0"/>
              </a:spcBef>
              <a:spcAft>
                <a:spcPts val="0"/>
              </a:spcAft>
              <a:buNone/>
            </a:pPr>
            <a:r>
              <a:rPr lang="ar-SY" altLang="en-US" sz="2000" b="1" i="0" dirty="0">
                <a:solidFill>
                  <a:srgbClr val="1A1A1A"/>
                </a:solidFill>
                <a:latin typeface="Times New Roman"/>
                <a:ea typeface="Times New Roman"/>
                <a:cs typeface="Times New Roman"/>
              </a:rPr>
              <a:t>قسم هندسة البرمجيات ونظم المعلومات</a:t>
            </a:r>
          </a:p>
        </p:txBody>
      </p:sp>
      <p:sp>
        <p:nvSpPr>
          <p:cNvPr id="15" name="TextBox 14">
            <a:extLst>
              <a:ext uri="{FF2B5EF4-FFF2-40B4-BE49-F238E27FC236}">
                <a16:creationId xmlns:a16="http://schemas.microsoft.com/office/drawing/2014/main" id="{0A84D123-0AC8-2EF9-C2A1-57BE096CA81B}"/>
              </a:ext>
            </a:extLst>
          </p:cNvPr>
          <p:cNvSpPr txBox="1"/>
          <p:nvPr/>
        </p:nvSpPr>
        <p:spPr>
          <a:xfrm>
            <a:off x="1737360" y="1920240"/>
            <a:ext cx="8686800" cy="1234440"/>
          </a:xfrm>
          <a:prstGeom prst="rect">
            <a:avLst/>
          </a:prstGeom>
          <a:noFill/>
        </p:spPr>
        <p:txBody>
          <a:bodyPr wrap="square" lIns="45720" tIns="27432" rIns="45720" bIns="27432" rtlCol="0" anchor="ctr">
            <a:noAutofit/>
          </a:bodyPr>
          <a:lstStyle/>
          <a:p>
            <a:pPr algn="ctr" rtl="1">
              <a:spcBef>
                <a:spcPts val="0"/>
              </a:spcBef>
              <a:spcAft>
                <a:spcPts val="0"/>
              </a:spcAft>
              <a:buNone/>
            </a:pPr>
            <a:r>
              <a:rPr lang="ar-SY" altLang="en-US" sz="4000" b="1" i="0" dirty="0">
                <a:solidFill>
                  <a:srgbClr val="2F5496"/>
                </a:solidFill>
                <a:latin typeface="Times New Roman"/>
                <a:ea typeface="Times New Roman"/>
                <a:cs typeface="Times New Roman"/>
              </a:rPr>
              <a:t>منصة </a:t>
            </a:r>
            <a:r>
              <a:rPr lang="ar-SA" altLang="en-US" sz="4000" b="1" i="0" dirty="0">
                <a:solidFill>
                  <a:srgbClr val="2F5496"/>
                </a:solidFill>
                <a:latin typeface="Times New Roman"/>
                <a:ea typeface="Times New Roman"/>
                <a:cs typeface="Times New Roman"/>
              </a:rPr>
              <a:t>استبيانات الآراء</a:t>
            </a:r>
            <a:r>
              <a:rPr lang="ar-SY" altLang="en-US" sz="4000" b="1" i="0" dirty="0">
                <a:solidFill>
                  <a:srgbClr val="2F5496"/>
                </a:solidFill>
                <a:latin typeface="Times New Roman"/>
                <a:ea typeface="Times New Roman"/>
                <a:cs typeface="Times New Roman"/>
              </a:rPr>
              <a:t> الذكية</a:t>
            </a:r>
          </a:p>
          <a:p>
            <a:pPr algn="ctr" rtl="0">
              <a:spcBef>
                <a:spcPts val="0"/>
              </a:spcBef>
              <a:spcAft>
                <a:spcPts val="0"/>
              </a:spcAft>
              <a:buNone/>
            </a:pPr>
            <a:r>
              <a:rPr lang="en-US" altLang="en-US" sz="2600" b="0" i="0" dirty="0">
                <a:solidFill>
                  <a:srgbClr val="2F5496"/>
                </a:solidFill>
                <a:latin typeface="Times New Roman"/>
                <a:ea typeface="Times New Roman"/>
                <a:cs typeface="Times New Roman"/>
              </a:rPr>
              <a:t>Smart Survey Platform</a:t>
            </a:r>
          </a:p>
        </p:txBody>
      </p:sp>
      <p:sp>
        <p:nvSpPr>
          <p:cNvPr id="16" name="TextBox 15">
            <a:extLst>
              <a:ext uri="{FF2B5EF4-FFF2-40B4-BE49-F238E27FC236}">
                <a16:creationId xmlns:a16="http://schemas.microsoft.com/office/drawing/2014/main" id="{2688F4C9-AB38-D55C-DB49-C51BEA5307B8}"/>
              </a:ext>
            </a:extLst>
          </p:cNvPr>
          <p:cNvSpPr txBox="1"/>
          <p:nvPr/>
        </p:nvSpPr>
        <p:spPr>
          <a:xfrm>
            <a:off x="1737360" y="3291840"/>
            <a:ext cx="8686800" cy="2834640"/>
          </a:xfrm>
          <a:prstGeom prst="rect">
            <a:avLst/>
          </a:prstGeom>
          <a:noFill/>
        </p:spPr>
        <p:txBody>
          <a:bodyPr wrap="square" lIns="45720" tIns="27432" rIns="45720" bIns="27432" rtlCol="0" anchor="t">
            <a:noAutofit/>
          </a:bodyPr>
          <a:lstStyle/>
          <a:p>
            <a:pPr algn="ctr" rtl="1">
              <a:spcBef>
                <a:spcPts val="0"/>
              </a:spcBef>
              <a:spcAft>
                <a:spcPts val="400"/>
              </a:spcAft>
              <a:buNone/>
            </a:pPr>
            <a:r>
              <a:rPr lang="ar-SY" altLang="en-US" sz="2000" b="1" i="0" dirty="0">
                <a:solidFill>
                  <a:srgbClr val="1A1A1A"/>
                </a:solidFill>
                <a:latin typeface="Times New Roman"/>
                <a:ea typeface="Times New Roman"/>
                <a:cs typeface="Times New Roman"/>
              </a:rPr>
              <a:t>إعداد الطلاب</a:t>
            </a:r>
          </a:p>
          <a:p>
            <a:pPr algn="ctr" rtl="1">
              <a:spcBef>
                <a:spcPts val="0"/>
              </a:spcBef>
              <a:spcAft>
                <a:spcPts val="1600"/>
              </a:spcAft>
              <a:buNone/>
            </a:pPr>
            <a:r>
              <a:rPr lang="ar-SY" altLang="en-US" sz="2000" b="0" i="0" dirty="0">
                <a:solidFill>
                  <a:srgbClr val="1A1A1A"/>
                </a:solidFill>
                <a:latin typeface="Times New Roman"/>
                <a:ea typeface="Times New Roman"/>
                <a:cs typeface="Times New Roman"/>
              </a:rPr>
              <a:t>يمان المطر          يوسف الزعبي          حسن يحيى</a:t>
            </a:r>
          </a:p>
          <a:p>
            <a:pPr algn="ctr" rtl="1">
              <a:spcBef>
                <a:spcPts val="0"/>
              </a:spcBef>
              <a:spcAft>
                <a:spcPts val="400"/>
              </a:spcAft>
              <a:buNone/>
            </a:pPr>
            <a:r>
              <a:rPr lang="ar-SY" altLang="en-US" sz="2000" b="1" i="0" dirty="0">
                <a:solidFill>
                  <a:srgbClr val="1A1A1A"/>
                </a:solidFill>
                <a:latin typeface="Times New Roman"/>
                <a:ea typeface="Times New Roman"/>
                <a:cs typeface="Times New Roman"/>
              </a:rPr>
              <a:t>إشـراف</a:t>
            </a:r>
          </a:p>
          <a:p>
            <a:pPr algn="ctr" rtl="1">
              <a:spcBef>
                <a:spcPts val="0"/>
              </a:spcBef>
              <a:spcAft>
                <a:spcPts val="1600"/>
              </a:spcAft>
              <a:buNone/>
            </a:pPr>
            <a:r>
              <a:rPr lang="ar-SY" altLang="en-US" sz="2000" b="0" i="0" dirty="0">
                <a:solidFill>
                  <a:srgbClr val="1A1A1A"/>
                </a:solidFill>
                <a:latin typeface="Times New Roman"/>
                <a:ea typeface="Times New Roman"/>
                <a:cs typeface="Times New Roman"/>
              </a:rPr>
              <a:t>م. شادي بليدي          م. محمد عامر خورشيد</a:t>
            </a:r>
          </a:p>
          <a:p>
            <a:pPr algn="ctr" rtl="1">
              <a:spcBef>
                <a:spcPts val="0"/>
              </a:spcBef>
              <a:spcAft>
                <a:spcPts val="0"/>
              </a:spcAft>
              <a:buNone/>
            </a:pPr>
            <a:r>
              <a:rPr lang="ar-SY" altLang="en-US" sz="1800" b="1" i="0" dirty="0">
                <a:solidFill>
                  <a:srgbClr val="2F5496"/>
                </a:solidFill>
                <a:latin typeface="Times New Roman"/>
                <a:ea typeface="Times New Roman"/>
                <a:cs typeface="Times New Roman"/>
              </a:rPr>
              <a:t>مشروع تخرج</a:t>
            </a:r>
            <a:r>
              <a:rPr lang="en-US" altLang="en-US" sz="1800" b="1" i="0" dirty="0">
                <a:solidFill>
                  <a:srgbClr val="2F5496"/>
                </a:solidFill>
                <a:latin typeface="Times New Roman"/>
                <a:ea typeface="Times New Roman"/>
                <a:cs typeface="Times New Roman"/>
              </a:rPr>
              <a:t> — </a:t>
            </a:r>
            <a:r>
              <a:rPr lang="ar-SY" altLang="en-US" sz="1800" b="1" i="0" dirty="0">
                <a:solidFill>
                  <a:srgbClr val="2F5496"/>
                </a:solidFill>
                <a:latin typeface="Times New Roman"/>
                <a:ea typeface="Times New Roman"/>
                <a:cs typeface="Times New Roman"/>
              </a:rPr>
              <a:t>السيمينار الأول — نوفمبر</a:t>
            </a:r>
            <a:r>
              <a:rPr lang="en-US" altLang="en-US" sz="1800" b="1" i="0" dirty="0">
                <a:solidFill>
                  <a:srgbClr val="2F5496"/>
                </a:solidFill>
                <a:latin typeface="Times New Roman"/>
                <a:ea typeface="Times New Roman"/>
                <a:cs typeface="Times New Roman"/>
              </a:rPr>
              <a:t> 2026 </a:t>
            </a:r>
            <a:endParaRPr lang="ar-SY" altLang="en-US" sz="1800" b="1" i="0" dirty="0">
              <a:solidFill>
                <a:srgbClr val="2F5496"/>
              </a:solidFill>
              <a:latin typeface="Times New Roman"/>
              <a:ea typeface="Times New Roman"/>
              <a:cs typeface="Times New Roman"/>
            </a:endParaRPr>
          </a:p>
        </p:txBody>
      </p:sp>
    </p:spTree>
    <p:extLst>
      <p:ext uri="{BB962C8B-B14F-4D97-AF65-F5344CB8AC3E}">
        <p14:creationId xmlns:p14="http://schemas.microsoft.com/office/powerpoint/2010/main" val="4244860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515E7FC2-E2D6-AA88-BA76-782699058DB7}"/>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A10C0DA9-B68A-02B5-F06B-4E1F163F604B}"/>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F93E9A2F-3005-24AC-8E5D-EB3521397272}"/>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2</a:t>
            </a:fld>
            <a:endParaRPr lang="en-US"/>
          </a:p>
        </p:txBody>
      </p:sp>
      <p:sp>
        <p:nvSpPr>
          <p:cNvPr id="8" name="Title">
            <a:extLst>
              <a:ext uri="{FF2B5EF4-FFF2-40B4-BE49-F238E27FC236}">
                <a16:creationId xmlns:a16="http://schemas.microsoft.com/office/drawing/2014/main" id="{4C4FC31A-9169-D8D3-0832-75487FE0E92E}"/>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أهمية المشروع وأهدافه</a:t>
            </a:r>
          </a:p>
        </p:txBody>
      </p:sp>
      <p:sp>
        <p:nvSpPr>
          <p:cNvPr id="9" name="Importance heading"/>
          <p:cNvSpPr txBox="1"/>
          <p:nvPr/>
        </p:nvSpPr>
        <p:spPr>
          <a:xfrm>
            <a:off x="6355080" y="960120"/>
            <a:ext cx="5285232" cy="411480"/>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2000" b="1" i="0" dirty="0">
                <a:solidFill>
                  <a:srgbClr val="2F5496"/>
                </a:solidFill>
                <a:latin typeface="Times New Roman"/>
                <a:ea typeface="Times New Roman"/>
                <a:cs typeface="Times New Roman"/>
              </a:rPr>
              <a:t>أهمية المشروع</a:t>
            </a:r>
          </a:p>
        </p:txBody>
      </p:sp>
      <p:sp>
        <p:nvSpPr>
          <p:cNvPr id="10" name="Importance card 1"/>
          <p:cNvSpPr/>
          <p:nvPr/>
        </p:nvSpPr>
        <p:spPr>
          <a:xfrm>
            <a:off x="6355080" y="1463040"/>
            <a:ext cx="5285232" cy="1417320"/>
          </a:xfrm>
          <a:prstGeom prst="roundRect">
            <a:avLst>
              <a:gd name="adj" fmla="val 8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37160" tIns="54864" rIns="777240" bIns="54864" rtlCol="0" anchor="ctr">
            <a:noAutofit/>
          </a:bodyPr>
          <a:lstStyle/>
          <a:p>
            <a:pPr algn="r" rtl="1">
              <a:lnSpc>
                <a:spcPct val="100000"/>
              </a:lnSpc>
              <a:spcBef>
                <a:spcPts val="0"/>
              </a:spcBef>
              <a:spcAft>
                <a:spcPts val="0"/>
              </a:spcAft>
              <a:buNone/>
            </a:pPr>
            <a:r>
              <a:rPr lang="ar-SY" altLang="en-US" sz="1600" b="1" i="0" dirty="0">
                <a:solidFill>
                  <a:srgbClr val="1A1A1A"/>
                </a:solidFill>
                <a:latin typeface="Times New Roman"/>
                <a:ea typeface="Times New Roman"/>
                <a:cs typeface="Times New Roman"/>
              </a:rPr>
              <a:t>لا توجد لوحة مستجيبين تخدم سوريا: </a:t>
            </a:r>
            <a:r>
              <a:rPr lang="en-US" altLang="en-US" sz="1600" b="0" i="0" dirty="0">
                <a:solidFill>
                  <a:srgbClr val="1A1A1A"/>
                </a:solidFill>
                <a:latin typeface="Times New Roman"/>
                <a:ea typeface="Times New Roman"/>
                <a:cs typeface="Times New Roman"/>
              </a:rPr>
              <a:t>SurveyMonkey Audience </a:t>
            </a:r>
            <a:r>
              <a:rPr lang="ar-SY" altLang="en-US" sz="1600" b="0" i="0" dirty="0">
                <a:solidFill>
                  <a:srgbClr val="1A1A1A"/>
                </a:solidFill>
                <a:latin typeface="Times New Roman"/>
                <a:ea typeface="Times New Roman"/>
                <a:cs typeface="Times New Roman"/>
              </a:rPr>
              <a:t>و</a:t>
            </a:r>
            <a:r>
              <a:rPr lang="en-US" altLang="en-US" sz="1600" b="0" i="0" dirty="0">
                <a:solidFill>
                  <a:srgbClr val="1A1A1A"/>
                </a:solidFill>
                <a:latin typeface="Times New Roman"/>
                <a:ea typeface="Times New Roman"/>
                <a:cs typeface="Times New Roman"/>
              </a:rPr>
              <a:t> Prolific </a:t>
            </a:r>
            <a:r>
              <a:rPr lang="ar-SY" altLang="en-US" sz="1600" b="0" i="0" dirty="0">
                <a:solidFill>
                  <a:srgbClr val="1A1A1A"/>
                </a:solidFill>
                <a:latin typeface="Times New Roman"/>
                <a:ea typeface="Times New Roman"/>
                <a:cs typeface="Times New Roman"/>
              </a:rPr>
              <a:t>لا تُدرجانها، و</a:t>
            </a:r>
            <a:r>
              <a:rPr lang="en-US" altLang="en-US" sz="1600" b="0" i="0" dirty="0">
                <a:solidFill>
                  <a:srgbClr val="1A1A1A"/>
                </a:solidFill>
                <a:latin typeface="Times New Roman"/>
                <a:ea typeface="Times New Roman"/>
                <a:cs typeface="Times New Roman"/>
              </a:rPr>
              <a:t> Pollfish </a:t>
            </a:r>
            <a:r>
              <a:rPr lang="ar-SY" altLang="en-US" sz="1600" b="0" i="0" dirty="0">
                <a:solidFill>
                  <a:srgbClr val="1A1A1A"/>
                </a:solidFill>
                <a:latin typeface="Times New Roman"/>
                <a:ea typeface="Times New Roman"/>
                <a:cs typeface="Times New Roman"/>
              </a:rPr>
              <a:t>لا تدعم العربية</a:t>
            </a:r>
            <a:r>
              <a:rPr lang="en-US" altLang="en-US" sz="1600" b="0" i="0" dirty="0">
                <a:solidFill>
                  <a:srgbClr val="1A1A1A"/>
                </a:solidFill>
                <a:latin typeface="Times New Roman"/>
                <a:ea typeface="Times New Roman"/>
                <a:cs typeface="Times New Roman"/>
              </a:rPr>
              <a:t> </a:t>
            </a:r>
            <a:r>
              <a:rPr lang="en-US" altLang="en-US" sz="1200" b="0" i="0" dirty="0">
                <a:solidFill>
                  <a:srgbClr val="1A1A1A"/>
                </a:solidFill>
                <a:latin typeface="Times New Roman"/>
                <a:ea typeface="Times New Roman"/>
                <a:cs typeface="Times New Roman"/>
              </a:rPr>
              <a:t>[1][2][3]</a:t>
            </a:r>
            <a:endParaRPr lang="ar-SY" altLang="en-US" sz="1600" b="0" i="0" dirty="0">
              <a:solidFill>
                <a:srgbClr val="1A1A1A"/>
              </a:solidFill>
              <a:latin typeface="Times New Roman"/>
              <a:ea typeface="Times New Roman"/>
              <a:cs typeface="Times New Roman"/>
            </a:endParaRPr>
          </a:p>
        </p:txBody>
      </p:sp>
      <p:sp>
        <p:nvSpPr>
          <p:cNvPr id="11" name="Importance number 1"/>
          <p:cNvSpPr/>
          <p:nvPr/>
        </p:nvSpPr>
        <p:spPr>
          <a:xfrm>
            <a:off x="11000232" y="1920240"/>
            <a:ext cx="502920" cy="502920"/>
          </a:xfrm>
          <a:prstGeom prst="ellipse">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en-US" altLang="en-US" sz="2000" b="1" i="0" dirty="0">
                <a:solidFill>
                  <a:srgbClr val="FFFFFF"/>
                </a:solidFill>
                <a:latin typeface="Times New Roman"/>
                <a:ea typeface="Times New Roman"/>
                <a:cs typeface="Times New Roman"/>
              </a:rPr>
              <a:t>1</a:t>
            </a:r>
            <a:endParaRPr lang="ar-SY" altLang="en-US" sz="2000" b="1" i="0" dirty="0">
              <a:solidFill>
                <a:srgbClr val="FFFFFF"/>
              </a:solidFill>
              <a:latin typeface="Times New Roman"/>
              <a:ea typeface="Times New Roman"/>
              <a:cs typeface="Times New Roman"/>
            </a:endParaRPr>
          </a:p>
        </p:txBody>
      </p:sp>
      <p:sp>
        <p:nvSpPr>
          <p:cNvPr id="12" name="Importance card 2"/>
          <p:cNvSpPr/>
          <p:nvPr/>
        </p:nvSpPr>
        <p:spPr>
          <a:xfrm>
            <a:off x="6355080" y="3017520"/>
            <a:ext cx="5285232" cy="1417320"/>
          </a:xfrm>
          <a:prstGeom prst="roundRect">
            <a:avLst>
              <a:gd name="adj" fmla="val 8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37160" tIns="54864" rIns="777240" bIns="54864" rtlCol="0" anchor="ctr">
            <a:noAutofit/>
          </a:bodyPr>
          <a:lstStyle/>
          <a:p>
            <a:pPr algn="r" rtl="1">
              <a:lnSpc>
                <a:spcPct val="100000"/>
              </a:lnSpc>
              <a:spcBef>
                <a:spcPts val="0"/>
              </a:spcBef>
              <a:spcAft>
                <a:spcPts val="0"/>
              </a:spcAft>
              <a:buNone/>
            </a:pPr>
            <a:r>
              <a:rPr lang="ar-SY" altLang="en-US" sz="1600" b="1" i="0" dirty="0">
                <a:solidFill>
                  <a:srgbClr val="1A1A1A"/>
                </a:solidFill>
                <a:latin typeface="Times New Roman"/>
                <a:ea typeface="Times New Roman"/>
                <a:cs typeface="Times New Roman"/>
              </a:rPr>
              <a:t>أدوات البناء لا تستهدف المستجيبين، وفحص الجودة فيها طبقة واحدة: </a:t>
            </a:r>
            <a:r>
              <a:rPr lang="en-US" altLang="en-US" sz="1600" b="0" i="0" dirty="0">
                <a:solidFill>
                  <a:srgbClr val="1A1A1A"/>
                </a:solidFill>
                <a:latin typeface="Times New Roman"/>
                <a:ea typeface="Times New Roman"/>
                <a:cs typeface="Times New Roman"/>
              </a:rPr>
              <a:t>‎94.5%‎ </a:t>
            </a:r>
            <a:r>
              <a:rPr lang="ar-SY" altLang="en-US" sz="1600" b="0" i="0" dirty="0">
                <a:solidFill>
                  <a:srgbClr val="1A1A1A"/>
                </a:solidFill>
                <a:latin typeface="Times New Roman"/>
                <a:ea typeface="Times New Roman"/>
                <a:cs typeface="Times New Roman"/>
              </a:rPr>
              <a:t> من إجابات رابط مفتوح كانت احتيالية رغم</a:t>
            </a:r>
            <a:r>
              <a:rPr lang="en-US" altLang="en-US" sz="1600" b="0" i="0" dirty="0">
                <a:solidFill>
                  <a:srgbClr val="1A1A1A"/>
                </a:solidFill>
                <a:latin typeface="Times New Roman"/>
                <a:ea typeface="Times New Roman"/>
                <a:cs typeface="Times New Roman"/>
              </a:rPr>
              <a:t> CAPTCHA</a:t>
            </a:r>
            <a:r>
              <a:rPr lang="ar-SA" altLang="en-US" sz="1600" b="0" i="0" dirty="0">
                <a:solidFill>
                  <a:srgbClr val="1A1A1A"/>
                </a:solidFill>
                <a:latin typeface="Times New Roman"/>
                <a:ea typeface="Times New Roman"/>
                <a:cs typeface="Times New Roman"/>
              </a:rPr>
              <a:t> </a:t>
            </a:r>
            <a:r>
              <a:rPr lang="en-US" altLang="en-US" sz="1200" b="0" i="0" dirty="0">
                <a:solidFill>
                  <a:srgbClr val="1A1A1A"/>
                </a:solidFill>
                <a:latin typeface="Times New Roman"/>
                <a:ea typeface="Times New Roman"/>
                <a:cs typeface="Times New Roman"/>
              </a:rPr>
              <a:t>[6][5][4]</a:t>
            </a:r>
            <a:endParaRPr lang="ar-SY" altLang="en-US" sz="1200" b="0" i="0" dirty="0">
              <a:solidFill>
                <a:srgbClr val="1A1A1A"/>
              </a:solidFill>
              <a:latin typeface="Times New Roman"/>
              <a:ea typeface="Times New Roman"/>
              <a:cs typeface="Times New Roman"/>
            </a:endParaRPr>
          </a:p>
        </p:txBody>
      </p:sp>
      <p:sp>
        <p:nvSpPr>
          <p:cNvPr id="13" name="Importance number 2"/>
          <p:cNvSpPr/>
          <p:nvPr/>
        </p:nvSpPr>
        <p:spPr>
          <a:xfrm>
            <a:off x="11000232" y="3474720"/>
            <a:ext cx="502920" cy="502920"/>
          </a:xfrm>
          <a:prstGeom prst="ellipse">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en-US" altLang="en-US" sz="2000" b="1" i="0" dirty="0">
                <a:solidFill>
                  <a:srgbClr val="FFFFFF"/>
                </a:solidFill>
                <a:latin typeface="Times New Roman"/>
                <a:ea typeface="Times New Roman"/>
                <a:cs typeface="Times New Roman"/>
              </a:rPr>
              <a:t>2</a:t>
            </a:r>
            <a:endParaRPr lang="ar-SY" altLang="en-US" sz="2000" b="1" i="0" dirty="0">
              <a:solidFill>
                <a:srgbClr val="FFFFFF"/>
              </a:solidFill>
              <a:latin typeface="Times New Roman"/>
              <a:ea typeface="Times New Roman"/>
              <a:cs typeface="Times New Roman"/>
            </a:endParaRPr>
          </a:p>
        </p:txBody>
      </p:sp>
      <p:sp>
        <p:nvSpPr>
          <p:cNvPr id="14" name="Importance card 3"/>
          <p:cNvSpPr/>
          <p:nvPr/>
        </p:nvSpPr>
        <p:spPr>
          <a:xfrm>
            <a:off x="6355080" y="4572000"/>
            <a:ext cx="5285232" cy="1417320"/>
          </a:xfrm>
          <a:prstGeom prst="roundRect">
            <a:avLst>
              <a:gd name="adj" fmla="val 8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37160" tIns="54864" rIns="777240" bIns="54864" rtlCol="0" anchor="ctr">
            <a:noAutofit/>
          </a:bodyPr>
          <a:lstStyle/>
          <a:p>
            <a:pPr algn="r" rtl="1">
              <a:lnSpc>
                <a:spcPct val="100000"/>
              </a:lnSpc>
              <a:spcBef>
                <a:spcPts val="0"/>
              </a:spcBef>
              <a:spcAft>
                <a:spcPts val="0"/>
              </a:spcAft>
              <a:buNone/>
            </a:pPr>
            <a:r>
              <a:rPr lang="ar-SY" altLang="en-US" sz="1600" b="1" i="0" dirty="0">
                <a:solidFill>
                  <a:srgbClr val="1A1A1A"/>
                </a:solidFill>
                <a:latin typeface="Times New Roman"/>
                <a:ea typeface="Times New Roman"/>
                <a:cs typeface="Times New Roman"/>
              </a:rPr>
              <a:t>تحليل المشاعر مدفوع وبالإنجليزية غالباً: </a:t>
            </a:r>
            <a:r>
              <a:rPr lang="en-US" altLang="en-US" sz="1600" b="1" i="0" dirty="0">
                <a:solidFill>
                  <a:srgbClr val="1A1A1A"/>
                </a:solidFill>
                <a:latin typeface="Times New Roman"/>
                <a:ea typeface="Times New Roman"/>
                <a:cs typeface="Times New Roman"/>
              </a:rPr>
              <a:t> </a:t>
            </a:r>
            <a:r>
              <a:rPr lang="en-US" altLang="en-US" sz="1600" b="0" i="0" dirty="0" err="1">
                <a:solidFill>
                  <a:srgbClr val="1A1A1A"/>
                </a:solidFill>
                <a:latin typeface="Times New Roman"/>
                <a:ea typeface="Times New Roman"/>
                <a:cs typeface="Times New Roman"/>
              </a:rPr>
              <a:t>Typeform</a:t>
            </a:r>
            <a:r>
              <a:rPr lang="en-US" altLang="en-US" sz="1600" b="0" i="0" dirty="0">
                <a:solidFill>
                  <a:srgbClr val="1A1A1A"/>
                </a:solidFill>
                <a:latin typeface="Times New Roman"/>
                <a:ea typeface="Times New Roman"/>
                <a:cs typeface="Times New Roman"/>
              </a:rPr>
              <a:t> </a:t>
            </a:r>
            <a:r>
              <a:rPr lang="ar-SY" altLang="en-US" sz="1600" b="0" i="0" dirty="0">
                <a:solidFill>
                  <a:srgbClr val="1A1A1A"/>
                </a:solidFill>
                <a:latin typeface="Times New Roman"/>
                <a:ea typeface="Times New Roman"/>
                <a:cs typeface="Times New Roman"/>
              </a:rPr>
              <a:t>للإنجليزية فقط، و</a:t>
            </a:r>
            <a:r>
              <a:rPr lang="en-US" altLang="en-US" sz="1600" b="0" i="0" dirty="0">
                <a:solidFill>
                  <a:srgbClr val="1A1A1A"/>
                </a:solidFill>
                <a:latin typeface="Times New Roman"/>
                <a:ea typeface="Times New Roman"/>
                <a:cs typeface="Times New Roman"/>
              </a:rPr>
              <a:t> SurveyMonkey </a:t>
            </a:r>
            <a:r>
              <a:rPr lang="ar-SY" altLang="en-US" sz="1600" b="0" i="0" dirty="0">
                <a:solidFill>
                  <a:srgbClr val="1A1A1A"/>
                </a:solidFill>
                <a:latin typeface="Times New Roman"/>
                <a:ea typeface="Times New Roman"/>
                <a:cs typeface="Times New Roman"/>
              </a:rPr>
              <a:t>و</a:t>
            </a:r>
            <a:r>
              <a:rPr lang="en-US" altLang="en-US" sz="1600" b="0" i="0" dirty="0">
                <a:solidFill>
                  <a:srgbClr val="1A1A1A"/>
                </a:solidFill>
                <a:latin typeface="Times New Roman"/>
                <a:ea typeface="Times New Roman"/>
                <a:cs typeface="Times New Roman"/>
              </a:rPr>
              <a:t> Google Forms </a:t>
            </a:r>
            <a:r>
              <a:rPr lang="ar-SY" altLang="en-US" sz="1600" b="0" i="0" dirty="0">
                <a:solidFill>
                  <a:srgbClr val="1A1A1A"/>
                </a:solidFill>
                <a:latin typeface="Times New Roman"/>
                <a:ea typeface="Times New Roman"/>
                <a:cs typeface="Times New Roman"/>
              </a:rPr>
              <a:t>في خطط مدفوعة دون ذكر العربية</a:t>
            </a:r>
            <a:r>
              <a:rPr lang="en-US" altLang="en-US" sz="1600" b="0" i="0" dirty="0">
                <a:solidFill>
                  <a:srgbClr val="1A1A1A"/>
                </a:solidFill>
                <a:latin typeface="Times New Roman"/>
                <a:ea typeface="Times New Roman"/>
                <a:cs typeface="Times New Roman"/>
              </a:rPr>
              <a:t> </a:t>
            </a:r>
            <a:r>
              <a:rPr lang="en-US" altLang="en-US" sz="1200" b="0" i="0" dirty="0">
                <a:solidFill>
                  <a:srgbClr val="1A1A1A"/>
                </a:solidFill>
                <a:latin typeface="Times New Roman"/>
                <a:ea typeface="Times New Roman"/>
                <a:cs typeface="Times New Roman"/>
              </a:rPr>
              <a:t>[</a:t>
            </a:r>
            <a:r>
              <a:rPr lang="en-US" altLang="en-US" sz="1200" dirty="0">
                <a:solidFill>
                  <a:srgbClr val="1A1A1A"/>
                </a:solidFill>
                <a:latin typeface="Times New Roman"/>
                <a:ea typeface="Times New Roman"/>
                <a:cs typeface="Times New Roman"/>
              </a:rPr>
              <a:t>9</a:t>
            </a:r>
            <a:r>
              <a:rPr lang="en-US" altLang="en-US" sz="1200" b="0" i="0" dirty="0">
                <a:solidFill>
                  <a:srgbClr val="1A1A1A"/>
                </a:solidFill>
                <a:latin typeface="Times New Roman"/>
                <a:ea typeface="Times New Roman"/>
                <a:cs typeface="Times New Roman"/>
              </a:rPr>
              <a:t>][8][7] </a:t>
            </a:r>
            <a:endParaRPr lang="ar-SY" altLang="en-US" sz="1600" b="0" i="0" dirty="0">
              <a:solidFill>
                <a:srgbClr val="1A1A1A"/>
              </a:solidFill>
              <a:latin typeface="Times New Roman"/>
              <a:ea typeface="Times New Roman"/>
              <a:cs typeface="Times New Roman"/>
            </a:endParaRPr>
          </a:p>
        </p:txBody>
      </p:sp>
      <p:sp>
        <p:nvSpPr>
          <p:cNvPr id="15" name="Importance number 3"/>
          <p:cNvSpPr/>
          <p:nvPr/>
        </p:nvSpPr>
        <p:spPr>
          <a:xfrm>
            <a:off x="11000232" y="5029200"/>
            <a:ext cx="502920" cy="502920"/>
          </a:xfrm>
          <a:prstGeom prst="ellipse">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en-US" altLang="en-US" sz="2000" b="1" i="0" dirty="0">
                <a:solidFill>
                  <a:srgbClr val="FFFFFF"/>
                </a:solidFill>
                <a:latin typeface="Times New Roman"/>
                <a:ea typeface="Times New Roman"/>
                <a:cs typeface="Times New Roman"/>
              </a:rPr>
              <a:t>3</a:t>
            </a:r>
            <a:endParaRPr lang="ar-SY" altLang="en-US" sz="2000" b="1" i="0" dirty="0">
              <a:solidFill>
                <a:srgbClr val="FFFFFF"/>
              </a:solidFill>
              <a:latin typeface="Times New Roman"/>
              <a:ea typeface="Times New Roman"/>
              <a:cs typeface="Times New Roman"/>
            </a:endParaRPr>
          </a:p>
        </p:txBody>
      </p:sp>
      <p:sp>
        <p:nvSpPr>
          <p:cNvPr id="16" name="Goals heading"/>
          <p:cNvSpPr txBox="1"/>
          <p:nvPr/>
        </p:nvSpPr>
        <p:spPr>
          <a:xfrm>
            <a:off x="548640" y="960120"/>
            <a:ext cx="5532120" cy="411480"/>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2000" b="1" i="0" dirty="0">
                <a:solidFill>
                  <a:srgbClr val="2F5496"/>
                </a:solidFill>
                <a:latin typeface="Times New Roman"/>
                <a:ea typeface="Times New Roman"/>
                <a:cs typeface="Times New Roman"/>
              </a:rPr>
              <a:t>الأهداف</a:t>
            </a:r>
          </a:p>
        </p:txBody>
      </p:sp>
      <p:sp>
        <p:nvSpPr>
          <p:cNvPr id="17" name="Main goal"/>
          <p:cNvSpPr/>
          <p:nvPr/>
        </p:nvSpPr>
        <p:spPr>
          <a:xfrm>
            <a:off x="548640" y="1463040"/>
            <a:ext cx="5532120" cy="1417320"/>
          </a:xfrm>
          <a:prstGeom prst="roundRect">
            <a:avLst>
              <a:gd name="adj" fmla="val 8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noAutofit/>
          </a:bodyPr>
          <a:lstStyle/>
          <a:p>
            <a:pPr algn="r" rtl="1">
              <a:spcBef>
                <a:spcPts val="0"/>
              </a:spcBef>
              <a:spcAft>
                <a:spcPts val="300"/>
              </a:spcAft>
              <a:buNone/>
            </a:pPr>
            <a:r>
              <a:rPr lang="ar-SY" altLang="en-US" sz="1600" b="1" i="0" dirty="0">
                <a:solidFill>
                  <a:srgbClr val="FFFFFF"/>
                </a:solidFill>
                <a:latin typeface="Times New Roman"/>
                <a:ea typeface="Times New Roman"/>
                <a:cs typeface="Times New Roman"/>
              </a:rPr>
              <a:t>الهدف الرئيسي</a:t>
            </a:r>
          </a:p>
          <a:p>
            <a:pPr algn="r" rtl="1">
              <a:lnSpc>
                <a:spcPct val="100000"/>
              </a:lnSpc>
              <a:spcBef>
                <a:spcPts val="0"/>
              </a:spcBef>
              <a:spcAft>
                <a:spcPts val="0"/>
              </a:spcAft>
              <a:buNone/>
            </a:pPr>
            <a:r>
              <a:rPr lang="ar-SY" altLang="en-US" sz="1600" b="0" i="0" dirty="0">
                <a:solidFill>
                  <a:srgbClr val="FFFFFF"/>
                </a:solidFill>
                <a:latin typeface="Times New Roman"/>
                <a:ea typeface="Times New Roman"/>
                <a:cs typeface="Times New Roman"/>
              </a:rPr>
              <a:t>بناء منصة استبيانات توصل كل استبيان إلى المستجيبين المناسبين، وتكشف الإجابات منخفضة الجودة، وتحلل مشاعر الإجابات المفتوحة — بنهاية تخرج </a:t>
            </a:r>
            <a:r>
              <a:rPr lang="en-US" altLang="en-US" sz="1600" b="0" i="0" dirty="0">
                <a:solidFill>
                  <a:srgbClr val="FFFFFF"/>
                </a:solidFill>
                <a:latin typeface="Times New Roman"/>
                <a:ea typeface="Times New Roman"/>
                <a:cs typeface="Times New Roman"/>
              </a:rPr>
              <a:t>1 )</a:t>
            </a:r>
            <a:r>
              <a:rPr lang="ar-SY" altLang="en-US" sz="1600" b="0" i="0" dirty="0">
                <a:solidFill>
                  <a:srgbClr val="FFFFFF"/>
                </a:solidFill>
                <a:latin typeface="Times New Roman"/>
                <a:ea typeface="Times New Roman"/>
                <a:cs typeface="Times New Roman"/>
              </a:rPr>
              <a:t>يناير</a:t>
            </a:r>
            <a:r>
              <a:rPr lang="en-US" altLang="en-US" sz="1600" b="0" i="0" dirty="0">
                <a:solidFill>
                  <a:srgbClr val="FFFFFF"/>
                </a:solidFill>
                <a:latin typeface="Times New Roman"/>
                <a:ea typeface="Times New Roman"/>
                <a:cs typeface="Times New Roman"/>
              </a:rPr>
              <a:t>2027 (</a:t>
            </a:r>
            <a:endParaRPr lang="ar-SY" altLang="en-US" sz="1600" b="0" i="0" dirty="0">
              <a:solidFill>
                <a:srgbClr val="FFFFFF"/>
              </a:solidFill>
              <a:latin typeface="Times New Roman"/>
              <a:ea typeface="Times New Roman"/>
              <a:cs typeface="Times New Roman"/>
            </a:endParaRPr>
          </a:p>
        </p:txBody>
      </p:sp>
      <p:sp>
        <p:nvSpPr>
          <p:cNvPr id="18" name="Sub goals"/>
          <p:cNvSpPr/>
          <p:nvPr/>
        </p:nvSpPr>
        <p:spPr>
          <a:xfrm>
            <a:off x="548640" y="3017520"/>
            <a:ext cx="5532120" cy="3108960"/>
          </a:xfrm>
          <a:prstGeom prst="roundRect">
            <a:avLst>
              <a:gd name="adj" fmla="val 8000"/>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91440" rIns="164592" bIns="54864" rtlCol="0" anchor="t">
            <a:noAutofit/>
          </a:bodyPr>
          <a:lstStyle/>
          <a:p>
            <a:pPr algn="r" rtl="1">
              <a:spcBef>
                <a:spcPts val="0"/>
              </a:spcBef>
              <a:spcAft>
                <a:spcPts val="400"/>
              </a:spcAft>
              <a:buNone/>
            </a:pPr>
            <a:r>
              <a:rPr lang="ar-SY" altLang="en-US" sz="1600" b="1" i="0" dirty="0">
                <a:solidFill>
                  <a:srgbClr val="2F5496"/>
                </a:solidFill>
                <a:latin typeface="Times New Roman"/>
                <a:ea typeface="Times New Roman"/>
                <a:cs typeface="Times New Roman"/>
              </a:rPr>
              <a:t>الأهداف الفرعية</a:t>
            </a:r>
          </a:p>
          <a:p>
            <a:pPr marL="228600" indent="-228600" algn="r" rtl="1">
              <a:spcBef>
                <a:spcPts val="0"/>
              </a:spcBef>
              <a:spcAft>
                <a:spcPts val="500"/>
              </a:spcAft>
              <a:buClr>
                <a:srgbClr val="2F5496"/>
              </a:buClr>
              <a:buFont typeface="Arial"/>
              <a:buChar char="■"/>
            </a:pPr>
            <a:r>
              <a:rPr lang="ar-SY" altLang="en-US" sz="1500" b="0" i="0" dirty="0">
                <a:solidFill>
                  <a:srgbClr val="1A1A1A"/>
                </a:solidFill>
                <a:latin typeface="Times New Roman"/>
                <a:ea typeface="Times New Roman"/>
                <a:cs typeface="Times New Roman"/>
              </a:rPr>
              <a:t>تطبيق جوال للمستجيب</a:t>
            </a:r>
            <a:r>
              <a:rPr lang="en-US" altLang="en-US" sz="1500" b="0" i="0" dirty="0">
                <a:solidFill>
                  <a:srgbClr val="1A1A1A"/>
                </a:solidFill>
                <a:latin typeface="Times New Roman"/>
                <a:ea typeface="Times New Roman"/>
                <a:cs typeface="Times New Roman"/>
              </a:rPr>
              <a:t> (Flutter) </a:t>
            </a:r>
            <a:r>
              <a:rPr lang="ar-SY" altLang="en-US" sz="1500" b="0" i="0" dirty="0">
                <a:solidFill>
                  <a:srgbClr val="1A1A1A"/>
                </a:solidFill>
                <a:latin typeface="Times New Roman"/>
                <a:ea typeface="Times New Roman"/>
                <a:cs typeface="Times New Roman"/>
              </a:rPr>
              <a:t>يغطي التسجيل والملف الديموغرافي والإجابة</a:t>
            </a:r>
          </a:p>
          <a:p>
            <a:pPr marL="228600" indent="-228600" algn="r" rtl="1">
              <a:spcBef>
                <a:spcPts val="0"/>
              </a:spcBef>
              <a:spcAft>
                <a:spcPts val="500"/>
              </a:spcAft>
              <a:buClr>
                <a:srgbClr val="2F5496"/>
              </a:buClr>
              <a:buFont typeface="Arial"/>
              <a:buChar char="■"/>
            </a:pPr>
            <a:r>
              <a:rPr lang="ar-SY" altLang="en-US" sz="1500" b="0" i="0" dirty="0">
                <a:solidFill>
                  <a:srgbClr val="1A1A1A"/>
                </a:solidFill>
                <a:latin typeface="Times New Roman"/>
                <a:ea typeface="Times New Roman"/>
                <a:cs typeface="Times New Roman"/>
              </a:rPr>
              <a:t>استهداف بالملف الموسّع مع عرض عدد المؤهلين قبل النشر</a:t>
            </a:r>
          </a:p>
          <a:p>
            <a:pPr marL="228600" indent="-228600" algn="r" rtl="1">
              <a:spcBef>
                <a:spcPts val="0"/>
              </a:spcBef>
              <a:spcAft>
                <a:spcPts val="500"/>
              </a:spcAft>
              <a:buClr>
                <a:srgbClr val="2F5496"/>
              </a:buClr>
              <a:buFont typeface="Arial"/>
              <a:buChar char="■"/>
            </a:pPr>
            <a:r>
              <a:rPr lang="ar-SY" altLang="en-US" sz="1500" b="0" i="0" dirty="0">
                <a:solidFill>
                  <a:srgbClr val="1A1A1A"/>
                </a:solidFill>
                <a:latin typeface="Times New Roman"/>
                <a:ea typeface="Times New Roman"/>
                <a:cs typeface="Times New Roman"/>
              </a:rPr>
              <a:t>محرك جودة يسِم الإجابات المشبوهة ولا يحذفها</a:t>
            </a:r>
          </a:p>
          <a:p>
            <a:pPr marL="228600" indent="-228600" algn="r" rtl="1">
              <a:spcBef>
                <a:spcPts val="0"/>
              </a:spcBef>
              <a:spcAft>
                <a:spcPts val="500"/>
              </a:spcAft>
              <a:buClr>
                <a:srgbClr val="2F5496"/>
              </a:buClr>
              <a:buFont typeface="Arial"/>
              <a:buChar char="■"/>
            </a:pPr>
            <a:r>
              <a:rPr lang="ar-SY" altLang="en-US" sz="1500" b="0" i="0" dirty="0">
                <a:solidFill>
                  <a:srgbClr val="1A1A1A"/>
                </a:solidFill>
                <a:latin typeface="Times New Roman"/>
                <a:ea typeface="Times New Roman"/>
                <a:cs typeface="Times New Roman"/>
              </a:rPr>
              <a:t>اختيار نموذج تحليل المشاعر بمقياس</a:t>
            </a:r>
            <a:r>
              <a:rPr lang="en-US" altLang="en-US" sz="1500" b="0" i="0" dirty="0">
                <a:solidFill>
                  <a:srgbClr val="1A1A1A"/>
                </a:solidFill>
                <a:latin typeface="Times New Roman"/>
                <a:ea typeface="Times New Roman"/>
                <a:cs typeface="Times New Roman"/>
              </a:rPr>
              <a:t> macro‑F1 </a:t>
            </a:r>
            <a:r>
              <a:rPr lang="ar-SY" altLang="en-US" sz="1500" b="0" i="0" dirty="0">
                <a:solidFill>
                  <a:srgbClr val="1A1A1A"/>
                </a:solidFill>
                <a:latin typeface="Times New Roman"/>
                <a:ea typeface="Times New Roman"/>
                <a:cs typeface="Times New Roman"/>
              </a:rPr>
              <a:t>بعد مقارنة</a:t>
            </a:r>
            <a:r>
              <a:rPr lang="en-US" altLang="en-US" sz="1500" b="0" i="0" dirty="0">
                <a:solidFill>
                  <a:srgbClr val="1A1A1A"/>
                </a:solidFill>
                <a:latin typeface="Times New Roman"/>
                <a:ea typeface="Times New Roman"/>
                <a:cs typeface="Times New Roman"/>
              </a:rPr>
              <a:t> 4 </a:t>
            </a:r>
            <a:r>
              <a:rPr lang="ar-SY" altLang="en-US" sz="1500" b="0" i="0" dirty="0">
                <a:solidFill>
                  <a:srgbClr val="1A1A1A"/>
                </a:solidFill>
                <a:latin typeface="Times New Roman"/>
                <a:ea typeface="Times New Roman"/>
                <a:cs typeface="Times New Roman"/>
              </a:rPr>
              <a:t>نماذج على الأقل</a:t>
            </a:r>
          </a:p>
          <a:p>
            <a:pPr marL="228600" indent="-228600" algn="r" rtl="1">
              <a:spcBef>
                <a:spcPts val="0"/>
              </a:spcBef>
              <a:spcAft>
                <a:spcPts val="500"/>
              </a:spcAft>
              <a:buClr>
                <a:srgbClr val="2F5496"/>
              </a:buClr>
              <a:buFont typeface="Arial"/>
              <a:buChar char="■"/>
            </a:pPr>
            <a:r>
              <a:rPr lang="ar-SY" altLang="en-US" sz="1500" b="0" i="0" dirty="0">
                <a:solidFill>
                  <a:srgbClr val="1A1A1A"/>
                </a:solidFill>
                <a:latin typeface="Times New Roman"/>
                <a:ea typeface="Times New Roman"/>
                <a:cs typeface="Times New Roman"/>
              </a:rPr>
              <a:t>استجابة</a:t>
            </a:r>
            <a:r>
              <a:rPr lang="en-US" altLang="en-US" sz="1500" b="0" i="0" dirty="0">
                <a:solidFill>
                  <a:srgbClr val="1A1A1A"/>
                </a:solidFill>
                <a:latin typeface="Times New Roman"/>
                <a:ea typeface="Times New Roman"/>
                <a:cs typeface="Times New Roman"/>
              </a:rPr>
              <a:t> ‎95%‎ </a:t>
            </a:r>
            <a:r>
              <a:rPr lang="ar-SY" altLang="en-US" sz="1500" b="0" i="0" dirty="0">
                <a:solidFill>
                  <a:srgbClr val="1A1A1A"/>
                </a:solidFill>
                <a:latin typeface="Times New Roman"/>
                <a:ea typeface="Times New Roman"/>
                <a:cs typeface="Times New Roman"/>
              </a:rPr>
              <a:t>من طلبات الـ</a:t>
            </a:r>
            <a:r>
              <a:rPr lang="en-US" altLang="en-US" sz="1500" b="0" i="0" dirty="0">
                <a:solidFill>
                  <a:srgbClr val="1A1A1A"/>
                </a:solidFill>
                <a:latin typeface="Times New Roman"/>
                <a:ea typeface="Times New Roman"/>
                <a:cs typeface="Times New Roman"/>
              </a:rPr>
              <a:t> API </a:t>
            </a:r>
            <a:r>
              <a:rPr lang="ar-SY" altLang="en-US" sz="1500" b="0" i="0" dirty="0">
                <a:solidFill>
                  <a:srgbClr val="1A1A1A"/>
                </a:solidFill>
                <a:latin typeface="Times New Roman"/>
                <a:ea typeface="Times New Roman"/>
                <a:cs typeface="Times New Roman"/>
              </a:rPr>
              <a:t>في أقل من ثانيتين</a:t>
            </a:r>
            <a:r>
              <a:rPr lang="ar-SA" altLang="en-US" sz="1500" b="0" i="0" dirty="0">
                <a:solidFill>
                  <a:srgbClr val="1A1A1A"/>
                </a:solidFill>
                <a:latin typeface="Times New Roman"/>
                <a:ea typeface="Times New Roman"/>
                <a:cs typeface="Times New Roman"/>
              </a:rPr>
              <a:t> </a:t>
            </a:r>
            <a:r>
              <a:rPr lang="en-US" altLang="en-US" sz="1500" b="0" i="0" dirty="0">
                <a:solidFill>
                  <a:srgbClr val="1A1A1A"/>
                </a:solidFill>
                <a:latin typeface="Times New Roman"/>
                <a:ea typeface="Times New Roman"/>
                <a:cs typeface="Times New Roman"/>
              </a:rPr>
              <a:t> (NFR-01)</a:t>
            </a:r>
            <a:endParaRPr lang="ar-SY" altLang="en-US" sz="1500" b="0" i="0" dirty="0">
              <a:solidFill>
                <a:srgbClr val="1A1A1A"/>
              </a:solidFill>
              <a:latin typeface="Times New Roman"/>
              <a:ea typeface="Times New Roman"/>
              <a:cs typeface="Times New Roman"/>
            </a:endParaRPr>
          </a:p>
        </p:txBody>
      </p:sp>
    </p:spTree>
    <p:extLst>
      <p:ext uri="{BB962C8B-B14F-4D97-AF65-F5344CB8AC3E}">
        <p14:creationId xmlns:p14="http://schemas.microsoft.com/office/powerpoint/2010/main" val="21435619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Date Placeholder 3">
            <a:extLst>
              <a:ext uri="{FF2B5EF4-FFF2-40B4-BE49-F238E27FC236}">
                <a16:creationId xmlns:a16="http://schemas.microsoft.com/office/drawing/2014/main" id="{68343A48-9918-5396-9D36-75CC176EFFB3}"/>
              </a:ext>
            </a:extLst>
          </p:cNvPr>
          <p:cNvSpPr>
            <a:spLocks noGrp="1"/>
          </p:cNvSpPr>
          <p:nvPr>
            <p:ph type="dt" sz="half" idx="10"/>
          </p:nvPr>
        </p:nvSpPr>
        <p:spPr>
          <a:xfrm>
            <a:off x="838200" y="6356350"/>
            <a:ext cx="2743200" cy="365125"/>
          </a:xfrm>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46" name="Footer Placeholder 4">
            <a:extLst>
              <a:ext uri="{FF2B5EF4-FFF2-40B4-BE49-F238E27FC236}">
                <a16:creationId xmlns:a16="http://schemas.microsoft.com/office/drawing/2014/main" id="{3E825D1B-E64B-FFA8-9DB9-ABB55D250F41}"/>
              </a:ext>
            </a:extLst>
          </p:cNvPr>
          <p:cNvSpPr>
            <a:spLocks noGrp="1"/>
          </p:cNvSpPr>
          <p:nvPr>
            <p:ph type="ftr" sz="quarter" idx="11"/>
          </p:nvPr>
        </p:nvSpPr>
        <p:spPr>
          <a:xfrm>
            <a:off x="4038600" y="6356350"/>
            <a:ext cx="4114800" cy="365125"/>
          </a:xfrm>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47" name="Slide Number Placeholder 5">
            <a:extLst>
              <a:ext uri="{FF2B5EF4-FFF2-40B4-BE49-F238E27FC236}">
                <a16:creationId xmlns:a16="http://schemas.microsoft.com/office/drawing/2014/main" id="{C96E1AB9-B9B1-F1C3-6379-716EDAE1B4CB}"/>
              </a:ext>
            </a:extLst>
          </p:cNvPr>
          <p:cNvSpPr>
            <a:spLocks noGrp="1"/>
          </p:cNvSpPr>
          <p:nvPr>
            <p:ph type="sldNum" sz="quarter" idx="12"/>
          </p:nvPr>
        </p:nvSpPr>
        <p:spPr>
          <a:xfrm>
            <a:off x="8610600" y="6356350"/>
            <a:ext cx="2743200" cy="365125"/>
          </a:xfrm>
        </p:spPr>
        <p:txBody>
          <a:bodyPr/>
          <a:lstStyle/>
          <a:p>
            <a:fld id="{2C11977B-EEE1-4D56-A6CE-8035002D8A82}" type="slidenum">
              <a:rPr lang="en-US" smtClean="0">
                <a:latin typeface="Times New Roman"/>
                <a:cs typeface="Times New Roman"/>
              </a:rPr>
              <a:t>3</a:t>
            </a:fld>
            <a:endParaRPr lang="en-US"/>
          </a:p>
        </p:txBody>
      </p:sp>
      <p:sp>
        <p:nvSpPr>
          <p:cNvPr id="48" name="Title">
            <a:extLst>
              <a:ext uri="{FF2B5EF4-FFF2-40B4-BE49-F238E27FC236}">
                <a16:creationId xmlns:a16="http://schemas.microsoft.com/office/drawing/2014/main" id="{889AB346-5256-0E50-32AC-C2D853342130}"/>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المراحل المنفذة سابقاً — المشروع الفصلي</a:t>
            </a:r>
            <a:r>
              <a:rPr lang="ar-SA" altLang="en-US" sz="2800" b="1" i="0" dirty="0">
                <a:solidFill>
                  <a:srgbClr val="2F5496"/>
                </a:solidFill>
                <a:latin typeface="Times New Roman"/>
                <a:ea typeface="Times New Roman"/>
                <a:cs typeface="Times New Roman"/>
              </a:rPr>
              <a:t> </a:t>
            </a:r>
            <a:r>
              <a:rPr lang="en-US" altLang="en-US" sz="2800" b="1" i="0" dirty="0">
                <a:solidFill>
                  <a:srgbClr val="2F5496"/>
                </a:solidFill>
                <a:latin typeface="Times New Roman"/>
                <a:ea typeface="Times New Roman"/>
                <a:cs typeface="Times New Roman"/>
              </a:rPr>
              <a:t> (V1.0)</a:t>
            </a:r>
            <a:endParaRPr lang="ar-SY" altLang="en-US" sz="2800" b="1" i="0" dirty="0">
              <a:solidFill>
                <a:srgbClr val="2F5496"/>
              </a:solidFill>
              <a:latin typeface="Times New Roman"/>
              <a:ea typeface="Times New Roman"/>
              <a:cs typeface="Times New Roman"/>
            </a:endParaRPr>
          </a:p>
        </p:txBody>
      </p:sp>
      <p:sp>
        <p:nvSpPr>
          <p:cNvPr id="49" name="Subtitle">
            <a:extLst>
              <a:ext uri="{FF2B5EF4-FFF2-40B4-BE49-F238E27FC236}">
                <a16:creationId xmlns:a16="http://schemas.microsoft.com/office/drawing/2014/main" id="{535E1CE0-6B38-F493-3766-AFD2F44C9F32}"/>
              </a:ext>
            </a:extLst>
          </p:cNvPr>
          <p:cNvSpPr txBox="1"/>
          <p:nvPr/>
        </p:nvSpPr>
        <p:spPr>
          <a:xfrm>
            <a:off x="548640" y="822960"/>
            <a:ext cx="11091672" cy="329184"/>
          </a:xfrm>
          <a:prstGeom prst="rect">
            <a:avLst/>
          </a:prstGeom>
          <a:noFill/>
        </p:spPr>
        <p:txBody>
          <a:bodyPr wrap="square" lIns="45720" tIns="27432" rIns="45720" bIns="27432" rtlCol="0" anchor="t">
            <a:noAutofit/>
          </a:bodyPr>
          <a:lstStyle/>
          <a:p>
            <a:pPr algn="r" rtl="1">
              <a:spcBef>
                <a:spcPts val="0"/>
              </a:spcBef>
              <a:spcAft>
                <a:spcPts val="0"/>
              </a:spcAft>
              <a:buNone/>
            </a:pPr>
            <a:r>
              <a:rPr lang="en-US" altLang="en-US" sz="1400" b="1" i="0" dirty="0">
                <a:solidFill>
                  <a:srgbClr val="595959"/>
                </a:solidFill>
                <a:latin typeface="Times New Roman"/>
                <a:ea typeface="Times New Roman"/>
                <a:cs typeface="Times New Roman"/>
              </a:rPr>
              <a:t> Smart Opinion Survey Platform</a:t>
            </a:r>
            <a:r>
              <a:rPr lang="en-US" altLang="en-US" sz="1400" b="0" i="0" dirty="0">
                <a:solidFill>
                  <a:srgbClr val="595959"/>
                </a:solidFill>
                <a:latin typeface="Times New Roman"/>
                <a:ea typeface="Times New Roman"/>
                <a:cs typeface="Times New Roman"/>
              </a:rPr>
              <a:t> </a:t>
            </a:r>
            <a:r>
              <a:rPr lang="ar-SY" altLang="en-US" sz="1400" b="0" i="0" dirty="0">
                <a:solidFill>
                  <a:srgbClr val="595959"/>
                </a:solidFill>
                <a:latin typeface="Times New Roman"/>
                <a:ea typeface="Times New Roman"/>
                <a:cs typeface="Times New Roman"/>
              </a:rPr>
              <a:t>من</a:t>
            </a:r>
            <a:r>
              <a:rPr lang="en-US" altLang="en-US" sz="1400" b="0" i="0" dirty="0">
                <a:solidFill>
                  <a:srgbClr val="595959"/>
                </a:solidFill>
                <a:latin typeface="Times New Roman"/>
                <a:ea typeface="Times New Roman"/>
                <a:cs typeface="Times New Roman"/>
              </a:rPr>
              <a:t> 1 </a:t>
            </a:r>
            <a:r>
              <a:rPr lang="ar-SY" altLang="en-US" sz="1400" b="0" i="0" dirty="0">
                <a:solidFill>
                  <a:srgbClr val="595959"/>
                </a:solidFill>
                <a:latin typeface="Times New Roman"/>
                <a:ea typeface="Times New Roman"/>
                <a:cs typeface="Times New Roman"/>
              </a:rPr>
              <a:t>مارس إلى</a:t>
            </a:r>
            <a:r>
              <a:rPr lang="en-US" altLang="en-US" sz="1400" b="0" i="0" dirty="0">
                <a:solidFill>
                  <a:srgbClr val="595959"/>
                </a:solidFill>
                <a:latin typeface="Times New Roman"/>
                <a:ea typeface="Times New Roman"/>
                <a:cs typeface="Times New Roman"/>
              </a:rPr>
              <a:t> 11 </a:t>
            </a:r>
            <a:r>
              <a:rPr lang="ar-SY" altLang="en-US" sz="1400" b="0" i="0" dirty="0">
                <a:solidFill>
                  <a:srgbClr val="595959"/>
                </a:solidFill>
                <a:latin typeface="Times New Roman"/>
                <a:ea typeface="Times New Roman"/>
                <a:cs typeface="Times New Roman"/>
              </a:rPr>
              <a:t>مايو</a:t>
            </a:r>
            <a:r>
              <a:rPr lang="en-US" altLang="en-US" sz="1400" b="0" i="0" dirty="0">
                <a:solidFill>
                  <a:srgbClr val="595959"/>
                </a:solidFill>
                <a:latin typeface="Times New Roman"/>
                <a:ea typeface="Times New Roman"/>
                <a:cs typeface="Times New Roman"/>
              </a:rPr>
              <a:t> 2026  —  </a:t>
            </a:r>
            <a:r>
              <a:rPr lang="ar-SY" altLang="en-US" sz="1400" b="0" i="0" dirty="0">
                <a:solidFill>
                  <a:srgbClr val="595959"/>
                </a:solidFill>
                <a:latin typeface="Times New Roman"/>
                <a:ea typeface="Times New Roman"/>
                <a:cs typeface="Times New Roman"/>
              </a:rPr>
              <a:t>منهجية</a:t>
            </a:r>
            <a:r>
              <a:rPr lang="en-US" altLang="en-US" sz="1400" b="0" i="0" dirty="0">
                <a:solidFill>
                  <a:srgbClr val="595959"/>
                </a:solidFill>
                <a:latin typeface="Times New Roman"/>
                <a:ea typeface="Times New Roman"/>
                <a:cs typeface="Times New Roman"/>
              </a:rPr>
              <a:t> Agile Iterative &amp; Incremental </a:t>
            </a:r>
            <a:endParaRPr lang="ar-SY" altLang="en-US" sz="1400" b="0" i="0" dirty="0">
              <a:solidFill>
                <a:srgbClr val="595959"/>
              </a:solidFill>
              <a:latin typeface="Times New Roman"/>
              <a:ea typeface="Times New Roman"/>
              <a:cs typeface="Times New Roman"/>
            </a:endParaRPr>
          </a:p>
        </p:txBody>
      </p:sp>
      <p:sp>
        <p:nvSpPr>
          <p:cNvPr id="50" name="Sprint head 0">
            <a:extLst>
              <a:ext uri="{FF2B5EF4-FFF2-40B4-BE49-F238E27FC236}">
                <a16:creationId xmlns:a16="http://schemas.microsoft.com/office/drawing/2014/main" id="{7250BB2C-D69C-BC08-E664-18D61DBF1BE9}"/>
              </a:ext>
            </a:extLst>
          </p:cNvPr>
          <p:cNvSpPr/>
          <p:nvPr/>
        </p:nvSpPr>
        <p:spPr>
          <a:xfrm>
            <a:off x="9528048" y="1261872"/>
            <a:ext cx="2112264"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400" b="1" i="0" dirty="0">
                <a:solidFill>
                  <a:srgbClr val="FFFFFF"/>
                </a:solidFill>
                <a:latin typeface="Times New Roman"/>
                <a:ea typeface="Times New Roman"/>
                <a:cs typeface="Times New Roman"/>
              </a:rPr>
              <a:t>Sprint 0</a:t>
            </a:r>
          </a:p>
          <a:p>
            <a:pPr algn="ctr" rtl="0">
              <a:spcBef>
                <a:spcPts val="0"/>
              </a:spcBef>
              <a:spcAft>
                <a:spcPts val="0"/>
              </a:spcAft>
              <a:buNone/>
            </a:pPr>
            <a:r>
              <a:rPr lang="en-US" altLang="en-US" sz="1100" b="0" i="0" dirty="0">
                <a:solidFill>
                  <a:srgbClr val="DCE6F5"/>
                </a:solidFill>
                <a:latin typeface="Times New Roman"/>
                <a:ea typeface="Times New Roman"/>
                <a:cs typeface="Times New Roman"/>
              </a:rPr>
              <a:t>1/3 – 10/3 2026</a:t>
            </a:r>
          </a:p>
        </p:txBody>
      </p:sp>
      <p:sp>
        <p:nvSpPr>
          <p:cNvPr id="51" name="Sprint body 0">
            <a:extLst>
              <a:ext uri="{FF2B5EF4-FFF2-40B4-BE49-F238E27FC236}">
                <a16:creationId xmlns:a16="http://schemas.microsoft.com/office/drawing/2014/main" id="{1F054096-B738-78E8-8D6B-0FF1628DEF24}"/>
              </a:ext>
            </a:extLst>
          </p:cNvPr>
          <p:cNvSpPr/>
          <p:nvPr/>
        </p:nvSpPr>
        <p:spPr>
          <a:xfrm>
            <a:off x="9528048" y="1828800"/>
            <a:ext cx="2112264" cy="1261872"/>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2F5496"/>
                </a:solidFill>
                <a:latin typeface="Times New Roman"/>
                <a:ea typeface="Times New Roman"/>
                <a:cs typeface="Times New Roman"/>
              </a:rPr>
              <a:t>Requirements &amp; Design</a:t>
            </a: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 MVP </a:t>
            </a:r>
            <a:r>
              <a:rPr lang="ar-SY" altLang="en-US" sz="1300" b="0" i="0" dirty="0">
                <a:solidFill>
                  <a:srgbClr val="1A1A1A"/>
                </a:solidFill>
                <a:latin typeface="Times New Roman"/>
                <a:ea typeface="Times New Roman"/>
                <a:cs typeface="Times New Roman"/>
              </a:rPr>
              <a:t>و </a:t>
            </a:r>
            <a:r>
              <a:rPr lang="en-US" altLang="en-US" sz="1300" b="0" i="0" dirty="0">
                <a:solidFill>
                  <a:srgbClr val="1A1A1A"/>
                </a:solidFill>
                <a:latin typeface="Times New Roman"/>
                <a:ea typeface="Times New Roman"/>
                <a:cs typeface="Times New Roman"/>
              </a:rPr>
              <a:t> Product Backlog</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 SRS </a:t>
            </a:r>
            <a:r>
              <a:rPr lang="ar-SY" altLang="en-US" sz="1300" b="0" i="0" dirty="0">
                <a:solidFill>
                  <a:srgbClr val="1A1A1A"/>
                </a:solidFill>
                <a:latin typeface="Times New Roman"/>
                <a:ea typeface="Times New Roman"/>
                <a:cs typeface="Times New Roman"/>
              </a:rPr>
              <a:t>أولي و </a:t>
            </a:r>
            <a:r>
              <a:rPr lang="en-US" altLang="en-US" sz="1300" b="0" i="0" dirty="0">
                <a:solidFill>
                  <a:srgbClr val="1A1A1A"/>
                </a:solidFill>
                <a:latin typeface="Times New Roman"/>
                <a:ea typeface="Times New Roman"/>
                <a:cs typeface="Times New Roman"/>
              </a:rPr>
              <a:t> Use Cases</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 Architecture </a:t>
            </a:r>
            <a:r>
              <a:rPr lang="ar-SY" altLang="en-US" sz="1300" b="0" i="0" dirty="0">
                <a:solidFill>
                  <a:srgbClr val="1A1A1A"/>
                </a:solidFill>
                <a:latin typeface="Times New Roman"/>
                <a:ea typeface="Times New Roman"/>
                <a:cs typeface="Times New Roman"/>
              </a:rPr>
              <a:t>و </a:t>
            </a:r>
            <a:r>
              <a:rPr lang="en-US" altLang="en-US" sz="1300" b="0" i="0" dirty="0">
                <a:solidFill>
                  <a:srgbClr val="1A1A1A"/>
                </a:solidFill>
                <a:latin typeface="Times New Roman"/>
                <a:ea typeface="Times New Roman"/>
                <a:cs typeface="Times New Roman"/>
              </a:rPr>
              <a:t> ERD</a:t>
            </a:r>
            <a:endParaRPr lang="ar-SY" altLang="en-US" sz="1300" b="0" i="0" dirty="0">
              <a:solidFill>
                <a:srgbClr val="1A1A1A"/>
              </a:solidFill>
              <a:latin typeface="Times New Roman"/>
              <a:ea typeface="Times New Roman"/>
              <a:cs typeface="Times New Roman"/>
            </a:endParaRPr>
          </a:p>
        </p:txBody>
      </p:sp>
      <p:cxnSp>
        <p:nvCxnSpPr>
          <p:cNvPr id="52" name="Sprint arrow 0">
            <a:extLst>
              <a:ext uri="{FF2B5EF4-FFF2-40B4-BE49-F238E27FC236}">
                <a16:creationId xmlns:a16="http://schemas.microsoft.com/office/drawing/2014/main" id="{FD1A67F2-FEB8-4626-FD23-0EFF4ABF2B1C}"/>
              </a:ext>
            </a:extLst>
          </p:cNvPr>
          <p:cNvCxnSpPr/>
          <p:nvPr/>
        </p:nvCxnSpPr>
        <p:spPr>
          <a:xfrm flipH="1">
            <a:off x="9400032" y="1545336"/>
            <a:ext cx="123444" cy="0"/>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print head 1">
            <a:extLst>
              <a:ext uri="{FF2B5EF4-FFF2-40B4-BE49-F238E27FC236}">
                <a16:creationId xmlns:a16="http://schemas.microsoft.com/office/drawing/2014/main" id="{3628A1FE-2E5A-2912-4057-E4EA903328A5}"/>
              </a:ext>
            </a:extLst>
          </p:cNvPr>
          <p:cNvSpPr/>
          <p:nvPr/>
        </p:nvSpPr>
        <p:spPr>
          <a:xfrm>
            <a:off x="7283196" y="1261872"/>
            <a:ext cx="2112264"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400" b="1" i="0" dirty="0">
                <a:solidFill>
                  <a:srgbClr val="FFFFFF"/>
                </a:solidFill>
                <a:latin typeface="Times New Roman"/>
                <a:ea typeface="Times New Roman"/>
                <a:cs typeface="Times New Roman"/>
              </a:rPr>
              <a:t>Sprint 1</a:t>
            </a:r>
          </a:p>
          <a:p>
            <a:pPr algn="ctr" rtl="0">
              <a:spcBef>
                <a:spcPts val="0"/>
              </a:spcBef>
              <a:spcAft>
                <a:spcPts val="0"/>
              </a:spcAft>
              <a:buNone/>
            </a:pPr>
            <a:r>
              <a:rPr lang="en-US" altLang="en-US" sz="1100" b="0" i="0" dirty="0">
                <a:solidFill>
                  <a:srgbClr val="DCE6F5"/>
                </a:solidFill>
                <a:latin typeface="Times New Roman"/>
                <a:ea typeface="Times New Roman"/>
                <a:cs typeface="Times New Roman"/>
              </a:rPr>
              <a:t>11/3 – 24/3 2026</a:t>
            </a:r>
          </a:p>
        </p:txBody>
      </p:sp>
      <p:sp>
        <p:nvSpPr>
          <p:cNvPr id="54" name="Sprint body 1">
            <a:extLst>
              <a:ext uri="{FF2B5EF4-FFF2-40B4-BE49-F238E27FC236}">
                <a16:creationId xmlns:a16="http://schemas.microsoft.com/office/drawing/2014/main" id="{FB3DE4A8-C9D0-AF9B-A6FD-9141E5FC1DA8}"/>
              </a:ext>
            </a:extLst>
          </p:cNvPr>
          <p:cNvSpPr/>
          <p:nvPr/>
        </p:nvSpPr>
        <p:spPr>
          <a:xfrm>
            <a:off x="7283196" y="1828800"/>
            <a:ext cx="2112264" cy="1261872"/>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2F5496"/>
                </a:solidFill>
                <a:latin typeface="Times New Roman"/>
                <a:ea typeface="Times New Roman"/>
                <a:cs typeface="Times New Roman"/>
              </a:rPr>
              <a:t>Identity &amp; Profile</a:t>
            </a: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 Registration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Login </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Role-based Access</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الملف الديموغرافي وقاعدة البيانات</a:t>
            </a:r>
          </a:p>
        </p:txBody>
      </p:sp>
      <p:cxnSp>
        <p:nvCxnSpPr>
          <p:cNvPr id="55" name="Sprint arrow 1">
            <a:extLst>
              <a:ext uri="{FF2B5EF4-FFF2-40B4-BE49-F238E27FC236}">
                <a16:creationId xmlns:a16="http://schemas.microsoft.com/office/drawing/2014/main" id="{57EE2177-670D-6553-2117-356C5C4E7057}"/>
              </a:ext>
            </a:extLst>
          </p:cNvPr>
          <p:cNvCxnSpPr/>
          <p:nvPr/>
        </p:nvCxnSpPr>
        <p:spPr>
          <a:xfrm flipH="1">
            <a:off x="7155180" y="1545336"/>
            <a:ext cx="123444" cy="0"/>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print head 2">
            <a:extLst>
              <a:ext uri="{FF2B5EF4-FFF2-40B4-BE49-F238E27FC236}">
                <a16:creationId xmlns:a16="http://schemas.microsoft.com/office/drawing/2014/main" id="{459760E7-1180-EC01-FD34-FF3DCC78DAE6}"/>
              </a:ext>
            </a:extLst>
          </p:cNvPr>
          <p:cNvSpPr/>
          <p:nvPr/>
        </p:nvSpPr>
        <p:spPr>
          <a:xfrm>
            <a:off x="5038344" y="1261872"/>
            <a:ext cx="2112264"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400" b="1" i="0" dirty="0">
                <a:solidFill>
                  <a:srgbClr val="FFFFFF"/>
                </a:solidFill>
                <a:latin typeface="Times New Roman"/>
                <a:ea typeface="Times New Roman"/>
                <a:cs typeface="Times New Roman"/>
              </a:rPr>
              <a:t>Sprint 2</a:t>
            </a:r>
          </a:p>
          <a:p>
            <a:pPr algn="ctr" rtl="0">
              <a:spcBef>
                <a:spcPts val="0"/>
              </a:spcBef>
              <a:spcAft>
                <a:spcPts val="0"/>
              </a:spcAft>
              <a:buNone/>
            </a:pPr>
            <a:r>
              <a:rPr lang="en-US" altLang="en-US" sz="1100" b="0" i="0" dirty="0">
                <a:solidFill>
                  <a:srgbClr val="DCE6F5"/>
                </a:solidFill>
                <a:latin typeface="Times New Roman"/>
                <a:ea typeface="Times New Roman"/>
                <a:cs typeface="Times New Roman"/>
              </a:rPr>
              <a:t>25/3 – 10/4 2026</a:t>
            </a:r>
          </a:p>
        </p:txBody>
      </p:sp>
      <p:sp>
        <p:nvSpPr>
          <p:cNvPr id="57" name="Sprint body 2">
            <a:extLst>
              <a:ext uri="{FF2B5EF4-FFF2-40B4-BE49-F238E27FC236}">
                <a16:creationId xmlns:a16="http://schemas.microsoft.com/office/drawing/2014/main" id="{1F81E377-6BF4-C239-753F-25F1635B4FB4}"/>
              </a:ext>
            </a:extLst>
          </p:cNvPr>
          <p:cNvSpPr/>
          <p:nvPr/>
        </p:nvSpPr>
        <p:spPr>
          <a:xfrm>
            <a:off x="5038344" y="1828800"/>
            <a:ext cx="2112264" cy="1261872"/>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2F5496"/>
                </a:solidFill>
                <a:latin typeface="Times New Roman"/>
                <a:ea typeface="Times New Roman"/>
                <a:cs typeface="Times New Roman"/>
              </a:rPr>
              <a:t>Survey Builder &amp; Targeting</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إدارة الاستبيانات والأسئلة</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معايير الاستهداف</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منطق مطابقة المستجيبين</a:t>
            </a:r>
          </a:p>
        </p:txBody>
      </p:sp>
      <p:cxnSp>
        <p:nvCxnSpPr>
          <p:cNvPr id="58" name="Sprint arrow 2">
            <a:extLst>
              <a:ext uri="{FF2B5EF4-FFF2-40B4-BE49-F238E27FC236}">
                <a16:creationId xmlns:a16="http://schemas.microsoft.com/office/drawing/2014/main" id="{53776C29-02D3-F084-B335-235B2FB7E372}"/>
              </a:ext>
            </a:extLst>
          </p:cNvPr>
          <p:cNvCxnSpPr/>
          <p:nvPr/>
        </p:nvCxnSpPr>
        <p:spPr>
          <a:xfrm flipH="1">
            <a:off x="4910328" y="1545336"/>
            <a:ext cx="123444" cy="0"/>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print head 3">
            <a:extLst>
              <a:ext uri="{FF2B5EF4-FFF2-40B4-BE49-F238E27FC236}">
                <a16:creationId xmlns:a16="http://schemas.microsoft.com/office/drawing/2014/main" id="{BAB2A092-EB0E-43F8-D4D4-4517682BF289}"/>
              </a:ext>
            </a:extLst>
          </p:cNvPr>
          <p:cNvSpPr/>
          <p:nvPr/>
        </p:nvSpPr>
        <p:spPr>
          <a:xfrm>
            <a:off x="2793491" y="1261872"/>
            <a:ext cx="2112264"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400" b="1" i="0" dirty="0">
                <a:solidFill>
                  <a:srgbClr val="FFFFFF"/>
                </a:solidFill>
                <a:latin typeface="Times New Roman"/>
                <a:ea typeface="Times New Roman"/>
                <a:cs typeface="Times New Roman"/>
              </a:rPr>
              <a:t>Sprint 3</a:t>
            </a:r>
          </a:p>
          <a:p>
            <a:pPr algn="ctr" rtl="0">
              <a:spcBef>
                <a:spcPts val="0"/>
              </a:spcBef>
              <a:spcAft>
                <a:spcPts val="0"/>
              </a:spcAft>
              <a:buNone/>
            </a:pPr>
            <a:r>
              <a:rPr lang="en-US" altLang="en-US" sz="1100" b="0" i="0" dirty="0">
                <a:solidFill>
                  <a:srgbClr val="DCE6F5"/>
                </a:solidFill>
                <a:latin typeface="Times New Roman"/>
                <a:ea typeface="Times New Roman"/>
                <a:cs typeface="Times New Roman"/>
              </a:rPr>
              <a:t>11/4 – 23/4 2026</a:t>
            </a:r>
          </a:p>
        </p:txBody>
      </p:sp>
      <p:sp>
        <p:nvSpPr>
          <p:cNvPr id="60" name="Sprint body 3">
            <a:extLst>
              <a:ext uri="{FF2B5EF4-FFF2-40B4-BE49-F238E27FC236}">
                <a16:creationId xmlns:a16="http://schemas.microsoft.com/office/drawing/2014/main" id="{9EE0AC52-C11D-090B-662B-596225A6B3E1}"/>
              </a:ext>
            </a:extLst>
          </p:cNvPr>
          <p:cNvSpPr/>
          <p:nvPr/>
        </p:nvSpPr>
        <p:spPr>
          <a:xfrm>
            <a:off x="2793491" y="1828800"/>
            <a:ext cx="2112264" cy="1261872"/>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2F5496"/>
                </a:solidFill>
                <a:latin typeface="Times New Roman"/>
                <a:ea typeface="Times New Roman"/>
                <a:cs typeface="Times New Roman"/>
              </a:rPr>
              <a:t>Participation &amp; AI</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الاستبيانات المؤهلة والإجابة</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منع الإجابة المكررة</a:t>
            </a: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 Sentiment Analysis </a:t>
            </a:r>
            <a:r>
              <a:rPr lang="ar-SY" altLang="en-US" sz="1300" b="0" i="0" dirty="0">
                <a:solidFill>
                  <a:srgbClr val="1A1A1A"/>
                </a:solidFill>
                <a:latin typeface="Times New Roman"/>
                <a:ea typeface="Times New Roman"/>
                <a:cs typeface="Times New Roman"/>
              </a:rPr>
              <a:t>عبر</a:t>
            </a:r>
            <a:r>
              <a:rPr lang="en-US" altLang="en-US" sz="1300" b="0" i="0" dirty="0">
                <a:solidFill>
                  <a:srgbClr val="1A1A1A"/>
                </a:solidFill>
                <a:latin typeface="Times New Roman"/>
                <a:ea typeface="Times New Roman"/>
                <a:cs typeface="Times New Roman"/>
              </a:rPr>
              <a:t> Hugging Face</a:t>
            </a:r>
            <a:endParaRPr lang="ar-SY" altLang="en-US" sz="1300" b="0" i="0" dirty="0">
              <a:solidFill>
                <a:srgbClr val="1A1A1A"/>
              </a:solidFill>
              <a:latin typeface="Times New Roman"/>
              <a:ea typeface="Times New Roman"/>
              <a:cs typeface="Times New Roman"/>
            </a:endParaRPr>
          </a:p>
        </p:txBody>
      </p:sp>
      <p:cxnSp>
        <p:nvCxnSpPr>
          <p:cNvPr id="61" name="Sprint arrow 3">
            <a:extLst>
              <a:ext uri="{FF2B5EF4-FFF2-40B4-BE49-F238E27FC236}">
                <a16:creationId xmlns:a16="http://schemas.microsoft.com/office/drawing/2014/main" id="{2F7462F3-54C3-41F0-9F33-A1495DE7F617}"/>
              </a:ext>
            </a:extLst>
          </p:cNvPr>
          <p:cNvCxnSpPr/>
          <p:nvPr/>
        </p:nvCxnSpPr>
        <p:spPr>
          <a:xfrm flipH="1">
            <a:off x="2665475" y="1545336"/>
            <a:ext cx="123445" cy="0"/>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print head 4">
            <a:extLst>
              <a:ext uri="{FF2B5EF4-FFF2-40B4-BE49-F238E27FC236}">
                <a16:creationId xmlns:a16="http://schemas.microsoft.com/office/drawing/2014/main" id="{EF8542FE-917D-6BD7-3D87-BF12CA80D47F}"/>
              </a:ext>
            </a:extLst>
          </p:cNvPr>
          <p:cNvSpPr/>
          <p:nvPr/>
        </p:nvSpPr>
        <p:spPr>
          <a:xfrm>
            <a:off x="548639" y="1261872"/>
            <a:ext cx="2112264"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400" b="1" i="0" dirty="0">
                <a:solidFill>
                  <a:srgbClr val="FFFFFF"/>
                </a:solidFill>
                <a:latin typeface="Times New Roman"/>
                <a:ea typeface="Times New Roman"/>
                <a:cs typeface="Times New Roman"/>
              </a:rPr>
              <a:t>Sprint 4</a:t>
            </a:r>
          </a:p>
          <a:p>
            <a:pPr algn="ctr" rtl="0">
              <a:spcBef>
                <a:spcPts val="0"/>
              </a:spcBef>
              <a:spcAft>
                <a:spcPts val="0"/>
              </a:spcAft>
              <a:buNone/>
            </a:pPr>
            <a:r>
              <a:rPr lang="en-US" altLang="en-US" sz="1100" b="0" i="0" dirty="0">
                <a:solidFill>
                  <a:srgbClr val="DCE6F5"/>
                </a:solidFill>
                <a:latin typeface="Times New Roman"/>
                <a:ea typeface="Times New Roman"/>
                <a:cs typeface="Times New Roman"/>
              </a:rPr>
              <a:t>24/4 – 11/5 2026</a:t>
            </a:r>
          </a:p>
        </p:txBody>
      </p:sp>
      <p:sp>
        <p:nvSpPr>
          <p:cNvPr id="63" name="Sprint body 4">
            <a:extLst>
              <a:ext uri="{FF2B5EF4-FFF2-40B4-BE49-F238E27FC236}">
                <a16:creationId xmlns:a16="http://schemas.microsoft.com/office/drawing/2014/main" id="{6DA627A8-4F41-6CAB-305D-0711BE6B5BEF}"/>
              </a:ext>
            </a:extLst>
          </p:cNvPr>
          <p:cNvSpPr/>
          <p:nvPr/>
        </p:nvSpPr>
        <p:spPr>
          <a:xfrm>
            <a:off x="548639" y="1828800"/>
            <a:ext cx="2112264" cy="1261872"/>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2F5496"/>
                </a:solidFill>
                <a:latin typeface="Times New Roman"/>
                <a:ea typeface="Times New Roman"/>
                <a:cs typeface="Times New Roman"/>
              </a:rPr>
              <a:t>Results &amp; Delivery</a:t>
            </a:r>
          </a:p>
          <a:p>
            <a:pPr marL="228600" indent="-228600" algn="r" rtl="1">
              <a:spcBef>
                <a:spcPts val="0"/>
              </a:spcBef>
              <a:spcAft>
                <a:spcPts val="200"/>
              </a:spcAft>
              <a:buClr>
                <a:srgbClr val="2F5496"/>
              </a:buClr>
              <a:buFont typeface="Arial"/>
              <a:buChar char="■"/>
            </a:pPr>
            <a:r>
              <a:rPr lang="en-US" altLang="en-US" sz="1300" b="0" i="0" dirty="0">
                <a:solidFill>
                  <a:srgbClr val="1A1A1A"/>
                </a:solidFill>
                <a:latin typeface="Times New Roman"/>
                <a:ea typeface="Times New Roman"/>
                <a:cs typeface="Times New Roman"/>
              </a:rPr>
              <a:t>Analytics Dashboard </a:t>
            </a:r>
            <a:r>
              <a:rPr lang="ar-SY" altLang="en-US" sz="1300" b="0" i="0" dirty="0">
                <a:solidFill>
                  <a:srgbClr val="1A1A1A"/>
                </a:solidFill>
                <a:latin typeface="Times New Roman"/>
                <a:ea typeface="Times New Roman"/>
                <a:cs typeface="Times New Roman"/>
              </a:rPr>
              <a:t>وتقارير المدير</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التكامل والاختبار النهائي</a:t>
            </a:r>
          </a:p>
          <a:p>
            <a:pPr marL="228600" indent="-228600" algn="r" rtl="1">
              <a:spcBef>
                <a:spcPts val="0"/>
              </a:spcBef>
              <a:spcAft>
                <a:spcPts val="200"/>
              </a:spcAft>
              <a:buClr>
                <a:srgbClr val="2F5496"/>
              </a:buClr>
              <a:buFont typeface="Arial"/>
              <a:buChar char="■"/>
            </a:pPr>
            <a:r>
              <a:rPr lang="ar-SY" altLang="en-US" sz="1300" b="0" i="0" dirty="0">
                <a:solidFill>
                  <a:srgbClr val="1A1A1A"/>
                </a:solidFill>
                <a:latin typeface="Times New Roman"/>
                <a:ea typeface="Times New Roman"/>
                <a:cs typeface="Times New Roman"/>
              </a:rPr>
              <a:t>التقرير والعرض النهائي</a:t>
            </a:r>
          </a:p>
        </p:txBody>
      </p:sp>
      <p:sp>
        <p:nvSpPr>
          <p:cNvPr id="64" name="Outputs heading">
            <a:extLst>
              <a:ext uri="{FF2B5EF4-FFF2-40B4-BE49-F238E27FC236}">
                <a16:creationId xmlns:a16="http://schemas.microsoft.com/office/drawing/2014/main" id="{E556E0C0-2AE1-C5FC-DA5D-E2C43C794819}"/>
              </a:ext>
            </a:extLst>
          </p:cNvPr>
          <p:cNvSpPr txBox="1"/>
          <p:nvPr/>
        </p:nvSpPr>
        <p:spPr>
          <a:xfrm>
            <a:off x="548640" y="3236976"/>
            <a:ext cx="11091672" cy="310896"/>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1500" b="1" i="0" dirty="0">
                <a:solidFill>
                  <a:srgbClr val="2F5496"/>
                </a:solidFill>
                <a:latin typeface="Times New Roman"/>
                <a:ea typeface="Times New Roman"/>
                <a:cs typeface="Times New Roman"/>
              </a:rPr>
              <a:t>مخرجات المشروع الفصلي</a:t>
            </a:r>
            <a:r>
              <a:rPr lang="en-US" altLang="en-US" sz="1200" b="0" i="0" dirty="0">
                <a:solidFill>
                  <a:srgbClr val="595959"/>
                </a:solidFill>
                <a:latin typeface="Times New Roman"/>
                <a:ea typeface="Times New Roman"/>
                <a:cs typeface="Times New Roman"/>
              </a:rPr>
              <a:t>  (</a:t>
            </a:r>
            <a:r>
              <a:rPr lang="ar-SY" altLang="en-US" sz="1200" b="0" i="0" dirty="0">
                <a:solidFill>
                  <a:srgbClr val="595959"/>
                </a:solidFill>
                <a:latin typeface="Times New Roman"/>
                <a:ea typeface="Times New Roman"/>
                <a:cs typeface="Times New Roman"/>
              </a:rPr>
              <a:t>من تقرير المشروع المسلَّم والكود على الوسم </a:t>
            </a:r>
            <a:r>
              <a:rPr lang="en-US" altLang="en-US" sz="1200" b="0" i="0" dirty="0">
                <a:solidFill>
                  <a:srgbClr val="595959"/>
                </a:solidFill>
                <a:latin typeface="Times New Roman"/>
                <a:ea typeface="Times New Roman"/>
                <a:cs typeface="Times New Roman"/>
              </a:rPr>
              <a:t> (v1.0-junior-final)</a:t>
            </a:r>
            <a:endParaRPr lang="ar-SY" altLang="en-US" sz="1200" b="0" i="0" dirty="0">
              <a:solidFill>
                <a:srgbClr val="595959"/>
              </a:solidFill>
              <a:latin typeface="Times New Roman"/>
              <a:ea typeface="Times New Roman"/>
              <a:cs typeface="Times New Roman"/>
            </a:endParaRPr>
          </a:p>
        </p:txBody>
      </p:sp>
      <p:sp>
        <p:nvSpPr>
          <p:cNvPr id="65" name="Tile 0">
            <a:extLst>
              <a:ext uri="{FF2B5EF4-FFF2-40B4-BE49-F238E27FC236}">
                <a16:creationId xmlns:a16="http://schemas.microsoft.com/office/drawing/2014/main" id="{1372DF40-A79D-F8D2-94E5-D60C4B48AC61}"/>
              </a:ext>
            </a:extLst>
          </p:cNvPr>
          <p:cNvSpPr/>
          <p:nvPr/>
        </p:nvSpPr>
        <p:spPr>
          <a:xfrm>
            <a:off x="9902952" y="3566160"/>
            <a:ext cx="1737360" cy="822960"/>
          </a:xfrm>
          <a:prstGeom prst="roundRect">
            <a:avLst>
              <a:gd name="adj" fmla="val 8000"/>
            </a:avLst>
          </a:prstGeom>
          <a:solidFill>
            <a:srgbClr val="FFFFFF"/>
          </a:solidFill>
          <a:ln w="9525">
            <a:solidFill>
              <a:srgbClr val="C9D3E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noAutofit/>
          </a:bodyPr>
          <a:lstStyle/>
          <a:p>
            <a:pPr algn="ctr" rtl="0">
              <a:spcBef>
                <a:spcPts val="0"/>
              </a:spcBef>
              <a:spcAft>
                <a:spcPts val="0"/>
              </a:spcAft>
              <a:buNone/>
            </a:pPr>
            <a:r>
              <a:rPr lang="en-US" altLang="en-US" sz="2600" b="1" i="0" dirty="0">
                <a:solidFill>
                  <a:srgbClr val="2F5496"/>
                </a:solidFill>
                <a:latin typeface="Times New Roman"/>
                <a:ea typeface="Times New Roman"/>
                <a:cs typeface="Times New Roman"/>
              </a:rPr>
              <a:t>22</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Functional Req. (FR)</a:t>
            </a:r>
          </a:p>
        </p:txBody>
      </p:sp>
      <p:sp>
        <p:nvSpPr>
          <p:cNvPr id="66" name="Tile 2">
            <a:extLst>
              <a:ext uri="{FF2B5EF4-FFF2-40B4-BE49-F238E27FC236}">
                <a16:creationId xmlns:a16="http://schemas.microsoft.com/office/drawing/2014/main" id="{AA231435-2CF9-00E0-C4C2-080EE9896DC7}"/>
              </a:ext>
            </a:extLst>
          </p:cNvPr>
          <p:cNvSpPr/>
          <p:nvPr/>
        </p:nvSpPr>
        <p:spPr>
          <a:xfrm>
            <a:off x="7520812" y="3566160"/>
            <a:ext cx="1737360" cy="822960"/>
          </a:xfrm>
          <a:prstGeom prst="roundRect">
            <a:avLst>
              <a:gd name="adj" fmla="val 8000"/>
            </a:avLst>
          </a:prstGeom>
          <a:solidFill>
            <a:srgbClr val="FFFFFF"/>
          </a:solidFill>
          <a:ln w="9525">
            <a:solidFill>
              <a:srgbClr val="C9D3E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noAutofit/>
          </a:bodyPr>
          <a:lstStyle/>
          <a:p>
            <a:pPr algn="ctr" rtl="0">
              <a:spcBef>
                <a:spcPts val="0"/>
              </a:spcBef>
              <a:spcAft>
                <a:spcPts val="0"/>
              </a:spcAft>
              <a:buNone/>
            </a:pPr>
            <a:r>
              <a:rPr lang="en-US" altLang="en-US" sz="2600" b="1" i="0" dirty="0">
                <a:solidFill>
                  <a:srgbClr val="2F5496"/>
                </a:solidFill>
                <a:latin typeface="Times New Roman"/>
                <a:ea typeface="Times New Roman"/>
                <a:cs typeface="Times New Roman"/>
              </a:rPr>
              <a:t>7</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UML Diagrams</a:t>
            </a:r>
          </a:p>
        </p:txBody>
      </p:sp>
      <p:sp>
        <p:nvSpPr>
          <p:cNvPr id="67" name="Tile 3">
            <a:extLst>
              <a:ext uri="{FF2B5EF4-FFF2-40B4-BE49-F238E27FC236}">
                <a16:creationId xmlns:a16="http://schemas.microsoft.com/office/drawing/2014/main" id="{71DB48ED-9731-E9CB-E3C4-B8BB2849BCAD}"/>
              </a:ext>
            </a:extLst>
          </p:cNvPr>
          <p:cNvSpPr/>
          <p:nvPr/>
        </p:nvSpPr>
        <p:spPr>
          <a:xfrm>
            <a:off x="5225796" y="3547872"/>
            <a:ext cx="1737360" cy="822960"/>
          </a:xfrm>
          <a:prstGeom prst="roundRect">
            <a:avLst>
              <a:gd name="adj" fmla="val 8000"/>
            </a:avLst>
          </a:prstGeom>
          <a:solidFill>
            <a:srgbClr val="FFFFFF"/>
          </a:solidFill>
          <a:ln w="9525">
            <a:solidFill>
              <a:srgbClr val="C9D3E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noAutofit/>
          </a:bodyPr>
          <a:lstStyle/>
          <a:p>
            <a:pPr algn="ctr" rtl="0">
              <a:spcBef>
                <a:spcPts val="0"/>
              </a:spcBef>
              <a:spcAft>
                <a:spcPts val="0"/>
              </a:spcAft>
              <a:buNone/>
            </a:pPr>
            <a:r>
              <a:rPr lang="en-US" altLang="en-US" sz="2600" b="1" i="0" dirty="0">
                <a:solidFill>
                  <a:srgbClr val="2F5496"/>
                </a:solidFill>
                <a:latin typeface="Times New Roman"/>
                <a:ea typeface="Times New Roman"/>
                <a:cs typeface="Times New Roman"/>
              </a:rPr>
              <a:t>9</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Database Entities (ERD)</a:t>
            </a:r>
          </a:p>
        </p:txBody>
      </p:sp>
      <p:sp>
        <p:nvSpPr>
          <p:cNvPr id="68" name="Tile 4">
            <a:extLst>
              <a:ext uri="{FF2B5EF4-FFF2-40B4-BE49-F238E27FC236}">
                <a16:creationId xmlns:a16="http://schemas.microsoft.com/office/drawing/2014/main" id="{F077424B-761E-272B-932B-33EEF8EB3024}"/>
              </a:ext>
            </a:extLst>
          </p:cNvPr>
          <p:cNvSpPr/>
          <p:nvPr/>
        </p:nvSpPr>
        <p:spPr>
          <a:xfrm>
            <a:off x="2933828" y="3547872"/>
            <a:ext cx="1737360" cy="822960"/>
          </a:xfrm>
          <a:prstGeom prst="roundRect">
            <a:avLst>
              <a:gd name="adj" fmla="val 8000"/>
            </a:avLst>
          </a:prstGeom>
          <a:solidFill>
            <a:srgbClr val="FFFFFF"/>
          </a:solidFill>
          <a:ln w="9525">
            <a:solidFill>
              <a:srgbClr val="C9D3E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noAutofit/>
          </a:bodyPr>
          <a:lstStyle/>
          <a:p>
            <a:pPr algn="ctr" rtl="0">
              <a:spcBef>
                <a:spcPts val="0"/>
              </a:spcBef>
              <a:spcAft>
                <a:spcPts val="0"/>
              </a:spcAft>
              <a:buNone/>
            </a:pPr>
            <a:r>
              <a:rPr lang="en-US" altLang="en-US" sz="2600" b="1" i="0" dirty="0">
                <a:solidFill>
                  <a:srgbClr val="2F5496"/>
                </a:solidFill>
                <a:latin typeface="Times New Roman"/>
                <a:ea typeface="Times New Roman"/>
                <a:cs typeface="Times New Roman"/>
              </a:rPr>
              <a:t>22</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Web Pages (3 roles)</a:t>
            </a:r>
          </a:p>
        </p:txBody>
      </p:sp>
      <p:sp>
        <p:nvSpPr>
          <p:cNvPr id="69" name="Tile 5">
            <a:extLst>
              <a:ext uri="{FF2B5EF4-FFF2-40B4-BE49-F238E27FC236}">
                <a16:creationId xmlns:a16="http://schemas.microsoft.com/office/drawing/2014/main" id="{4365B4D9-85A6-DB86-D42C-E7D0FB767616}"/>
              </a:ext>
            </a:extLst>
          </p:cNvPr>
          <p:cNvSpPr/>
          <p:nvPr/>
        </p:nvSpPr>
        <p:spPr>
          <a:xfrm>
            <a:off x="552273" y="3520439"/>
            <a:ext cx="1737360" cy="822960"/>
          </a:xfrm>
          <a:prstGeom prst="roundRect">
            <a:avLst>
              <a:gd name="adj" fmla="val 8000"/>
            </a:avLst>
          </a:prstGeom>
          <a:solidFill>
            <a:srgbClr val="FFFFFF"/>
          </a:solidFill>
          <a:ln w="9525">
            <a:solidFill>
              <a:srgbClr val="C9D3E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noAutofit/>
          </a:bodyPr>
          <a:lstStyle/>
          <a:p>
            <a:pPr algn="ctr" rtl="0">
              <a:spcBef>
                <a:spcPts val="0"/>
              </a:spcBef>
              <a:spcAft>
                <a:spcPts val="0"/>
              </a:spcAft>
              <a:buNone/>
            </a:pPr>
            <a:r>
              <a:rPr lang="en-US" altLang="en-US" sz="2600" b="1" i="0" dirty="0">
                <a:solidFill>
                  <a:srgbClr val="2F5496"/>
                </a:solidFill>
                <a:latin typeface="Times New Roman"/>
                <a:ea typeface="Times New Roman"/>
                <a:cs typeface="Times New Roman"/>
              </a:rPr>
              <a:t>163</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Tests Passed · 0 Failed</a:t>
            </a:r>
          </a:p>
        </p:txBody>
      </p:sp>
      <p:sp>
        <p:nvSpPr>
          <p:cNvPr id="70" name="Engineering work">
            <a:extLst>
              <a:ext uri="{FF2B5EF4-FFF2-40B4-BE49-F238E27FC236}">
                <a16:creationId xmlns:a16="http://schemas.microsoft.com/office/drawing/2014/main" id="{FB0D7B92-6AAE-E893-0A7B-3431E390CED2}"/>
              </a:ext>
            </a:extLst>
          </p:cNvPr>
          <p:cNvSpPr/>
          <p:nvPr/>
        </p:nvSpPr>
        <p:spPr>
          <a:xfrm>
            <a:off x="5074920" y="4553712"/>
            <a:ext cx="6565392" cy="1627632"/>
          </a:xfrm>
          <a:prstGeom prst="roundRect">
            <a:avLst>
              <a:gd name="adj" fmla="val 5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37160" tIns="54864" rIns="137160" bIns="36576" rtlCol="0" anchor="t">
            <a:noAutofit/>
          </a:bodyPr>
          <a:lstStyle/>
          <a:p>
            <a:pPr algn="r" rtl="1">
              <a:spcBef>
                <a:spcPts val="0"/>
              </a:spcBef>
              <a:spcAft>
                <a:spcPts val="200"/>
              </a:spcAft>
              <a:buNone/>
            </a:pPr>
            <a:r>
              <a:rPr lang="ar-SY" altLang="en-US" sz="1400" b="1" i="0" dirty="0">
                <a:solidFill>
                  <a:srgbClr val="2F5496"/>
                </a:solidFill>
                <a:latin typeface="Times New Roman"/>
                <a:ea typeface="Times New Roman"/>
                <a:cs typeface="Times New Roman"/>
              </a:rPr>
              <a:t>ما طبّقناه هندسياً</a:t>
            </a:r>
          </a:p>
          <a:p>
            <a:pPr marL="228600" indent="-228600" algn="r" rtl="1">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UML  Use Case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Activity (3)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Sequence (3)</a:t>
            </a:r>
            <a:r>
              <a:rPr lang="ar-SY" altLang="en-US" sz="1300" b="0" i="0" dirty="0">
                <a:solidFill>
                  <a:srgbClr val="1A1A1A"/>
                </a:solidFill>
                <a:latin typeface="Times New Roman"/>
                <a:ea typeface="Times New Roman"/>
                <a:cs typeface="Times New Roman"/>
              </a:rPr>
              <a:t>، و</a:t>
            </a:r>
            <a:r>
              <a:rPr lang="en-US" altLang="en-US" sz="1300" b="0" i="0" dirty="0">
                <a:solidFill>
                  <a:srgbClr val="1A1A1A"/>
                </a:solidFill>
                <a:latin typeface="Times New Roman"/>
                <a:ea typeface="Times New Roman"/>
                <a:cs typeface="Times New Roman"/>
              </a:rPr>
              <a:t> ERD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Relational Schema</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 User Stories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a:t>
            </a:r>
            <a:r>
              <a:rPr lang="en-US" altLang="en-US" sz="1300" b="0" i="0" dirty="0" err="1">
                <a:solidFill>
                  <a:srgbClr val="1A1A1A"/>
                </a:solidFill>
                <a:latin typeface="Times New Roman"/>
                <a:ea typeface="Times New Roman"/>
                <a:cs typeface="Times New Roman"/>
              </a:rPr>
              <a:t>MoSCoW</a:t>
            </a:r>
            <a:r>
              <a:rPr lang="en-US" altLang="en-US" sz="1300" b="0" i="0" dirty="0">
                <a:solidFill>
                  <a:srgbClr val="1A1A1A"/>
                </a:solidFill>
                <a:latin typeface="Times New Roman"/>
                <a:ea typeface="Times New Roman"/>
                <a:cs typeface="Times New Roman"/>
              </a:rPr>
              <a:t> </a:t>
            </a:r>
            <a:r>
              <a:rPr lang="ar-SY" altLang="en-US" sz="1300" b="0" i="0" dirty="0">
                <a:solidFill>
                  <a:srgbClr val="1A1A1A"/>
                </a:solidFill>
                <a:latin typeface="Times New Roman"/>
                <a:ea typeface="Times New Roman"/>
                <a:cs typeface="Times New Roman"/>
              </a:rPr>
              <a:t>و </a:t>
            </a:r>
            <a:r>
              <a:rPr lang="en-US" altLang="en-US" sz="1300" b="0" i="0" dirty="0">
                <a:solidFill>
                  <a:srgbClr val="1A1A1A"/>
                </a:solidFill>
                <a:latin typeface="Times New Roman"/>
                <a:ea typeface="Times New Roman"/>
                <a:cs typeface="Times New Roman"/>
              </a:rPr>
              <a:t> Traceability Matrix </a:t>
            </a:r>
            <a:r>
              <a:rPr lang="ar-SY" altLang="en-US" sz="1300" b="0" i="0" dirty="0">
                <a:solidFill>
                  <a:srgbClr val="1A1A1A"/>
                </a:solidFill>
                <a:latin typeface="Times New Roman"/>
                <a:ea typeface="Times New Roman"/>
                <a:cs typeface="Times New Roman"/>
              </a:rPr>
              <a:t>و </a:t>
            </a:r>
            <a:r>
              <a:rPr lang="en-US" altLang="en-US" sz="1300" b="0" i="0" dirty="0">
                <a:solidFill>
                  <a:srgbClr val="1A1A1A"/>
                </a:solidFill>
                <a:latin typeface="Times New Roman"/>
                <a:ea typeface="Times New Roman"/>
                <a:cs typeface="Times New Roman"/>
              </a:rPr>
              <a:t> Risk Register</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100"/>
              </a:spcAft>
              <a:buClr>
                <a:srgbClr val="2F5496"/>
              </a:buClr>
              <a:buFont typeface="Arial"/>
              <a:buChar char="■"/>
            </a:pPr>
            <a:r>
              <a:rPr lang="ar-SY" altLang="en-US" sz="1300" b="0" i="0" dirty="0">
                <a:solidFill>
                  <a:srgbClr val="1A1A1A"/>
                </a:solidFill>
                <a:latin typeface="Times New Roman"/>
                <a:ea typeface="Times New Roman"/>
                <a:cs typeface="Times New Roman"/>
              </a:rPr>
              <a:t>طبقات</a:t>
            </a:r>
            <a:r>
              <a:rPr lang="en-US" altLang="en-US" sz="1300" b="0" i="0" dirty="0">
                <a:solidFill>
                  <a:srgbClr val="1A1A1A"/>
                </a:solidFill>
                <a:latin typeface="Times New Roman"/>
                <a:ea typeface="Times New Roman"/>
                <a:cs typeface="Times New Roman"/>
              </a:rPr>
              <a:t>: Views </a:t>
            </a:r>
            <a:r>
              <a:rPr lang="ar-SY" altLang="en-US" sz="1300" b="0" i="0" dirty="0">
                <a:solidFill>
                  <a:srgbClr val="1A1A1A"/>
                </a:solidFill>
                <a:latin typeface="Times New Roman"/>
                <a:ea typeface="Times New Roman"/>
                <a:cs typeface="Times New Roman"/>
              </a:rPr>
              <a:t>ثم</a:t>
            </a:r>
            <a:r>
              <a:rPr lang="en-US" altLang="en-US" sz="1300" b="0" i="0" dirty="0">
                <a:solidFill>
                  <a:srgbClr val="1A1A1A"/>
                </a:solidFill>
                <a:latin typeface="Times New Roman"/>
                <a:ea typeface="Times New Roman"/>
                <a:cs typeface="Times New Roman"/>
              </a:rPr>
              <a:t> Services </a:t>
            </a:r>
            <a:r>
              <a:rPr lang="ar-SY" altLang="en-US" sz="1300" b="0" i="0" dirty="0">
                <a:solidFill>
                  <a:srgbClr val="1A1A1A"/>
                </a:solidFill>
                <a:latin typeface="Times New Roman"/>
                <a:ea typeface="Times New Roman"/>
                <a:cs typeface="Times New Roman"/>
              </a:rPr>
              <a:t>ثم</a:t>
            </a:r>
            <a:r>
              <a:rPr lang="en-US" altLang="en-US" sz="1300" b="0" i="0" dirty="0">
                <a:solidFill>
                  <a:srgbClr val="1A1A1A"/>
                </a:solidFill>
                <a:latin typeface="Times New Roman"/>
                <a:ea typeface="Times New Roman"/>
                <a:cs typeface="Times New Roman"/>
              </a:rPr>
              <a:t> Repositories </a:t>
            </a:r>
            <a:r>
              <a:rPr lang="ar-SY" altLang="en-US" sz="1300" b="0" i="0" dirty="0">
                <a:solidFill>
                  <a:srgbClr val="1A1A1A"/>
                </a:solidFill>
                <a:latin typeface="Times New Roman"/>
                <a:ea typeface="Times New Roman"/>
                <a:cs typeface="Times New Roman"/>
              </a:rPr>
              <a:t>ثم </a:t>
            </a:r>
            <a:r>
              <a:rPr lang="en-US" altLang="en-US" sz="1300" b="0" i="0" dirty="0">
                <a:solidFill>
                  <a:srgbClr val="1A1A1A"/>
                </a:solidFill>
                <a:latin typeface="Times New Roman"/>
                <a:ea typeface="Times New Roman"/>
                <a:cs typeface="Times New Roman"/>
              </a:rPr>
              <a:t> ORM</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100"/>
              </a:spcAft>
              <a:buClr>
                <a:srgbClr val="2F5496"/>
              </a:buClr>
              <a:buFont typeface="Arial"/>
              <a:buChar char="■"/>
            </a:pPr>
            <a:r>
              <a:rPr lang="ar-SY" altLang="en-US" sz="1300" b="0" i="0" dirty="0">
                <a:solidFill>
                  <a:srgbClr val="1A1A1A"/>
                </a:solidFill>
                <a:latin typeface="Times New Roman"/>
                <a:ea typeface="Times New Roman"/>
                <a:cs typeface="Times New Roman"/>
              </a:rPr>
              <a:t>تحليل المشاعر عبر</a:t>
            </a:r>
            <a:r>
              <a:rPr lang="en-US" altLang="en-US" sz="1300" b="0" i="0" dirty="0">
                <a:solidFill>
                  <a:srgbClr val="1A1A1A"/>
                </a:solidFill>
                <a:latin typeface="Times New Roman"/>
                <a:ea typeface="Times New Roman"/>
                <a:cs typeface="Times New Roman"/>
              </a:rPr>
              <a:t> Hugging Face Inference API </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0"/>
              </a:spcAft>
              <a:buClr>
                <a:srgbClr val="2F5496"/>
              </a:buClr>
              <a:buFont typeface="Arial"/>
              <a:buChar char="■"/>
            </a:pPr>
            <a:r>
              <a:rPr lang="en-US" altLang="en-US" sz="1300" b="0" i="0" dirty="0">
                <a:solidFill>
                  <a:srgbClr val="1A1A1A"/>
                </a:solidFill>
                <a:latin typeface="Times New Roman"/>
                <a:ea typeface="Times New Roman"/>
                <a:cs typeface="Times New Roman"/>
              </a:rPr>
              <a:t>Django 4.2 · PostgreSQL 15 · Bootstrap · Chart.js · pytest · GitHub Actions</a:t>
            </a:r>
            <a:endParaRPr lang="ar-SY" altLang="en-US" sz="1300" b="0" i="0" dirty="0">
              <a:solidFill>
                <a:srgbClr val="1A1A1A"/>
              </a:solidFill>
              <a:latin typeface="Times New Roman"/>
              <a:ea typeface="Times New Roman"/>
              <a:cs typeface="Times New Roman"/>
            </a:endParaRPr>
          </a:p>
        </p:txBody>
      </p:sp>
      <p:sp>
        <p:nvSpPr>
          <p:cNvPr id="71" name="V1.0 limits">
            <a:extLst>
              <a:ext uri="{FF2B5EF4-FFF2-40B4-BE49-F238E27FC236}">
                <a16:creationId xmlns:a16="http://schemas.microsoft.com/office/drawing/2014/main" id="{3B852EA6-60CF-C72E-41B0-559F18DCB976}"/>
              </a:ext>
            </a:extLst>
          </p:cNvPr>
          <p:cNvSpPr/>
          <p:nvPr/>
        </p:nvSpPr>
        <p:spPr>
          <a:xfrm>
            <a:off x="548640" y="4553712"/>
            <a:ext cx="4389120" cy="1627632"/>
          </a:xfrm>
          <a:prstGeom prst="roundRect">
            <a:avLst>
              <a:gd name="adj" fmla="val 5000"/>
            </a:avLst>
          </a:prstGeom>
          <a:solidFill>
            <a:srgbClr val="FBE5D6"/>
          </a:solidFill>
          <a:ln w="9525">
            <a:solidFill>
              <a:srgbClr val="E07B28"/>
            </a:solidFill>
          </a:ln>
          <a:effectLst/>
        </p:spPr>
        <p:style>
          <a:lnRef idx="1">
            <a:schemeClr val="accent1"/>
          </a:lnRef>
          <a:fillRef idx="3">
            <a:schemeClr val="accent1"/>
          </a:fillRef>
          <a:effectRef idx="2">
            <a:schemeClr val="accent1"/>
          </a:effectRef>
          <a:fontRef idx="minor">
            <a:schemeClr val="lt1"/>
          </a:fontRef>
        </p:style>
        <p:txBody>
          <a:bodyPr wrap="square" lIns="137160" tIns="54864" rIns="137160" bIns="36576" rtlCol="0" anchor="t">
            <a:noAutofit/>
          </a:bodyPr>
          <a:lstStyle/>
          <a:p>
            <a:pPr algn="r" rtl="1">
              <a:spcBef>
                <a:spcPts val="0"/>
              </a:spcBef>
              <a:spcAft>
                <a:spcPts val="200"/>
              </a:spcAft>
              <a:buNone/>
            </a:pPr>
            <a:r>
              <a:rPr lang="ar-SY" altLang="en-US" sz="1400" b="1" i="0" dirty="0">
                <a:solidFill>
                  <a:srgbClr val="2F5496"/>
                </a:solidFill>
                <a:latin typeface="Times New Roman"/>
                <a:ea typeface="Times New Roman"/>
                <a:cs typeface="Times New Roman"/>
              </a:rPr>
              <a:t>حدود</a:t>
            </a:r>
            <a:r>
              <a:rPr lang="en-US" altLang="en-US" sz="1400" b="1" i="0" dirty="0">
                <a:solidFill>
                  <a:srgbClr val="2F5496"/>
                </a:solidFill>
                <a:latin typeface="Times New Roman"/>
                <a:ea typeface="Times New Roman"/>
                <a:cs typeface="Times New Roman"/>
              </a:rPr>
              <a:t> V1.0 </a:t>
            </a:r>
            <a:r>
              <a:rPr lang="ar-SY" altLang="en-US" sz="1400" b="1" i="0" dirty="0">
                <a:solidFill>
                  <a:srgbClr val="2F5496"/>
                </a:solidFill>
                <a:latin typeface="Times New Roman"/>
                <a:ea typeface="Times New Roman"/>
                <a:cs typeface="Times New Roman"/>
              </a:rPr>
              <a:t>من التقرير وملاحظات المشرف</a:t>
            </a:r>
          </a:p>
          <a:p>
            <a:pPr marL="228600" indent="-228600" algn="r" rtl="1">
              <a:spcBef>
                <a:spcPts val="0"/>
              </a:spcBef>
              <a:spcAft>
                <a:spcPts val="100"/>
              </a:spcAft>
              <a:buClr>
                <a:srgbClr val="E07B28"/>
              </a:buClr>
              <a:buFont typeface="Arial"/>
              <a:buChar char="■"/>
            </a:pPr>
            <a:r>
              <a:rPr lang="ar-SY" altLang="en-US" sz="1300" b="0" i="0" dirty="0">
                <a:solidFill>
                  <a:srgbClr val="1A1A1A"/>
                </a:solidFill>
                <a:latin typeface="Times New Roman"/>
                <a:ea typeface="Times New Roman"/>
                <a:cs typeface="Times New Roman"/>
              </a:rPr>
              <a:t>واجهة المستجيب صفحات ويب ثابتة، ولا يوجد تطبيق جوال</a:t>
            </a:r>
          </a:p>
          <a:p>
            <a:pPr marL="228600" indent="-228600" algn="r" rtl="1">
              <a:spcBef>
                <a:spcPts val="0"/>
              </a:spcBef>
              <a:spcAft>
                <a:spcPts val="100"/>
              </a:spcAft>
              <a:buClr>
                <a:srgbClr val="E07B28"/>
              </a:buClr>
              <a:buFont typeface="Arial"/>
              <a:buChar char="■"/>
            </a:pPr>
            <a:r>
              <a:rPr lang="ar-SY" altLang="en-US" sz="1300" b="0" i="0" dirty="0">
                <a:solidFill>
                  <a:srgbClr val="1A1A1A"/>
                </a:solidFill>
                <a:latin typeface="Times New Roman"/>
                <a:ea typeface="Times New Roman"/>
                <a:cs typeface="Times New Roman"/>
              </a:rPr>
              <a:t>استهداف بالجنس والعمر ومنطقة نصية حرة فقط</a:t>
            </a:r>
          </a:p>
          <a:p>
            <a:pPr marL="228600" indent="-228600" algn="r" rtl="1">
              <a:spcBef>
                <a:spcPts val="0"/>
              </a:spcBef>
              <a:spcAft>
                <a:spcPts val="100"/>
              </a:spcAft>
              <a:buClr>
                <a:srgbClr val="E07B28"/>
              </a:buClr>
              <a:buFont typeface="Arial"/>
              <a:buChar char="■"/>
            </a:pPr>
            <a:r>
              <a:rPr lang="ar-SY" altLang="en-US" sz="1300" b="0" i="0" dirty="0">
                <a:solidFill>
                  <a:srgbClr val="1A1A1A"/>
                </a:solidFill>
                <a:latin typeface="Times New Roman"/>
                <a:ea typeface="Times New Roman"/>
                <a:cs typeface="Times New Roman"/>
              </a:rPr>
              <a:t>دقة نموذج المشاعر غير مقاسة</a:t>
            </a:r>
            <a:r>
              <a:rPr lang="en-US" altLang="en-US" sz="1300" b="0" i="0" dirty="0">
                <a:solidFill>
                  <a:srgbClr val="1A1A1A"/>
                </a:solidFill>
                <a:latin typeface="Times New Roman"/>
                <a:ea typeface="Times New Roman"/>
                <a:cs typeface="Times New Roman"/>
              </a:rPr>
              <a:t>.</a:t>
            </a:r>
            <a:endParaRPr lang="ar-SY" altLang="en-US" sz="1300" b="0" i="0" dirty="0">
              <a:solidFill>
                <a:srgbClr val="1A1A1A"/>
              </a:solidFill>
              <a:latin typeface="Times New Roman"/>
              <a:ea typeface="Times New Roman"/>
              <a:cs typeface="Times New Roman"/>
            </a:endParaRPr>
          </a:p>
          <a:p>
            <a:pPr marL="228600" indent="-228600" algn="r" rtl="1">
              <a:spcBef>
                <a:spcPts val="0"/>
              </a:spcBef>
              <a:spcAft>
                <a:spcPts val="0"/>
              </a:spcAft>
              <a:buClr>
                <a:srgbClr val="E07B28"/>
              </a:buClr>
              <a:buFont typeface="Arial"/>
              <a:buChar char="■"/>
            </a:pPr>
            <a:r>
              <a:rPr lang="ar-SY" altLang="en-US" sz="1300" b="0" i="0" dirty="0">
                <a:solidFill>
                  <a:srgbClr val="1A1A1A"/>
                </a:solidFill>
                <a:latin typeface="Times New Roman"/>
                <a:ea typeface="Times New Roman"/>
                <a:cs typeface="Times New Roman"/>
              </a:rPr>
              <a:t>لا فحص لجودة الإجابات سوى منع الإجابة المكررة</a:t>
            </a:r>
          </a:p>
        </p:txBody>
      </p:sp>
    </p:spTree>
    <p:extLst>
      <p:ext uri="{BB962C8B-B14F-4D97-AF65-F5344CB8AC3E}">
        <p14:creationId xmlns:p14="http://schemas.microsoft.com/office/powerpoint/2010/main" val="34737330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8AE7ED3-C13B-D163-23FA-3ACDDB15519A}"/>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5A98B2C3-8337-C2D2-EA88-9E4BC9F9FBB4}"/>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61F01E66-EBB7-BF9F-40E8-B58F9CB73FCA}"/>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4</a:t>
            </a:fld>
            <a:endParaRPr lang="en-US"/>
          </a:p>
        </p:txBody>
      </p:sp>
      <p:sp>
        <p:nvSpPr>
          <p:cNvPr id="7" name="Title">
            <a:extLst>
              <a:ext uri="{FF2B5EF4-FFF2-40B4-BE49-F238E27FC236}">
                <a16:creationId xmlns:a16="http://schemas.microsoft.com/office/drawing/2014/main" id="{CD7444CC-9A95-8B29-7BB5-90CFC2E2D96D}"/>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الدراسات المرجعية والأعمال السابقة</a:t>
            </a:r>
            <a:r>
              <a:rPr lang="en-US" altLang="en-US" sz="2800" b="1" i="0" dirty="0">
                <a:solidFill>
                  <a:srgbClr val="2F5496"/>
                </a:solidFill>
                <a:latin typeface="Times New Roman"/>
                <a:ea typeface="Times New Roman"/>
                <a:cs typeface="Times New Roman"/>
              </a:rPr>
              <a:t>  (Literature Review) </a:t>
            </a:r>
            <a:endParaRPr lang="ar-SY" altLang="en-US" sz="2800" b="1" i="0" dirty="0">
              <a:solidFill>
                <a:srgbClr val="2F5496"/>
              </a:solidFill>
              <a:latin typeface="Times New Roman"/>
              <a:ea typeface="Times New Roman"/>
              <a:cs typeface="Times New Roman"/>
            </a:endParaRPr>
          </a:p>
        </p:txBody>
      </p:sp>
      <p:sp>
        <p:nvSpPr>
          <p:cNvPr id="8" name="Study 1"/>
          <p:cNvSpPr/>
          <p:nvPr/>
        </p:nvSpPr>
        <p:spPr>
          <a:xfrm>
            <a:off x="548640" y="1005840"/>
            <a:ext cx="11091672" cy="768096"/>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spcBef>
                <a:spcPts val="0"/>
              </a:spcBef>
              <a:spcAft>
                <a:spcPts val="0"/>
              </a:spcAft>
              <a:buNone/>
            </a:pPr>
            <a:r>
              <a:rPr lang="ar-SY" altLang="en-US" sz="1600" b="1" i="0" dirty="0">
                <a:solidFill>
                  <a:srgbClr val="2F5496"/>
                </a:solidFill>
                <a:latin typeface="Times New Roman"/>
                <a:ea typeface="Times New Roman"/>
                <a:cs typeface="Times New Roman"/>
              </a:rPr>
              <a:t>الدراسة الأولى — </a:t>
            </a:r>
            <a:r>
              <a:rPr lang="en-US" altLang="en-US" sz="1600" b="1" i="0" dirty="0">
                <a:solidFill>
                  <a:srgbClr val="1A1A1A"/>
                </a:solidFill>
                <a:latin typeface="Times New Roman"/>
                <a:ea typeface="Times New Roman"/>
                <a:cs typeface="Times New Roman"/>
              </a:rPr>
              <a:t>:</a:t>
            </a:r>
            <a:r>
              <a:rPr lang="en-US" altLang="en-US" sz="1600" b="1" i="0" dirty="0" err="1">
                <a:solidFill>
                  <a:srgbClr val="1A1A1A"/>
                </a:solidFill>
                <a:latin typeface="Times New Roman"/>
                <a:ea typeface="Times New Roman"/>
                <a:cs typeface="Times New Roman"/>
              </a:rPr>
              <a:t>Pozzar</a:t>
            </a:r>
            <a:r>
              <a:rPr lang="en-US" altLang="en-US" sz="1600" b="1" i="0" dirty="0">
                <a:solidFill>
                  <a:srgbClr val="1A1A1A"/>
                </a:solidFill>
                <a:latin typeface="Times New Roman"/>
                <a:ea typeface="Times New Roman"/>
                <a:cs typeface="Times New Roman"/>
              </a:rPr>
              <a:t> et al. (2020)</a:t>
            </a:r>
            <a:r>
              <a:rPr lang="ar-SY" altLang="en-US" sz="1600" b="1" i="0" dirty="0">
                <a:solidFill>
                  <a:srgbClr val="1A1A1A"/>
                </a:solidFill>
                <a:latin typeface="Times New Roman"/>
                <a:ea typeface="Times New Roman"/>
                <a:cs typeface="Times New Roman"/>
              </a:rPr>
              <a:t> </a:t>
            </a:r>
            <a:r>
              <a:rPr lang="ar-SY" altLang="en-US" sz="1600" b="0" i="0" dirty="0">
                <a:solidFill>
                  <a:srgbClr val="1A1A1A"/>
                </a:solidFill>
                <a:latin typeface="Times New Roman"/>
                <a:ea typeface="Times New Roman"/>
                <a:cs typeface="Times New Roman"/>
              </a:rPr>
              <a:t>من</a:t>
            </a:r>
            <a:r>
              <a:rPr lang="en-US" altLang="en-US" sz="1600" b="0" i="0" dirty="0">
                <a:solidFill>
                  <a:srgbClr val="1A1A1A"/>
                </a:solidFill>
                <a:latin typeface="Times New Roman"/>
                <a:ea typeface="Times New Roman"/>
                <a:cs typeface="Times New Roman"/>
              </a:rPr>
              <a:t> 271 </a:t>
            </a:r>
            <a:r>
              <a:rPr lang="ar-SY" altLang="en-US" sz="1600" b="0" i="0" dirty="0">
                <a:solidFill>
                  <a:srgbClr val="1A1A1A"/>
                </a:solidFill>
                <a:latin typeface="Times New Roman"/>
                <a:ea typeface="Times New Roman"/>
                <a:cs typeface="Times New Roman"/>
              </a:rPr>
              <a:t>إجابة عبر رابط مفتوح على وسائل التواصل،</a:t>
            </a:r>
            <a:r>
              <a:rPr lang="en-US" altLang="en-US" sz="1600" b="0" i="0" dirty="0">
                <a:solidFill>
                  <a:srgbClr val="1A1A1A"/>
                </a:solidFill>
                <a:latin typeface="Times New Roman"/>
                <a:ea typeface="Times New Roman"/>
                <a:cs typeface="Times New Roman"/>
              </a:rPr>
              <a:t> ‎94.5%‎ </a:t>
            </a:r>
            <a:r>
              <a:rPr lang="ar-SY" altLang="en-US" sz="1600" b="0" i="0" dirty="0">
                <a:solidFill>
                  <a:srgbClr val="1A1A1A"/>
                </a:solidFill>
                <a:latin typeface="Times New Roman"/>
                <a:ea typeface="Times New Roman"/>
                <a:cs typeface="Times New Roman"/>
              </a:rPr>
              <a:t>احتيالية وكلها تجاوزت</a:t>
            </a:r>
            <a:r>
              <a:rPr lang="en-US" altLang="en-US" sz="1600" b="0" i="0" dirty="0">
                <a:solidFill>
                  <a:srgbClr val="1A1A1A"/>
                </a:solidFill>
                <a:latin typeface="Times New Roman"/>
                <a:ea typeface="Times New Roman"/>
                <a:cs typeface="Times New Roman"/>
              </a:rPr>
              <a:t> CAPTCHA ← </a:t>
            </a:r>
            <a:r>
              <a:rPr lang="ar-SY" altLang="en-US" sz="1600" b="0" i="0" dirty="0">
                <a:solidFill>
                  <a:srgbClr val="1A1A1A"/>
                </a:solidFill>
                <a:latin typeface="Times New Roman"/>
                <a:ea typeface="Times New Roman"/>
                <a:cs typeface="Times New Roman"/>
              </a:rPr>
              <a:t>نحتاج دفاعاً متعدد الطبقات </a:t>
            </a:r>
            <a:r>
              <a:rPr lang="en-US" altLang="en-US" sz="1200" b="0" i="0" dirty="0">
                <a:solidFill>
                  <a:srgbClr val="595959"/>
                </a:solidFill>
                <a:latin typeface="Times New Roman"/>
                <a:ea typeface="Times New Roman"/>
                <a:cs typeface="Times New Roman"/>
              </a:rPr>
              <a:t>[4]</a:t>
            </a:r>
            <a:endParaRPr lang="ar-SY" altLang="en-US" sz="1600" b="0" i="0" dirty="0">
              <a:solidFill>
                <a:srgbClr val="595959"/>
              </a:solidFill>
              <a:latin typeface="Times New Roman"/>
              <a:ea typeface="Times New Roman"/>
              <a:cs typeface="Times New Roman"/>
            </a:endParaRPr>
          </a:p>
        </p:txBody>
      </p:sp>
      <p:sp>
        <p:nvSpPr>
          <p:cNvPr id="9" name="Study 2"/>
          <p:cNvSpPr/>
          <p:nvPr/>
        </p:nvSpPr>
        <p:spPr>
          <a:xfrm>
            <a:off x="548640" y="1847088"/>
            <a:ext cx="11091672" cy="768096"/>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spcBef>
                <a:spcPts val="0"/>
              </a:spcBef>
              <a:spcAft>
                <a:spcPts val="0"/>
              </a:spcAft>
              <a:buNone/>
            </a:pPr>
            <a:r>
              <a:rPr lang="ar-SY" altLang="en-US" sz="1600" b="1" i="0" dirty="0">
                <a:solidFill>
                  <a:srgbClr val="2F5496"/>
                </a:solidFill>
                <a:latin typeface="Times New Roman"/>
                <a:ea typeface="Times New Roman"/>
                <a:cs typeface="Times New Roman"/>
              </a:rPr>
              <a:t>الدراسة الثانية</a:t>
            </a:r>
            <a:r>
              <a:rPr lang="en-US" altLang="en-US" sz="1600" b="1" i="0" dirty="0">
                <a:solidFill>
                  <a:srgbClr val="2F5496"/>
                </a:solidFill>
                <a:latin typeface="Times New Roman"/>
                <a:ea typeface="Times New Roman"/>
                <a:cs typeface="Times New Roman"/>
              </a:rPr>
              <a:t> </a:t>
            </a:r>
            <a:r>
              <a:rPr lang="ar-SY" altLang="en-US" sz="1600" b="1" i="0" dirty="0">
                <a:solidFill>
                  <a:srgbClr val="2F5496"/>
                </a:solidFill>
                <a:latin typeface="Times New Roman"/>
                <a:ea typeface="Times New Roman"/>
                <a:cs typeface="Times New Roman"/>
              </a:rPr>
              <a:t>— </a:t>
            </a:r>
            <a:r>
              <a:rPr lang="en-US" altLang="en-US" sz="1600" b="1" i="0" dirty="0">
                <a:solidFill>
                  <a:schemeClr val="tx1"/>
                </a:solidFill>
                <a:latin typeface="Times New Roman"/>
                <a:ea typeface="Times New Roman"/>
                <a:cs typeface="Times New Roman"/>
              </a:rPr>
              <a:t>Westwood (2025) </a:t>
            </a:r>
            <a:r>
              <a:rPr lang="ar-SA" altLang="en-US" sz="1600" b="1" i="0" dirty="0">
                <a:solidFill>
                  <a:schemeClr val="tx1"/>
                </a:solidFill>
                <a:latin typeface="Times New Roman"/>
                <a:ea typeface="Times New Roman"/>
                <a:cs typeface="Times New Roman"/>
              </a:rPr>
              <a:t>: </a:t>
            </a:r>
            <a:r>
              <a:rPr lang="ar-SY" altLang="en-US" sz="1600" i="0" dirty="0">
                <a:solidFill>
                  <a:schemeClr val="tx1"/>
                </a:solidFill>
                <a:latin typeface="Times New Roman"/>
                <a:ea typeface="Times New Roman"/>
                <a:cs typeface="Times New Roman"/>
              </a:rPr>
              <a:t>وكيل ذكاء اصطناعي اجتاز 99.8% من أسئلة الانتباه في 43,000 اختبار ولم تكشفه أدوات الكشف المجرّبة ← سؤال الانتباه وحده لا يكفي </a:t>
            </a:r>
            <a:r>
              <a:rPr lang="ar-SY" altLang="en-US" sz="1050" i="0" dirty="0">
                <a:solidFill>
                  <a:schemeClr val="tx1"/>
                </a:solidFill>
                <a:latin typeface="Times New Roman"/>
                <a:ea typeface="Times New Roman"/>
                <a:cs typeface="Times New Roman"/>
              </a:rPr>
              <a:t>[10]</a:t>
            </a:r>
            <a:endParaRPr lang="ar-SY" altLang="en-US" sz="1600" i="0" dirty="0">
              <a:solidFill>
                <a:schemeClr val="tx1"/>
              </a:solidFill>
              <a:latin typeface="Times New Roman"/>
              <a:ea typeface="Times New Roman"/>
              <a:cs typeface="Times New Roman"/>
            </a:endParaRPr>
          </a:p>
        </p:txBody>
      </p:sp>
      <p:sp>
        <p:nvSpPr>
          <p:cNvPr id="10" name="Study 3"/>
          <p:cNvSpPr/>
          <p:nvPr/>
        </p:nvSpPr>
        <p:spPr>
          <a:xfrm>
            <a:off x="548640" y="2688336"/>
            <a:ext cx="11091672" cy="768096"/>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spcBef>
                <a:spcPts val="0"/>
              </a:spcBef>
              <a:spcAft>
                <a:spcPts val="0"/>
              </a:spcAft>
              <a:buNone/>
            </a:pPr>
            <a:r>
              <a:rPr lang="ar-SY" altLang="en-US" sz="1600" b="1" i="0" dirty="0">
                <a:solidFill>
                  <a:srgbClr val="2F5496"/>
                </a:solidFill>
                <a:latin typeface="Times New Roman"/>
                <a:ea typeface="Times New Roman"/>
                <a:cs typeface="Times New Roman"/>
              </a:rPr>
              <a:t>الدراسة الثالثة — </a:t>
            </a:r>
            <a:r>
              <a:rPr lang="en-US" altLang="en-US" sz="1600" b="1" i="0" dirty="0">
                <a:solidFill>
                  <a:srgbClr val="2F5496"/>
                </a:solidFill>
                <a:latin typeface="Times New Roman"/>
                <a:ea typeface="Times New Roman"/>
                <a:cs typeface="Times New Roman"/>
              </a:rPr>
              <a:t> </a:t>
            </a:r>
            <a:r>
              <a:rPr lang="en-US" altLang="en-US" sz="1600" b="1" i="0" dirty="0">
                <a:solidFill>
                  <a:srgbClr val="1A1A1A"/>
                </a:solidFill>
                <a:latin typeface="Times New Roman"/>
                <a:ea typeface="Times New Roman"/>
                <a:cs typeface="Times New Roman"/>
              </a:rPr>
              <a:t>:Peer et al. (2022) </a:t>
            </a:r>
            <a:r>
              <a:rPr lang="ar-SY" altLang="en-US" sz="1600" b="0" i="0" dirty="0">
                <a:solidFill>
                  <a:srgbClr val="1A1A1A"/>
                </a:solidFill>
                <a:latin typeface="Times New Roman"/>
                <a:ea typeface="Times New Roman"/>
                <a:cs typeface="Times New Roman"/>
              </a:rPr>
              <a:t>نسبة من اجتازوا فحصَي الانتباه تراوحت بين</a:t>
            </a:r>
            <a:r>
              <a:rPr lang="en-US" altLang="en-US" sz="1600" b="0" i="0" dirty="0">
                <a:solidFill>
                  <a:srgbClr val="1A1A1A"/>
                </a:solidFill>
                <a:latin typeface="Times New Roman"/>
                <a:ea typeface="Times New Roman"/>
                <a:cs typeface="Times New Roman"/>
              </a:rPr>
              <a:t> ‎68.7%‎ </a:t>
            </a:r>
            <a:r>
              <a:rPr lang="ar-SY" altLang="en-US" sz="1600" b="0" i="0" dirty="0">
                <a:solidFill>
                  <a:srgbClr val="1A1A1A"/>
                </a:solidFill>
                <a:latin typeface="Times New Roman"/>
                <a:ea typeface="Times New Roman"/>
                <a:cs typeface="Times New Roman"/>
              </a:rPr>
              <a:t>و</a:t>
            </a:r>
            <a:r>
              <a:rPr lang="en-US" altLang="en-US" sz="1600" b="0" i="0" dirty="0">
                <a:solidFill>
                  <a:srgbClr val="1A1A1A"/>
                </a:solidFill>
                <a:latin typeface="Times New Roman"/>
                <a:ea typeface="Times New Roman"/>
                <a:cs typeface="Times New Roman"/>
              </a:rPr>
              <a:t>‎ 22.1%‎ </a:t>
            </a:r>
            <a:r>
              <a:rPr lang="ar-SY" altLang="en-US" sz="1600" b="0" i="0" dirty="0">
                <a:solidFill>
                  <a:srgbClr val="1A1A1A"/>
                </a:solidFill>
                <a:latin typeface="Times New Roman"/>
                <a:ea typeface="Times New Roman"/>
                <a:cs typeface="Times New Roman"/>
              </a:rPr>
              <a:t>بحسب المنصة ← الجودة تُقاس ولا تُفترض </a:t>
            </a:r>
            <a:r>
              <a:rPr lang="en-US" altLang="en-US" sz="1100" b="0" i="0" dirty="0">
                <a:solidFill>
                  <a:srgbClr val="595959"/>
                </a:solidFill>
                <a:latin typeface="Times New Roman"/>
                <a:ea typeface="Times New Roman"/>
                <a:cs typeface="Times New Roman"/>
              </a:rPr>
              <a:t>[11]</a:t>
            </a:r>
            <a:endParaRPr lang="ar-SY" altLang="en-US" sz="1600" b="0" i="0" dirty="0">
              <a:solidFill>
                <a:srgbClr val="595959"/>
              </a:solidFill>
              <a:latin typeface="Times New Roman"/>
              <a:ea typeface="Times New Roman"/>
              <a:cs typeface="Times New Roman"/>
            </a:endParaRPr>
          </a:p>
        </p:txBody>
      </p:sp>
      <p:sp>
        <p:nvSpPr>
          <p:cNvPr id="11" name="Study 4"/>
          <p:cNvSpPr/>
          <p:nvPr/>
        </p:nvSpPr>
        <p:spPr>
          <a:xfrm>
            <a:off x="548640" y="3529584"/>
            <a:ext cx="11091672" cy="768096"/>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spcBef>
                <a:spcPts val="0"/>
              </a:spcBef>
              <a:spcAft>
                <a:spcPts val="0"/>
              </a:spcAft>
              <a:buNone/>
            </a:pPr>
            <a:r>
              <a:rPr lang="ar-SY" altLang="en-US" sz="1600" b="1" i="0" dirty="0">
                <a:solidFill>
                  <a:srgbClr val="2F5496"/>
                </a:solidFill>
                <a:latin typeface="Times New Roman"/>
                <a:ea typeface="Times New Roman"/>
                <a:cs typeface="Times New Roman"/>
              </a:rPr>
              <a:t>الدراسة الرابعة — </a:t>
            </a:r>
            <a:r>
              <a:rPr lang="en-US" altLang="en-US" sz="1600" b="1" i="0" dirty="0">
                <a:solidFill>
                  <a:schemeClr val="tx1"/>
                </a:solidFill>
                <a:latin typeface="Times New Roman"/>
                <a:ea typeface="Times New Roman"/>
                <a:cs typeface="Times New Roman"/>
              </a:rPr>
              <a:t>Khondaker et al. (2023) </a:t>
            </a:r>
            <a:r>
              <a:rPr lang="ar-SA" altLang="en-US" sz="1600" b="1" i="0" dirty="0">
                <a:solidFill>
                  <a:schemeClr val="tx1"/>
                </a:solidFill>
                <a:latin typeface="Times New Roman"/>
                <a:ea typeface="Times New Roman"/>
                <a:cs typeface="Times New Roman"/>
              </a:rPr>
              <a:t>: </a:t>
            </a:r>
            <a:r>
              <a:rPr lang="ar-SY" altLang="en-US" sz="1600" i="0" dirty="0">
                <a:solidFill>
                  <a:schemeClr val="tx1"/>
                </a:solidFill>
                <a:latin typeface="Times New Roman"/>
                <a:ea typeface="Times New Roman"/>
                <a:cs typeface="Times New Roman"/>
              </a:rPr>
              <a:t>في 44 مهمة عربية تفوقت نماذج عربية صغيرة مضبوطة على </a:t>
            </a:r>
            <a:r>
              <a:rPr lang="en-US" altLang="en-US" sz="1600" i="0" dirty="0">
                <a:solidFill>
                  <a:schemeClr val="tx1"/>
                </a:solidFill>
                <a:latin typeface="Times New Roman"/>
                <a:ea typeface="Times New Roman"/>
                <a:cs typeface="Times New Roman"/>
              </a:rPr>
              <a:t>ChatGPT، </a:t>
            </a:r>
            <a:r>
              <a:rPr lang="ar-SY" altLang="en-US" sz="1600" i="0" dirty="0">
                <a:solidFill>
                  <a:schemeClr val="tx1"/>
                </a:solidFill>
                <a:latin typeface="Times New Roman"/>
                <a:ea typeface="Times New Roman"/>
                <a:cs typeface="Times New Roman"/>
              </a:rPr>
              <a:t>وكان أضعف في اللهجات منه في الفصحى ← نختار النموذج بالقياس </a:t>
            </a:r>
            <a:r>
              <a:rPr lang="ar-SY" altLang="en-US" sz="1200" i="0" dirty="0">
                <a:solidFill>
                  <a:schemeClr val="tx1"/>
                </a:solidFill>
                <a:latin typeface="Times New Roman"/>
                <a:ea typeface="Times New Roman"/>
                <a:cs typeface="Times New Roman"/>
              </a:rPr>
              <a:t>[12]</a:t>
            </a:r>
            <a:endParaRPr lang="ar-SY" altLang="en-US" sz="1600" i="0" dirty="0">
              <a:solidFill>
                <a:schemeClr val="tx1"/>
              </a:solidFill>
              <a:latin typeface="Times New Roman"/>
              <a:ea typeface="Times New Roman"/>
              <a:cs typeface="Times New Roman"/>
            </a:endParaRPr>
          </a:p>
        </p:txBody>
      </p:sp>
      <p:sp>
        <p:nvSpPr>
          <p:cNvPr id="12" name="Study 5"/>
          <p:cNvSpPr/>
          <p:nvPr/>
        </p:nvSpPr>
        <p:spPr>
          <a:xfrm>
            <a:off x="548640" y="4370832"/>
            <a:ext cx="11091672" cy="768096"/>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pPr>
            <a:r>
              <a:rPr lang="ar-SY" altLang="en-US" sz="1600" b="1" i="0" dirty="0">
                <a:solidFill>
                  <a:srgbClr val="2F5496"/>
                </a:solidFill>
                <a:latin typeface="Times New Roman"/>
                <a:ea typeface="Times New Roman"/>
                <a:cs typeface="Times New Roman"/>
              </a:rPr>
              <a:t>الدراسة الخامسة — </a:t>
            </a:r>
            <a:r>
              <a:rPr lang="en-US" altLang="en-US" sz="1600" b="1" i="0" dirty="0">
                <a:solidFill>
                  <a:srgbClr val="2F5496"/>
                </a:solidFill>
                <a:latin typeface="Times New Roman"/>
                <a:ea typeface="Times New Roman"/>
                <a:cs typeface="Times New Roman"/>
              </a:rPr>
              <a:t> </a:t>
            </a:r>
            <a:r>
              <a:rPr lang="en-US" altLang="en-US" sz="1600" b="1" i="0" dirty="0">
                <a:solidFill>
                  <a:srgbClr val="1A1A1A"/>
                </a:solidFill>
                <a:latin typeface="Times New Roman"/>
                <a:ea typeface="Times New Roman"/>
                <a:cs typeface="Times New Roman"/>
              </a:rPr>
              <a:t>:Abu Farha &amp; Magdy (2021) </a:t>
            </a:r>
            <a:r>
              <a:rPr lang="ar-SY" altLang="en-US" sz="1600" b="0" i="0" dirty="0">
                <a:solidFill>
                  <a:srgbClr val="1A1A1A"/>
                </a:solidFill>
                <a:latin typeface="Times New Roman"/>
                <a:ea typeface="Times New Roman"/>
                <a:cs typeface="Times New Roman"/>
              </a:rPr>
              <a:t>مقارنة</a:t>
            </a:r>
            <a:r>
              <a:rPr lang="en-US" altLang="en-US" sz="1600" b="0" i="0" dirty="0">
                <a:solidFill>
                  <a:srgbClr val="1A1A1A"/>
                </a:solidFill>
                <a:latin typeface="Times New Roman"/>
                <a:ea typeface="Times New Roman"/>
                <a:cs typeface="Times New Roman"/>
              </a:rPr>
              <a:t> 24 </a:t>
            </a:r>
            <a:r>
              <a:rPr lang="ar-SY" altLang="en-US" sz="1600" b="0" i="0" dirty="0">
                <a:solidFill>
                  <a:srgbClr val="1A1A1A"/>
                </a:solidFill>
                <a:latin typeface="Times New Roman"/>
                <a:ea typeface="Times New Roman"/>
                <a:cs typeface="Times New Roman"/>
              </a:rPr>
              <a:t>نموذجاً لتحليل المشاعر العربية</a:t>
            </a:r>
            <a:r>
              <a:rPr lang="en-US" altLang="en-US" sz="1600" b="0" i="0" dirty="0">
                <a:solidFill>
                  <a:srgbClr val="1A1A1A"/>
                </a:solidFill>
                <a:latin typeface="Times New Roman"/>
                <a:ea typeface="Times New Roman"/>
                <a:cs typeface="Times New Roman"/>
              </a:rPr>
              <a:t>: MARBERT </a:t>
            </a:r>
            <a:r>
              <a:rPr lang="ar-SY" altLang="en-US" sz="1600" b="0" i="0" dirty="0">
                <a:solidFill>
                  <a:srgbClr val="1A1A1A"/>
                </a:solidFill>
                <a:latin typeface="Times New Roman"/>
                <a:ea typeface="Times New Roman"/>
                <a:cs typeface="Times New Roman"/>
              </a:rPr>
              <a:t>و</a:t>
            </a:r>
            <a:r>
              <a:rPr lang="en-US" altLang="en-US" sz="1600" b="0" i="0" dirty="0">
                <a:solidFill>
                  <a:srgbClr val="1A1A1A"/>
                </a:solidFill>
                <a:latin typeface="Times New Roman"/>
                <a:ea typeface="Times New Roman"/>
                <a:cs typeface="Times New Roman"/>
              </a:rPr>
              <a:t> AraBERT </a:t>
            </a:r>
            <a:r>
              <a:rPr lang="ar-SY" altLang="en-US" sz="1600" b="0" i="0" dirty="0">
                <a:solidFill>
                  <a:srgbClr val="1A1A1A"/>
                </a:solidFill>
                <a:latin typeface="Times New Roman"/>
                <a:ea typeface="Times New Roman"/>
                <a:cs typeface="Times New Roman"/>
              </a:rPr>
              <a:t>الأفضل</a:t>
            </a:r>
            <a:r>
              <a:rPr lang="en-US" altLang="en-US" sz="1600" b="0" i="0" dirty="0">
                <a:solidFill>
                  <a:srgbClr val="1A1A1A"/>
                </a:solidFill>
                <a:latin typeface="Times New Roman"/>
                <a:ea typeface="Times New Roman"/>
                <a:cs typeface="Times New Roman"/>
              </a:rPr>
              <a:t> (0.724) </a:t>
            </a:r>
            <a:r>
              <a:rPr lang="ar-SY" altLang="en-US" sz="1600" b="0" i="0" dirty="0">
                <a:solidFill>
                  <a:srgbClr val="1A1A1A"/>
                </a:solidFill>
                <a:latin typeface="Times New Roman"/>
                <a:ea typeface="Times New Roman"/>
                <a:cs typeface="Times New Roman"/>
              </a:rPr>
              <a:t>مقابل</a:t>
            </a:r>
            <a:r>
              <a:rPr lang="en-US" altLang="en-US" sz="1600" b="0" i="0" dirty="0">
                <a:solidFill>
                  <a:srgbClr val="1A1A1A"/>
                </a:solidFill>
                <a:latin typeface="Times New Roman"/>
                <a:ea typeface="Times New Roman"/>
                <a:cs typeface="Times New Roman"/>
              </a:rPr>
              <a:t>      </a:t>
            </a:r>
            <a:r>
              <a:rPr lang="ar-SA" altLang="en-US" sz="1600" b="0" i="0" dirty="0">
                <a:solidFill>
                  <a:srgbClr val="1A1A1A"/>
                </a:solidFill>
                <a:latin typeface="Times New Roman"/>
                <a:ea typeface="Times New Roman"/>
                <a:cs typeface="Times New Roman"/>
              </a:rPr>
              <a:t> </a:t>
            </a:r>
            <a:r>
              <a:rPr lang="en-US" altLang="en-US" sz="1600" b="0" i="0" dirty="0">
                <a:solidFill>
                  <a:srgbClr val="1A1A1A"/>
                </a:solidFill>
                <a:latin typeface="Times New Roman"/>
                <a:ea typeface="Times New Roman"/>
                <a:cs typeface="Times New Roman"/>
              </a:rPr>
              <a:t>  0.625 </a:t>
            </a:r>
            <a:r>
              <a:rPr lang="ar-SY" altLang="en-US" sz="1600" b="0" i="0" dirty="0">
                <a:solidFill>
                  <a:srgbClr val="1A1A1A"/>
                </a:solidFill>
                <a:latin typeface="Times New Roman"/>
                <a:ea typeface="Times New Roman"/>
                <a:cs typeface="Times New Roman"/>
              </a:rPr>
              <a:t>لـ </a:t>
            </a:r>
            <a:r>
              <a:rPr lang="en-US" altLang="en-US" sz="1600" b="0" i="0" dirty="0">
                <a:solidFill>
                  <a:srgbClr val="1A1A1A"/>
                </a:solidFill>
                <a:latin typeface="Times New Roman"/>
                <a:ea typeface="Times New Roman"/>
                <a:cs typeface="Times New Roman"/>
              </a:rPr>
              <a:t> </a:t>
            </a:r>
            <a:r>
              <a:rPr lang="en-US" altLang="en-US" sz="1600" b="0" i="0" dirty="0" err="1">
                <a:solidFill>
                  <a:srgbClr val="1A1A1A"/>
                </a:solidFill>
                <a:latin typeface="Times New Roman"/>
                <a:ea typeface="Times New Roman"/>
                <a:cs typeface="Times New Roman"/>
              </a:rPr>
              <a:t>mBERT</a:t>
            </a:r>
            <a:r>
              <a:rPr lang="ar-SA" altLang="en-US" sz="1600" b="0" i="0" dirty="0">
                <a:solidFill>
                  <a:srgbClr val="1A1A1A"/>
                </a:solidFill>
                <a:latin typeface="Times New Roman"/>
                <a:ea typeface="Times New Roman"/>
                <a:cs typeface="Times New Roman"/>
              </a:rPr>
              <a:t> </a:t>
            </a:r>
            <a:r>
              <a:rPr lang="en-US" altLang="en-US" sz="1200" dirty="0">
                <a:solidFill>
                  <a:srgbClr val="595959"/>
                </a:solidFill>
                <a:latin typeface="Times New Roman"/>
                <a:ea typeface="Times New Roman"/>
                <a:cs typeface="Times New Roman"/>
              </a:rPr>
              <a:t>[13]</a:t>
            </a:r>
            <a:endParaRPr lang="ar-SY" altLang="en-US" sz="1200" dirty="0">
              <a:solidFill>
                <a:srgbClr val="595959"/>
              </a:solidFill>
              <a:latin typeface="Times New Roman"/>
              <a:ea typeface="Times New Roman"/>
              <a:cs typeface="Times New Roman"/>
            </a:endParaRPr>
          </a:p>
          <a:p>
            <a:pPr algn="r" rtl="1">
              <a:lnSpc>
                <a:spcPct val="95000"/>
              </a:lnSpc>
              <a:spcBef>
                <a:spcPts val="0"/>
              </a:spcBef>
              <a:spcAft>
                <a:spcPts val="0"/>
              </a:spcAft>
              <a:buNone/>
            </a:pPr>
            <a:endParaRPr lang="ar-SA" altLang="en-US" sz="1600" b="0" i="0" dirty="0">
              <a:solidFill>
                <a:srgbClr val="1A1A1A"/>
              </a:solidFill>
              <a:latin typeface="Times New Roman"/>
              <a:ea typeface="Times New Roman"/>
              <a:cs typeface="Times New Roman"/>
            </a:endParaRPr>
          </a:p>
        </p:txBody>
      </p:sp>
      <p:sp>
        <p:nvSpPr>
          <p:cNvPr id="13" name="Study 6"/>
          <p:cNvSpPr/>
          <p:nvPr/>
        </p:nvSpPr>
        <p:spPr>
          <a:xfrm>
            <a:off x="548640" y="5212080"/>
            <a:ext cx="11091672" cy="768096"/>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lnSpc>
                <a:spcPct val="95000"/>
              </a:lnSpc>
              <a:spcBef>
                <a:spcPts val="0"/>
              </a:spcBef>
              <a:spcAft>
                <a:spcPts val="0"/>
              </a:spcAft>
              <a:buNone/>
            </a:pPr>
            <a:r>
              <a:rPr lang="ar-SY" altLang="en-US" sz="1600" b="1" i="0" dirty="0">
                <a:solidFill>
                  <a:srgbClr val="2F5496"/>
                </a:solidFill>
                <a:latin typeface="Times New Roman"/>
                <a:ea typeface="Times New Roman"/>
                <a:cs typeface="Times New Roman"/>
              </a:rPr>
              <a:t>الدراسة السادسة — </a:t>
            </a:r>
            <a:r>
              <a:rPr lang="en-US" altLang="en-US" sz="1600" b="1" i="0" dirty="0">
                <a:solidFill>
                  <a:srgbClr val="1A1A1A"/>
                </a:solidFill>
                <a:latin typeface="Times New Roman"/>
                <a:ea typeface="Times New Roman"/>
                <a:cs typeface="Times New Roman"/>
              </a:rPr>
              <a:t>:</a:t>
            </a:r>
            <a:r>
              <a:rPr lang="en-US" altLang="en-US" sz="1600" b="1" i="0" dirty="0" err="1">
                <a:solidFill>
                  <a:srgbClr val="1A1A1A"/>
                </a:solidFill>
                <a:latin typeface="Times New Roman"/>
                <a:ea typeface="Times New Roman"/>
                <a:cs typeface="Times New Roman"/>
              </a:rPr>
              <a:t>Lossio</a:t>
            </a:r>
            <a:r>
              <a:rPr lang="en-US" altLang="en-US" sz="1600" b="1" i="0" dirty="0">
                <a:solidFill>
                  <a:srgbClr val="1A1A1A"/>
                </a:solidFill>
                <a:latin typeface="Times New Roman"/>
                <a:ea typeface="Times New Roman"/>
                <a:cs typeface="Times New Roman"/>
              </a:rPr>
              <a:t>-Ventura et al. (2024)</a:t>
            </a:r>
            <a:r>
              <a:rPr lang="ar-SY" altLang="en-US" sz="1600" b="1" i="0" dirty="0">
                <a:solidFill>
                  <a:srgbClr val="1A1A1A"/>
                </a:solidFill>
                <a:latin typeface="Times New Roman"/>
                <a:ea typeface="Times New Roman"/>
                <a:cs typeface="Times New Roman"/>
              </a:rPr>
              <a:t> </a:t>
            </a:r>
            <a:r>
              <a:rPr lang="ar-SY" altLang="en-US" sz="1600" b="0" i="0" dirty="0">
                <a:solidFill>
                  <a:srgbClr val="1A1A1A"/>
                </a:solidFill>
                <a:latin typeface="Times New Roman"/>
                <a:ea typeface="Times New Roman"/>
                <a:cs typeface="Times New Roman"/>
              </a:rPr>
              <a:t>على إجابات استبيان مفتوحة حقيقية: أدوات المعاجم</a:t>
            </a:r>
            <a:r>
              <a:rPr lang="en-US" altLang="en-US" sz="1600" b="0" i="0" dirty="0">
                <a:solidFill>
                  <a:srgbClr val="1A1A1A"/>
                </a:solidFill>
                <a:latin typeface="Times New Roman"/>
                <a:ea typeface="Times New Roman"/>
                <a:cs typeface="Times New Roman"/>
              </a:rPr>
              <a:t> 0.43–0.66 </a:t>
            </a:r>
            <a:r>
              <a:rPr lang="ar-SY" altLang="en-US" sz="1600" b="0" i="0" dirty="0">
                <a:solidFill>
                  <a:srgbClr val="1A1A1A"/>
                </a:solidFill>
                <a:latin typeface="Times New Roman"/>
                <a:ea typeface="Times New Roman"/>
                <a:cs typeface="Times New Roman"/>
              </a:rPr>
              <a:t>دقة، و</a:t>
            </a:r>
            <a:r>
              <a:rPr lang="en-US" altLang="en-US" sz="1600" b="0" i="0" dirty="0">
                <a:solidFill>
                  <a:srgbClr val="1A1A1A"/>
                </a:solidFill>
                <a:latin typeface="Times New Roman"/>
                <a:ea typeface="Times New Roman"/>
                <a:cs typeface="Times New Roman"/>
              </a:rPr>
              <a:t> ChatGPT </a:t>
            </a:r>
            <a:r>
              <a:rPr lang="ar-SY" altLang="en-US" sz="1600" b="0" i="0" dirty="0">
                <a:solidFill>
                  <a:srgbClr val="1A1A1A"/>
                </a:solidFill>
                <a:latin typeface="Times New Roman"/>
                <a:ea typeface="Times New Roman"/>
                <a:cs typeface="Times New Roman"/>
              </a:rPr>
              <a:t>بين</a:t>
            </a:r>
            <a:r>
              <a:rPr lang="en-US" altLang="en-US" sz="1600" b="0" i="0" dirty="0">
                <a:solidFill>
                  <a:srgbClr val="1A1A1A"/>
                </a:solidFill>
                <a:latin typeface="Times New Roman"/>
                <a:ea typeface="Times New Roman"/>
                <a:cs typeface="Times New Roman"/>
              </a:rPr>
              <a:t> 0.86 </a:t>
            </a:r>
            <a:r>
              <a:rPr lang="ar-SY" altLang="en-US" sz="1600" b="0" i="0" dirty="0">
                <a:solidFill>
                  <a:srgbClr val="1A1A1A"/>
                </a:solidFill>
                <a:latin typeface="Times New Roman"/>
                <a:ea typeface="Times New Roman"/>
                <a:cs typeface="Times New Roman"/>
              </a:rPr>
              <a:t>و</a:t>
            </a:r>
            <a:r>
              <a:rPr lang="en-US" altLang="en-US" sz="1600" b="0" i="0" dirty="0">
                <a:solidFill>
                  <a:srgbClr val="1A1A1A"/>
                </a:solidFill>
                <a:latin typeface="Times New Roman"/>
                <a:ea typeface="Times New Roman"/>
                <a:cs typeface="Times New Roman"/>
              </a:rPr>
              <a:t>0.87 ← </a:t>
            </a:r>
            <a:r>
              <a:rPr lang="ar-SY" altLang="en-US" sz="1600" b="0" i="0" dirty="0">
                <a:solidFill>
                  <a:srgbClr val="1A1A1A"/>
                </a:solidFill>
                <a:latin typeface="Times New Roman"/>
                <a:ea typeface="Times New Roman"/>
                <a:cs typeface="Times New Roman"/>
              </a:rPr>
              <a:t>نقارن النماذج بتصنيف بشري </a:t>
            </a:r>
            <a:r>
              <a:rPr lang="en-US" altLang="en-US" sz="1200" b="0" i="0" dirty="0">
                <a:solidFill>
                  <a:srgbClr val="595959"/>
                </a:solidFill>
                <a:latin typeface="Times New Roman"/>
                <a:ea typeface="Times New Roman"/>
                <a:cs typeface="Times New Roman"/>
              </a:rPr>
              <a:t>[14]</a:t>
            </a:r>
            <a:endParaRPr lang="ar-SY" altLang="en-US" sz="1600" b="0" i="0" dirty="0">
              <a:solidFill>
                <a:srgbClr val="595959"/>
              </a:solidFill>
              <a:latin typeface="Times New Roman"/>
              <a:ea typeface="Times New Roman"/>
              <a:cs typeface="Times New Roman"/>
            </a:endParaRPr>
          </a:p>
        </p:txBody>
      </p:sp>
    </p:spTree>
    <p:extLst>
      <p:ext uri="{BB962C8B-B14F-4D97-AF65-F5344CB8AC3E}">
        <p14:creationId xmlns:p14="http://schemas.microsoft.com/office/powerpoint/2010/main" val="1333343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90E407DD-A187-47D0-F7D0-D8EFECD89112}"/>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453B85F1-EC29-F285-CD6F-1FC6E3D18912}"/>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09FB7830-AE76-FA38-8FDC-9C99C8C6A0E0}"/>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5</a:t>
            </a:fld>
            <a:endParaRPr lang="en-US"/>
          </a:p>
        </p:txBody>
      </p:sp>
      <p:sp>
        <p:nvSpPr>
          <p:cNvPr id="7" name="Title">
            <a:extLst>
              <a:ext uri="{FF2B5EF4-FFF2-40B4-BE49-F238E27FC236}">
                <a16:creationId xmlns:a16="http://schemas.microsoft.com/office/drawing/2014/main" id="{F336949F-FA28-8B4A-2632-3CC4A0938BD9}"/>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مقارنة الأنظمة الحالية والفجوة</a:t>
            </a:r>
            <a:r>
              <a:rPr lang="en-US" altLang="en-US" sz="2800" b="1" i="0" dirty="0">
                <a:solidFill>
                  <a:srgbClr val="2F5496"/>
                </a:solidFill>
                <a:latin typeface="Times New Roman"/>
                <a:ea typeface="Times New Roman"/>
                <a:cs typeface="Times New Roman"/>
              </a:rPr>
              <a:t> (Gap Analysis) </a:t>
            </a:r>
            <a:endParaRPr lang="ar-SY" altLang="en-US" sz="2800" b="1" i="0" dirty="0">
              <a:solidFill>
                <a:srgbClr val="2F5496"/>
              </a:solidFill>
              <a:latin typeface="Times New Roman"/>
              <a:ea typeface="Times New Roman"/>
              <a:cs typeface="Times New Roman"/>
            </a:endParaRPr>
          </a:p>
        </p:txBody>
      </p:sp>
      <p:graphicFrame>
        <p:nvGraphicFramePr>
          <p:cNvPr id="8" name="Comparison table"/>
          <p:cNvGraphicFramePr>
            <a:graphicFrameLocks noGrp="1"/>
          </p:cNvGraphicFramePr>
          <p:nvPr>
            <p:extLst>
              <p:ext uri="{D42A27DB-BD31-4B8C-83A1-F6EECF244321}">
                <p14:modId xmlns:p14="http://schemas.microsoft.com/office/powerpoint/2010/main" val="810708393"/>
              </p:ext>
            </p:extLst>
          </p:nvPr>
        </p:nvGraphicFramePr>
        <p:xfrm>
          <a:off x="548640" y="960120"/>
          <a:ext cx="11091672" cy="4425696"/>
        </p:xfrm>
        <a:graphic>
          <a:graphicData uri="http://schemas.openxmlformats.org/drawingml/2006/table">
            <a:tbl>
              <a:tblPr rtl="1">
                <a:tableStyleId>{5C22544A-7EE6-4342-B048-85BDC9FD1C3A}</a:tableStyleId>
              </a:tblPr>
              <a:tblGrid>
                <a:gridCol w="14630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1353312">
                  <a:extLst>
                    <a:ext uri="{9D8B030D-6E8A-4147-A177-3AD203B41FA5}">
                      <a16:colId xmlns:a16="http://schemas.microsoft.com/office/drawing/2014/main" val="20005"/>
                    </a:ext>
                  </a:extLst>
                </a:gridCol>
                <a:gridCol w="1645920">
                  <a:extLst>
                    <a:ext uri="{9D8B030D-6E8A-4147-A177-3AD203B41FA5}">
                      <a16:colId xmlns:a16="http://schemas.microsoft.com/office/drawing/2014/main" val="20006"/>
                    </a:ext>
                  </a:extLst>
                </a:gridCol>
              </a:tblGrid>
              <a:tr h="566928">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المنصة</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النوع</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الاستهداف</a:t>
                      </a:r>
                      <a:r>
                        <a:rPr lang="en-US" altLang="en-US" sz="1300" b="1" i="0" dirty="0">
                          <a:solidFill>
                            <a:srgbClr val="FFFFFF"/>
                          </a:solidFill>
                          <a:latin typeface="Times New Roman"/>
                          <a:ea typeface="Times New Roman"/>
                          <a:cs typeface="Times New Roman"/>
                        </a:rPr>
                        <a:t> (Targeting)</a:t>
                      </a:r>
                      <a:endParaRPr lang="ar-SY" altLang="en-US" sz="13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فحص الجودة</a:t>
                      </a:r>
                      <a:r>
                        <a:rPr lang="en-US" altLang="en-US" sz="1300" b="1" i="0" dirty="0">
                          <a:solidFill>
                            <a:srgbClr val="FFFFFF"/>
                          </a:solidFill>
                          <a:latin typeface="Times New Roman"/>
                          <a:ea typeface="Times New Roman"/>
                          <a:cs typeface="Times New Roman"/>
                        </a:rPr>
                        <a:t> (Quality)</a:t>
                      </a:r>
                      <a:endParaRPr lang="ar-SY" altLang="en-US" sz="13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تحليل المشاعر</a:t>
                      </a:r>
                      <a:r>
                        <a:rPr lang="en-US" altLang="en-US" sz="1300" b="1" i="0" dirty="0">
                          <a:solidFill>
                            <a:srgbClr val="FFFFFF"/>
                          </a:solidFill>
                          <a:latin typeface="Times New Roman"/>
                          <a:ea typeface="Times New Roman"/>
                          <a:cs typeface="Times New Roman"/>
                        </a:rPr>
                        <a:t> (Sentiment)</a:t>
                      </a:r>
                      <a:endParaRPr lang="ar-SY" altLang="en-US" sz="13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نقطة القوة</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300" b="1" i="0" dirty="0">
                          <a:solidFill>
                            <a:srgbClr val="FFFFFF"/>
                          </a:solidFill>
                          <a:latin typeface="Times New Roman"/>
                          <a:ea typeface="Times New Roman"/>
                          <a:cs typeface="Times New Roman"/>
                        </a:rPr>
                        <a:t>نقطة الضعف</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extLst>
                  <a:ext uri="{0D108BD9-81ED-4DB2-BD59-A6C34878D82A}">
                    <a16:rowId xmlns:a16="http://schemas.microsoft.com/office/drawing/2014/main" val="10000"/>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Google Forms</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Builder</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لا يوجد</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إجابة واحدة لكل حساب</a:t>
                      </a:r>
                      <a:r>
                        <a:rPr lang="en-US" altLang="en-US" sz="1200" b="0" i="0" dirty="0">
                          <a:solidFill>
                            <a:srgbClr val="1A1A1A"/>
                          </a:solidFill>
                          <a:latin typeface="Times New Roman"/>
                          <a:ea typeface="Times New Roman"/>
                          <a:cs typeface="Times New Roman"/>
                        </a:rPr>
                        <a:t> </a:t>
                      </a:r>
                      <a:r>
                        <a:rPr lang="en-US" altLang="en-US" sz="1050" b="0" i="0" dirty="0">
                          <a:solidFill>
                            <a:srgbClr val="1A1A1A"/>
                          </a:solidFill>
                          <a:latin typeface="Times New Roman"/>
                          <a:ea typeface="Times New Roman"/>
                          <a:cs typeface="Times New Roman"/>
                        </a:rPr>
                        <a:t>[5]  </a:t>
                      </a:r>
                      <a:r>
                        <a:rPr lang="en-US" altLang="en-US" sz="1200" b="0" i="0" dirty="0">
                          <a:solidFill>
                            <a:srgbClr val="1A1A1A"/>
                          </a:solidFill>
                          <a:latin typeface="Times New Roman"/>
                          <a:ea typeface="Times New Roman"/>
                          <a:cs typeface="Times New Roman"/>
                        </a:rPr>
                        <a:t>Google </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ملخصات</a:t>
                      </a:r>
                      <a:r>
                        <a:rPr lang="en-US" altLang="en-US" sz="1200" b="0" i="0" dirty="0">
                          <a:solidFill>
                            <a:srgbClr val="1A1A1A"/>
                          </a:solidFill>
                          <a:latin typeface="Times New Roman"/>
                          <a:ea typeface="Times New Roman"/>
                          <a:cs typeface="Times New Roman"/>
                        </a:rPr>
                        <a:t> Gemini </a:t>
                      </a:r>
                      <a:r>
                        <a:rPr lang="ar-SY" altLang="en-US" sz="1200" b="0" i="0" dirty="0">
                          <a:solidFill>
                            <a:srgbClr val="1A1A1A"/>
                          </a:solidFill>
                          <a:latin typeface="Times New Roman"/>
                          <a:ea typeface="Times New Roman"/>
                          <a:cs typeface="Times New Roman"/>
                        </a:rPr>
                        <a:t>في خطط</a:t>
                      </a:r>
                      <a:r>
                        <a:rPr lang="en-US" altLang="en-US" sz="1200" b="0" i="0" dirty="0">
                          <a:solidFill>
                            <a:srgbClr val="1A1A1A"/>
                          </a:solidFill>
                          <a:latin typeface="Times New Roman"/>
                          <a:ea typeface="Times New Roman"/>
                          <a:cs typeface="Times New Roman"/>
                        </a:rPr>
                        <a:t> Workspace </a:t>
                      </a:r>
                      <a:r>
                        <a:rPr lang="ar-SY" altLang="en-US" sz="1200" b="0" i="0" dirty="0">
                          <a:solidFill>
                            <a:srgbClr val="1A1A1A"/>
                          </a:solidFill>
                          <a:latin typeface="Times New Roman"/>
                          <a:ea typeface="Times New Roman"/>
                          <a:cs typeface="Times New Roman"/>
                        </a:rPr>
                        <a:t>المدفوعة؛ لا تصنيف لكل إجابة</a:t>
                      </a:r>
                      <a:r>
                        <a:rPr lang="en-US" altLang="en-US" sz="1000" b="0" i="0" dirty="0">
                          <a:solidFill>
                            <a:srgbClr val="1A1A1A"/>
                          </a:solidFill>
                          <a:latin typeface="Times New Roman"/>
                          <a:ea typeface="Times New Roman"/>
                          <a:cs typeface="Times New Roman"/>
                        </a:rPr>
                        <a:t> [9] </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مجانية وسهلة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لا استهداف</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extLst>
                  <a:ext uri="{0D108BD9-81ED-4DB2-BD59-A6C34878D82A}">
                    <a16:rowId xmlns:a16="http://schemas.microsoft.com/office/drawing/2014/main" val="10001"/>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Typeform</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Builder</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لا يوجد</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reCAPTCHA</a:t>
                      </a:r>
                      <a:r>
                        <a:rPr lang="ar-SY" altLang="en-US" sz="1200" b="0" i="0" dirty="0">
                          <a:solidFill>
                            <a:srgbClr val="1A1A1A"/>
                          </a:solidFill>
                          <a:latin typeface="Times New Roman"/>
                          <a:ea typeface="Times New Roman"/>
                          <a:cs typeface="Times New Roman"/>
                        </a:rPr>
                        <a:t>؛ منع التكرار بالكوكيز في الخطط العليا </a:t>
                      </a:r>
                      <a:r>
                        <a:rPr lang="en-US" altLang="en-US" sz="1050" b="0" i="0" dirty="0">
                          <a:solidFill>
                            <a:srgbClr val="1A1A1A"/>
                          </a:solidFill>
                          <a:latin typeface="Times New Roman"/>
                          <a:ea typeface="Times New Roman"/>
                          <a:cs typeface="Times New Roman"/>
                        </a:rPr>
                        <a:t> [6]</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 Smart Insights </a:t>
                      </a:r>
                      <a:r>
                        <a:rPr lang="ar-SY" altLang="en-US" sz="1200" b="0" i="0" dirty="0">
                          <a:solidFill>
                            <a:srgbClr val="1A1A1A"/>
                          </a:solidFill>
                          <a:latin typeface="Times New Roman"/>
                          <a:ea typeface="Times New Roman"/>
                          <a:cs typeface="Times New Roman"/>
                        </a:rPr>
                        <a:t>في الخطط العليا؛ للإنجليزية فقط </a:t>
                      </a:r>
                      <a:r>
                        <a:rPr lang="en-US" altLang="en-US" sz="1200" b="0" i="0" dirty="0">
                          <a:solidFill>
                            <a:srgbClr val="1A1A1A"/>
                          </a:solidFill>
                          <a:latin typeface="Times New Roman"/>
                          <a:ea typeface="Times New Roman"/>
                          <a:cs typeface="Times New Roman"/>
                        </a:rPr>
                        <a:t> [8]</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سؤال واحد في الشاشة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منع التكرار يُتجاوز بمسح الكوكيز</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2"/>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SurveyMonkey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Builder</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عبر</a:t>
                      </a:r>
                      <a:r>
                        <a:rPr lang="en-US" altLang="en-US" sz="1200" b="0" i="0" dirty="0">
                          <a:solidFill>
                            <a:srgbClr val="1A1A1A"/>
                          </a:solidFill>
                          <a:latin typeface="Times New Roman"/>
                          <a:ea typeface="Times New Roman"/>
                          <a:cs typeface="Times New Roman"/>
                        </a:rPr>
                        <a:t> Audience </a:t>
                      </a:r>
                      <a:r>
                        <a:rPr lang="ar-SY" altLang="en-US" sz="1200" b="0" i="0" dirty="0">
                          <a:solidFill>
                            <a:srgbClr val="1A1A1A"/>
                          </a:solidFill>
                          <a:latin typeface="Times New Roman"/>
                          <a:ea typeface="Times New Roman"/>
                          <a:cs typeface="Times New Roman"/>
                        </a:rPr>
                        <a:t>المدفوع فقط</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إجابة واحدة، حظر عناوين</a:t>
                      </a:r>
                      <a:r>
                        <a:rPr lang="en-US" altLang="en-US" sz="1200" b="0" i="0" dirty="0">
                          <a:solidFill>
                            <a:srgbClr val="1A1A1A"/>
                          </a:solidFill>
                          <a:latin typeface="Times New Roman"/>
                          <a:ea typeface="Times New Roman"/>
                          <a:cs typeface="Times New Roman"/>
                        </a:rPr>
                        <a:t> IP </a:t>
                      </a:r>
                      <a:r>
                        <a:rPr lang="ar-SY" altLang="en-US" sz="1200" b="0" i="0" dirty="0">
                          <a:solidFill>
                            <a:srgbClr val="1A1A1A"/>
                          </a:solidFill>
                          <a:latin typeface="Times New Roman"/>
                          <a:ea typeface="Times New Roman"/>
                          <a:cs typeface="Times New Roman"/>
                        </a:rPr>
                        <a:t> </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في خطط مدفوعة؛ اللغات غير مذكورة </a:t>
                      </a:r>
                      <a:r>
                        <a:rPr lang="en-US" altLang="en-US" sz="1200" b="0" i="0" dirty="0">
                          <a:solidFill>
                            <a:srgbClr val="1A1A1A"/>
                          </a:solidFill>
                          <a:latin typeface="Times New Roman"/>
                          <a:ea typeface="Times New Roman"/>
                          <a:cs typeface="Times New Roman"/>
                        </a:rPr>
                        <a:t> [7]</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أنواع أسئلة ومنطق غني</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الاستهداف منتج منفصل</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3"/>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SurveyMonkey Audience</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Panel</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أكثر من</a:t>
                      </a:r>
                      <a:r>
                        <a:rPr lang="en-US" altLang="en-US" sz="1200" b="0" i="0" dirty="0">
                          <a:solidFill>
                            <a:srgbClr val="1A1A1A"/>
                          </a:solidFill>
                          <a:latin typeface="Times New Roman"/>
                          <a:ea typeface="Times New Roman"/>
                          <a:cs typeface="Times New Roman"/>
                        </a:rPr>
                        <a:t> 200 </a:t>
                      </a:r>
                      <a:r>
                        <a:rPr lang="ar-SY" altLang="en-US" sz="1200" b="0" i="0" dirty="0">
                          <a:solidFill>
                            <a:srgbClr val="1A1A1A"/>
                          </a:solidFill>
                          <a:latin typeface="Times New Roman"/>
                          <a:ea typeface="Times New Roman"/>
                          <a:cs typeface="Times New Roman"/>
                        </a:rPr>
                        <a:t>خيار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Machine Learning </a:t>
                      </a:r>
                      <a:r>
                        <a:rPr lang="ar-SY" altLang="en-US" sz="1200" b="0" i="0" dirty="0">
                          <a:solidFill>
                            <a:srgbClr val="1A1A1A"/>
                          </a:solidFill>
                          <a:latin typeface="Times New Roman"/>
                          <a:ea typeface="Times New Roman"/>
                          <a:cs typeface="Times New Roman"/>
                        </a:rPr>
                        <a:t> يستبدل الإجابات الضعيفة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غير مذكور (سحابة كلمات ووسوم)</a:t>
                      </a:r>
                      <a:r>
                        <a:rPr lang="en-US" altLang="en-US" sz="1200" b="0" i="0" dirty="0">
                          <a:solidFill>
                            <a:srgbClr val="1A1A1A"/>
                          </a:solidFill>
                          <a:latin typeface="Times New Roman"/>
                          <a:ea typeface="Times New Roman"/>
                          <a:cs typeface="Times New Roman"/>
                        </a:rPr>
                        <a:t> [15] </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وصول سريع</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سوريا غير مدرجة</a:t>
                      </a:r>
                      <a:r>
                        <a:rPr lang="en-US" altLang="en-US" sz="1200" b="0" i="0" dirty="0">
                          <a:solidFill>
                            <a:srgbClr val="1A1A1A"/>
                          </a:solidFill>
                          <a:latin typeface="Times New Roman"/>
                          <a:ea typeface="Times New Roman"/>
                          <a:cs typeface="Times New Roman"/>
                        </a:rPr>
                        <a:t> [1] </a:t>
                      </a:r>
                      <a:r>
                        <a:rPr lang="ar-SY" altLang="en-US" sz="1200" b="0" i="0" dirty="0">
                          <a:solidFill>
                            <a:srgbClr val="1A1A1A"/>
                          </a:solidFill>
                          <a:latin typeface="Times New Roman"/>
                          <a:ea typeface="Times New Roman"/>
                          <a:cs typeface="Times New Roman"/>
                        </a:rPr>
                        <a:t> </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4"/>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Prolific</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Panel</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أكثر من</a:t>
                      </a:r>
                      <a:r>
                        <a:rPr lang="en-US" altLang="en-US" sz="1200" b="0" i="0" dirty="0">
                          <a:solidFill>
                            <a:srgbClr val="1A1A1A"/>
                          </a:solidFill>
                          <a:latin typeface="Times New Roman"/>
                          <a:ea typeface="Times New Roman"/>
                          <a:cs typeface="Times New Roman"/>
                        </a:rPr>
                        <a:t> 300 </a:t>
                      </a:r>
                      <a:r>
                        <a:rPr lang="ar-SY" altLang="en-US" sz="1200" b="0" i="0" dirty="0">
                          <a:solidFill>
                            <a:srgbClr val="1A1A1A"/>
                          </a:solidFill>
                          <a:latin typeface="Times New Roman"/>
                          <a:ea typeface="Times New Roman"/>
                          <a:cs typeface="Times New Roman"/>
                        </a:rPr>
                        <a:t>فلتر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تحقق هوية، وسم السرعة،</a:t>
                      </a:r>
                      <a:r>
                        <a:rPr lang="en-US" altLang="en-US" sz="1200" b="0" i="0" dirty="0">
                          <a:solidFill>
                            <a:srgbClr val="1A1A1A"/>
                          </a:solidFill>
                          <a:latin typeface="Times New Roman"/>
                          <a:ea typeface="Times New Roman"/>
                          <a:cs typeface="Times New Roman"/>
                        </a:rPr>
                        <a:t> Quality Scores</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غير مذكور (الاستبيان يُستضاف خارجها)</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جودة للأبحاث</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سوريا غير مدرجة</a:t>
                      </a:r>
                      <a:r>
                        <a:rPr lang="en-US" altLang="en-US" sz="1200" b="0" i="0" dirty="0">
                          <a:solidFill>
                            <a:srgbClr val="1A1A1A"/>
                          </a:solidFill>
                          <a:latin typeface="Times New Roman"/>
                          <a:ea typeface="Times New Roman"/>
                          <a:cs typeface="Times New Roman"/>
                        </a:rPr>
                        <a:t> [2] </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5"/>
                  </a:ext>
                </a:extLst>
              </a:tr>
              <a:tr h="548640">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Pollfish</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200" b="0" i="0" dirty="0">
                          <a:solidFill>
                            <a:srgbClr val="1A1A1A"/>
                          </a:solidFill>
                          <a:latin typeface="Times New Roman"/>
                          <a:ea typeface="Times New Roman"/>
                          <a:cs typeface="Times New Roman"/>
                        </a:rPr>
                        <a:t>Panel</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ديموغرافي وجغرافي</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كشف احتيال آلي، يستبعد حتى</a:t>
                      </a:r>
                      <a:r>
                        <a:rPr lang="en-US" altLang="en-US" sz="1200" b="0" i="0" dirty="0">
                          <a:solidFill>
                            <a:srgbClr val="1A1A1A"/>
                          </a:solidFill>
                          <a:latin typeface="Times New Roman"/>
                          <a:ea typeface="Times New Roman"/>
                          <a:cs typeface="Times New Roman"/>
                        </a:rPr>
                        <a:t> ‎30%‎ [16]</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غير مذكور في لوحة النتائج </a:t>
                      </a:r>
                      <a:r>
                        <a:rPr lang="en-US" altLang="en-US" sz="1200" b="0" i="0" dirty="0">
                          <a:solidFill>
                            <a:srgbClr val="1A1A1A"/>
                          </a:solidFill>
                          <a:latin typeface="Times New Roman"/>
                          <a:ea typeface="Times New Roman"/>
                          <a:cs typeface="Times New Roman"/>
                        </a:rPr>
                        <a:t> [17]</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توزيع داخل التطبيقات</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200" b="0" i="0" dirty="0">
                          <a:solidFill>
                            <a:srgbClr val="1A1A1A"/>
                          </a:solidFill>
                          <a:latin typeface="Times New Roman"/>
                          <a:ea typeface="Times New Roman"/>
                          <a:cs typeface="Times New Roman"/>
                        </a:rPr>
                        <a:t>العربية غير مدعومة </a:t>
                      </a:r>
                      <a:r>
                        <a:rPr lang="en-US" altLang="en-US" sz="1200" b="0" i="0" dirty="0">
                          <a:solidFill>
                            <a:srgbClr val="1A1A1A"/>
                          </a:solidFill>
                          <a:latin typeface="Times New Roman"/>
                          <a:ea typeface="Times New Roman"/>
                          <a:cs typeface="Times New Roman"/>
                        </a:rPr>
                        <a:t>  [3]</a:t>
                      </a:r>
                      <a:endParaRPr lang="ar-SY" altLang="en-US" sz="12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6"/>
                  </a:ext>
                </a:extLst>
              </a:tr>
              <a:tr h="566928">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Smart Survey</a:t>
                      </a:r>
                      <a:endParaRPr lang="ar-SY" altLang="en-US" sz="1200" b="1" i="0" dirty="0">
                        <a:solidFill>
                          <a:srgbClr val="1A1A1A"/>
                        </a:solidFill>
                        <a:latin typeface="Times New Roman"/>
                        <a:ea typeface="Times New Roman"/>
                        <a:cs typeface="Times New Roman"/>
                      </a:endParaRPr>
                    </a:p>
                    <a:p>
                      <a:pPr algn="r" rtl="1">
                        <a:spcBef>
                          <a:spcPts val="0"/>
                        </a:spcBef>
                        <a:spcAft>
                          <a:spcPts val="0"/>
                        </a:spcAft>
                        <a:buNone/>
                      </a:pPr>
                      <a:r>
                        <a:rPr lang="ar-SY" altLang="en-US" sz="1200" b="1" i="0" dirty="0">
                          <a:solidFill>
                            <a:srgbClr val="1A1A1A"/>
                          </a:solidFill>
                          <a:latin typeface="Times New Roman"/>
                          <a:ea typeface="Times New Roman"/>
                          <a:cs typeface="Times New Roman"/>
                        </a:rPr>
                        <a:t>(مخطط له)</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en-US" altLang="en-US" sz="1200" b="1" i="0" dirty="0">
                          <a:solidFill>
                            <a:srgbClr val="1A1A1A"/>
                          </a:solidFill>
                          <a:latin typeface="Times New Roman"/>
                          <a:ea typeface="Times New Roman"/>
                          <a:cs typeface="Times New Roman"/>
                        </a:rPr>
                        <a:t>Platform/</a:t>
                      </a:r>
                      <a:endParaRPr lang="ar-SY" altLang="en-US" sz="1200" b="1" i="0" dirty="0">
                        <a:solidFill>
                          <a:srgbClr val="1A1A1A"/>
                        </a:solidFill>
                        <a:latin typeface="Times New Roman"/>
                        <a:ea typeface="Times New Roman"/>
                        <a:cs typeface="Times New Roman"/>
                      </a:endParaRPr>
                    </a:p>
                    <a:p>
                      <a:pPr algn="r" rtl="1">
                        <a:spcBef>
                          <a:spcPts val="0"/>
                        </a:spcBef>
                        <a:spcAft>
                          <a:spcPts val="0"/>
                        </a:spcAft>
                        <a:buNone/>
                      </a:pPr>
                      <a:r>
                        <a:rPr lang="en-US" altLang="en-US" sz="1200" b="1" i="0" dirty="0">
                          <a:solidFill>
                            <a:srgbClr val="1A1A1A"/>
                          </a:solidFill>
                          <a:latin typeface="Times New Roman"/>
                          <a:ea typeface="Times New Roman"/>
                          <a:cs typeface="Times New Roman"/>
                        </a:rPr>
                        <a:t>Panel</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ar-SY" altLang="en-US" sz="1200" b="1" i="0" dirty="0">
                          <a:solidFill>
                            <a:srgbClr val="1A1A1A"/>
                          </a:solidFill>
                          <a:latin typeface="Times New Roman"/>
                          <a:ea typeface="Times New Roman"/>
                          <a:cs typeface="Times New Roman"/>
                        </a:rPr>
                        <a:t>ملف موسّع ومحافظات سورية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ar-SY" altLang="en-US" sz="1200" b="1" i="0" dirty="0">
                          <a:solidFill>
                            <a:srgbClr val="1A1A1A"/>
                          </a:solidFill>
                          <a:latin typeface="Times New Roman"/>
                          <a:ea typeface="Times New Roman"/>
                          <a:cs typeface="Times New Roman"/>
                        </a:rPr>
                        <a:t>متعدد الطبقات: انتباه، سرعة، نمط، تكرار، درجة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ar-SY" altLang="en-US" sz="1200" b="1" i="0" dirty="0">
                          <a:solidFill>
                            <a:srgbClr val="1A1A1A"/>
                          </a:solidFill>
                          <a:latin typeface="Times New Roman"/>
                          <a:ea typeface="Times New Roman"/>
                          <a:cs typeface="Times New Roman"/>
                        </a:rPr>
                        <a:t>مدمج لكل إجابة: عربي فصحى وإنجليزي</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ar-SY" altLang="en-US" sz="1200" b="1" i="0" dirty="0">
                          <a:solidFill>
                            <a:srgbClr val="1A1A1A"/>
                          </a:solidFill>
                          <a:latin typeface="Times New Roman"/>
                          <a:ea typeface="Times New Roman"/>
                          <a:cs typeface="Times New Roman"/>
                        </a:rPr>
                        <a:t>يجمع الثلاثة لسوريا</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tc>
                  <a:txBody>
                    <a:bodyPr/>
                    <a:lstStyle/>
                    <a:p>
                      <a:pPr algn="r" rtl="1">
                        <a:spcBef>
                          <a:spcPts val="0"/>
                        </a:spcBef>
                        <a:spcAft>
                          <a:spcPts val="0"/>
                        </a:spcAft>
                        <a:buNone/>
                      </a:pPr>
                      <a:r>
                        <a:rPr lang="ar-SY" altLang="en-US" sz="1200" b="1" i="0" dirty="0">
                          <a:solidFill>
                            <a:srgbClr val="1A1A1A"/>
                          </a:solidFill>
                          <a:latin typeface="Times New Roman"/>
                          <a:ea typeface="Times New Roman"/>
                          <a:cs typeface="Times New Roman"/>
                        </a:rPr>
                        <a:t>قيد التنفيذ حتى</a:t>
                      </a:r>
                      <a:r>
                        <a:rPr lang="en-US" altLang="en-US" sz="1200" b="1" i="0" dirty="0">
                          <a:solidFill>
                            <a:srgbClr val="1A1A1A"/>
                          </a:solidFill>
                          <a:latin typeface="Times New Roman"/>
                          <a:ea typeface="Times New Roman"/>
                          <a:cs typeface="Times New Roman"/>
                        </a:rPr>
                        <a:t> 1/2027</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2CC"/>
                    </a:solidFill>
                  </a:tcPr>
                </a:tc>
                <a:extLst>
                  <a:ext uri="{0D108BD9-81ED-4DB2-BD59-A6C34878D82A}">
                    <a16:rowId xmlns:a16="http://schemas.microsoft.com/office/drawing/2014/main" val="10007"/>
                  </a:ext>
                </a:extLst>
              </a:tr>
            </a:tbl>
          </a:graphicData>
        </a:graphic>
      </p:graphicFrame>
      <p:sp>
        <p:nvSpPr>
          <p:cNvPr id="9" name="Gap statement"/>
          <p:cNvSpPr/>
          <p:nvPr/>
        </p:nvSpPr>
        <p:spPr>
          <a:xfrm>
            <a:off x="548640" y="5440680"/>
            <a:ext cx="11091672" cy="457200"/>
          </a:xfrm>
          <a:prstGeom prst="roundRect">
            <a:avLst>
              <a:gd name="adj" fmla="val 8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27432" rIns="137160" bIns="27432" rtlCol="0" anchor="ctr">
            <a:noAutofit/>
          </a:bodyPr>
          <a:lstStyle/>
          <a:p>
            <a:pPr algn="r" rtl="1">
              <a:spcBef>
                <a:spcPts val="0"/>
              </a:spcBef>
              <a:spcAft>
                <a:spcPts val="0"/>
              </a:spcAft>
              <a:buNone/>
            </a:pPr>
            <a:r>
              <a:rPr lang="ar-SY" altLang="en-US" sz="1600" b="1" i="0" dirty="0">
                <a:solidFill>
                  <a:srgbClr val="FFFFFF"/>
                </a:solidFill>
                <a:latin typeface="Times New Roman"/>
                <a:ea typeface="Times New Roman"/>
                <a:cs typeface="Times New Roman"/>
              </a:rPr>
              <a:t>الفجوة: </a:t>
            </a:r>
            <a:r>
              <a:rPr lang="ar-SY" altLang="en-US" sz="1600" b="0" i="0" dirty="0">
                <a:solidFill>
                  <a:srgbClr val="FFFFFF"/>
                </a:solidFill>
                <a:latin typeface="Times New Roman"/>
                <a:ea typeface="Times New Roman"/>
                <a:cs typeface="Times New Roman"/>
              </a:rPr>
              <a:t>لا تجمع أي منصة من الست بين الاستهداف بالملف لسوريا، وفحص الجودة متعدد الطبقات، وتحليل المشاعر المدمج بالعربية.</a:t>
            </a:r>
          </a:p>
        </p:txBody>
      </p:sp>
      <p:sp>
        <p:nvSpPr>
          <p:cNvPr id="10" name="Comparison source"/>
          <p:cNvSpPr txBox="1"/>
          <p:nvPr/>
        </p:nvSpPr>
        <p:spPr>
          <a:xfrm>
            <a:off x="548640" y="5916168"/>
            <a:ext cx="11091672" cy="274320"/>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1100" b="0" i="0" dirty="0">
                <a:solidFill>
                  <a:srgbClr val="595959"/>
                </a:solidFill>
                <a:latin typeface="Times New Roman"/>
                <a:ea typeface="Times New Roman"/>
                <a:cs typeface="Times New Roman"/>
              </a:rPr>
              <a:t>المصدر: صفحات المساعدة الرسمية للمنصات،</a:t>
            </a:r>
            <a:r>
              <a:rPr lang="en-US" altLang="en-US" sz="1100" b="0" i="0" dirty="0">
                <a:solidFill>
                  <a:srgbClr val="595959"/>
                </a:solidFill>
                <a:latin typeface="Times New Roman"/>
                <a:ea typeface="Times New Roman"/>
                <a:cs typeface="Times New Roman"/>
              </a:rPr>
              <a:t> 23–27/10/2026. «</a:t>
            </a:r>
            <a:r>
              <a:rPr lang="ar-SY" altLang="en-US" sz="1100" b="0" i="0" dirty="0">
                <a:solidFill>
                  <a:srgbClr val="595959"/>
                </a:solidFill>
                <a:latin typeface="Times New Roman"/>
                <a:ea typeface="Times New Roman"/>
                <a:cs typeface="Times New Roman"/>
              </a:rPr>
              <a:t>غير مذكور» = لم تذكره الصفحات المقروءة، ولا يعني بالضرورة أن الميزة غير موجودة.</a:t>
            </a:r>
          </a:p>
        </p:txBody>
      </p:sp>
    </p:spTree>
    <p:extLst>
      <p:ext uri="{BB962C8B-B14F-4D97-AF65-F5344CB8AC3E}">
        <p14:creationId xmlns:p14="http://schemas.microsoft.com/office/powerpoint/2010/main" val="22012794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2812627-07FD-457B-3E38-682993769D31}"/>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E83FE5E1-8F32-7A75-D549-1B986529101A}"/>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C10EB202-87AB-2A68-ACDD-C0D1E32103D4}"/>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6</a:t>
            </a:fld>
            <a:endParaRPr lang="en-US"/>
          </a:p>
        </p:txBody>
      </p:sp>
      <p:sp>
        <p:nvSpPr>
          <p:cNvPr id="7" name="Title">
            <a:extLst>
              <a:ext uri="{FF2B5EF4-FFF2-40B4-BE49-F238E27FC236}">
                <a16:creationId xmlns:a16="http://schemas.microsoft.com/office/drawing/2014/main" id="{3238F884-D39F-11EE-4D51-5280663BEB05}"/>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المتطلبات الوظيفية العامة</a:t>
            </a:r>
            <a:r>
              <a:rPr lang="en-US" altLang="en-US" sz="2800" b="1" i="0" dirty="0">
                <a:solidFill>
                  <a:srgbClr val="2F5496"/>
                </a:solidFill>
                <a:latin typeface="Times New Roman"/>
                <a:ea typeface="Times New Roman"/>
                <a:cs typeface="Times New Roman"/>
              </a:rPr>
              <a:t> (General FR) </a:t>
            </a:r>
            <a:r>
              <a:rPr lang="ar-SY" altLang="en-US" sz="2800" b="1" i="0" dirty="0">
                <a:solidFill>
                  <a:srgbClr val="2F5496"/>
                </a:solidFill>
                <a:latin typeface="Times New Roman"/>
                <a:ea typeface="Times New Roman"/>
                <a:cs typeface="Times New Roman"/>
              </a:rPr>
              <a:t>وغير الوظيفية</a:t>
            </a:r>
            <a:r>
              <a:rPr lang="en-US" altLang="en-US" sz="2800" b="1" i="0" dirty="0">
                <a:solidFill>
                  <a:srgbClr val="2F5496"/>
                </a:solidFill>
                <a:latin typeface="Times New Roman"/>
                <a:ea typeface="Times New Roman"/>
                <a:cs typeface="Times New Roman"/>
              </a:rPr>
              <a:t>  (NFR) </a:t>
            </a:r>
            <a:endParaRPr lang="ar-SY" altLang="en-US" sz="2800" b="1" i="0" dirty="0">
              <a:solidFill>
                <a:srgbClr val="2F5496"/>
              </a:solidFill>
              <a:latin typeface="Times New Roman"/>
              <a:ea typeface="Times New Roman"/>
              <a:cs typeface="Times New Roman"/>
            </a:endParaRPr>
          </a:p>
        </p:txBody>
      </p:sp>
      <p:sp>
        <p:nvSpPr>
          <p:cNvPr id="8" name="FR-G heading"/>
          <p:cNvSpPr txBox="1"/>
          <p:nvPr/>
        </p:nvSpPr>
        <p:spPr>
          <a:xfrm>
            <a:off x="6355080" y="914400"/>
            <a:ext cx="5285232" cy="384048"/>
          </a:xfrm>
          <a:prstGeom prst="rect">
            <a:avLst/>
          </a:prstGeom>
          <a:noFill/>
        </p:spPr>
        <p:txBody>
          <a:bodyPr wrap="square" lIns="45720" tIns="27432" rIns="45720" bIns="27432" rtlCol="0" anchor="t">
            <a:noAutofit/>
          </a:bodyPr>
          <a:lstStyle/>
          <a:p>
            <a:pPr algn="r" rtl="1">
              <a:spcBef>
                <a:spcPts val="0"/>
              </a:spcBef>
              <a:spcAft>
                <a:spcPts val="0"/>
              </a:spcAft>
              <a:buNone/>
            </a:pPr>
            <a:r>
              <a:rPr lang="en-US" altLang="en-US" sz="1600" b="1" i="0" dirty="0">
                <a:solidFill>
                  <a:srgbClr val="2F5496"/>
                </a:solidFill>
                <a:latin typeface="Times New Roman"/>
                <a:ea typeface="Times New Roman"/>
                <a:cs typeface="Times New Roman"/>
              </a:rPr>
              <a:t>General Functional Requirements</a:t>
            </a:r>
            <a:endParaRPr lang="ar-SY" altLang="en-US" sz="1600" b="1" i="0" dirty="0">
              <a:solidFill>
                <a:srgbClr val="2F5496"/>
              </a:solidFill>
              <a:latin typeface="Times New Roman"/>
              <a:ea typeface="Times New Roman"/>
              <a:cs typeface="Times New Roman"/>
            </a:endParaRPr>
          </a:p>
        </p:txBody>
      </p:sp>
      <p:graphicFrame>
        <p:nvGraphicFramePr>
          <p:cNvPr id="9" name="FR-G table"/>
          <p:cNvGraphicFramePr>
            <a:graphicFrameLocks noGrp="1"/>
          </p:cNvGraphicFramePr>
          <p:nvPr/>
        </p:nvGraphicFramePr>
        <p:xfrm>
          <a:off x="6355080" y="1344168"/>
          <a:ext cx="5285232" cy="4517136"/>
        </p:xfrm>
        <a:graphic>
          <a:graphicData uri="http://schemas.openxmlformats.org/drawingml/2006/table">
            <a:tbl>
              <a:tblPr rtl="1">
                <a:tableStyleId>{5C22544A-7EE6-4342-B048-85BDC9FD1C3A}</a:tableStyleId>
              </a:tblPr>
              <a:tblGrid>
                <a:gridCol w="96012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tblGrid>
              <a:tr h="457200">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ID</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400" b="1" i="0" dirty="0">
                          <a:solidFill>
                            <a:srgbClr val="FFFFFF"/>
                          </a:solidFill>
                          <a:latin typeface="Times New Roman"/>
                          <a:ea typeface="Times New Roman"/>
                          <a:cs typeface="Times New Roman"/>
                        </a:rPr>
                        <a:t>المتطلب الوظيفي العام</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extLst>
                  <a:ext uri="{0D108BD9-81ED-4DB2-BD59-A6C34878D82A}">
                    <a16:rowId xmlns:a16="http://schemas.microsoft.com/office/drawing/2014/main" val="10000"/>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FR-G01</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يتيح النظام للمستجيب التسجيل والإجابة عن الاستبيانات عبر الويب ثم عبر تطبيق جوال</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extLst>
                  <a:ext uri="{0D108BD9-81ED-4DB2-BD59-A6C34878D82A}">
                    <a16:rowId xmlns:a16="http://schemas.microsoft.com/office/drawing/2014/main" val="10001"/>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FR-G02</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يطابق النظام الاستبيانات مع المستجيبين حسب ملفهم الديموغرافي</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2"/>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FR-G03</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يتيح النظام للمزوّد إنشاء الاستبيانات وإدارة دورة حياتها، ولمدير النظام</a:t>
                      </a:r>
                      <a:r>
                        <a:rPr lang="en-US" altLang="en-US" sz="1400" b="0" i="0" dirty="0">
                          <a:solidFill>
                            <a:srgbClr val="1A1A1A"/>
                          </a:solidFill>
                          <a:latin typeface="Times New Roman"/>
                          <a:ea typeface="Times New Roman"/>
                          <a:cs typeface="Times New Roman"/>
                        </a:rPr>
                        <a:t> (Admin) </a:t>
                      </a:r>
                      <a:r>
                        <a:rPr lang="ar-SY" altLang="en-US" sz="1400" b="0" i="0" dirty="0">
                          <a:solidFill>
                            <a:srgbClr val="1A1A1A"/>
                          </a:solidFill>
                          <a:latin typeface="Times New Roman"/>
                          <a:ea typeface="Times New Roman"/>
                          <a:cs typeface="Times New Roman"/>
                        </a:rPr>
                        <a:t>مراجعتها قبل النشر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3"/>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FR-G04</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يكشف النظام الإجابات منخفضة الجودة ويسِمها دون حذفها</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4"/>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FR-G05</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يحلل النظام النتائج ومشاعر الإجابات المفتوحة ويتيح تصديرها</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5"/>
                  </a:ext>
                </a:extLst>
              </a:tr>
              <a:tr h="676656">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FR-G06</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يجب أن يحمي النظام الحسابات وخصوصية المستجيب، ويتيح إدارة المستخدمين وإشعارات المستجيب</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6"/>
                  </a:ext>
                </a:extLst>
              </a:tr>
            </a:tbl>
          </a:graphicData>
        </a:graphic>
      </p:graphicFrame>
      <p:sp>
        <p:nvSpPr>
          <p:cNvPr id="10" name="NFR heading"/>
          <p:cNvSpPr txBox="1"/>
          <p:nvPr/>
        </p:nvSpPr>
        <p:spPr>
          <a:xfrm>
            <a:off x="548640" y="914400"/>
            <a:ext cx="5623560" cy="384048"/>
          </a:xfrm>
          <a:prstGeom prst="rect">
            <a:avLst/>
          </a:prstGeom>
          <a:noFill/>
        </p:spPr>
        <p:txBody>
          <a:bodyPr wrap="square" lIns="45720" tIns="27432" rIns="45720" bIns="27432" rtlCol="0" anchor="t">
            <a:noAutofit/>
          </a:bodyPr>
          <a:lstStyle/>
          <a:p>
            <a:pPr algn="r" rtl="1">
              <a:spcBef>
                <a:spcPts val="0"/>
              </a:spcBef>
              <a:spcAft>
                <a:spcPts val="0"/>
              </a:spcAft>
              <a:buNone/>
            </a:pPr>
            <a:r>
              <a:rPr lang="en-US" altLang="en-US" sz="1600" b="1" i="0" dirty="0">
                <a:solidFill>
                  <a:srgbClr val="2F5496"/>
                </a:solidFill>
                <a:latin typeface="Times New Roman"/>
                <a:ea typeface="Times New Roman"/>
                <a:cs typeface="Times New Roman"/>
              </a:rPr>
              <a:t>Non-Functional Requirements — </a:t>
            </a:r>
            <a:r>
              <a:rPr lang="en-US" altLang="en-US" sz="1200" b="1" i="0" dirty="0">
                <a:solidFill>
                  <a:srgbClr val="2F5496"/>
                </a:solidFill>
                <a:latin typeface="Times New Roman"/>
                <a:ea typeface="Times New Roman"/>
                <a:cs typeface="Times New Roman"/>
              </a:rPr>
              <a:t>ISO/IEC 25010:2023 [18]</a:t>
            </a:r>
            <a:endParaRPr lang="ar-SY" altLang="en-US" sz="1600" b="1" i="0" dirty="0">
              <a:solidFill>
                <a:srgbClr val="2F5496"/>
              </a:solidFill>
              <a:latin typeface="Times New Roman"/>
              <a:ea typeface="Times New Roman"/>
              <a:cs typeface="Times New Roman"/>
            </a:endParaRPr>
          </a:p>
        </p:txBody>
      </p:sp>
      <p:graphicFrame>
        <p:nvGraphicFramePr>
          <p:cNvPr id="11" name="NFR table"/>
          <p:cNvGraphicFramePr>
            <a:graphicFrameLocks noGrp="1"/>
          </p:cNvGraphicFramePr>
          <p:nvPr>
            <p:extLst>
              <p:ext uri="{D42A27DB-BD31-4B8C-83A1-F6EECF244321}">
                <p14:modId xmlns:p14="http://schemas.microsoft.com/office/powerpoint/2010/main" val="3846145622"/>
              </p:ext>
            </p:extLst>
          </p:nvPr>
        </p:nvGraphicFramePr>
        <p:xfrm>
          <a:off x="548640" y="1344168"/>
          <a:ext cx="5623560" cy="4706112"/>
        </p:xfrm>
        <a:graphic>
          <a:graphicData uri="http://schemas.openxmlformats.org/drawingml/2006/table">
            <a:tbl>
              <a:tblPr rtl="1">
                <a:tableStyleId>{5C22544A-7EE6-4342-B048-85BDC9FD1C3A}</a:tableStyleId>
              </a:tblPr>
              <a:tblGrid>
                <a:gridCol w="8686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tblGrid>
              <a:tr h="457200">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ID</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Quality Characteristic</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400" b="1" i="0" dirty="0">
                          <a:solidFill>
                            <a:srgbClr val="FFFFFF"/>
                          </a:solidFill>
                          <a:latin typeface="Times New Roman"/>
                          <a:ea typeface="Times New Roman"/>
                          <a:cs typeface="Times New Roman"/>
                        </a:rPr>
                        <a:t>المتطلب</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extLst>
                  <a:ext uri="{0D108BD9-81ED-4DB2-BD59-A6C34878D82A}">
                    <a16:rowId xmlns:a16="http://schemas.microsoft.com/office/drawing/2014/main" val="10000"/>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NFR-01</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Performance Efficiency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en-US" altLang="en-US" sz="1300" b="0" i="0" dirty="0">
                          <a:solidFill>
                            <a:srgbClr val="1A1A1A"/>
                          </a:solidFill>
                          <a:latin typeface="Times New Roman"/>
                          <a:ea typeface="Times New Roman"/>
                          <a:cs typeface="Times New Roman"/>
                        </a:rPr>
                        <a:t>‎ 95%‎  </a:t>
                      </a:r>
                      <a:r>
                        <a:rPr lang="ar-SY" altLang="en-US" sz="1300" b="0" i="0" dirty="0">
                          <a:solidFill>
                            <a:srgbClr val="1A1A1A"/>
                          </a:solidFill>
                          <a:latin typeface="Times New Roman"/>
                          <a:ea typeface="Times New Roman"/>
                          <a:cs typeface="Times New Roman"/>
                        </a:rPr>
                        <a:t>من طلبات الـ</a:t>
                      </a:r>
                      <a:r>
                        <a:rPr lang="en-US" altLang="en-US" sz="1300" b="0" i="0" dirty="0">
                          <a:solidFill>
                            <a:srgbClr val="1A1A1A"/>
                          </a:solidFill>
                          <a:latin typeface="Times New Roman"/>
                          <a:ea typeface="Times New Roman"/>
                          <a:cs typeface="Times New Roman"/>
                        </a:rPr>
                        <a:t> API </a:t>
                      </a:r>
                      <a:r>
                        <a:rPr lang="ar-SY" altLang="en-US" sz="1300" b="0" i="0" dirty="0">
                          <a:solidFill>
                            <a:srgbClr val="1A1A1A"/>
                          </a:solidFill>
                          <a:latin typeface="Times New Roman"/>
                          <a:ea typeface="Times New Roman"/>
                          <a:cs typeface="Times New Roman"/>
                        </a:rPr>
                        <a:t>في أقل من ثانيتين؛</a:t>
                      </a:r>
                      <a:r>
                        <a:rPr lang="en-US" altLang="en-US" sz="1300" b="0" i="0" dirty="0">
                          <a:solidFill>
                            <a:srgbClr val="1A1A1A"/>
                          </a:solidFill>
                          <a:latin typeface="Times New Roman"/>
                          <a:ea typeface="Times New Roman"/>
                          <a:cs typeface="Times New Roman"/>
                        </a:rPr>
                        <a:t> Sentiment Analysis  </a:t>
                      </a:r>
                      <a:r>
                        <a:rPr lang="ar-SA" altLang="en-US" sz="1300" b="0" i="0" dirty="0">
                          <a:solidFill>
                            <a:srgbClr val="1A1A1A"/>
                          </a:solidFill>
                          <a:latin typeface="Times New Roman"/>
                          <a:ea typeface="Times New Roman"/>
                          <a:cs typeface="Times New Roman"/>
                        </a:rPr>
                        <a:t> ي</a:t>
                      </a:r>
                      <a:r>
                        <a:rPr lang="ar-SY" altLang="en-US" sz="1300" b="0" i="0" dirty="0">
                          <a:solidFill>
                            <a:srgbClr val="1A1A1A"/>
                          </a:solidFill>
                          <a:latin typeface="Times New Roman"/>
                          <a:ea typeface="Times New Roman"/>
                          <a:cs typeface="Times New Roman"/>
                        </a:rPr>
                        <a:t>جري بعد حفظ الإجابة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extLst>
                  <a:ext uri="{0D108BD9-81ED-4DB2-BD59-A6C34878D82A}">
                    <a16:rowId xmlns:a16="http://schemas.microsoft.com/office/drawing/2014/main" val="10001"/>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NFR-02</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Security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300" b="0" i="0" dirty="0">
                          <a:solidFill>
                            <a:srgbClr val="1A1A1A"/>
                          </a:solidFill>
                          <a:latin typeface="Times New Roman"/>
                          <a:ea typeface="Times New Roman"/>
                          <a:cs typeface="Times New Roman"/>
                        </a:rPr>
                        <a:t>JWT</a:t>
                      </a:r>
                      <a:r>
                        <a:rPr lang="ar-SY" altLang="en-US" sz="1300" b="0" i="0" dirty="0">
                          <a:solidFill>
                            <a:srgbClr val="1A1A1A"/>
                          </a:solidFill>
                          <a:latin typeface="Times New Roman"/>
                          <a:ea typeface="Times New Roman"/>
                          <a:cs typeface="Times New Roman"/>
                        </a:rPr>
                        <a:t>، فحص الدور والملكية في</a:t>
                      </a:r>
                      <a:r>
                        <a:rPr lang="en-US" altLang="en-US" sz="1300" b="0" i="0" dirty="0">
                          <a:solidFill>
                            <a:srgbClr val="1A1A1A"/>
                          </a:solidFill>
                          <a:latin typeface="Times New Roman"/>
                          <a:ea typeface="Times New Roman"/>
                          <a:cs typeface="Times New Roman"/>
                        </a:rPr>
                        <a:t> Business Layer </a:t>
                      </a:r>
                      <a:r>
                        <a:rPr lang="ar-SY" altLang="en-US" sz="1300" b="0" i="0" dirty="0">
                          <a:solidFill>
                            <a:srgbClr val="1A1A1A"/>
                          </a:solidFill>
                          <a:latin typeface="Times New Roman"/>
                          <a:ea typeface="Times New Roman"/>
                          <a:cs typeface="Times New Roman"/>
                        </a:rPr>
                        <a:t>،</a:t>
                      </a:r>
                      <a:r>
                        <a:rPr lang="en-US" altLang="en-US" sz="1300" b="0" i="0" dirty="0">
                          <a:solidFill>
                            <a:srgbClr val="1A1A1A"/>
                          </a:solidFill>
                          <a:latin typeface="Times New Roman"/>
                          <a:ea typeface="Times New Roman"/>
                          <a:cs typeface="Times New Roman"/>
                        </a:rPr>
                        <a:t> Password Hashing</a:t>
                      </a:r>
                      <a:r>
                        <a:rPr lang="ar-SY" altLang="en-US" sz="1300" b="0" i="0" dirty="0">
                          <a:solidFill>
                            <a:srgbClr val="1A1A1A"/>
                          </a:solidFill>
                          <a:latin typeface="Times New Roman"/>
                          <a:ea typeface="Times New Roman"/>
                          <a:cs typeface="Times New Roman"/>
                        </a:rPr>
                        <a:t>،</a:t>
                      </a:r>
                      <a:r>
                        <a:rPr lang="en-US" altLang="en-US" sz="1300" b="0" i="0" dirty="0">
                          <a:solidFill>
                            <a:srgbClr val="1A1A1A"/>
                          </a:solidFill>
                          <a:latin typeface="Times New Roman"/>
                          <a:ea typeface="Times New Roman"/>
                          <a:cs typeface="Times New Roman"/>
                        </a:rPr>
                        <a:t> Login Throttling</a:t>
                      </a:r>
                      <a:endParaRPr lang="ar-SY" altLang="en-US" sz="13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2"/>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NFR-03</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Reliability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300" b="0" i="0" dirty="0">
                          <a:solidFill>
                            <a:srgbClr val="1A1A1A"/>
                          </a:solidFill>
                          <a:latin typeface="Times New Roman"/>
                          <a:ea typeface="Times New Roman"/>
                          <a:cs typeface="Times New Roman"/>
                        </a:rPr>
                        <a:t>حفظ ذرّي</a:t>
                      </a:r>
                      <a:r>
                        <a:rPr lang="en-US" altLang="en-US" sz="1300" b="0" i="0" dirty="0">
                          <a:solidFill>
                            <a:srgbClr val="1A1A1A"/>
                          </a:solidFill>
                          <a:latin typeface="Times New Roman"/>
                          <a:ea typeface="Times New Roman"/>
                          <a:cs typeface="Times New Roman"/>
                        </a:rPr>
                        <a:t> (Atomic) </a:t>
                      </a:r>
                      <a:r>
                        <a:rPr lang="ar-SY" altLang="en-US" sz="1300" b="0" i="0" dirty="0">
                          <a:solidFill>
                            <a:srgbClr val="1A1A1A"/>
                          </a:solidFill>
                          <a:latin typeface="Times New Roman"/>
                          <a:ea typeface="Times New Roman"/>
                          <a:cs typeface="Times New Roman"/>
                        </a:rPr>
                        <a:t>، وإجابة واحدة لكل مستجيب بقيد</a:t>
                      </a:r>
                      <a:r>
                        <a:rPr lang="en-US" altLang="en-US" sz="1300" b="0" i="0" dirty="0">
                          <a:solidFill>
                            <a:srgbClr val="1A1A1A"/>
                          </a:solidFill>
                          <a:latin typeface="Times New Roman"/>
                          <a:ea typeface="Times New Roman"/>
                          <a:cs typeface="Times New Roman"/>
                        </a:rPr>
                        <a:t> Unique (409) </a:t>
                      </a:r>
                      <a:r>
                        <a:rPr lang="ar-SA" altLang="en-US" sz="1300" b="0" i="0" dirty="0">
                          <a:solidFill>
                            <a:srgbClr val="1A1A1A"/>
                          </a:solidFill>
                          <a:latin typeface="Times New Roman"/>
                          <a:ea typeface="Times New Roman"/>
                          <a:cs typeface="Times New Roman"/>
                        </a:rPr>
                        <a:t> </a:t>
                      </a:r>
                      <a:r>
                        <a:rPr lang="ar-SY" altLang="en-US" sz="1300" b="0" i="0" dirty="0">
                          <a:solidFill>
                            <a:srgbClr val="1A1A1A"/>
                          </a:solidFill>
                          <a:latin typeface="Times New Roman"/>
                          <a:ea typeface="Times New Roman"/>
                          <a:cs typeface="Times New Roman"/>
                        </a:rPr>
                        <a:t>عند التكرار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3"/>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NFR-04</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Maintainability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300" b="0" i="0" dirty="0">
                          <a:solidFill>
                            <a:srgbClr val="1A1A1A"/>
                          </a:solidFill>
                          <a:latin typeface="Times New Roman"/>
                          <a:ea typeface="Times New Roman"/>
                          <a:cs typeface="Times New Roman"/>
                        </a:rPr>
                        <a:t>Layered Architecture</a:t>
                      </a:r>
                      <a:r>
                        <a:rPr lang="ar-SY" altLang="en-US" sz="1300" b="0" i="0" dirty="0">
                          <a:solidFill>
                            <a:srgbClr val="1A1A1A"/>
                          </a:solidFill>
                          <a:latin typeface="Times New Roman"/>
                          <a:ea typeface="Times New Roman"/>
                          <a:cs typeface="Times New Roman"/>
                        </a:rPr>
                        <a:t>، واختبارات آلية تعمل في</a:t>
                      </a:r>
                      <a:r>
                        <a:rPr lang="en-US" altLang="en-US" sz="1300" b="0" i="0" dirty="0">
                          <a:solidFill>
                            <a:srgbClr val="1A1A1A"/>
                          </a:solidFill>
                          <a:latin typeface="Times New Roman"/>
                          <a:ea typeface="Times New Roman"/>
                          <a:cs typeface="Times New Roman"/>
                        </a:rPr>
                        <a:t> CI </a:t>
                      </a:r>
                      <a:r>
                        <a:rPr lang="ar-SY" altLang="en-US" sz="1300" b="0" i="0" dirty="0">
                          <a:solidFill>
                            <a:srgbClr val="1A1A1A"/>
                          </a:solidFill>
                          <a:latin typeface="Times New Roman"/>
                          <a:ea typeface="Times New Roman"/>
                          <a:cs typeface="Times New Roman"/>
                        </a:rPr>
                        <a:t>قبل كل</a:t>
                      </a:r>
                      <a:r>
                        <a:rPr lang="ar-SA" altLang="en-US" sz="1300" b="0" i="0" dirty="0">
                          <a:solidFill>
                            <a:srgbClr val="1A1A1A"/>
                          </a:solidFill>
                          <a:latin typeface="Times New Roman"/>
                          <a:ea typeface="Times New Roman"/>
                          <a:cs typeface="Times New Roman"/>
                        </a:rPr>
                        <a:t> </a:t>
                      </a:r>
                      <a:r>
                        <a:rPr lang="en-US" altLang="en-US" sz="1300" b="0" i="0" dirty="0">
                          <a:solidFill>
                            <a:srgbClr val="1A1A1A"/>
                          </a:solidFill>
                          <a:latin typeface="Times New Roman"/>
                          <a:ea typeface="Times New Roman"/>
                          <a:cs typeface="Times New Roman"/>
                        </a:rPr>
                        <a:t> Merge</a:t>
                      </a:r>
                      <a:endParaRPr lang="ar-SY" altLang="en-US" sz="13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4"/>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NFR-05</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Interaction Capability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300" b="0" i="0" dirty="0">
                          <a:solidFill>
                            <a:srgbClr val="1A1A1A"/>
                          </a:solidFill>
                          <a:latin typeface="Times New Roman"/>
                          <a:ea typeface="Times New Roman"/>
                          <a:cs typeface="Times New Roman"/>
                        </a:rPr>
                        <a:t>حالات</a:t>
                      </a:r>
                      <a:r>
                        <a:rPr lang="en-US" altLang="en-US" sz="1300" b="0" i="0" dirty="0">
                          <a:solidFill>
                            <a:srgbClr val="1A1A1A"/>
                          </a:solidFill>
                          <a:latin typeface="Times New Roman"/>
                          <a:ea typeface="Times New Roman"/>
                          <a:cs typeface="Times New Roman"/>
                        </a:rPr>
                        <a:t> Loading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Error </a:t>
                      </a:r>
                      <a:r>
                        <a:rPr lang="ar-SY" altLang="en-US" sz="1300" b="0" i="0" dirty="0">
                          <a:solidFill>
                            <a:srgbClr val="1A1A1A"/>
                          </a:solidFill>
                          <a:latin typeface="Times New Roman"/>
                          <a:ea typeface="Times New Roman"/>
                          <a:cs typeface="Times New Roman"/>
                        </a:rPr>
                        <a:t>و</a:t>
                      </a:r>
                      <a:r>
                        <a:rPr lang="en-US" altLang="en-US" sz="1300" b="0" i="0" dirty="0">
                          <a:solidFill>
                            <a:srgbClr val="1A1A1A"/>
                          </a:solidFill>
                          <a:latin typeface="Times New Roman"/>
                          <a:ea typeface="Times New Roman"/>
                          <a:cs typeface="Times New Roman"/>
                        </a:rPr>
                        <a:t> Empty </a:t>
                      </a:r>
                      <a:r>
                        <a:rPr lang="ar-SY" altLang="en-US" sz="1300" b="0" i="0" dirty="0">
                          <a:solidFill>
                            <a:srgbClr val="1A1A1A"/>
                          </a:solidFill>
                          <a:latin typeface="Times New Roman"/>
                          <a:ea typeface="Times New Roman"/>
                          <a:cs typeface="Times New Roman"/>
                        </a:rPr>
                        <a:t>في كل شاشة من التطبيق</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5"/>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NFR-06</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Flexibility</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en-US" altLang="en-US" sz="1300" b="0" i="0" dirty="0">
                          <a:solidFill>
                            <a:srgbClr val="1A1A1A"/>
                          </a:solidFill>
                          <a:latin typeface="Times New Roman"/>
                          <a:ea typeface="Times New Roman"/>
                          <a:cs typeface="Times New Roman"/>
                        </a:rPr>
                        <a:t>Codebase </a:t>
                      </a:r>
                      <a:r>
                        <a:rPr lang="ar-SY" altLang="en-US" sz="1300" b="0" i="0" dirty="0">
                          <a:solidFill>
                            <a:srgbClr val="1A1A1A"/>
                          </a:solidFill>
                          <a:latin typeface="Times New Roman"/>
                          <a:ea typeface="Times New Roman"/>
                          <a:cs typeface="Times New Roman"/>
                        </a:rPr>
                        <a:t>واحد لـ</a:t>
                      </a:r>
                      <a:r>
                        <a:rPr lang="en-US" altLang="en-US" sz="1300" b="0" i="0" dirty="0">
                          <a:solidFill>
                            <a:srgbClr val="1A1A1A"/>
                          </a:solidFill>
                          <a:latin typeface="Times New Roman"/>
                          <a:ea typeface="Times New Roman"/>
                          <a:cs typeface="Times New Roman"/>
                        </a:rPr>
                        <a:t> Flutter </a:t>
                      </a:r>
                      <a:r>
                        <a:rPr lang="ar-SY" altLang="en-US" sz="1300" b="0" i="0" dirty="0">
                          <a:solidFill>
                            <a:srgbClr val="1A1A1A"/>
                          </a:solidFill>
                          <a:latin typeface="Times New Roman"/>
                          <a:ea typeface="Times New Roman"/>
                          <a:cs typeface="Times New Roman"/>
                        </a:rPr>
                        <a:t>على</a:t>
                      </a:r>
                      <a:r>
                        <a:rPr lang="en-US" altLang="en-US" sz="1300" b="0" i="0" dirty="0">
                          <a:solidFill>
                            <a:srgbClr val="1A1A1A"/>
                          </a:solidFill>
                          <a:latin typeface="Times New Roman"/>
                          <a:ea typeface="Times New Roman"/>
                          <a:cs typeface="Times New Roman"/>
                        </a:rPr>
                        <a:t> Android </a:t>
                      </a:r>
                      <a:r>
                        <a:rPr lang="ar-SY" altLang="en-US" sz="1300" b="0" i="0" dirty="0">
                          <a:solidFill>
                            <a:srgbClr val="1A1A1A"/>
                          </a:solidFill>
                          <a:latin typeface="Times New Roman"/>
                          <a:ea typeface="Times New Roman"/>
                          <a:cs typeface="Times New Roman"/>
                        </a:rPr>
                        <a:t>والويب؛ الإعدادات عبر</a:t>
                      </a:r>
                      <a:r>
                        <a:rPr lang="en-US" altLang="en-US" sz="1300" b="0" i="0" dirty="0">
                          <a:solidFill>
                            <a:srgbClr val="1A1A1A"/>
                          </a:solidFill>
                          <a:latin typeface="Times New Roman"/>
                          <a:ea typeface="Times New Roman"/>
                          <a:cs typeface="Times New Roman"/>
                        </a:rPr>
                        <a:t> Environment Variables</a:t>
                      </a:r>
                      <a:endParaRPr lang="ar-SY" altLang="en-US" sz="13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6"/>
                  </a:ext>
                </a:extLst>
              </a:tr>
              <a:tr h="603504">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NFR-07</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200" b="1" i="0" dirty="0">
                          <a:solidFill>
                            <a:srgbClr val="1A1A1A"/>
                          </a:solidFill>
                          <a:latin typeface="Times New Roman"/>
                          <a:ea typeface="Times New Roman"/>
                          <a:cs typeface="Times New Roman"/>
                        </a:rPr>
                        <a:t>Functional Correctness</a:t>
                      </a:r>
                      <a:endParaRPr lang="ar-SY" altLang="en-US" sz="12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300" b="0" i="0" dirty="0">
                          <a:solidFill>
                            <a:srgbClr val="1A1A1A"/>
                          </a:solidFill>
                          <a:latin typeface="Times New Roman"/>
                          <a:ea typeface="Times New Roman"/>
                          <a:cs typeface="Times New Roman"/>
                        </a:rPr>
                        <a:t>اختيار نموذج المشاعر بمقياس</a:t>
                      </a:r>
                      <a:r>
                        <a:rPr lang="en-US" altLang="en-US" sz="1300" b="0" i="0" dirty="0">
                          <a:solidFill>
                            <a:srgbClr val="1A1A1A"/>
                          </a:solidFill>
                          <a:latin typeface="Times New Roman"/>
                          <a:ea typeface="Times New Roman"/>
                          <a:cs typeface="Times New Roman"/>
                        </a:rPr>
                        <a:t> macro‑F1 </a:t>
                      </a:r>
                      <a:r>
                        <a:rPr lang="ar-SY" altLang="en-US" sz="1300" b="0" i="0" dirty="0">
                          <a:solidFill>
                            <a:srgbClr val="1A1A1A"/>
                          </a:solidFill>
                          <a:latin typeface="Times New Roman"/>
                          <a:ea typeface="Times New Roman"/>
                          <a:cs typeface="Times New Roman"/>
                        </a:rPr>
                        <a:t>على</a:t>
                      </a:r>
                      <a:r>
                        <a:rPr lang="en-US" altLang="en-US" sz="1300" b="0" i="0" dirty="0">
                          <a:solidFill>
                            <a:srgbClr val="1A1A1A"/>
                          </a:solidFill>
                          <a:latin typeface="Times New Roman"/>
                          <a:ea typeface="Times New Roman"/>
                          <a:cs typeface="Times New Roman"/>
                        </a:rPr>
                        <a:t> 300 </a:t>
                      </a:r>
                      <a:r>
                        <a:rPr lang="ar-SY" altLang="en-US" sz="1300" b="0" i="0" dirty="0">
                          <a:solidFill>
                            <a:srgbClr val="1A1A1A"/>
                          </a:solidFill>
                          <a:latin typeface="Times New Roman"/>
                          <a:ea typeface="Times New Roman"/>
                          <a:cs typeface="Times New Roman"/>
                        </a:rPr>
                        <a:t>إجابة موسومة (</a:t>
                      </a:r>
                      <a:r>
                        <a:rPr lang="en-US" altLang="en-US" sz="1300" b="0" i="0" dirty="0">
                          <a:solidFill>
                            <a:srgbClr val="1A1A1A"/>
                          </a:solidFill>
                          <a:latin typeface="Times New Roman"/>
                          <a:ea typeface="Times New Roman"/>
                          <a:cs typeface="Times New Roman"/>
                        </a:rPr>
                        <a:t> 150 </a:t>
                      </a:r>
                      <a:r>
                        <a:rPr lang="ar-SY" altLang="en-US" sz="1300" b="0" i="0" dirty="0">
                          <a:solidFill>
                            <a:srgbClr val="1A1A1A"/>
                          </a:solidFill>
                          <a:latin typeface="Times New Roman"/>
                          <a:ea typeface="Times New Roman"/>
                          <a:cs typeface="Times New Roman"/>
                        </a:rPr>
                        <a:t>فصحى،</a:t>
                      </a:r>
                      <a:r>
                        <a:rPr lang="en-US" altLang="en-US" sz="1300" b="0" i="0" dirty="0">
                          <a:solidFill>
                            <a:srgbClr val="1A1A1A"/>
                          </a:solidFill>
                          <a:latin typeface="Times New Roman"/>
                          <a:ea typeface="Times New Roman"/>
                          <a:cs typeface="Times New Roman"/>
                        </a:rPr>
                        <a:t> 150 </a:t>
                      </a:r>
                      <a:r>
                        <a:rPr lang="ar-SY" altLang="en-US" sz="1300" b="0" i="0" dirty="0">
                          <a:solidFill>
                            <a:srgbClr val="1A1A1A"/>
                          </a:solidFill>
                          <a:latin typeface="Times New Roman"/>
                          <a:ea typeface="Times New Roman"/>
                          <a:cs typeface="Times New Roman"/>
                        </a:rPr>
                        <a:t>إنجليزية)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12" name="FR note"/>
          <p:cNvSpPr txBox="1"/>
          <p:nvPr/>
        </p:nvSpPr>
        <p:spPr>
          <a:xfrm>
            <a:off x="6355080" y="5916168"/>
            <a:ext cx="5285232" cy="274320"/>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1100" b="0" i="0" dirty="0">
                <a:solidFill>
                  <a:srgbClr val="595959"/>
                </a:solidFill>
                <a:latin typeface="Times New Roman"/>
                <a:ea typeface="Times New Roman"/>
                <a:cs typeface="Times New Roman"/>
              </a:rPr>
              <a:t>تغطي المتطلبات العامة</a:t>
            </a:r>
            <a:r>
              <a:rPr lang="en-US" altLang="en-US" sz="1100" b="0" i="0" dirty="0">
                <a:solidFill>
                  <a:srgbClr val="595959"/>
                </a:solidFill>
                <a:latin typeface="Times New Roman"/>
                <a:ea typeface="Times New Roman"/>
                <a:cs typeface="Times New Roman"/>
              </a:rPr>
              <a:t> V1.0 </a:t>
            </a:r>
            <a:r>
              <a:rPr lang="ar-SY" altLang="en-US" sz="1100" b="0" i="0" dirty="0">
                <a:solidFill>
                  <a:srgbClr val="595959"/>
                </a:solidFill>
                <a:latin typeface="Times New Roman"/>
                <a:ea typeface="Times New Roman"/>
                <a:cs typeface="Times New Roman"/>
              </a:rPr>
              <a:t>وتخرج</a:t>
            </a:r>
            <a:r>
              <a:rPr lang="en-US" altLang="en-US" sz="1100" b="0" i="0" dirty="0">
                <a:solidFill>
                  <a:srgbClr val="595959"/>
                </a:solidFill>
                <a:latin typeface="Times New Roman"/>
                <a:ea typeface="Times New Roman"/>
                <a:cs typeface="Times New Roman"/>
              </a:rPr>
              <a:t> 1 </a:t>
            </a:r>
            <a:r>
              <a:rPr lang="ar-SY" altLang="en-US" sz="1100" b="0" i="0" dirty="0">
                <a:solidFill>
                  <a:srgbClr val="595959"/>
                </a:solidFill>
                <a:latin typeface="Times New Roman"/>
                <a:ea typeface="Times New Roman"/>
                <a:cs typeface="Times New Roman"/>
              </a:rPr>
              <a:t>فقط؛ تفاصيل هذا الفصل في الشريحة التالية.</a:t>
            </a:r>
          </a:p>
        </p:txBody>
      </p:sp>
    </p:spTree>
    <p:extLst>
      <p:ext uri="{BB962C8B-B14F-4D97-AF65-F5344CB8AC3E}">
        <p14:creationId xmlns:p14="http://schemas.microsoft.com/office/powerpoint/2010/main" val="1681626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81D67413-4A80-7A0A-CB0B-B1C55BC293E3}"/>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9E896BA6-32B1-D3CE-5D0F-8B0F7DCCAECD}"/>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A7C85B69-20DE-8D7B-2FF6-B020A9BD1745}"/>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7</a:t>
            </a:fld>
            <a:endParaRPr lang="en-US"/>
          </a:p>
        </p:txBody>
      </p:sp>
      <p:sp>
        <p:nvSpPr>
          <p:cNvPr id="7" name="Title">
            <a:extLst>
              <a:ext uri="{FF2B5EF4-FFF2-40B4-BE49-F238E27FC236}">
                <a16:creationId xmlns:a16="http://schemas.microsoft.com/office/drawing/2014/main" id="{36036810-8581-F1F0-2198-A22F32810AD5}"/>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المتطلبات الوظيفية لمشروع تخرج </a:t>
            </a:r>
            <a:r>
              <a:rPr lang="en-US" altLang="en-US" sz="2800" b="1" i="0" dirty="0">
                <a:solidFill>
                  <a:srgbClr val="2F5496"/>
                </a:solidFill>
                <a:latin typeface="Times New Roman"/>
                <a:ea typeface="Times New Roman"/>
                <a:cs typeface="Times New Roman"/>
              </a:rPr>
              <a:t>1 (FR-01 – FR-20)</a:t>
            </a:r>
            <a:endParaRPr lang="ar-SY" altLang="en-US" sz="2800" b="1" i="0" dirty="0">
              <a:solidFill>
                <a:srgbClr val="2F5496"/>
              </a:solidFill>
              <a:latin typeface="Times New Roman"/>
              <a:ea typeface="Times New Roman"/>
              <a:cs typeface="Times New Roman"/>
            </a:endParaRPr>
          </a:p>
        </p:txBody>
      </p:sp>
      <p:graphicFrame>
        <p:nvGraphicFramePr>
          <p:cNvPr id="8" name="Requirements 1-10"/>
          <p:cNvGraphicFramePr>
            <a:graphicFrameLocks noGrp="1"/>
          </p:cNvGraphicFramePr>
          <p:nvPr>
            <p:extLst>
              <p:ext uri="{D42A27DB-BD31-4B8C-83A1-F6EECF244321}">
                <p14:modId xmlns:p14="http://schemas.microsoft.com/office/powerpoint/2010/main" val="3355608667"/>
              </p:ext>
            </p:extLst>
          </p:nvPr>
        </p:nvGraphicFramePr>
        <p:xfrm>
          <a:off x="6355080" y="932688"/>
          <a:ext cx="5285232" cy="4576572"/>
        </p:xfrm>
        <a:graphic>
          <a:graphicData uri="http://schemas.openxmlformats.org/drawingml/2006/table">
            <a:tbl>
              <a:tblPr rtl="1">
                <a:tableStyleId>{5C22544A-7EE6-4342-B048-85BDC9FD1C3A}</a:tableStyleId>
              </a:tblPr>
              <a:tblGrid>
                <a:gridCol w="9144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3593592">
                  <a:extLst>
                    <a:ext uri="{9D8B030D-6E8A-4147-A177-3AD203B41FA5}">
                      <a16:colId xmlns:a16="http://schemas.microsoft.com/office/drawing/2014/main" val="20002"/>
                    </a:ext>
                  </a:extLst>
                </a:gridCol>
              </a:tblGrid>
              <a:tr h="416052">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Priority</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ID</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400" b="1" i="0" dirty="0">
                          <a:solidFill>
                            <a:srgbClr val="FFFFFF"/>
                          </a:solidFill>
                          <a:latin typeface="Times New Roman"/>
                          <a:ea typeface="Times New Roman"/>
                          <a:cs typeface="Times New Roman"/>
                        </a:rPr>
                        <a:t>المتطلب</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extLst>
                  <a:ext uri="{0D108BD9-81ED-4DB2-BD59-A6C34878D82A}">
                    <a16:rowId xmlns:a16="http://schemas.microsoft.com/office/drawing/2014/main" val="10000"/>
                  </a:ext>
                </a:extLst>
              </a:tr>
              <a:tr h="416052">
                <a:tc>
                  <a:txBody>
                    <a:bodyPr/>
                    <a:lstStyle/>
                    <a:p>
                      <a:pPr algn="ctr" rtl="1">
                        <a:spcBef>
                          <a:spcPts val="0"/>
                        </a:spcBef>
                        <a:spcAft>
                          <a:spcPts val="0"/>
                        </a:spcAft>
                        <a:buNone/>
                      </a:pPr>
                      <a:r>
                        <a:rPr lang="en-US" altLang="en-US" sz="1300" b="1" i="0" dirty="0">
                          <a:solidFill>
                            <a:srgbClr val="FFFFFF"/>
                          </a:solidFill>
                          <a:highlight>
                            <a:srgbClr val="FF0000"/>
                          </a:highlight>
                          <a:latin typeface="Times New Roman"/>
                          <a:ea typeface="Times New Roman"/>
                          <a:cs typeface="Times New Roman"/>
                        </a:rPr>
                        <a:t> Must </a:t>
                      </a:r>
                      <a:endParaRPr lang="ar-SY" altLang="en-US" sz="1300" b="1" i="0" dirty="0">
                        <a:solidFill>
                          <a:srgbClr val="FFFFFF"/>
                        </a:solidFill>
                        <a:highlight>
                          <a:srgbClr val="FF00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FR-01</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تطبيق جوال للمستجيب</a:t>
                      </a:r>
                      <a:r>
                        <a:rPr lang="en-US" altLang="en-US" sz="1400" b="0" i="0" dirty="0">
                          <a:solidFill>
                            <a:srgbClr val="1A1A1A"/>
                          </a:solidFill>
                          <a:latin typeface="Times New Roman"/>
                          <a:ea typeface="Times New Roman"/>
                          <a:cs typeface="Times New Roman"/>
                        </a:rPr>
                        <a:t> (Flutter) </a:t>
                      </a:r>
                      <a:r>
                        <a:rPr lang="ar-SY" altLang="en-US" sz="1400" b="0" i="0" dirty="0">
                          <a:solidFill>
                            <a:srgbClr val="1A1A1A"/>
                          </a:solidFill>
                          <a:latin typeface="Times New Roman"/>
                          <a:ea typeface="Times New Roman"/>
                          <a:cs typeface="Times New Roman"/>
                        </a:rPr>
                        <a:t>مع دخول آمن</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extLst>
                  <a:ext uri="{0D108BD9-81ED-4DB2-BD59-A6C34878D82A}">
                    <a16:rowId xmlns:a16="http://schemas.microsoft.com/office/drawing/2014/main" val="10001"/>
                  </a:ext>
                </a:extLst>
              </a:tr>
              <a:tr h="416052">
                <a:tc>
                  <a:txBody>
                    <a:bodyPr/>
                    <a:lstStyle/>
                    <a:p>
                      <a:pPr algn="ctr" rtl="1">
                        <a:spcBef>
                          <a:spcPts val="0"/>
                        </a:spcBef>
                        <a:spcAft>
                          <a:spcPts val="0"/>
                        </a:spcAft>
                        <a:buNone/>
                      </a:pPr>
                      <a:r>
                        <a:rPr lang="en-US" altLang="en-US" sz="1300" b="1" i="0" dirty="0">
                          <a:solidFill>
                            <a:srgbClr val="FFFFFF"/>
                          </a:solidFill>
                          <a:highlight>
                            <a:srgbClr val="FF0000"/>
                          </a:highlight>
                          <a:latin typeface="Times New Roman"/>
                          <a:ea typeface="Times New Roman"/>
                          <a:cs typeface="Times New Roman"/>
                        </a:rPr>
                        <a:t> Must </a:t>
                      </a:r>
                      <a:endParaRPr lang="ar-SY" altLang="en-US" sz="1300" b="1" i="0" dirty="0">
                        <a:solidFill>
                          <a:srgbClr val="FFFFFF"/>
                        </a:solidFill>
                        <a:highlight>
                          <a:srgbClr val="FF00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FR-02</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ملف ديموغرافي موسّع مع نسبة اكتماله</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2"/>
                  </a:ext>
                </a:extLst>
              </a:tr>
              <a:tr h="416052">
                <a:tc>
                  <a:txBody>
                    <a:bodyPr/>
                    <a:lstStyle/>
                    <a:p>
                      <a:pPr algn="ctr" rtl="1">
                        <a:spcBef>
                          <a:spcPts val="0"/>
                        </a:spcBef>
                        <a:spcAft>
                          <a:spcPts val="0"/>
                        </a:spcAft>
                        <a:buNone/>
                      </a:pPr>
                      <a:r>
                        <a:rPr lang="en-US" altLang="en-US" sz="1300" b="1" i="0" dirty="0">
                          <a:solidFill>
                            <a:srgbClr val="FFFFFF"/>
                          </a:solidFill>
                          <a:highlight>
                            <a:srgbClr val="FF0000"/>
                          </a:highlight>
                          <a:latin typeface="Times New Roman"/>
                          <a:ea typeface="Times New Roman"/>
                          <a:cs typeface="Times New Roman"/>
                        </a:rPr>
                        <a:t> Must </a:t>
                      </a:r>
                      <a:endParaRPr lang="ar-SY" altLang="en-US" sz="1300" b="1" i="0" dirty="0">
                        <a:solidFill>
                          <a:srgbClr val="FFFFFF"/>
                        </a:solidFill>
                        <a:highlight>
                          <a:srgbClr val="FF00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FR-03</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استهداف متقدم وعرض عدد المؤهلين قبل النشر ★</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3"/>
                  </a:ext>
                </a:extLst>
              </a:tr>
              <a:tr h="416052">
                <a:tc>
                  <a:txBody>
                    <a:bodyPr/>
                    <a:lstStyle/>
                    <a:p>
                      <a:pPr algn="ctr" rtl="1">
                        <a:spcBef>
                          <a:spcPts val="0"/>
                        </a:spcBef>
                        <a:spcAft>
                          <a:spcPts val="0"/>
                        </a:spcAft>
                        <a:buNone/>
                      </a:pPr>
                      <a:r>
                        <a:rPr lang="en-US" altLang="en-US" sz="1300" b="1" i="0" dirty="0">
                          <a:solidFill>
                            <a:srgbClr val="FFFFFF"/>
                          </a:solidFill>
                          <a:highlight>
                            <a:srgbClr val="FF0000"/>
                          </a:highlight>
                          <a:latin typeface="Times New Roman"/>
                          <a:ea typeface="Times New Roman"/>
                          <a:cs typeface="Times New Roman"/>
                        </a:rPr>
                        <a:t> Must </a:t>
                      </a:r>
                      <a:endParaRPr lang="ar-SY" altLang="en-US" sz="1300" b="1" i="0" dirty="0">
                        <a:solidFill>
                          <a:srgbClr val="FFFFFF"/>
                        </a:solidFill>
                        <a:highlight>
                          <a:srgbClr val="FF00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FR-04</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محرك جودة: انتباه، سرعة، نمط، تكرار، درجة ★</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4"/>
                  </a:ext>
                </a:extLst>
              </a:tr>
              <a:tr h="416052">
                <a:tc>
                  <a:txBody>
                    <a:bodyPr/>
                    <a:lstStyle/>
                    <a:p>
                      <a:pPr algn="ctr" rtl="1">
                        <a:spcBef>
                          <a:spcPts val="0"/>
                        </a:spcBef>
                        <a:spcAft>
                          <a:spcPts val="0"/>
                        </a:spcAft>
                        <a:buNone/>
                      </a:pPr>
                      <a:r>
                        <a:rPr lang="en-US" altLang="en-US" sz="1300" b="1" i="0" dirty="0">
                          <a:solidFill>
                            <a:srgbClr val="FFFFFF"/>
                          </a:solidFill>
                          <a:highlight>
                            <a:srgbClr val="FF0000"/>
                          </a:highlight>
                          <a:latin typeface="Times New Roman"/>
                          <a:ea typeface="Times New Roman"/>
                          <a:cs typeface="Times New Roman"/>
                        </a:rPr>
                        <a:t> Must </a:t>
                      </a:r>
                      <a:endParaRPr lang="ar-SY" altLang="en-US" sz="1300" b="1" i="0" dirty="0">
                        <a:solidFill>
                          <a:srgbClr val="FFFFFF"/>
                        </a:solidFill>
                        <a:highlight>
                          <a:srgbClr val="FF00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FR-05</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تحليل مشاعر الإجابات المفتوحة (</a:t>
                      </a:r>
                      <a:r>
                        <a:rPr lang="ar-SA" altLang="en-US" sz="1400" b="0" i="0" dirty="0">
                          <a:solidFill>
                            <a:srgbClr val="1A1A1A"/>
                          </a:solidFill>
                          <a:latin typeface="Times New Roman"/>
                          <a:ea typeface="Times New Roman"/>
                          <a:cs typeface="Times New Roman"/>
                        </a:rPr>
                        <a:t>عربي </a:t>
                      </a:r>
                      <a:r>
                        <a:rPr lang="ar-SY" altLang="en-US" sz="1400" b="0" i="0" dirty="0">
                          <a:solidFill>
                            <a:srgbClr val="1A1A1A"/>
                          </a:solidFill>
                          <a:latin typeface="Times New Roman"/>
                          <a:ea typeface="Times New Roman"/>
                          <a:cs typeface="Times New Roman"/>
                        </a:rPr>
                        <a:t>فصحى، إنجليزي) ★</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5"/>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FR-06</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تجربة إجابة: تقدم، تحقق، تخطي الاختياري، مسودة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6"/>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FR-07</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عرض كل إجابة مع علاماتها وإدراجها أو استبعادها</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7"/>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FR-08</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قائمة استبيانات مرتبة حسب التطابق مع بحث وفلاتر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8"/>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FR-09</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إجابات مستعارة وإخفاء المجموعات الأصغر من</a:t>
                      </a:r>
                      <a:r>
                        <a:rPr lang="en-US" altLang="en-US" sz="1400" b="0" i="0" dirty="0">
                          <a:solidFill>
                            <a:srgbClr val="1A1A1A"/>
                          </a:solidFill>
                          <a:latin typeface="Times New Roman"/>
                          <a:ea typeface="Times New Roman"/>
                          <a:cs typeface="Times New Roman"/>
                        </a:rPr>
                        <a:t> 5</a:t>
                      </a:r>
                      <a:endParaRPr lang="ar-SY" altLang="en-US" sz="14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9"/>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FR-10</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رابط دعوة فريد مع نسخ سريع ورمز</a:t>
                      </a:r>
                      <a:r>
                        <a:rPr lang="ar-SA" altLang="en-US" sz="1400" b="0" i="0" dirty="0">
                          <a:solidFill>
                            <a:srgbClr val="1A1A1A"/>
                          </a:solidFill>
                          <a:latin typeface="Times New Roman"/>
                          <a:ea typeface="Times New Roman"/>
                          <a:cs typeface="Times New Roman"/>
                        </a:rPr>
                        <a:t> </a:t>
                      </a:r>
                      <a:r>
                        <a:rPr lang="en-US" altLang="en-US" sz="1400" b="0" i="0" dirty="0">
                          <a:solidFill>
                            <a:srgbClr val="1A1A1A"/>
                          </a:solidFill>
                          <a:latin typeface="Times New Roman"/>
                          <a:ea typeface="Times New Roman"/>
                          <a:cs typeface="Times New Roman"/>
                        </a:rPr>
                        <a:t> QR</a:t>
                      </a:r>
                      <a:endParaRPr lang="ar-SY" altLang="en-US" sz="14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10"/>
                  </a:ext>
                </a:extLst>
              </a:tr>
            </a:tbl>
          </a:graphicData>
        </a:graphic>
      </p:graphicFrame>
      <p:graphicFrame>
        <p:nvGraphicFramePr>
          <p:cNvPr id="9" name="Requirements 11-20"/>
          <p:cNvGraphicFramePr>
            <a:graphicFrameLocks noGrp="1"/>
          </p:cNvGraphicFramePr>
          <p:nvPr>
            <p:extLst>
              <p:ext uri="{D42A27DB-BD31-4B8C-83A1-F6EECF244321}">
                <p14:modId xmlns:p14="http://schemas.microsoft.com/office/powerpoint/2010/main" val="223109059"/>
              </p:ext>
            </p:extLst>
          </p:nvPr>
        </p:nvGraphicFramePr>
        <p:xfrm>
          <a:off x="548640" y="932688"/>
          <a:ext cx="5285232" cy="4576572"/>
        </p:xfrm>
        <a:graphic>
          <a:graphicData uri="http://schemas.openxmlformats.org/drawingml/2006/table">
            <a:tbl>
              <a:tblPr rtl="1">
                <a:tableStyleId>{5C22544A-7EE6-4342-B048-85BDC9FD1C3A}</a:tableStyleId>
              </a:tblPr>
              <a:tblGrid>
                <a:gridCol w="9144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3593592">
                  <a:extLst>
                    <a:ext uri="{9D8B030D-6E8A-4147-A177-3AD203B41FA5}">
                      <a16:colId xmlns:a16="http://schemas.microsoft.com/office/drawing/2014/main" val="20002"/>
                    </a:ext>
                  </a:extLst>
                </a:gridCol>
              </a:tblGrid>
              <a:tr h="416052">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Priority</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en-US" altLang="en-US" sz="1400" b="1" i="0" dirty="0">
                          <a:solidFill>
                            <a:srgbClr val="FFFFFF"/>
                          </a:solidFill>
                          <a:latin typeface="Times New Roman"/>
                          <a:ea typeface="Times New Roman"/>
                          <a:cs typeface="Times New Roman"/>
                        </a:rPr>
                        <a:t>ID</a:t>
                      </a:r>
                      <a:endParaRPr lang="ar-SY" altLang="en-US" sz="1400" b="1" i="0" dirty="0">
                        <a:solidFill>
                          <a:srgbClr val="FFFFFF"/>
                        </a:solidFill>
                        <a:latin typeface="Times New Roman"/>
                        <a:ea typeface="Times New Roman"/>
                        <a:cs typeface="Times New Roman"/>
                      </a:endParaRP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tc>
                  <a:txBody>
                    <a:bodyPr/>
                    <a:lstStyle/>
                    <a:p>
                      <a:pPr algn="ctr" rtl="1">
                        <a:spcBef>
                          <a:spcPts val="0"/>
                        </a:spcBef>
                        <a:spcAft>
                          <a:spcPts val="0"/>
                        </a:spcAft>
                        <a:buNone/>
                      </a:pPr>
                      <a:r>
                        <a:rPr lang="ar-SY" altLang="en-US" sz="1400" b="1" i="0" dirty="0">
                          <a:solidFill>
                            <a:srgbClr val="FFFFFF"/>
                          </a:solidFill>
                          <a:latin typeface="Times New Roman"/>
                          <a:ea typeface="Times New Roman"/>
                          <a:cs typeface="Times New Roman"/>
                        </a:rPr>
                        <a:t>المتطلب</a:t>
                      </a:r>
                    </a:p>
                  </a:txBody>
                  <a:tcPr marL="64008" marR="64008" marT="27432" marB="27432" anchor="ctr">
                    <a:lnL w="9525" cap="flat" cmpd="sng" algn="ctr">
                      <a:solidFill>
                        <a:srgbClr val="2F5496"/>
                      </a:solidFill>
                      <a:prstDash val="solid"/>
                    </a:lnL>
                    <a:lnR w="9525" cap="flat" cmpd="sng" algn="ctr">
                      <a:solidFill>
                        <a:srgbClr val="2F5496"/>
                      </a:solidFill>
                      <a:prstDash val="solid"/>
                    </a:lnR>
                    <a:lnT w="9525" cap="flat" cmpd="sng" algn="ctr">
                      <a:solidFill>
                        <a:srgbClr val="2F5496"/>
                      </a:solidFill>
                      <a:prstDash val="solid"/>
                    </a:lnT>
                    <a:lnB w="9525" cap="flat" cmpd="sng" algn="ctr">
                      <a:solidFill>
                        <a:srgbClr val="2F5496"/>
                      </a:solidFill>
                      <a:prstDash val="solid"/>
                    </a:lnB>
                    <a:solidFill>
                      <a:srgbClr val="2F5496"/>
                    </a:solidFill>
                  </a:tcPr>
                </a:tc>
                <a:extLst>
                  <a:ext uri="{0D108BD9-81ED-4DB2-BD59-A6C34878D82A}">
                    <a16:rowId xmlns:a16="http://schemas.microsoft.com/office/drawing/2014/main" val="10000"/>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FR-11</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دورة حياة الاستبيان: جدولة، إغلاق تلقائي، إيقاف</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2F5496"/>
                      </a:solidFill>
                      <a:prstDash val="solid"/>
                      <a:round/>
                      <a:headEnd type="none" w="med" len="med"/>
                      <a:tailEnd type="none" w="med" len="med"/>
                    </a:lnT>
                    <a:lnB w="9525" cap="flat" cmpd="sng" algn="ctr">
                      <a:solidFill>
                        <a:srgbClr val="C9D3E6"/>
                      </a:solidFill>
                      <a:prstDash val="solid"/>
                    </a:lnB>
                    <a:solidFill>
                      <a:srgbClr val="FFFFFF"/>
                    </a:solidFill>
                  </a:tcPr>
                </a:tc>
                <a:extLst>
                  <a:ext uri="{0D108BD9-81ED-4DB2-BD59-A6C34878D82A}">
                    <a16:rowId xmlns:a16="http://schemas.microsoft.com/office/drawing/2014/main" val="10001"/>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FR-12</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مراجعة الاستبيان من مدير النظام</a:t>
                      </a:r>
                      <a:r>
                        <a:rPr lang="en-US" altLang="en-US" sz="1400" b="0" i="0" dirty="0">
                          <a:solidFill>
                            <a:srgbClr val="1A1A1A"/>
                          </a:solidFill>
                          <a:latin typeface="Times New Roman"/>
                          <a:ea typeface="Times New Roman"/>
                          <a:cs typeface="Times New Roman"/>
                        </a:rPr>
                        <a:t> (Admin) </a:t>
                      </a:r>
                      <a:r>
                        <a:rPr lang="ar-SY" altLang="en-US" sz="1400" b="0" i="0" dirty="0">
                          <a:solidFill>
                            <a:srgbClr val="1A1A1A"/>
                          </a:solidFill>
                          <a:latin typeface="Times New Roman"/>
                          <a:ea typeface="Times New Roman"/>
                          <a:cs typeface="Times New Roman"/>
                        </a:rPr>
                        <a:t>قبل النشر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2"/>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FR-13</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تحليلات متقدمة: فلاتر، جداول تقاطعية، عبر الزمن</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3"/>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FR-14</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تصدير النتائج وعلامات الجودة إلى</a:t>
                      </a:r>
                      <a:r>
                        <a:rPr lang="en-US" altLang="en-US" sz="1400" b="0" i="0" dirty="0">
                          <a:solidFill>
                            <a:srgbClr val="1A1A1A"/>
                          </a:solidFill>
                          <a:latin typeface="Times New Roman"/>
                          <a:ea typeface="Times New Roman"/>
                          <a:cs typeface="Times New Roman"/>
                        </a:rPr>
                        <a:t> Excel </a:t>
                      </a:r>
                      <a:r>
                        <a:rPr lang="ar-SY" altLang="en-US" sz="1400" b="0" i="0" dirty="0">
                          <a:solidFill>
                            <a:srgbClr val="1A1A1A"/>
                          </a:solidFill>
                          <a:latin typeface="Times New Roman"/>
                          <a:ea typeface="Times New Roman"/>
                          <a:cs typeface="Times New Roman"/>
                        </a:rPr>
                        <a:t>و</a:t>
                      </a:r>
                      <a:r>
                        <a:rPr lang="en-US" altLang="en-US" sz="1400" b="0" i="0" dirty="0">
                          <a:solidFill>
                            <a:srgbClr val="1A1A1A"/>
                          </a:solidFill>
                          <a:latin typeface="Times New Roman"/>
                          <a:ea typeface="Times New Roman"/>
                          <a:cs typeface="Times New Roman"/>
                        </a:rPr>
                        <a:t> CSV</a:t>
                      </a:r>
                      <a:endParaRPr lang="ar-SY" altLang="en-US" sz="14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4"/>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FR-15</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أمان الحساب: تحقق البريد واستعادة كلمة المرور</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5"/>
                  </a:ext>
                </a:extLst>
              </a:tr>
              <a:tr h="416052">
                <a:tc>
                  <a:txBody>
                    <a:bodyPr/>
                    <a:lstStyle/>
                    <a:p>
                      <a:pPr algn="ctr" rtl="1">
                        <a:spcBef>
                          <a:spcPts val="0"/>
                        </a:spcBef>
                        <a:spcAft>
                          <a:spcPts val="0"/>
                        </a:spcAft>
                        <a:buNone/>
                      </a:pPr>
                      <a:r>
                        <a:rPr lang="en-US" altLang="en-US" sz="1300" b="1" i="0" dirty="0">
                          <a:solidFill>
                            <a:srgbClr val="1A1A1A"/>
                          </a:solidFill>
                          <a:highlight>
                            <a:srgbClr val="00FF00"/>
                          </a:highlight>
                          <a:latin typeface="Times New Roman"/>
                          <a:ea typeface="Times New Roman"/>
                          <a:cs typeface="Times New Roman"/>
                        </a:rPr>
                        <a:t> Should </a:t>
                      </a:r>
                      <a:endParaRPr lang="ar-SY" altLang="en-US" sz="1300" b="1" i="0" dirty="0">
                        <a:solidFill>
                          <a:srgbClr val="1A1A1A"/>
                        </a:solidFill>
                        <a:highlight>
                          <a:srgbClr val="00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FR-16</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ترتيب عشوائي للأسئلة والخيارات</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6"/>
                  </a:ext>
                </a:extLst>
              </a:tr>
              <a:tr h="416052">
                <a:tc>
                  <a:txBody>
                    <a:bodyPr/>
                    <a:lstStyle/>
                    <a:p>
                      <a:pPr algn="ctr" rtl="1">
                        <a:spcBef>
                          <a:spcPts val="0"/>
                        </a:spcBef>
                        <a:spcAft>
                          <a:spcPts val="0"/>
                        </a:spcAft>
                        <a:buNone/>
                      </a:pPr>
                      <a:r>
                        <a:rPr lang="en-US" altLang="en-US" sz="1300" b="1" i="0" dirty="0">
                          <a:solidFill>
                            <a:srgbClr val="1A1A1A"/>
                          </a:solidFill>
                          <a:highlight>
                            <a:srgbClr val="FFFF00"/>
                          </a:highlight>
                          <a:latin typeface="Times New Roman"/>
                          <a:ea typeface="Times New Roman"/>
                          <a:cs typeface="Times New Roman"/>
                        </a:rPr>
                        <a:t> Could </a:t>
                      </a:r>
                      <a:endParaRPr lang="ar-SY" altLang="en-US" sz="1300" b="1" i="0" dirty="0">
                        <a:solidFill>
                          <a:srgbClr val="1A1A1A"/>
                        </a:solidFill>
                        <a:highlight>
                          <a:srgbClr val="FF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FR-17</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منشئ متقدم: أنواع أسئلة، ترتيب، معاينة</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7"/>
                  </a:ext>
                </a:extLst>
              </a:tr>
              <a:tr h="416052">
                <a:tc>
                  <a:txBody>
                    <a:bodyPr/>
                    <a:lstStyle/>
                    <a:p>
                      <a:pPr algn="ctr" rtl="1">
                        <a:spcBef>
                          <a:spcPts val="0"/>
                        </a:spcBef>
                        <a:spcAft>
                          <a:spcPts val="0"/>
                        </a:spcAft>
                        <a:buNone/>
                      </a:pPr>
                      <a:r>
                        <a:rPr lang="en-US" altLang="en-US" sz="1300" b="1" i="0" dirty="0">
                          <a:solidFill>
                            <a:srgbClr val="1A1A1A"/>
                          </a:solidFill>
                          <a:highlight>
                            <a:srgbClr val="FFFF00"/>
                          </a:highlight>
                          <a:latin typeface="Times New Roman"/>
                          <a:ea typeface="Times New Roman"/>
                          <a:cs typeface="Times New Roman"/>
                        </a:rPr>
                        <a:t> Could </a:t>
                      </a:r>
                      <a:endParaRPr lang="ar-SY" altLang="en-US" sz="1300" b="1" i="0" dirty="0">
                        <a:solidFill>
                          <a:srgbClr val="1A1A1A"/>
                        </a:solidFill>
                        <a:highlight>
                          <a:srgbClr val="FF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FR-18</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معدل الإكمال والانسحاب</a:t>
                      </a:r>
                      <a:r>
                        <a:rPr lang="en-US" altLang="en-US" sz="1400" b="0" i="0" dirty="0">
                          <a:solidFill>
                            <a:srgbClr val="1A1A1A"/>
                          </a:solidFill>
                          <a:latin typeface="Times New Roman"/>
                          <a:ea typeface="Times New Roman"/>
                          <a:cs typeface="Times New Roman"/>
                        </a:rPr>
                        <a:t> (Completion / Drop-off) </a:t>
                      </a:r>
                      <a:endParaRPr lang="ar-SY" altLang="en-US" sz="1400" b="0"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08"/>
                  </a:ext>
                </a:extLst>
              </a:tr>
              <a:tr h="416052">
                <a:tc>
                  <a:txBody>
                    <a:bodyPr/>
                    <a:lstStyle/>
                    <a:p>
                      <a:pPr algn="ctr" rtl="1">
                        <a:spcBef>
                          <a:spcPts val="0"/>
                        </a:spcBef>
                        <a:spcAft>
                          <a:spcPts val="0"/>
                        </a:spcAft>
                        <a:buNone/>
                      </a:pPr>
                      <a:r>
                        <a:rPr lang="en-US" altLang="en-US" sz="1300" b="1" i="0" dirty="0">
                          <a:solidFill>
                            <a:srgbClr val="1A1A1A"/>
                          </a:solidFill>
                          <a:highlight>
                            <a:srgbClr val="FFFF00"/>
                          </a:highlight>
                          <a:latin typeface="Times New Roman"/>
                          <a:ea typeface="Times New Roman"/>
                          <a:cs typeface="Times New Roman"/>
                        </a:rPr>
                        <a:t> Could </a:t>
                      </a:r>
                      <a:endParaRPr lang="ar-SY" altLang="en-US" sz="1300" b="1" i="0" dirty="0">
                        <a:solidFill>
                          <a:srgbClr val="1A1A1A"/>
                        </a:solidFill>
                        <a:highlight>
                          <a:srgbClr val="FF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FR-19</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مكتبة قوالب ونسخ استبيان</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FFFFFF"/>
                    </a:solidFill>
                  </a:tcPr>
                </a:tc>
                <a:extLst>
                  <a:ext uri="{0D108BD9-81ED-4DB2-BD59-A6C34878D82A}">
                    <a16:rowId xmlns:a16="http://schemas.microsoft.com/office/drawing/2014/main" val="10009"/>
                  </a:ext>
                </a:extLst>
              </a:tr>
              <a:tr h="416052">
                <a:tc>
                  <a:txBody>
                    <a:bodyPr/>
                    <a:lstStyle/>
                    <a:p>
                      <a:pPr algn="ctr" rtl="1">
                        <a:spcBef>
                          <a:spcPts val="0"/>
                        </a:spcBef>
                        <a:spcAft>
                          <a:spcPts val="0"/>
                        </a:spcAft>
                        <a:buNone/>
                      </a:pPr>
                      <a:r>
                        <a:rPr lang="en-US" altLang="en-US" sz="1300" b="1" i="0" dirty="0">
                          <a:solidFill>
                            <a:srgbClr val="1A1A1A"/>
                          </a:solidFill>
                          <a:highlight>
                            <a:srgbClr val="FFFF00"/>
                          </a:highlight>
                          <a:latin typeface="Times New Roman"/>
                          <a:ea typeface="Times New Roman"/>
                          <a:cs typeface="Times New Roman"/>
                        </a:rPr>
                        <a:t> Could </a:t>
                      </a:r>
                      <a:endParaRPr lang="ar-SY" altLang="en-US" sz="1300" b="1" i="0" dirty="0">
                        <a:solidFill>
                          <a:srgbClr val="1A1A1A"/>
                        </a:solidFill>
                        <a:highlight>
                          <a:srgbClr val="FFFF00"/>
                        </a:highlight>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ctr" rtl="1">
                        <a:spcBef>
                          <a:spcPts val="0"/>
                        </a:spcBef>
                        <a:spcAft>
                          <a:spcPts val="0"/>
                        </a:spcAft>
                        <a:buNone/>
                      </a:pPr>
                      <a:r>
                        <a:rPr lang="en-US" altLang="en-US" sz="1300" b="1" i="0" dirty="0">
                          <a:solidFill>
                            <a:srgbClr val="1A1A1A"/>
                          </a:solidFill>
                          <a:latin typeface="Times New Roman"/>
                          <a:ea typeface="Times New Roman"/>
                          <a:cs typeface="Times New Roman"/>
                        </a:rPr>
                        <a:t>FR-20</a:t>
                      </a:r>
                      <a:endParaRPr lang="ar-SY" altLang="en-US" sz="1300" b="1" i="0" dirty="0">
                        <a:solidFill>
                          <a:srgbClr val="1A1A1A"/>
                        </a:solidFill>
                        <a:latin typeface="Times New Roman"/>
                        <a:ea typeface="Times New Roman"/>
                        <a:cs typeface="Times New Roman"/>
                      </a:endParaRP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tc>
                  <a:txBody>
                    <a:bodyPr/>
                    <a:lstStyle/>
                    <a:p>
                      <a:pPr algn="r" rtl="1">
                        <a:spcBef>
                          <a:spcPts val="0"/>
                        </a:spcBef>
                        <a:spcAft>
                          <a:spcPts val="0"/>
                        </a:spcAft>
                        <a:buNone/>
                      </a:pPr>
                      <a:r>
                        <a:rPr lang="ar-SY" altLang="en-US" sz="1400" b="0" i="0" dirty="0">
                          <a:solidFill>
                            <a:srgbClr val="1A1A1A"/>
                          </a:solidFill>
                          <a:latin typeface="Times New Roman"/>
                          <a:ea typeface="Times New Roman"/>
                          <a:cs typeface="Times New Roman"/>
                        </a:rPr>
                        <a:t>مركز إشعارات داخل التطبيق</a:t>
                      </a:r>
                    </a:p>
                  </a:txBody>
                  <a:tcPr marL="64008" marR="64008" marT="27432" marB="27432" anchor="ctr">
                    <a:lnL w="9525" cap="flat" cmpd="sng" algn="ctr">
                      <a:solidFill>
                        <a:srgbClr val="C9D3E6"/>
                      </a:solidFill>
                      <a:prstDash val="solid"/>
                    </a:lnL>
                    <a:lnR w="9525" cap="flat" cmpd="sng" algn="ctr">
                      <a:solidFill>
                        <a:srgbClr val="C9D3E6"/>
                      </a:solidFill>
                      <a:prstDash val="solid"/>
                    </a:lnR>
                    <a:lnT w="9525" cap="flat" cmpd="sng" algn="ctr">
                      <a:solidFill>
                        <a:srgbClr val="C9D3E6"/>
                      </a:solidFill>
                      <a:prstDash val="solid"/>
                    </a:lnT>
                    <a:lnB w="9525" cap="flat" cmpd="sng" algn="ctr">
                      <a:solidFill>
                        <a:srgbClr val="C9D3E6"/>
                      </a:solidFill>
                      <a:prstDash val="solid"/>
                    </a:lnB>
                    <a:solidFill>
                      <a:srgbClr val="EEF3FA"/>
                    </a:solidFill>
                  </a:tcPr>
                </a:tc>
                <a:extLst>
                  <a:ext uri="{0D108BD9-81ED-4DB2-BD59-A6C34878D82A}">
                    <a16:rowId xmlns:a16="http://schemas.microsoft.com/office/drawing/2014/main" val="10010"/>
                  </a:ext>
                </a:extLst>
              </a:tr>
            </a:tbl>
          </a:graphicData>
        </a:graphic>
      </p:graphicFrame>
      <p:sp>
        <p:nvSpPr>
          <p:cNvPr id="10" name="Priority legend"/>
          <p:cNvSpPr/>
          <p:nvPr/>
        </p:nvSpPr>
        <p:spPr>
          <a:xfrm>
            <a:off x="548640" y="5643118"/>
            <a:ext cx="11091672" cy="713232"/>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noAutofit/>
          </a:bodyPr>
          <a:lstStyle/>
          <a:p>
            <a:pPr algn="r" rtl="1">
              <a:spcAft>
                <a:spcPts val="300"/>
              </a:spcAft>
            </a:pPr>
            <a:r>
              <a:rPr lang="ar-SY" altLang="en-US" sz="1300" b="0" i="0" dirty="0">
                <a:solidFill>
                  <a:srgbClr val="1A1A1A"/>
                </a:solidFill>
                <a:latin typeface="Times New Roman"/>
                <a:ea typeface="Times New Roman"/>
                <a:cs typeface="Times New Roman"/>
              </a:rPr>
              <a:t>ضروري</a:t>
            </a:r>
            <a:r>
              <a:rPr lang="en-US" altLang="en-US" sz="1300" b="0" i="0" dirty="0">
                <a:solidFill>
                  <a:srgbClr val="1A1A1A"/>
                </a:solidFill>
                <a:latin typeface="Times New Roman"/>
                <a:ea typeface="Times New Roman"/>
                <a:cs typeface="Times New Roman"/>
              </a:rPr>
              <a:t>     (5) </a:t>
            </a:r>
            <a:r>
              <a:rPr lang="en-US" altLang="en-US" sz="1300" b="1" dirty="0">
                <a:solidFill>
                  <a:srgbClr val="FFFFFF"/>
                </a:solidFill>
                <a:highlight>
                  <a:srgbClr val="FF0000"/>
                </a:highlight>
                <a:latin typeface="Times New Roman"/>
                <a:ea typeface="Times New Roman"/>
                <a:cs typeface="Times New Roman"/>
              </a:rPr>
              <a:t>Must</a:t>
            </a:r>
            <a:r>
              <a:rPr lang="en-US" altLang="en-US" sz="1300" b="1" dirty="0">
                <a:solidFill>
                  <a:srgbClr val="FFFFFF"/>
                </a:solidFill>
                <a:latin typeface="Times New Roman"/>
                <a:ea typeface="Times New Roman"/>
                <a:cs typeface="Times New Roman"/>
              </a:rPr>
              <a:t> </a:t>
            </a:r>
            <a:r>
              <a:rPr lang="en-US" altLang="en-US" sz="1300" b="1" i="0" dirty="0">
                <a:solidFill>
                  <a:srgbClr val="1A1A1A"/>
                </a:solidFill>
                <a:latin typeface="Times New Roman"/>
                <a:ea typeface="Times New Roman"/>
                <a:cs typeface="Times New Roman"/>
              </a:rPr>
              <a:t> </a:t>
            </a:r>
            <a:r>
              <a:rPr lang="ar-SY" altLang="en-US" sz="1300" b="0" i="0" dirty="0">
                <a:solidFill>
                  <a:srgbClr val="1A1A1A"/>
                </a:solidFill>
                <a:latin typeface="Times New Roman"/>
                <a:ea typeface="Times New Roman"/>
                <a:cs typeface="Times New Roman"/>
              </a:rPr>
              <a:t>مهم</a:t>
            </a:r>
            <a:r>
              <a:rPr lang="ar-SA" altLang="en-US" sz="1300" b="0" i="0" dirty="0">
                <a:solidFill>
                  <a:srgbClr val="1A1A1A"/>
                </a:solidFill>
                <a:latin typeface="Times New Roman"/>
                <a:ea typeface="Times New Roman"/>
                <a:cs typeface="Times New Roman"/>
              </a:rPr>
              <a:t> </a:t>
            </a:r>
            <a:r>
              <a:rPr lang="en-US" altLang="en-US" sz="1300" b="1" dirty="0">
                <a:solidFill>
                  <a:srgbClr val="1A1A1A"/>
                </a:solidFill>
                <a:highlight>
                  <a:srgbClr val="00FF00"/>
                </a:highlight>
                <a:latin typeface="Times New Roman"/>
                <a:ea typeface="Times New Roman"/>
                <a:cs typeface="Times New Roman"/>
              </a:rPr>
              <a:t> Should </a:t>
            </a:r>
            <a:r>
              <a:rPr lang="ar-SY" altLang="en-US" sz="1300" b="0" i="0" dirty="0">
                <a:solidFill>
                  <a:srgbClr val="1A1A1A"/>
                </a:solidFill>
                <a:latin typeface="Times New Roman"/>
                <a:ea typeface="Times New Roman"/>
                <a:cs typeface="Times New Roman"/>
              </a:rPr>
              <a:t> </a:t>
            </a:r>
            <a:r>
              <a:rPr lang="en-US" altLang="en-US" sz="1300" b="0" i="0" dirty="0">
                <a:solidFill>
                  <a:srgbClr val="1A1A1A"/>
                </a:solidFill>
                <a:latin typeface="Times New Roman"/>
                <a:ea typeface="Times New Roman"/>
                <a:cs typeface="Times New Roman"/>
              </a:rPr>
              <a:t>     </a:t>
            </a:r>
            <a:r>
              <a:rPr lang="en-US" altLang="en-US" sz="1300" dirty="0">
                <a:solidFill>
                  <a:srgbClr val="1A1A1A"/>
                </a:solidFill>
                <a:latin typeface="Times New Roman"/>
                <a:ea typeface="Times New Roman"/>
                <a:cs typeface="Times New Roman"/>
              </a:rPr>
              <a:t>(11)</a:t>
            </a:r>
            <a:r>
              <a:rPr lang="ar-SY" altLang="en-US" sz="1300" b="0" i="0" dirty="0">
                <a:solidFill>
                  <a:srgbClr val="1A1A1A"/>
                </a:solidFill>
                <a:latin typeface="Times New Roman"/>
                <a:ea typeface="Times New Roman"/>
                <a:cs typeface="Times New Roman"/>
              </a:rPr>
              <a:t>مرغوب</a:t>
            </a:r>
            <a:r>
              <a:rPr lang="ar-SA" altLang="en-US" sz="1300" b="0" i="0" dirty="0">
                <a:solidFill>
                  <a:srgbClr val="1A1A1A"/>
                </a:solidFill>
                <a:latin typeface="Times New Roman"/>
                <a:ea typeface="Times New Roman"/>
                <a:cs typeface="Times New Roman"/>
              </a:rPr>
              <a:t> </a:t>
            </a:r>
            <a:r>
              <a:rPr lang="en-US" altLang="en-US" sz="1300" b="0" i="0" dirty="0">
                <a:solidFill>
                  <a:srgbClr val="1A1A1A"/>
                </a:solidFill>
                <a:latin typeface="Times New Roman"/>
                <a:ea typeface="Times New Roman"/>
                <a:cs typeface="Times New Roman"/>
              </a:rPr>
              <a:t>           (4) </a:t>
            </a:r>
            <a:r>
              <a:rPr lang="en-US" altLang="en-US" sz="1300" b="1" dirty="0">
                <a:solidFill>
                  <a:srgbClr val="1A1A1A"/>
                </a:solidFill>
                <a:highlight>
                  <a:srgbClr val="FFFF00"/>
                </a:highlight>
                <a:latin typeface="Times New Roman"/>
                <a:ea typeface="Times New Roman"/>
                <a:cs typeface="Times New Roman"/>
              </a:rPr>
              <a:t>Could</a:t>
            </a:r>
            <a:r>
              <a:rPr lang="en-US" altLang="en-US" sz="1300" dirty="0">
                <a:solidFill>
                  <a:srgbClr val="1A1A1A"/>
                </a:solidFill>
                <a:highlight>
                  <a:srgbClr val="FFFF00"/>
                </a:highlight>
                <a:latin typeface="Times New Roman"/>
                <a:ea typeface="Times New Roman"/>
                <a:cs typeface="Times New Roman"/>
              </a:rPr>
              <a:t> </a:t>
            </a:r>
            <a:r>
              <a:rPr lang="ar-SY" altLang="en-US" sz="1300" b="1" i="0" dirty="0">
                <a:solidFill>
                  <a:srgbClr val="1A1A1A"/>
                </a:solidFill>
                <a:latin typeface="Times New Roman"/>
                <a:ea typeface="Times New Roman"/>
                <a:cs typeface="Times New Roman"/>
              </a:rPr>
              <a:t>يثبت فكرة المشروع  </a:t>
            </a:r>
            <a:r>
              <a:rPr lang="ar-SY" altLang="en-US" sz="1200" b="0" i="0" dirty="0">
                <a:solidFill>
                  <a:srgbClr val="1A1A1A"/>
                </a:solidFill>
                <a:latin typeface="Times New Roman"/>
                <a:ea typeface="Times New Roman"/>
                <a:cs typeface="Times New Roman"/>
              </a:rPr>
              <a:t>★</a:t>
            </a:r>
            <a:r>
              <a:rPr lang="ar-SY" altLang="en-US" sz="1300" b="1" i="0" dirty="0">
                <a:solidFill>
                  <a:srgbClr val="1A1A1A"/>
                </a:solidFill>
                <a:latin typeface="Times New Roman"/>
                <a:ea typeface="Times New Roman"/>
                <a:cs typeface="Times New Roman"/>
              </a:rPr>
              <a:t>  </a:t>
            </a:r>
            <a:r>
              <a:rPr lang="ar-SA" altLang="en-US" sz="1300" b="1" i="0" dirty="0">
                <a:solidFill>
                  <a:srgbClr val="1A1A1A"/>
                </a:solidFill>
                <a:latin typeface="Times New Roman"/>
                <a:ea typeface="Times New Roman"/>
                <a:cs typeface="Times New Roman"/>
              </a:rPr>
              <a:t>            </a:t>
            </a:r>
            <a:r>
              <a:rPr lang="ar-SY" altLang="en-US" sz="1300" b="1" i="0" dirty="0">
                <a:solidFill>
                  <a:srgbClr val="1A1A1A"/>
                </a:solidFill>
                <a:latin typeface="Times New Roman"/>
                <a:ea typeface="Times New Roman"/>
                <a:cs typeface="Times New Roman"/>
              </a:rPr>
              <a:t>  </a:t>
            </a:r>
            <a:r>
              <a:rPr lang="ar-SY" altLang="en-US" sz="1300" b="0" i="0" dirty="0">
                <a:solidFill>
                  <a:srgbClr val="595959"/>
                </a:solidFill>
                <a:latin typeface="Times New Roman"/>
                <a:ea typeface="Times New Roman"/>
                <a:cs typeface="Times New Roman"/>
              </a:rPr>
              <a:t>ترتيب الرقم = ترتيب الأولوية </a:t>
            </a:r>
            <a:r>
              <a:rPr lang="en-US" altLang="en-US" sz="1300" b="0" i="0" dirty="0" err="1">
                <a:solidFill>
                  <a:srgbClr val="595959"/>
                </a:solidFill>
                <a:latin typeface="Times New Roman"/>
                <a:ea typeface="Times New Roman"/>
                <a:cs typeface="Times New Roman"/>
              </a:rPr>
              <a:t>MoSCoW</a:t>
            </a:r>
            <a:r>
              <a:rPr lang="en-US" altLang="en-US" sz="1300" b="0" i="0" dirty="0">
                <a:solidFill>
                  <a:srgbClr val="595959"/>
                </a:solidFill>
                <a:latin typeface="Times New Roman"/>
                <a:ea typeface="Times New Roman"/>
                <a:cs typeface="Times New Roman"/>
              </a:rPr>
              <a:t> [19] </a:t>
            </a:r>
            <a:endParaRPr lang="ar-SA" altLang="en-US" sz="1300" b="0" i="0" dirty="0">
              <a:solidFill>
                <a:srgbClr val="595959"/>
              </a:solidFill>
              <a:latin typeface="Times New Roman"/>
              <a:ea typeface="Times New Roman"/>
              <a:cs typeface="Times New Roman"/>
            </a:endParaRPr>
          </a:p>
          <a:p>
            <a:pPr algn="r" rtl="1">
              <a:spcBef>
                <a:spcPts val="0"/>
              </a:spcBef>
              <a:spcAft>
                <a:spcPts val="300"/>
              </a:spcAft>
              <a:buNone/>
            </a:pPr>
            <a:r>
              <a:rPr lang="ar-SA" altLang="en-US" sz="1600" b="1" dirty="0">
                <a:solidFill>
                  <a:srgbClr val="595959"/>
                </a:solidFill>
                <a:latin typeface="Times New Roman"/>
                <a:ea typeface="Times New Roman"/>
                <a:cs typeface="Times New Roman"/>
              </a:rPr>
              <a:t>تخرج</a:t>
            </a:r>
            <a:r>
              <a:rPr lang="en-US" altLang="en-US" sz="1600" b="1" dirty="0">
                <a:solidFill>
                  <a:srgbClr val="595959"/>
                </a:solidFill>
                <a:latin typeface="Times New Roman"/>
                <a:ea typeface="Times New Roman"/>
                <a:cs typeface="Times New Roman"/>
              </a:rPr>
              <a:t>2</a:t>
            </a:r>
            <a:r>
              <a:rPr lang="ar-SA" altLang="en-US" sz="1600" b="1" dirty="0">
                <a:solidFill>
                  <a:srgbClr val="595959"/>
                </a:solidFill>
                <a:latin typeface="Times New Roman"/>
                <a:ea typeface="Times New Roman"/>
                <a:cs typeface="Times New Roman"/>
              </a:rPr>
              <a:t> (</a:t>
            </a:r>
            <a:r>
              <a:rPr lang="en-US" altLang="en-US" sz="1600" b="1" dirty="0">
                <a:solidFill>
                  <a:srgbClr val="595959"/>
                </a:solidFill>
                <a:latin typeface="Times New Roman"/>
                <a:ea typeface="Times New Roman"/>
                <a:cs typeface="Times New Roman"/>
              </a:rPr>
              <a:t>Won't</a:t>
            </a:r>
            <a:r>
              <a:rPr lang="ar-SY" altLang="en-US" sz="1600" b="1" dirty="0">
                <a:solidFill>
                  <a:srgbClr val="595959"/>
                </a:solidFill>
                <a:latin typeface="Times New Roman"/>
                <a:ea typeface="Times New Roman"/>
                <a:cs typeface="Times New Roman"/>
              </a:rPr>
              <a:t>):</a:t>
            </a:r>
            <a:endParaRPr lang="ar-SY" altLang="en-US" sz="1600" b="1" i="0" dirty="0">
              <a:solidFill>
                <a:srgbClr val="595959"/>
              </a:solidFill>
              <a:latin typeface="Times New Roman"/>
              <a:ea typeface="Times New Roman"/>
              <a:cs typeface="Times New Roman"/>
            </a:endParaRPr>
          </a:p>
          <a:p>
            <a:pPr algn="r" rtl="1">
              <a:spcBef>
                <a:spcPts val="0"/>
              </a:spcBef>
              <a:spcAft>
                <a:spcPts val="0"/>
              </a:spcAft>
              <a:buNone/>
            </a:pPr>
            <a:r>
              <a:rPr lang="en-US" altLang="en-US" sz="1300" b="0" i="0" dirty="0">
                <a:solidFill>
                  <a:srgbClr val="1A1A1A"/>
                </a:solidFill>
                <a:latin typeface="Times New Roman"/>
                <a:ea typeface="Times New Roman"/>
                <a:cs typeface="Times New Roman"/>
              </a:rPr>
              <a:t> FR-21 </a:t>
            </a:r>
            <a:r>
              <a:rPr lang="en-US" altLang="en-US" sz="1300" dirty="0">
                <a:solidFill>
                  <a:srgbClr val="1A1A1A"/>
                </a:solidFill>
                <a:latin typeface="Times New Roman"/>
                <a:ea typeface="Times New Roman"/>
                <a:cs typeface="Times New Roman"/>
              </a:rPr>
              <a:t>         </a:t>
            </a:r>
            <a:r>
              <a:rPr lang="ar-SY" altLang="en-US" sz="1300" b="0" i="0" dirty="0">
                <a:solidFill>
                  <a:srgbClr val="1A1A1A"/>
                </a:solidFill>
                <a:latin typeface="Times New Roman"/>
                <a:ea typeface="Times New Roman"/>
                <a:cs typeface="Times New Roman"/>
              </a:rPr>
              <a:t>المكافآت،</a:t>
            </a:r>
            <a:r>
              <a:rPr lang="en-US" altLang="en-US" sz="1300" b="0" i="0" dirty="0">
                <a:solidFill>
                  <a:srgbClr val="1A1A1A"/>
                </a:solidFill>
                <a:latin typeface="Times New Roman"/>
                <a:ea typeface="Times New Roman"/>
                <a:cs typeface="Times New Roman"/>
              </a:rPr>
              <a:t> FR-22 </a:t>
            </a:r>
            <a:r>
              <a:rPr lang="ar-SY" altLang="en-US" sz="1300" b="0" i="0" dirty="0">
                <a:solidFill>
                  <a:srgbClr val="1A1A1A"/>
                </a:solidFill>
                <a:latin typeface="Times New Roman"/>
                <a:ea typeface="Times New Roman"/>
                <a:cs typeface="Times New Roman"/>
              </a:rPr>
              <a:t>منطق التخطي الشرطي</a:t>
            </a:r>
            <a:r>
              <a:rPr lang="en-US" altLang="en-US" sz="1300" b="0" i="0" dirty="0">
                <a:solidFill>
                  <a:srgbClr val="1A1A1A"/>
                </a:solidFill>
                <a:latin typeface="Times New Roman"/>
                <a:ea typeface="Times New Roman"/>
                <a:cs typeface="Times New Roman"/>
              </a:rPr>
              <a:t> (Skip Logic)</a:t>
            </a:r>
            <a:r>
              <a:rPr lang="ar-SY" altLang="en-US" sz="1300" b="0" i="0" dirty="0">
                <a:solidFill>
                  <a:srgbClr val="1A1A1A"/>
                </a:solidFill>
                <a:latin typeface="Times New Roman"/>
                <a:ea typeface="Times New Roman"/>
                <a:cs typeface="Times New Roman"/>
              </a:rPr>
              <a:t>،</a:t>
            </a:r>
            <a:r>
              <a:rPr lang="en-US" altLang="en-US" sz="1300" b="0" i="0" dirty="0">
                <a:solidFill>
                  <a:srgbClr val="1A1A1A"/>
                </a:solidFill>
                <a:latin typeface="Times New Roman"/>
                <a:ea typeface="Times New Roman"/>
                <a:cs typeface="Times New Roman"/>
              </a:rPr>
              <a:t> FR-23 </a:t>
            </a:r>
            <a:r>
              <a:rPr lang="ar-SY" altLang="en-US" sz="1300" b="0" i="0" dirty="0">
                <a:solidFill>
                  <a:srgbClr val="1A1A1A"/>
                </a:solidFill>
                <a:latin typeface="Times New Roman"/>
                <a:ea typeface="Times New Roman"/>
                <a:cs typeface="Times New Roman"/>
              </a:rPr>
              <a:t>لوحة الإدارة،</a:t>
            </a:r>
            <a:r>
              <a:rPr lang="en-US" altLang="en-US" sz="1300" b="0" i="0" dirty="0">
                <a:solidFill>
                  <a:srgbClr val="1A1A1A"/>
                </a:solidFill>
                <a:latin typeface="Times New Roman"/>
                <a:ea typeface="Times New Roman"/>
                <a:cs typeface="Times New Roman"/>
              </a:rPr>
              <a:t> FR-24 </a:t>
            </a:r>
            <a:r>
              <a:rPr lang="ar-SY" altLang="en-US" sz="1300" b="0" i="0" dirty="0">
                <a:solidFill>
                  <a:srgbClr val="1A1A1A"/>
                </a:solidFill>
                <a:latin typeface="Times New Roman"/>
                <a:ea typeface="Times New Roman"/>
                <a:cs typeface="Times New Roman"/>
              </a:rPr>
              <a:t>ثقة المستجيب،</a:t>
            </a:r>
            <a:r>
              <a:rPr lang="en-US" altLang="en-US" sz="1300" b="0" i="0" dirty="0">
                <a:solidFill>
                  <a:srgbClr val="1A1A1A"/>
                </a:solidFill>
                <a:latin typeface="Times New Roman"/>
                <a:ea typeface="Times New Roman"/>
                <a:cs typeface="Times New Roman"/>
              </a:rPr>
              <a:t> FR-25 </a:t>
            </a:r>
            <a:r>
              <a:rPr lang="ar-SY" altLang="en-US" sz="1300" b="0" i="0" dirty="0">
                <a:solidFill>
                  <a:srgbClr val="1A1A1A"/>
                </a:solidFill>
                <a:latin typeface="Times New Roman"/>
                <a:ea typeface="Times New Roman"/>
                <a:cs typeface="Times New Roman"/>
              </a:rPr>
              <a:t>إشعارات المزوّد</a:t>
            </a:r>
          </a:p>
        </p:txBody>
      </p:sp>
    </p:spTree>
    <p:extLst>
      <p:ext uri="{BB962C8B-B14F-4D97-AF65-F5344CB8AC3E}">
        <p14:creationId xmlns:p14="http://schemas.microsoft.com/office/powerpoint/2010/main" val="1553074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4EB43481-1474-F6FB-E26F-234BCCE3D5AF}"/>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DABFC852-467C-BAA7-9AA2-ED3CA591D458}"/>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04D459B6-EF1D-127F-DE97-C8FB9F0305EE}"/>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8</a:t>
            </a:fld>
            <a:endParaRPr lang="en-US"/>
          </a:p>
        </p:txBody>
      </p:sp>
      <p:sp>
        <p:nvSpPr>
          <p:cNvPr id="9" name="Title">
            <a:extLst>
              <a:ext uri="{FF2B5EF4-FFF2-40B4-BE49-F238E27FC236}">
                <a16:creationId xmlns:a16="http://schemas.microsoft.com/office/drawing/2014/main" id="{01D2A0AE-4E08-201B-39E7-C0595AAEF0C8}"/>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منهجية التطوير ومراحل التنفيذ </a:t>
            </a:r>
            <a:r>
              <a:rPr lang="en-US" altLang="en-US" sz="2800" b="1" i="0" dirty="0">
                <a:solidFill>
                  <a:srgbClr val="2F5496"/>
                </a:solidFill>
                <a:latin typeface="Times New Roman"/>
                <a:ea typeface="Times New Roman"/>
                <a:cs typeface="Times New Roman"/>
              </a:rPr>
              <a:t>(Kanban + Agile Modeling)</a:t>
            </a:r>
            <a:endParaRPr lang="ar-SY" altLang="en-US" sz="2800" b="1" i="0" dirty="0">
              <a:solidFill>
                <a:srgbClr val="2F5496"/>
              </a:solidFill>
              <a:latin typeface="Times New Roman"/>
              <a:ea typeface="Times New Roman"/>
              <a:cs typeface="Times New Roman"/>
            </a:endParaRPr>
          </a:p>
        </p:txBody>
      </p:sp>
      <p:sp>
        <p:nvSpPr>
          <p:cNvPr id="10" name="Method summary"/>
          <p:cNvSpPr/>
          <p:nvPr/>
        </p:nvSpPr>
        <p:spPr>
          <a:xfrm>
            <a:off x="548640" y="914400"/>
            <a:ext cx="11091672" cy="777240"/>
          </a:xfrm>
          <a:prstGeom prst="roundRect">
            <a:avLst>
              <a:gd name="adj" fmla="val 8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noAutofit/>
          </a:bodyPr>
          <a:lstStyle/>
          <a:p>
            <a:pPr algn="r" rtl="1">
              <a:spcBef>
                <a:spcPts val="0"/>
              </a:spcBef>
              <a:spcAft>
                <a:spcPts val="200"/>
              </a:spcAft>
              <a:buNone/>
            </a:pPr>
            <a:r>
              <a:rPr lang="en-US" altLang="en-US" sz="1600" b="1" i="0" dirty="0">
                <a:solidFill>
                  <a:srgbClr val="2F5496"/>
                </a:solidFill>
                <a:latin typeface="Times New Roman"/>
                <a:ea typeface="Times New Roman"/>
                <a:cs typeface="Times New Roman"/>
              </a:rPr>
              <a:t>Kanban </a:t>
            </a:r>
            <a:r>
              <a:rPr lang="ar-SA" altLang="en-US" sz="1600" b="1" i="0" dirty="0">
                <a:solidFill>
                  <a:srgbClr val="2F5496"/>
                </a:solidFill>
                <a:latin typeface="Times New Roman"/>
                <a:ea typeface="Times New Roman"/>
                <a:cs typeface="Times New Roman"/>
              </a:rPr>
              <a:t> </a:t>
            </a:r>
            <a:r>
              <a:rPr lang="ar-SY" altLang="en-US" sz="1600" b="1" i="0" dirty="0">
                <a:solidFill>
                  <a:srgbClr val="2F5496"/>
                </a:solidFill>
                <a:latin typeface="Times New Roman"/>
                <a:ea typeface="Times New Roman"/>
                <a:cs typeface="Times New Roman"/>
              </a:rPr>
              <a:t>لإدارة سير العمل </a:t>
            </a:r>
            <a:r>
              <a:rPr lang="en-US" altLang="en-US" sz="1600" b="1" dirty="0">
                <a:solidFill>
                  <a:srgbClr val="2F5496"/>
                </a:solidFill>
                <a:latin typeface="Times New Roman"/>
                <a:ea typeface="Times New Roman"/>
                <a:cs typeface="Times New Roman"/>
              </a:rPr>
              <a:t> </a:t>
            </a:r>
            <a:r>
              <a:rPr lang="en-US" altLang="en-US" sz="1600" b="1" i="0" dirty="0">
                <a:solidFill>
                  <a:srgbClr val="2F5496"/>
                </a:solidFill>
                <a:latin typeface="Times New Roman"/>
                <a:ea typeface="Times New Roman"/>
                <a:cs typeface="Times New Roman"/>
              </a:rPr>
              <a:t>+ </a:t>
            </a:r>
            <a:r>
              <a:rPr lang="ar-SY" altLang="en-US" sz="1600" b="1" i="0" dirty="0">
                <a:solidFill>
                  <a:srgbClr val="2F5496"/>
                </a:solidFill>
                <a:latin typeface="Times New Roman"/>
                <a:ea typeface="Times New Roman"/>
                <a:cs typeface="Times New Roman"/>
              </a:rPr>
              <a:t>ممارسات </a:t>
            </a:r>
            <a:r>
              <a:rPr lang="en-US" altLang="en-US" sz="1600" b="1" i="0" dirty="0">
                <a:solidFill>
                  <a:srgbClr val="2F5496"/>
                </a:solidFill>
                <a:latin typeface="Times New Roman"/>
                <a:ea typeface="Times New Roman"/>
                <a:cs typeface="Times New Roman"/>
              </a:rPr>
              <a:t> Agile Modeling </a:t>
            </a:r>
            <a:r>
              <a:rPr lang="ar-SY" altLang="en-US" sz="1600" b="1" i="0" dirty="0">
                <a:solidFill>
                  <a:srgbClr val="2F5496"/>
                </a:solidFill>
                <a:latin typeface="Times New Roman"/>
                <a:ea typeface="Times New Roman"/>
                <a:cs typeface="Times New Roman"/>
              </a:rPr>
              <a:t>للتصميم</a:t>
            </a:r>
            <a:r>
              <a:rPr lang="en-US" altLang="en-US" sz="1600" b="1" i="0" dirty="0">
                <a:solidFill>
                  <a:srgbClr val="2F5496"/>
                </a:solidFill>
                <a:latin typeface="Times New Roman"/>
                <a:ea typeface="Times New Roman"/>
                <a:cs typeface="Times New Roman"/>
              </a:rPr>
              <a:t>:</a:t>
            </a:r>
            <a:r>
              <a:rPr kumimoji="0" lang="en-US" altLang="en-US" sz="1100" b="0" i="0" u="none" strike="noStrike" kern="1200" cap="none" spc="0" normalizeH="0" baseline="0" noProof="0" dirty="0">
                <a:ln>
                  <a:noFill/>
                </a:ln>
                <a:solidFill>
                  <a:srgbClr val="1A1A1A"/>
                </a:solidFill>
                <a:effectLst/>
                <a:uLnTx/>
                <a:uFillTx/>
                <a:latin typeface="Times New Roman"/>
                <a:ea typeface="Times New Roman"/>
                <a:cs typeface="Times New Roman"/>
              </a:rPr>
              <a:t> [20][21][22] </a:t>
            </a:r>
            <a:r>
              <a:rPr lang="en-US" altLang="en-US" sz="1600" b="0" i="0" dirty="0">
                <a:solidFill>
                  <a:srgbClr val="1A1A1A"/>
                </a:solidFill>
                <a:latin typeface="Times New Roman"/>
                <a:ea typeface="Times New Roman"/>
                <a:cs typeface="Times New Roman"/>
              </a:rPr>
              <a:t>Iterative &amp; Incremental Development </a:t>
            </a:r>
            <a:r>
              <a:rPr lang="en-US" altLang="en-US" sz="1100" b="0" i="0" dirty="0">
                <a:solidFill>
                  <a:srgbClr val="1A1A1A"/>
                </a:solidFill>
                <a:latin typeface="Times New Roman"/>
                <a:ea typeface="Times New Roman"/>
                <a:cs typeface="Times New Roman"/>
              </a:rPr>
              <a:t> </a:t>
            </a:r>
            <a:r>
              <a:rPr lang="en-US" altLang="en-US" sz="1600" b="0" i="0" dirty="0">
                <a:solidFill>
                  <a:srgbClr val="1A1A1A"/>
                </a:solidFill>
                <a:latin typeface="Times New Roman"/>
                <a:ea typeface="Times New Roman"/>
                <a:cs typeface="Times New Roman"/>
              </a:rPr>
              <a:t>‎</a:t>
            </a:r>
            <a:endParaRPr lang="ar-SY" altLang="en-US" sz="1600" b="0" i="0" dirty="0">
              <a:solidFill>
                <a:srgbClr val="1A1A1A"/>
              </a:solidFill>
              <a:latin typeface="Times New Roman"/>
              <a:ea typeface="Times New Roman"/>
              <a:cs typeface="Times New Roman"/>
            </a:endParaRPr>
          </a:p>
          <a:p>
            <a:pPr algn="r" rtl="1">
              <a:spcBef>
                <a:spcPts val="0"/>
              </a:spcBef>
              <a:spcAft>
                <a:spcPts val="0"/>
              </a:spcAft>
              <a:buNone/>
            </a:pPr>
            <a:r>
              <a:rPr lang="ar-SY" altLang="en-US" sz="1400" b="1" i="0" dirty="0">
                <a:solidFill>
                  <a:srgbClr val="1A1A1A"/>
                </a:solidFill>
                <a:latin typeface="Times New Roman"/>
                <a:ea typeface="Times New Roman"/>
                <a:cs typeface="Times New Roman"/>
              </a:rPr>
              <a:t>لماذا؟ </a:t>
            </a:r>
            <a:r>
              <a:rPr lang="ar-SY" altLang="en-US" sz="1400" b="0" i="0" dirty="0">
                <a:solidFill>
                  <a:srgbClr val="1A1A1A"/>
                </a:solidFill>
                <a:latin typeface="Times New Roman"/>
                <a:ea typeface="Times New Roman"/>
                <a:cs typeface="Times New Roman"/>
              </a:rPr>
              <a:t>نعمل معاً ومن المنازل؛ </a:t>
            </a:r>
            <a:r>
              <a:rPr lang="en-US" altLang="en-US" sz="1400" b="0" i="0" dirty="0">
                <a:solidFill>
                  <a:srgbClr val="1A1A1A"/>
                </a:solidFill>
                <a:latin typeface="Times New Roman"/>
                <a:ea typeface="Times New Roman"/>
                <a:cs typeface="Times New Roman"/>
              </a:rPr>
              <a:t> Kanban </a:t>
            </a:r>
            <a:r>
              <a:rPr lang="ar-SY" altLang="en-US" sz="1400" b="0" i="0" dirty="0">
                <a:solidFill>
                  <a:srgbClr val="1A1A1A"/>
                </a:solidFill>
                <a:latin typeface="Times New Roman"/>
                <a:ea typeface="Times New Roman"/>
                <a:cs typeface="Times New Roman"/>
              </a:rPr>
              <a:t>لا يفرض </a:t>
            </a:r>
            <a:r>
              <a:rPr lang="en-US" altLang="en-US" sz="1400" b="0" i="0" dirty="0">
                <a:solidFill>
                  <a:srgbClr val="1A1A1A"/>
                </a:solidFill>
                <a:latin typeface="Times New Roman"/>
                <a:ea typeface="Times New Roman"/>
                <a:cs typeface="Times New Roman"/>
              </a:rPr>
              <a:t> Daily Scrum </a:t>
            </a:r>
            <a:r>
              <a:rPr lang="ar-SY" altLang="en-US" sz="1400" b="0" i="0" dirty="0">
                <a:solidFill>
                  <a:srgbClr val="1A1A1A"/>
                </a:solidFill>
                <a:latin typeface="Times New Roman"/>
                <a:ea typeface="Times New Roman"/>
                <a:cs typeface="Times New Roman"/>
              </a:rPr>
              <a:t>ولا أدواراً، بل سير عمل معرّفاً وحدود </a:t>
            </a:r>
            <a:r>
              <a:rPr lang="en-US" altLang="en-US" sz="1400" b="0" i="0" dirty="0">
                <a:solidFill>
                  <a:srgbClr val="1A1A1A"/>
                </a:solidFill>
                <a:latin typeface="Times New Roman"/>
                <a:ea typeface="Times New Roman"/>
                <a:cs typeface="Times New Roman"/>
              </a:rPr>
              <a:t> WIP </a:t>
            </a:r>
            <a:r>
              <a:rPr lang="ar-SY" altLang="en-US" sz="1400" b="0" i="0" dirty="0">
                <a:solidFill>
                  <a:srgbClr val="1A1A1A"/>
                </a:solidFill>
                <a:latin typeface="Times New Roman"/>
                <a:ea typeface="Times New Roman"/>
                <a:cs typeface="Times New Roman"/>
              </a:rPr>
              <a:t>ومقاييس تدفق، وتفوّق على </a:t>
            </a:r>
            <a:r>
              <a:rPr lang="en-US" altLang="en-US" sz="1400" b="0" i="0" dirty="0">
                <a:solidFill>
                  <a:srgbClr val="1A1A1A"/>
                </a:solidFill>
                <a:latin typeface="Times New Roman"/>
                <a:ea typeface="Times New Roman"/>
                <a:cs typeface="Times New Roman"/>
              </a:rPr>
              <a:t> Scrum </a:t>
            </a:r>
            <a:r>
              <a:rPr lang="ar-SY" altLang="en-US" sz="1400" b="0" i="0" dirty="0">
                <a:solidFill>
                  <a:srgbClr val="1A1A1A"/>
                </a:solidFill>
                <a:latin typeface="Times New Roman"/>
                <a:ea typeface="Times New Roman"/>
                <a:cs typeface="Times New Roman"/>
              </a:rPr>
              <a:t>في تجربة على مشاريع طلابية </a:t>
            </a:r>
            <a:r>
              <a:rPr lang="en-US" altLang="en-US" sz="1100" b="0" i="0" dirty="0">
                <a:solidFill>
                  <a:srgbClr val="1A1A1A"/>
                </a:solidFill>
                <a:latin typeface="Times New Roman"/>
                <a:ea typeface="Times New Roman"/>
                <a:cs typeface="Times New Roman"/>
              </a:rPr>
              <a:t>[23].</a:t>
            </a:r>
            <a:endParaRPr lang="en-US" altLang="en-US" sz="1400" b="0" i="0" dirty="0">
              <a:solidFill>
                <a:srgbClr val="1A1A1A"/>
              </a:solidFill>
              <a:latin typeface="Times New Roman"/>
              <a:ea typeface="Times New Roman"/>
              <a:cs typeface="Times New Roman"/>
            </a:endParaRPr>
          </a:p>
        </p:txBody>
      </p:sp>
      <p:sp>
        <p:nvSpPr>
          <p:cNvPr id="11" name="Iter0 head"/>
          <p:cNvSpPr/>
          <p:nvPr/>
        </p:nvSpPr>
        <p:spPr>
          <a:xfrm>
            <a:off x="9674352" y="1874519"/>
            <a:ext cx="196596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en-US" altLang="en-US" sz="1500" b="1" i="0" dirty="0">
                <a:solidFill>
                  <a:srgbClr val="FFFFFF"/>
                </a:solidFill>
                <a:latin typeface="Times New Roman"/>
                <a:ea typeface="Times New Roman"/>
                <a:cs typeface="Times New Roman"/>
              </a:rPr>
              <a:t>Iteration 0</a:t>
            </a:r>
            <a:endParaRPr lang="ar-SY" altLang="en-US" sz="1500" b="1" i="0" dirty="0">
              <a:solidFill>
                <a:srgbClr val="FFFFFF"/>
              </a:solidFill>
              <a:latin typeface="Times New Roman"/>
              <a:ea typeface="Times New Roman"/>
              <a:cs typeface="Times New Roman"/>
            </a:endParaRPr>
          </a:p>
        </p:txBody>
      </p:sp>
      <p:sp>
        <p:nvSpPr>
          <p:cNvPr id="12" name="Iter0 body"/>
          <p:cNvSpPr/>
          <p:nvPr/>
        </p:nvSpPr>
        <p:spPr>
          <a:xfrm>
            <a:off x="9674352" y="2441448"/>
            <a:ext cx="1965960" cy="2331720"/>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300" b="1" i="0" dirty="0">
                <a:solidFill>
                  <a:srgbClr val="595959"/>
                </a:solidFill>
                <a:latin typeface="Times New Roman"/>
                <a:ea typeface="Times New Roman"/>
                <a:cs typeface="Times New Roman"/>
              </a:rPr>
              <a:t>22/10 – 1/11</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Literature Review</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FR / NFR + MoSCoW</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Use Case Diagrams</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Architecture + Initial Class Diagram</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Prototype: REST API + Flutter Login</a:t>
            </a:r>
          </a:p>
          <a:p>
            <a:pPr marL="228600" indent="-228600" algn="l" rtl="0">
              <a:spcBef>
                <a:spcPts val="0"/>
              </a:spcBef>
              <a:spcAft>
                <a:spcPts val="100"/>
              </a:spcAft>
              <a:buClr>
                <a:srgbClr val="2F5496"/>
              </a:buClr>
              <a:buFont typeface="Arial"/>
              <a:buChar char="■"/>
            </a:pPr>
            <a:r>
              <a:rPr lang="en-US" altLang="en-US" sz="1300" b="0" i="0" dirty="0">
                <a:solidFill>
                  <a:srgbClr val="1A1A1A"/>
                </a:solidFill>
                <a:latin typeface="Times New Roman"/>
                <a:ea typeface="Times New Roman"/>
                <a:cs typeface="Times New Roman"/>
              </a:rPr>
              <a:t>Product Backlog: 25 Issues on GitHub Projects</a:t>
            </a:r>
          </a:p>
        </p:txBody>
      </p:sp>
      <p:sp>
        <p:nvSpPr>
          <p:cNvPr id="13" name="Step head 1"/>
          <p:cNvSpPr/>
          <p:nvPr/>
        </p:nvSpPr>
        <p:spPr>
          <a:xfrm>
            <a:off x="7726679" y="1874519"/>
            <a:ext cx="1673352"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300" b="1" i="0" dirty="0">
                <a:solidFill>
                  <a:srgbClr val="FFFFFF"/>
                </a:solidFill>
                <a:latin typeface="Times New Roman"/>
                <a:ea typeface="Times New Roman"/>
                <a:cs typeface="Times New Roman"/>
              </a:rPr>
              <a:t>1  Backlog → Ready</a:t>
            </a:r>
          </a:p>
        </p:txBody>
      </p:sp>
      <p:sp>
        <p:nvSpPr>
          <p:cNvPr id="14" name="Step body 1"/>
          <p:cNvSpPr/>
          <p:nvPr/>
        </p:nvSpPr>
        <p:spPr>
          <a:xfrm>
            <a:off x="7726679" y="2441448"/>
            <a:ext cx="1673352" cy="1691640"/>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384048" rIns="54864" bIns="36576" rtlCol="0" anchor="t">
            <a:noAutofit/>
          </a:bodyPr>
          <a:lstStyle/>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User Story + Acceptance Criteria</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MoSCoW order: Must, Should, Could</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Weekly replenishment</a:t>
            </a:r>
          </a:p>
        </p:txBody>
      </p:sp>
      <p:pic>
        <p:nvPicPr>
          <p:cNvPr id="15" name="Step icon 1" descr="tasks_blue.png"/>
          <p:cNvPicPr>
            <a:picLocks noChangeAspect="1"/>
          </p:cNvPicPr>
          <p:nvPr/>
        </p:nvPicPr>
        <p:blipFill>
          <a:blip r:embed="rId3"/>
          <a:stretch>
            <a:fillRect/>
          </a:stretch>
        </p:blipFill>
        <p:spPr>
          <a:xfrm>
            <a:off x="8417051" y="2496312"/>
            <a:ext cx="274320" cy="274320"/>
          </a:xfrm>
          <a:prstGeom prst="rect">
            <a:avLst/>
          </a:prstGeom>
        </p:spPr>
      </p:pic>
      <p:cxnSp>
        <p:nvCxnSpPr>
          <p:cNvPr id="16" name="Step arrow 1"/>
          <p:cNvCxnSpPr/>
          <p:nvPr/>
        </p:nvCxnSpPr>
        <p:spPr>
          <a:xfrm flipH="1">
            <a:off x="7607807" y="2157984"/>
            <a:ext cx="109729" cy="0"/>
          </a:xfrm>
          <a:prstGeom prst="line">
            <a:avLst/>
          </a:prstGeom>
          <a:ln w="25400">
            <a:solidFill>
              <a:srgbClr val="2F54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tep head 2"/>
          <p:cNvSpPr/>
          <p:nvPr/>
        </p:nvSpPr>
        <p:spPr>
          <a:xfrm>
            <a:off x="5925311" y="1874519"/>
            <a:ext cx="1673352"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300" b="1" i="0" dirty="0">
                <a:solidFill>
                  <a:srgbClr val="FFFFFF"/>
                </a:solidFill>
                <a:latin typeface="Times New Roman"/>
                <a:ea typeface="Times New Roman"/>
                <a:cs typeface="Times New Roman"/>
              </a:rPr>
              <a:t>2  In Progress · WIP 3</a:t>
            </a:r>
          </a:p>
        </p:txBody>
      </p:sp>
      <p:sp>
        <p:nvSpPr>
          <p:cNvPr id="18" name="Step body 2"/>
          <p:cNvSpPr/>
          <p:nvPr/>
        </p:nvSpPr>
        <p:spPr>
          <a:xfrm>
            <a:off x="5925311" y="2441448"/>
            <a:ext cx="1673352" cy="1691640"/>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384048" rIns="54864" bIns="36576" rtlCol="0" anchor="t">
            <a:noAutofit/>
          </a:bodyPr>
          <a:lstStyle/>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Model storming: Sequence, Activity, ERD</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One branch per item</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Code + unit tests</a:t>
            </a:r>
          </a:p>
        </p:txBody>
      </p:sp>
      <p:pic>
        <p:nvPicPr>
          <p:cNvPr id="19" name="Step icon 2" descr="pencil_blue.png"/>
          <p:cNvPicPr>
            <a:picLocks noChangeAspect="1"/>
          </p:cNvPicPr>
          <p:nvPr/>
        </p:nvPicPr>
        <p:blipFill>
          <a:blip r:embed="rId4"/>
          <a:stretch>
            <a:fillRect/>
          </a:stretch>
        </p:blipFill>
        <p:spPr>
          <a:xfrm>
            <a:off x="6615683" y="2496312"/>
            <a:ext cx="274320" cy="274320"/>
          </a:xfrm>
          <a:prstGeom prst="rect">
            <a:avLst/>
          </a:prstGeom>
        </p:spPr>
      </p:pic>
      <p:cxnSp>
        <p:nvCxnSpPr>
          <p:cNvPr id="20" name="Step arrow 2"/>
          <p:cNvCxnSpPr/>
          <p:nvPr/>
        </p:nvCxnSpPr>
        <p:spPr>
          <a:xfrm flipH="1">
            <a:off x="5806439" y="2157984"/>
            <a:ext cx="109728" cy="0"/>
          </a:xfrm>
          <a:prstGeom prst="line">
            <a:avLst/>
          </a:prstGeom>
          <a:ln w="25400">
            <a:solidFill>
              <a:srgbClr val="2F54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tep head 3"/>
          <p:cNvSpPr/>
          <p:nvPr/>
        </p:nvSpPr>
        <p:spPr>
          <a:xfrm>
            <a:off x="4123943" y="1874519"/>
            <a:ext cx="1673352"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300" b="1" i="0" dirty="0">
                <a:solidFill>
                  <a:srgbClr val="FFFFFF"/>
                </a:solidFill>
                <a:latin typeface="Times New Roman"/>
                <a:ea typeface="Times New Roman"/>
                <a:cs typeface="Times New Roman"/>
              </a:rPr>
              <a:t>3  Review · WIP 2</a:t>
            </a:r>
          </a:p>
        </p:txBody>
      </p:sp>
      <p:sp>
        <p:nvSpPr>
          <p:cNvPr id="22" name="Step body 3"/>
          <p:cNvSpPr/>
          <p:nvPr/>
        </p:nvSpPr>
        <p:spPr>
          <a:xfrm>
            <a:off x="4123943" y="2441448"/>
            <a:ext cx="1673352" cy="1691640"/>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384048" rIns="54864" bIns="36576" rtlCol="0" anchor="t">
            <a:noAutofit/>
          </a:bodyPr>
          <a:lstStyle/>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Pull Request + CI</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Reviewed by another member</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Integration tests</a:t>
            </a:r>
          </a:p>
        </p:txBody>
      </p:sp>
      <p:pic>
        <p:nvPicPr>
          <p:cNvPr id="23" name="Step icon 3" descr="code_blue.png"/>
          <p:cNvPicPr>
            <a:picLocks noChangeAspect="1"/>
          </p:cNvPicPr>
          <p:nvPr/>
        </p:nvPicPr>
        <p:blipFill>
          <a:blip r:embed="rId5"/>
          <a:stretch>
            <a:fillRect/>
          </a:stretch>
        </p:blipFill>
        <p:spPr>
          <a:xfrm>
            <a:off x="4814315" y="2496312"/>
            <a:ext cx="274320" cy="274320"/>
          </a:xfrm>
          <a:prstGeom prst="rect">
            <a:avLst/>
          </a:prstGeom>
        </p:spPr>
      </p:pic>
      <p:cxnSp>
        <p:nvCxnSpPr>
          <p:cNvPr id="24" name="Step arrow 3"/>
          <p:cNvCxnSpPr/>
          <p:nvPr/>
        </p:nvCxnSpPr>
        <p:spPr>
          <a:xfrm flipH="1">
            <a:off x="4005071" y="2157984"/>
            <a:ext cx="109728" cy="0"/>
          </a:xfrm>
          <a:prstGeom prst="line">
            <a:avLst/>
          </a:prstGeom>
          <a:ln w="25400">
            <a:solidFill>
              <a:srgbClr val="2F54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Step head 4"/>
          <p:cNvSpPr/>
          <p:nvPr/>
        </p:nvSpPr>
        <p:spPr>
          <a:xfrm>
            <a:off x="2322575" y="1874519"/>
            <a:ext cx="1673352" cy="566928"/>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noAutofit/>
          </a:bodyPr>
          <a:lstStyle/>
          <a:p>
            <a:pPr algn="ctr" rtl="0">
              <a:spcBef>
                <a:spcPts val="0"/>
              </a:spcBef>
              <a:spcAft>
                <a:spcPts val="0"/>
              </a:spcAft>
              <a:buNone/>
            </a:pPr>
            <a:r>
              <a:rPr lang="en-US" altLang="en-US" sz="1300" b="1" i="0" dirty="0">
                <a:solidFill>
                  <a:srgbClr val="FFFFFF"/>
                </a:solidFill>
                <a:latin typeface="Times New Roman"/>
                <a:ea typeface="Times New Roman"/>
                <a:cs typeface="Times New Roman"/>
              </a:rPr>
              <a:t>4  Done → Released</a:t>
            </a:r>
          </a:p>
        </p:txBody>
      </p:sp>
      <p:sp>
        <p:nvSpPr>
          <p:cNvPr id="26" name="Step body 4"/>
          <p:cNvSpPr/>
          <p:nvPr/>
        </p:nvSpPr>
        <p:spPr>
          <a:xfrm>
            <a:off x="2322575" y="2441448"/>
            <a:ext cx="1673352" cy="1691640"/>
          </a:xfrm>
          <a:prstGeom prst="rect">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384048" rIns="54864" bIns="36576" rtlCol="0" anchor="t">
            <a:noAutofit/>
          </a:bodyPr>
          <a:lstStyle/>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Merged into develop</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Review with supervisors every 2 weeks</a:t>
            </a:r>
          </a:p>
          <a:p>
            <a:pPr marL="228600" indent="-228600" algn="l" rtl="0">
              <a:spcBef>
                <a:spcPts val="0"/>
              </a:spcBef>
              <a:spcAft>
                <a:spcPts val="300"/>
              </a:spcAft>
              <a:buClr>
                <a:srgbClr val="2F5496"/>
              </a:buClr>
              <a:buFont typeface="Arial"/>
              <a:buChar char="■"/>
            </a:pPr>
            <a:r>
              <a:rPr lang="en-US" altLang="en-US" sz="1200" b="0" i="0" dirty="0">
                <a:solidFill>
                  <a:srgbClr val="1A1A1A"/>
                </a:solidFill>
                <a:latin typeface="Times New Roman"/>
                <a:ea typeface="Times New Roman"/>
                <a:cs typeface="Times New Roman"/>
              </a:rPr>
              <a:t>Release tag + workflow review</a:t>
            </a:r>
          </a:p>
        </p:txBody>
      </p:sp>
      <p:pic>
        <p:nvPicPr>
          <p:cNvPr id="27" name="Step icon 4" descr="check_blue.png"/>
          <p:cNvPicPr>
            <a:picLocks noChangeAspect="1"/>
          </p:cNvPicPr>
          <p:nvPr/>
        </p:nvPicPr>
        <p:blipFill>
          <a:blip r:embed="rId6"/>
          <a:stretch>
            <a:fillRect/>
          </a:stretch>
        </p:blipFill>
        <p:spPr>
          <a:xfrm>
            <a:off x="3012947" y="2496312"/>
            <a:ext cx="274320" cy="274320"/>
          </a:xfrm>
          <a:prstGeom prst="rect">
            <a:avLst/>
          </a:prstGeom>
        </p:spPr>
      </p:pic>
      <p:cxnSp>
        <p:nvCxnSpPr>
          <p:cNvPr id="28" name="Iter0 arrow"/>
          <p:cNvCxnSpPr/>
          <p:nvPr/>
        </p:nvCxnSpPr>
        <p:spPr>
          <a:xfrm flipH="1">
            <a:off x="9418319" y="2157984"/>
            <a:ext cx="237745" cy="0"/>
          </a:xfrm>
          <a:prstGeom prst="line">
            <a:avLst/>
          </a:prstGeom>
          <a:ln w="31750">
            <a:solidFill>
              <a:srgbClr val="2F54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Loop band"/>
          <p:cNvSpPr/>
          <p:nvPr/>
        </p:nvSpPr>
        <p:spPr>
          <a:xfrm>
            <a:off x="2322575" y="4224528"/>
            <a:ext cx="7077456" cy="438912"/>
          </a:xfrm>
          <a:prstGeom prst="roundRect">
            <a:avLst>
              <a:gd name="adj" fmla="val 8000"/>
            </a:avLst>
          </a:prstGeom>
          <a:solidFill>
            <a:srgbClr val="FBE5D6"/>
          </a:solidFill>
          <a:ln w="9525">
            <a:solidFill>
              <a:srgbClr val="E07B28"/>
            </a:solid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ar-SY" altLang="en-US" sz="1300" b="1" i="0" dirty="0">
                <a:solidFill>
                  <a:srgbClr val="1A1A1A"/>
                </a:solidFill>
                <a:latin typeface="Times New Roman"/>
                <a:ea typeface="Times New Roman"/>
                <a:cs typeface="Times New Roman"/>
              </a:rPr>
              <a:t>↻  أربعة </a:t>
            </a:r>
            <a:r>
              <a:rPr lang="en-US" altLang="en-US" sz="1300" b="1" i="0" dirty="0">
                <a:solidFill>
                  <a:srgbClr val="1A1A1A"/>
                </a:solidFill>
                <a:latin typeface="Times New Roman"/>
                <a:ea typeface="Times New Roman"/>
                <a:cs typeface="Times New Roman"/>
              </a:rPr>
              <a:t>Increments </a:t>
            </a:r>
            <a:r>
              <a:rPr lang="ar-SA" altLang="en-US" sz="1300" b="1" i="0" dirty="0">
                <a:solidFill>
                  <a:srgbClr val="1A1A1A"/>
                </a:solidFill>
                <a:latin typeface="Times New Roman"/>
                <a:ea typeface="Times New Roman"/>
                <a:cs typeface="Times New Roman"/>
              </a:rPr>
              <a:t> </a:t>
            </a:r>
            <a:r>
              <a:rPr lang="ar-SY" altLang="en-US" sz="1300" b="1" i="0" dirty="0">
                <a:solidFill>
                  <a:srgbClr val="1A1A1A"/>
                </a:solidFill>
                <a:latin typeface="Times New Roman"/>
                <a:ea typeface="Times New Roman"/>
                <a:cs typeface="Times New Roman"/>
              </a:rPr>
              <a:t>من </a:t>
            </a:r>
            <a:r>
              <a:rPr lang="en-US" altLang="en-US" sz="1300" b="1" i="0" dirty="0">
                <a:solidFill>
                  <a:srgbClr val="1A1A1A"/>
                </a:solidFill>
                <a:latin typeface="Times New Roman"/>
                <a:ea typeface="Times New Roman"/>
                <a:cs typeface="Times New Roman"/>
              </a:rPr>
              <a:t> 2/11 </a:t>
            </a:r>
            <a:r>
              <a:rPr lang="ar-SY" altLang="en-US" sz="1300" b="1" i="0" dirty="0">
                <a:solidFill>
                  <a:srgbClr val="1A1A1A"/>
                </a:solidFill>
                <a:latin typeface="Times New Roman"/>
                <a:ea typeface="Times New Roman"/>
                <a:cs typeface="Times New Roman"/>
              </a:rPr>
              <a:t>حتى </a:t>
            </a:r>
            <a:r>
              <a:rPr lang="en-US" altLang="en-US" sz="1300" b="1" i="0" dirty="0">
                <a:solidFill>
                  <a:srgbClr val="1A1A1A"/>
                </a:solidFill>
                <a:latin typeface="Times New Roman"/>
                <a:ea typeface="Times New Roman"/>
                <a:cs typeface="Times New Roman"/>
              </a:rPr>
              <a:t>27/12 </a:t>
            </a:r>
            <a:r>
              <a:rPr lang="ar-SA" altLang="en-US" sz="1300" b="1" i="0" dirty="0">
                <a:solidFill>
                  <a:srgbClr val="1A1A1A"/>
                </a:solidFill>
                <a:latin typeface="Times New Roman"/>
                <a:ea typeface="Times New Roman"/>
                <a:cs typeface="Times New Roman"/>
              </a:rPr>
              <a:t> </a:t>
            </a:r>
            <a:r>
              <a:rPr lang="ar-SY" altLang="en-US" sz="1300" b="1" i="0" dirty="0">
                <a:solidFill>
                  <a:srgbClr val="1A1A1A"/>
                </a:solidFill>
                <a:latin typeface="Times New Roman"/>
                <a:ea typeface="Times New Roman"/>
                <a:cs typeface="Times New Roman"/>
              </a:rPr>
              <a:t>ومراجعة مع المشرفين كل أسبوعين، ثم </a:t>
            </a:r>
            <a:r>
              <a:rPr lang="en-US" altLang="en-US" sz="1300" b="1" i="0" dirty="0">
                <a:solidFill>
                  <a:srgbClr val="1A1A1A"/>
                </a:solidFill>
                <a:latin typeface="Times New Roman"/>
                <a:ea typeface="Times New Roman"/>
                <a:cs typeface="Times New Roman"/>
              </a:rPr>
              <a:t>Feature Freeze</a:t>
            </a:r>
            <a:endParaRPr lang="ar-SY" altLang="en-US" sz="1300" b="1" i="0" dirty="0">
              <a:solidFill>
                <a:srgbClr val="1A1A1A"/>
              </a:solidFill>
              <a:latin typeface="Times New Roman"/>
              <a:ea typeface="Times New Roman"/>
              <a:cs typeface="Times New Roman"/>
            </a:endParaRPr>
          </a:p>
        </p:txBody>
      </p:sp>
      <p:sp>
        <p:nvSpPr>
          <p:cNvPr id="30" name="Release head"/>
          <p:cNvSpPr/>
          <p:nvPr/>
        </p:nvSpPr>
        <p:spPr>
          <a:xfrm>
            <a:off x="548640" y="1874519"/>
            <a:ext cx="164592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en-US" altLang="en-US" sz="1500" b="1" i="0" dirty="0">
                <a:solidFill>
                  <a:srgbClr val="FFFFFF"/>
                </a:solidFill>
                <a:latin typeface="Times New Roman"/>
                <a:ea typeface="Times New Roman"/>
                <a:cs typeface="Times New Roman"/>
              </a:rPr>
              <a:t>Release</a:t>
            </a:r>
            <a:endParaRPr lang="ar-SY" altLang="en-US" sz="1500" b="1" i="0" dirty="0">
              <a:solidFill>
                <a:srgbClr val="FFFFFF"/>
              </a:solidFill>
              <a:latin typeface="Times New Roman"/>
              <a:ea typeface="Times New Roman"/>
              <a:cs typeface="Times New Roman"/>
            </a:endParaRPr>
          </a:p>
        </p:txBody>
      </p:sp>
      <p:sp>
        <p:nvSpPr>
          <p:cNvPr id="31" name="Release body"/>
          <p:cNvSpPr/>
          <p:nvPr/>
        </p:nvSpPr>
        <p:spPr>
          <a:xfrm>
            <a:off x="548640" y="2441448"/>
            <a:ext cx="1645920" cy="2331720"/>
          </a:xfrm>
          <a:prstGeom prst="rect">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3152" tIns="54864" rIns="73152" bIns="36576" rtlCol="0" anchor="t">
            <a:noAutofit/>
          </a:bodyPr>
          <a:lstStyle/>
          <a:p>
            <a:pPr algn="ctr" rtl="0">
              <a:spcBef>
                <a:spcPts val="0"/>
              </a:spcBef>
              <a:spcAft>
                <a:spcPts val="300"/>
              </a:spcAft>
              <a:buNone/>
            </a:pPr>
            <a:r>
              <a:rPr lang="en-US" altLang="en-US" sz="1200" b="1" i="0" dirty="0">
                <a:solidFill>
                  <a:srgbClr val="595959"/>
                </a:solidFill>
                <a:latin typeface="Times New Roman"/>
                <a:ea typeface="Times New Roman"/>
                <a:cs typeface="Times New Roman"/>
              </a:rPr>
              <a:t>28/12 – 10/1</a:t>
            </a:r>
          </a:p>
          <a:p>
            <a:pPr marL="228600" indent="-228600" algn="l" rtl="0">
              <a:spcBef>
                <a:spcPts val="0"/>
              </a:spcBef>
              <a:spcAft>
                <a:spcPts val="100"/>
              </a:spcAft>
              <a:buClr>
                <a:srgbClr val="2F5496"/>
              </a:buClr>
              <a:buFont typeface="Arial"/>
              <a:buChar char="■"/>
            </a:pPr>
            <a:r>
              <a:rPr lang="en-US" altLang="en-US" sz="1200" b="0" i="0" dirty="0">
                <a:solidFill>
                  <a:srgbClr val="1A1A1A"/>
                </a:solidFill>
                <a:latin typeface="Times New Roman"/>
                <a:ea typeface="Times New Roman"/>
                <a:cs typeface="Times New Roman"/>
              </a:rPr>
              <a:t>System Testing</a:t>
            </a:r>
          </a:p>
          <a:p>
            <a:pPr marL="228600" indent="-228600" algn="l" rtl="0">
              <a:spcBef>
                <a:spcPts val="0"/>
              </a:spcBef>
              <a:spcAft>
                <a:spcPts val="100"/>
              </a:spcAft>
              <a:buClr>
                <a:srgbClr val="2F5496"/>
              </a:buClr>
              <a:buFont typeface="Arial"/>
              <a:buChar char="■"/>
            </a:pPr>
            <a:r>
              <a:rPr lang="en-US" altLang="en-US" sz="1200" b="0" i="0" dirty="0">
                <a:solidFill>
                  <a:srgbClr val="1A1A1A"/>
                </a:solidFill>
                <a:latin typeface="Times New Roman"/>
                <a:ea typeface="Times New Roman"/>
                <a:cs typeface="Times New Roman"/>
              </a:rPr>
              <a:t>Performance Test (NFR-01)</a:t>
            </a:r>
          </a:p>
          <a:p>
            <a:pPr marL="228600" indent="-228600" algn="l" rtl="0">
              <a:spcBef>
                <a:spcPts val="0"/>
              </a:spcBef>
              <a:spcAft>
                <a:spcPts val="100"/>
              </a:spcAft>
              <a:buClr>
                <a:srgbClr val="2F5496"/>
              </a:buClr>
              <a:buFont typeface="Arial"/>
              <a:buChar char="■"/>
            </a:pPr>
            <a:r>
              <a:rPr lang="en-US" altLang="en-US" sz="1200" b="0" i="0" dirty="0">
                <a:solidFill>
                  <a:srgbClr val="1A1A1A"/>
                </a:solidFill>
                <a:latin typeface="Times New Roman"/>
                <a:ea typeface="Times New Roman"/>
                <a:cs typeface="Times New Roman"/>
              </a:rPr>
              <a:t>Seminar 2</a:t>
            </a:r>
          </a:p>
          <a:p>
            <a:pPr marL="228600" indent="-228600" algn="l" rtl="0">
              <a:spcBef>
                <a:spcPts val="0"/>
              </a:spcBef>
              <a:spcAft>
                <a:spcPts val="100"/>
              </a:spcAft>
              <a:buClr>
                <a:srgbClr val="2F5496"/>
              </a:buClr>
              <a:buFont typeface="Arial"/>
              <a:buChar char="■"/>
            </a:pPr>
            <a:r>
              <a:rPr lang="en-US" altLang="en-US" sz="1200" b="0" i="0" dirty="0">
                <a:solidFill>
                  <a:srgbClr val="1A1A1A"/>
                </a:solidFill>
                <a:latin typeface="Times New Roman"/>
                <a:ea typeface="Times New Roman"/>
                <a:cs typeface="Times New Roman"/>
              </a:rPr>
              <a:t>Final Report</a:t>
            </a:r>
          </a:p>
        </p:txBody>
      </p:sp>
      <p:cxnSp>
        <p:nvCxnSpPr>
          <p:cNvPr id="32" name="Release arrow"/>
          <p:cNvCxnSpPr/>
          <p:nvPr/>
        </p:nvCxnSpPr>
        <p:spPr>
          <a:xfrm flipH="1">
            <a:off x="2212848" y="2157984"/>
            <a:ext cx="91439" cy="0"/>
          </a:xfrm>
          <a:prstGeom prst="line">
            <a:avLst/>
          </a:prstGeom>
          <a:ln w="31750">
            <a:solidFill>
              <a:srgbClr val="2F54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le 1"/>
          <p:cNvSpPr/>
          <p:nvPr/>
        </p:nvSpPr>
        <p:spPr>
          <a:xfrm>
            <a:off x="8970264" y="4956048"/>
            <a:ext cx="2670048" cy="54864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ar-SY" altLang="en-US" sz="1300" b="1" i="0" dirty="0">
                <a:solidFill>
                  <a:srgbClr val="2F5496"/>
                </a:solidFill>
                <a:latin typeface="Times New Roman"/>
                <a:ea typeface="Times New Roman"/>
                <a:cs typeface="Times New Roman"/>
              </a:rPr>
              <a:t>يمان المطر</a:t>
            </a:r>
            <a:r>
              <a:rPr lang="en-US" altLang="en-US" sz="1300" b="1" i="0" dirty="0">
                <a:solidFill>
                  <a:srgbClr val="2F5496"/>
                </a:solidFill>
                <a:latin typeface="Times New Roman"/>
                <a:ea typeface="Times New Roman"/>
                <a:cs typeface="Times New Roman"/>
              </a:rPr>
              <a:t>:</a:t>
            </a:r>
            <a:r>
              <a:rPr lang="ar-SA" altLang="en-US" sz="1300" b="1" i="0" dirty="0">
                <a:solidFill>
                  <a:srgbClr val="2F5496"/>
                </a:solidFill>
                <a:latin typeface="Times New Roman"/>
                <a:ea typeface="Times New Roman"/>
                <a:cs typeface="Times New Roman"/>
              </a:rPr>
              <a:t> </a:t>
            </a:r>
            <a:r>
              <a:rPr lang="ar-SY" altLang="en-US" sz="1400" b="0" i="0" dirty="0">
                <a:solidFill>
                  <a:schemeClr val="tx1"/>
                </a:solidFill>
                <a:latin typeface="Times New Roman"/>
                <a:ea typeface="Times New Roman"/>
                <a:cs typeface="Times New Roman"/>
              </a:rPr>
              <a:t>ترتيب الـ </a:t>
            </a:r>
            <a:r>
              <a:rPr lang="en-US" altLang="en-US" sz="1400" b="0" i="0" dirty="0">
                <a:solidFill>
                  <a:schemeClr val="tx1"/>
                </a:solidFill>
                <a:latin typeface="Times New Roman"/>
                <a:ea typeface="Times New Roman"/>
                <a:cs typeface="Times New Roman"/>
              </a:rPr>
              <a:t> Backlog </a:t>
            </a:r>
            <a:r>
              <a:rPr lang="ar-SY" altLang="en-US" sz="1400" b="0" i="0" dirty="0">
                <a:solidFill>
                  <a:schemeClr val="tx1"/>
                </a:solidFill>
                <a:latin typeface="Times New Roman"/>
                <a:ea typeface="Times New Roman"/>
                <a:cs typeface="Times New Roman"/>
              </a:rPr>
              <a:t>والتواصل مع المشرفين</a:t>
            </a:r>
            <a:endParaRPr lang="ar-SY" altLang="en-US" sz="1300" b="0" i="0" dirty="0">
              <a:solidFill>
                <a:srgbClr val="1A1A1A"/>
              </a:solidFill>
              <a:latin typeface="Times New Roman"/>
              <a:ea typeface="Times New Roman"/>
              <a:cs typeface="Times New Roman"/>
            </a:endParaRPr>
          </a:p>
        </p:txBody>
      </p:sp>
      <p:sp>
        <p:nvSpPr>
          <p:cNvPr id="34" name="Role 2"/>
          <p:cNvSpPr/>
          <p:nvPr/>
        </p:nvSpPr>
        <p:spPr>
          <a:xfrm>
            <a:off x="6163056" y="4956048"/>
            <a:ext cx="2670048" cy="54864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ar-SY" altLang="en-US" sz="1300" b="1" i="0" dirty="0">
                <a:solidFill>
                  <a:srgbClr val="2F5496"/>
                </a:solidFill>
                <a:latin typeface="Times New Roman"/>
                <a:ea typeface="Times New Roman"/>
                <a:cs typeface="Times New Roman"/>
              </a:rPr>
              <a:t>يوسف الزعبي</a:t>
            </a:r>
            <a:r>
              <a:rPr lang="ar-SA" altLang="en-US" sz="1300" b="1" i="0" dirty="0">
                <a:solidFill>
                  <a:srgbClr val="2F5496"/>
                </a:solidFill>
                <a:latin typeface="Times New Roman"/>
                <a:ea typeface="Times New Roman"/>
                <a:cs typeface="Times New Roman"/>
              </a:rPr>
              <a:t> </a:t>
            </a:r>
            <a:r>
              <a:rPr lang="en-US" altLang="en-US" sz="1300" b="1" i="0" dirty="0">
                <a:solidFill>
                  <a:srgbClr val="2F5496"/>
                </a:solidFill>
                <a:latin typeface="Times New Roman"/>
                <a:ea typeface="Times New Roman"/>
                <a:cs typeface="Times New Roman"/>
              </a:rPr>
              <a:t> :</a:t>
            </a:r>
            <a:r>
              <a:rPr lang="ar-SY" altLang="en-US" sz="1400" b="0" i="0" dirty="0">
                <a:solidFill>
                  <a:schemeClr val="tx1"/>
                </a:solidFill>
                <a:latin typeface="Times New Roman"/>
                <a:ea typeface="Times New Roman"/>
                <a:cs typeface="Times New Roman"/>
              </a:rPr>
              <a:t>اللوحة وحدود </a:t>
            </a:r>
            <a:r>
              <a:rPr lang="en-US" altLang="en-US" sz="1400" b="0" i="0" dirty="0">
                <a:solidFill>
                  <a:schemeClr val="tx1"/>
                </a:solidFill>
                <a:latin typeface="Times New Roman"/>
                <a:ea typeface="Times New Roman"/>
                <a:cs typeface="Times New Roman"/>
              </a:rPr>
              <a:t> WIP </a:t>
            </a:r>
            <a:r>
              <a:rPr lang="ar-SY" altLang="en-US" sz="1400" b="0" i="0" dirty="0">
                <a:solidFill>
                  <a:schemeClr val="tx1"/>
                </a:solidFill>
                <a:latin typeface="Times New Roman"/>
                <a:ea typeface="Times New Roman"/>
                <a:cs typeface="Times New Roman"/>
              </a:rPr>
              <a:t>ومقاييس التدفق</a:t>
            </a:r>
            <a:endParaRPr lang="ar-SY" altLang="en-US" sz="1300" b="0" i="0" dirty="0">
              <a:solidFill>
                <a:schemeClr val="tx1"/>
              </a:solidFill>
              <a:latin typeface="Times New Roman"/>
              <a:ea typeface="Times New Roman"/>
              <a:cs typeface="Times New Roman"/>
            </a:endParaRPr>
          </a:p>
        </p:txBody>
      </p:sp>
      <p:sp>
        <p:nvSpPr>
          <p:cNvPr id="35" name="Role 3"/>
          <p:cNvSpPr/>
          <p:nvPr/>
        </p:nvSpPr>
        <p:spPr>
          <a:xfrm>
            <a:off x="3355848" y="4956048"/>
            <a:ext cx="2670048" cy="54864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ar-SY" altLang="en-US" sz="1400" b="1" i="0" dirty="0">
                <a:solidFill>
                  <a:srgbClr val="2F5496"/>
                </a:solidFill>
                <a:latin typeface="Times New Roman"/>
                <a:ea typeface="Times New Roman"/>
                <a:cs typeface="Times New Roman"/>
              </a:rPr>
              <a:t>حسن يحيى</a:t>
            </a:r>
            <a:r>
              <a:rPr lang="en-US" altLang="en-US" sz="1400" b="1" i="0" dirty="0">
                <a:solidFill>
                  <a:srgbClr val="2F5496"/>
                </a:solidFill>
                <a:latin typeface="Times New Roman"/>
                <a:ea typeface="Times New Roman"/>
                <a:cs typeface="Times New Roman"/>
              </a:rPr>
              <a:t>: </a:t>
            </a:r>
            <a:r>
              <a:rPr lang="ar-SA" altLang="en-US" sz="1400" b="1" i="0" dirty="0">
                <a:solidFill>
                  <a:srgbClr val="2F5496"/>
                </a:solidFill>
                <a:latin typeface="Times New Roman"/>
                <a:ea typeface="Times New Roman"/>
                <a:cs typeface="Times New Roman"/>
              </a:rPr>
              <a:t> </a:t>
            </a:r>
            <a:r>
              <a:rPr lang="ar-SY" altLang="en-US" sz="1400" b="0" i="0" dirty="0">
                <a:solidFill>
                  <a:schemeClr val="tx1"/>
                </a:solidFill>
                <a:latin typeface="Times New Roman"/>
                <a:ea typeface="Times New Roman"/>
                <a:cs typeface="Times New Roman"/>
              </a:rPr>
              <a:t>بنود الذكاء الاصطناعي وتقييم النموذج</a:t>
            </a:r>
          </a:p>
        </p:txBody>
      </p:sp>
      <p:sp>
        <p:nvSpPr>
          <p:cNvPr id="36" name="Role 4"/>
          <p:cNvSpPr/>
          <p:nvPr/>
        </p:nvSpPr>
        <p:spPr>
          <a:xfrm>
            <a:off x="548639" y="4956048"/>
            <a:ext cx="2670048" cy="54864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ctr" rtl="1">
              <a:spcBef>
                <a:spcPts val="0"/>
              </a:spcBef>
              <a:spcAft>
                <a:spcPts val="0"/>
              </a:spcAft>
              <a:buNone/>
            </a:pPr>
            <a:r>
              <a:rPr lang="ar-SY" altLang="en-US" sz="1400" b="1" i="0" dirty="0">
                <a:solidFill>
                  <a:srgbClr val="2F5496"/>
                </a:solidFill>
                <a:latin typeface="Times New Roman"/>
                <a:ea typeface="Times New Roman"/>
                <a:cs typeface="Times New Roman"/>
              </a:rPr>
              <a:t>المشرفان</a:t>
            </a:r>
            <a:r>
              <a:rPr lang="en-US" altLang="en-US" sz="1400" b="1" i="0" dirty="0">
                <a:solidFill>
                  <a:srgbClr val="2F5496"/>
                </a:solidFill>
                <a:latin typeface="Times New Roman"/>
                <a:ea typeface="Times New Roman"/>
                <a:cs typeface="Times New Roman"/>
              </a:rPr>
              <a:t>(Stakeholders) </a:t>
            </a:r>
            <a:r>
              <a:rPr lang="ar-SA" altLang="en-US" sz="1400" b="1" i="0" dirty="0">
                <a:solidFill>
                  <a:srgbClr val="2F5496"/>
                </a:solidFill>
                <a:latin typeface="Times New Roman"/>
                <a:ea typeface="Times New Roman"/>
                <a:cs typeface="Times New Roman"/>
              </a:rPr>
              <a:t> :</a:t>
            </a:r>
            <a:endParaRPr lang="ar-SY" altLang="en-US" sz="1400" b="1" i="0" dirty="0">
              <a:solidFill>
                <a:srgbClr val="2F5496"/>
              </a:solidFill>
              <a:latin typeface="Times New Roman"/>
              <a:ea typeface="Times New Roman"/>
              <a:cs typeface="Times New Roman"/>
            </a:endParaRPr>
          </a:p>
          <a:p>
            <a:pPr algn="ctr" rtl="1">
              <a:spcBef>
                <a:spcPts val="0"/>
              </a:spcBef>
              <a:spcAft>
                <a:spcPts val="0"/>
              </a:spcAft>
              <a:buNone/>
            </a:pPr>
            <a:r>
              <a:rPr lang="ar-SY" altLang="en-US" sz="1400" b="0" i="0" dirty="0">
                <a:solidFill>
                  <a:srgbClr val="1A1A1A"/>
                </a:solidFill>
                <a:latin typeface="Times New Roman"/>
                <a:ea typeface="Times New Roman"/>
                <a:cs typeface="Times New Roman"/>
              </a:rPr>
              <a:t>مراجعة ما أُنجز كل أسبوعين</a:t>
            </a:r>
          </a:p>
        </p:txBody>
      </p:sp>
      <p:sp>
        <p:nvSpPr>
          <p:cNvPr id="37" name="Definition of Done"/>
          <p:cNvSpPr/>
          <p:nvPr/>
        </p:nvSpPr>
        <p:spPr>
          <a:xfrm>
            <a:off x="548640" y="5596128"/>
            <a:ext cx="11091672" cy="502920"/>
          </a:xfrm>
          <a:prstGeom prst="roundRect">
            <a:avLst>
              <a:gd name="adj" fmla="val 8000"/>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64592" tIns="36576" rIns="164592" bIns="36576" rtlCol="0" anchor="ctr">
            <a:noAutofit/>
          </a:bodyPr>
          <a:lstStyle/>
          <a:p>
            <a:pPr algn="r" rtl="1">
              <a:spcBef>
                <a:spcPts val="0"/>
              </a:spcBef>
              <a:spcAft>
                <a:spcPts val="0"/>
              </a:spcAft>
              <a:buNone/>
            </a:pPr>
            <a:r>
              <a:rPr lang="en-US" altLang="en-US" sz="1400" b="1" i="0" dirty="0">
                <a:solidFill>
                  <a:srgbClr val="2F5496"/>
                </a:solidFill>
                <a:latin typeface="Times New Roman"/>
                <a:ea typeface="Times New Roman"/>
                <a:cs typeface="Times New Roman"/>
              </a:rPr>
              <a:t>Definition of Done </a:t>
            </a:r>
            <a:r>
              <a:rPr lang="ar-SA" altLang="en-US" sz="1400" b="1" i="0" dirty="0">
                <a:solidFill>
                  <a:srgbClr val="2F5496"/>
                </a:solidFill>
                <a:latin typeface="Times New Roman"/>
                <a:ea typeface="Times New Roman"/>
                <a:cs typeface="Times New Roman"/>
              </a:rPr>
              <a:t>:</a:t>
            </a:r>
            <a:r>
              <a:rPr lang="en-US" altLang="en-US" sz="1400" b="1" i="0" dirty="0">
                <a:solidFill>
                  <a:srgbClr val="2F5496"/>
                </a:solidFill>
                <a:latin typeface="Times New Roman"/>
                <a:ea typeface="Times New Roman"/>
                <a:cs typeface="Times New Roman"/>
              </a:rPr>
              <a:t> </a:t>
            </a:r>
            <a:r>
              <a:rPr lang="ar-SY" altLang="en-US" sz="1400" b="0" i="0" dirty="0">
                <a:solidFill>
                  <a:srgbClr val="1A1A1A"/>
                </a:solidFill>
                <a:latin typeface="Times New Roman"/>
                <a:ea typeface="Times New Roman"/>
                <a:cs typeface="Times New Roman"/>
              </a:rPr>
              <a:t>اختبارات </a:t>
            </a:r>
            <a:r>
              <a:rPr lang="en-US" altLang="en-US" sz="1400" b="0" i="0" dirty="0">
                <a:solidFill>
                  <a:srgbClr val="1A1A1A"/>
                </a:solidFill>
                <a:latin typeface="Times New Roman"/>
                <a:ea typeface="Times New Roman"/>
                <a:cs typeface="Times New Roman"/>
              </a:rPr>
              <a:t>CI </a:t>
            </a:r>
            <a:r>
              <a:rPr lang="ar-SA" altLang="en-US" sz="1400" b="0" i="0" dirty="0">
                <a:solidFill>
                  <a:srgbClr val="1A1A1A"/>
                </a:solidFill>
                <a:latin typeface="Times New Roman"/>
                <a:ea typeface="Times New Roman"/>
                <a:cs typeface="Times New Roman"/>
              </a:rPr>
              <a:t> </a:t>
            </a:r>
            <a:r>
              <a:rPr lang="ar-SY" altLang="en-US" sz="1400" b="0" i="0" dirty="0">
                <a:solidFill>
                  <a:srgbClr val="1A1A1A"/>
                </a:solidFill>
                <a:latin typeface="Times New Roman"/>
                <a:ea typeface="Times New Roman"/>
                <a:cs typeface="Times New Roman"/>
              </a:rPr>
              <a:t>ناجحة </a:t>
            </a:r>
            <a:r>
              <a:rPr lang="en-US" altLang="en-US" sz="1400" b="0" i="0" dirty="0">
                <a:solidFill>
                  <a:srgbClr val="1A1A1A"/>
                </a:solidFill>
                <a:latin typeface="Times New Roman"/>
                <a:ea typeface="Times New Roman"/>
                <a:cs typeface="Times New Roman"/>
              </a:rPr>
              <a:t>+ </a:t>
            </a:r>
            <a:r>
              <a:rPr lang="ar-SA" altLang="en-US" sz="1400" b="0" i="0" dirty="0">
                <a:solidFill>
                  <a:srgbClr val="1A1A1A"/>
                </a:solidFill>
                <a:latin typeface="Times New Roman"/>
                <a:ea typeface="Times New Roman"/>
                <a:cs typeface="Times New Roman"/>
              </a:rPr>
              <a:t> </a:t>
            </a:r>
            <a:r>
              <a:rPr lang="ar-SY" altLang="en-US" sz="1400" b="0" i="0" dirty="0">
                <a:solidFill>
                  <a:srgbClr val="1A1A1A"/>
                </a:solidFill>
                <a:latin typeface="Times New Roman"/>
                <a:ea typeface="Times New Roman"/>
                <a:cs typeface="Times New Roman"/>
              </a:rPr>
              <a:t>مراجعة عضو آخر </a:t>
            </a:r>
            <a:r>
              <a:rPr lang="en-US" altLang="en-US" sz="1400" b="0" i="0" dirty="0">
                <a:solidFill>
                  <a:srgbClr val="1A1A1A"/>
                </a:solidFill>
                <a:latin typeface="Times New Roman"/>
                <a:ea typeface="Times New Roman"/>
                <a:cs typeface="Times New Roman"/>
              </a:rPr>
              <a:t>+ </a:t>
            </a:r>
            <a:r>
              <a:rPr lang="ar-SA" altLang="en-US" sz="1400" b="0" i="0" dirty="0">
                <a:solidFill>
                  <a:srgbClr val="1A1A1A"/>
                </a:solidFill>
                <a:latin typeface="Times New Roman"/>
                <a:ea typeface="Times New Roman"/>
                <a:cs typeface="Times New Roman"/>
              </a:rPr>
              <a:t> </a:t>
            </a:r>
            <a:r>
              <a:rPr lang="ar-SY" altLang="en-US" sz="1400" b="0" i="0" dirty="0">
                <a:solidFill>
                  <a:srgbClr val="1A1A1A"/>
                </a:solidFill>
                <a:latin typeface="Times New Roman"/>
                <a:ea typeface="Times New Roman"/>
                <a:cs typeface="Times New Roman"/>
              </a:rPr>
              <a:t>مخططات وتقرير محدّثة</a:t>
            </a:r>
            <a:r>
              <a:rPr lang="en-US" altLang="en-US" sz="1400" b="0" i="0" dirty="0">
                <a:solidFill>
                  <a:srgbClr val="1A1A1A"/>
                </a:solidFill>
                <a:latin typeface="Times New Roman"/>
                <a:ea typeface="Times New Roman"/>
                <a:cs typeface="Times New Roman"/>
              </a:rPr>
              <a:t> </a:t>
            </a:r>
            <a:r>
              <a:rPr lang="en-US" altLang="en-US" sz="1400" b="1" i="0" dirty="0">
                <a:solidFill>
                  <a:srgbClr val="2F5496"/>
                </a:solidFill>
                <a:latin typeface="Times New Roman"/>
                <a:ea typeface="Times New Roman"/>
                <a:cs typeface="Times New Roman"/>
              </a:rPr>
              <a:t>     Flow Metrics: </a:t>
            </a:r>
            <a:r>
              <a:rPr lang="en-US" altLang="en-US" sz="1400" b="0" i="0" dirty="0">
                <a:solidFill>
                  <a:srgbClr val="1A1A1A"/>
                </a:solidFill>
                <a:latin typeface="Times New Roman"/>
                <a:ea typeface="Times New Roman"/>
                <a:cs typeface="Times New Roman"/>
              </a:rPr>
              <a:t>WIP · Throughput · Cycle Time · Item Age </a:t>
            </a:r>
            <a:r>
              <a:rPr lang="ar-SA" altLang="en-US" sz="1400" b="0" i="0" dirty="0">
                <a:solidFill>
                  <a:srgbClr val="1A1A1A"/>
                </a:solidFill>
                <a:latin typeface="Times New Roman"/>
                <a:ea typeface="Times New Roman"/>
                <a:cs typeface="Times New Roman"/>
              </a:rPr>
              <a:t> </a:t>
            </a:r>
            <a:endParaRPr lang="en-US" altLang="en-US" sz="1400" b="0" i="0" dirty="0">
              <a:solidFill>
                <a:srgbClr val="1A1A1A"/>
              </a:solidFill>
              <a:latin typeface="Times New Roman"/>
              <a:ea typeface="Times New Roman"/>
              <a:cs typeface="Times New Roman"/>
            </a:endParaRPr>
          </a:p>
        </p:txBody>
      </p:sp>
    </p:spTree>
    <p:extLst>
      <p:ext uri="{BB962C8B-B14F-4D97-AF65-F5344CB8AC3E}">
        <p14:creationId xmlns:p14="http://schemas.microsoft.com/office/powerpoint/2010/main" val="29172193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DB5F87B-DB91-279C-A082-B365333316FB}"/>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32F2DDC9-5CB8-7BD5-C787-157F1291301F}"/>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8BAB69BB-1E0D-E2FB-517B-56C9C8D1905C}"/>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9</a:t>
            </a:fld>
            <a:endParaRPr lang="en-US"/>
          </a:p>
        </p:txBody>
      </p:sp>
      <p:sp>
        <p:nvSpPr>
          <p:cNvPr id="9" name="Title">
            <a:extLst>
              <a:ext uri="{FF2B5EF4-FFF2-40B4-BE49-F238E27FC236}">
                <a16:creationId xmlns:a16="http://schemas.microsoft.com/office/drawing/2014/main" id="{7F4D8816-9B85-AB6D-1909-13902986402F}"/>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معمارية النظام والأدوات المستخدمة</a:t>
            </a:r>
            <a:r>
              <a:rPr lang="en-US" altLang="en-US" sz="2800" b="1" i="0" dirty="0">
                <a:solidFill>
                  <a:srgbClr val="2F5496"/>
                </a:solidFill>
                <a:latin typeface="Times New Roman"/>
                <a:ea typeface="Times New Roman"/>
                <a:cs typeface="Times New Roman"/>
              </a:rPr>
              <a:t> (System Architecture) </a:t>
            </a:r>
            <a:endParaRPr lang="ar-SY" altLang="en-US" sz="2800" b="1" i="0" dirty="0">
              <a:solidFill>
                <a:srgbClr val="2F5496"/>
              </a:solidFill>
              <a:latin typeface="Times New Roman"/>
              <a:ea typeface="Times New Roman"/>
              <a:cs typeface="Times New Roman"/>
            </a:endParaRPr>
          </a:p>
        </p:txBody>
      </p:sp>
      <p:sp>
        <p:nvSpPr>
          <p:cNvPr id="10" name="Tier client"/>
          <p:cNvSpPr/>
          <p:nvPr/>
        </p:nvSpPr>
        <p:spPr>
          <a:xfrm>
            <a:off x="548640" y="932688"/>
            <a:ext cx="7955280" cy="914400"/>
          </a:xfrm>
          <a:prstGeom prst="roundRect">
            <a:avLst>
              <a:gd name="adj" fmla="val 4000"/>
            </a:avLst>
          </a:prstGeom>
          <a:solidFill>
            <a:srgbClr val="F7F9FC"/>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09728" tIns="36576" bIns="18288" rtlCol="0" anchor="t">
            <a:noAutofit/>
          </a:bodyPr>
          <a:lstStyle/>
          <a:p>
            <a:pPr algn="l" rtl="0">
              <a:spcBef>
                <a:spcPts val="0"/>
              </a:spcBef>
              <a:spcAft>
                <a:spcPts val="0"/>
              </a:spcAft>
              <a:buNone/>
            </a:pPr>
            <a:r>
              <a:rPr lang="en-US" altLang="en-US" sz="1200" b="1" i="0" dirty="0">
                <a:solidFill>
                  <a:srgbClr val="595959"/>
                </a:solidFill>
                <a:latin typeface="Times New Roman"/>
                <a:ea typeface="Times New Roman"/>
                <a:cs typeface="Times New Roman"/>
              </a:rPr>
              <a:t>Client Tier</a:t>
            </a:r>
          </a:p>
        </p:txBody>
      </p:sp>
      <p:sp>
        <p:nvSpPr>
          <p:cNvPr id="11" name="Client app"/>
          <p:cNvSpPr/>
          <p:nvPr/>
        </p:nvSpPr>
        <p:spPr>
          <a:xfrm>
            <a:off x="4526280" y="1188720"/>
            <a:ext cx="2971800" cy="566928"/>
          </a:xfrm>
          <a:prstGeom prst="roundRect">
            <a:avLst>
              <a:gd name="adj" fmla="val 8000"/>
            </a:avLst>
          </a:prstGeom>
          <a:solidFill>
            <a:srgbClr val="FFFFFF"/>
          </a:solidFill>
          <a:ln w="15875">
            <a:solidFill>
              <a:srgbClr val="E07B28"/>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457200" tIns="18288" rIns="54864" bIns="18288" rtlCol="0" anchor="ctr">
            <a:noAutofit/>
          </a:bodyPr>
          <a:lstStyle/>
          <a:p>
            <a:pPr algn="ctr" rtl="0">
              <a:spcBef>
                <a:spcPts val="0"/>
              </a:spcBef>
              <a:spcAft>
                <a:spcPts val="0"/>
              </a:spcAft>
              <a:buNone/>
            </a:pPr>
            <a:r>
              <a:rPr lang="en-US" altLang="en-US" sz="1300" b="1" i="0" dirty="0">
                <a:solidFill>
                  <a:srgbClr val="1A1A1A"/>
                </a:solidFill>
                <a:latin typeface="Times New Roman"/>
                <a:ea typeface="Times New Roman"/>
                <a:cs typeface="Times New Roman"/>
              </a:rPr>
              <a:t>Respondent Mobile App</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Flutter (Android / Web)</a:t>
            </a:r>
          </a:p>
        </p:txBody>
      </p:sp>
      <p:pic>
        <p:nvPicPr>
          <p:cNvPr id="12" name="Client app icon" descr="mobile_orange.png"/>
          <p:cNvPicPr>
            <a:picLocks noChangeAspect="1"/>
          </p:cNvPicPr>
          <p:nvPr/>
        </p:nvPicPr>
        <p:blipFill>
          <a:blip r:embed="rId3"/>
          <a:stretch>
            <a:fillRect/>
          </a:stretch>
        </p:blipFill>
        <p:spPr>
          <a:xfrm>
            <a:off x="4617720" y="1298448"/>
            <a:ext cx="347472" cy="347472"/>
          </a:xfrm>
          <a:prstGeom prst="rect">
            <a:avLst/>
          </a:prstGeom>
        </p:spPr>
      </p:pic>
      <p:sp>
        <p:nvSpPr>
          <p:cNvPr id="13" name="Client web"/>
          <p:cNvSpPr/>
          <p:nvPr/>
        </p:nvSpPr>
        <p:spPr>
          <a:xfrm>
            <a:off x="1463040" y="1188720"/>
            <a:ext cx="2971800" cy="566928"/>
          </a:xfrm>
          <a:prstGeom prst="roundRect">
            <a:avLst>
              <a:gd name="adj" fmla="val 8000"/>
            </a:avLst>
          </a:prstGeom>
          <a:solidFill>
            <a:srgbClr val="FFFFFF"/>
          </a:solidFill>
          <a:ln w="15875">
            <a:solidFill>
              <a:srgbClr val="E07B28"/>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457200" tIns="18288" rIns="54864" bIns="18288" rtlCol="0" anchor="ctr">
            <a:noAutofit/>
          </a:bodyPr>
          <a:lstStyle/>
          <a:p>
            <a:pPr algn="ctr" rtl="0">
              <a:spcBef>
                <a:spcPts val="0"/>
              </a:spcBef>
              <a:spcAft>
                <a:spcPts val="0"/>
              </a:spcAft>
              <a:buNone/>
            </a:pPr>
            <a:r>
              <a:rPr lang="en-US" altLang="en-US" sz="1300" b="1" i="0" dirty="0">
                <a:solidFill>
                  <a:srgbClr val="1A1A1A"/>
                </a:solidFill>
                <a:latin typeface="Times New Roman"/>
                <a:ea typeface="Times New Roman"/>
                <a:cs typeface="Times New Roman"/>
              </a:rPr>
              <a:t>Provider &amp; Admin Web</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Browser — Django Templates</a:t>
            </a:r>
          </a:p>
        </p:txBody>
      </p:sp>
      <p:pic>
        <p:nvPicPr>
          <p:cNvPr id="14" name="Client web icon" descr="browser_orange.png"/>
          <p:cNvPicPr>
            <a:picLocks noChangeAspect="1"/>
          </p:cNvPicPr>
          <p:nvPr/>
        </p:nvPicPr>
        <p:blipFill>
          <a:blip r:embed="rId4"/>
          <a:stretch>
            <a:fillRect/>
          </a:stretch>
        </p:blipFill>
        <p:spPr>
          <a:xfrm>
            <a:off x="1554480" y="1298448"/>
            <a:ext cx="347472" cy="347472"/>
          </a:xfrm>
          <a:prstGeom prst="rect">
            <a:avLst/>
          </a:prstGeom>
        </p:spPr>
      </p:pic>
      <p:cxnSp>
        <p:nvCxnSpPr>
          <p:cNvPr id="15" name="Arrow app"/>
          <p:cNvCxnSpPr/>
          <p:nvPr/>
        </p:nvCxnSpPr>
        <p:spPr>
          <a:xfrm>
            <a:off x="6007608" y="1773936"/>
            <a:ext cx="0" cy="621792"/>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Arrow web"/>
          <p:cNvCxnSpPr/>
          <p:nvPr/>
        </p:nvCxnSpPr>
        <p:spPr>
          <a:xfrm>
            <a:off x="2944368" y="1773936"/>
            <a:ext cx="0" cy="621792"/>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Label REST"/>
          <p:cNvSpPr txBox="1"/>
          <p:nvPr/>
        </p:nvSpPr>
        <p:spPr>
          <a:xfrm>
            <a:off x="6080760" y="1847088"/>
            <a:ext cx="2377440" cy="274320"/>
          </a:xfrm>
          <a:prstGeom prst="rect">
            <a:avLst/>
          </a:prstGeom>
          <a:noFill/>
        </p:spPr>
        <p:txBody>
          <a:bodyPr wrap="square" lIns="45720" tIns="27432" rIns="45720" bIns="27432" rtlCol="0" anchor="t">
            <a:noAutofit/>
          </a:bodyPr>
          <a:lstStyle/>
          <a:p>
            <a:pPr algn="l" rtl="0">
              <a:spcBef>
                <a:spcPts val="0"/>
              </a:spcBef>
              <a:spcAft>
                <a:spcPts val="0"/>
              </a:spcAft>
              <a:buNone/>
            </a:pPr>
            <a:r>
              <a:rPr lang="en-US" altLang="en-US" sz="1100" b="0" i="0" dirty="0">
                <a:solidFill>
                  <a:srgbClr val="595959"/>
                </a:solidFill>
                <a:latin typeface="Times New Roman"/>
                <a:ea typeface="Times New Roman"/>
                <a:cs typeface="Times New Roman"/>
              </a:rPr>
              <a:t>HTTPS · REST / JSON · JWT</a:t>
            </a:r>
          </a:p>
        </p:txBody>
      </p:sp>
      <p:sp>
        <p:nvSpPr>
          <p:cNvPr id="18" name="Label HTML"/>
          <p:cNvSpPr txBox="1"/>
          <p:nvPr/>
        </p:nvSpPr>
        <p:spPr>
          <a:xfrm>
            <a:off x="3017520" y="1847088"/>
            <a:ext cx="1463040" cy="274320"/>
          </a:xfrm>
          <a:prstGeom prst="rect">
            <a:avLst/>
          </a:prstGeom>
          <a:noFill/>
        </p:spPr>
        <p:txBody>
          <a:bodyPr wrap="square" lIns="45720" tIns="27432" rIns="45720" bIns="27432" rtlCol="0" anchor="t">
            <a:noAutofit/>
          </a:bodyPr>
          <a:lstStyle/>
          <a:p>
            <a:pPr algn="l" rtl="0">
              <a:spcBef>
                <a:spcPts val="0"/>
              </a:spcBef>
              <a:spcAft>
                <a:spcPts val="0"/>
              </a:spcAft>
              <a:buNone/>
            </a:pPr>
            <a:r>
              <a:rPr lang="en-US" altLang="en-US" sz="1100" b="0" i="0" dirty="0">
                <a:solidFill>
                  <a:srgbClr val="595959"/>
                </a:solidFill>
                <a:latin typeface="Times New Roman"/>
                <a:ea typeface="Times New Roman"/>
                <a:cs typeface="Times New Roman"/>
              </a:rPr>
              <a:t>HTTPS · HTML</a:t>
            </a:r>
          </a:p>
        </p:txBody>
      </p:sp>
      <p:sp>
        <p:nvSpPr>
          <p:cNvPr id="19" name="Tier app"/>
          <p:cNvSpPr/>
          <p:nvPr/>
        </p:nvSpPr>
        <p:spPr>
          <a:xfrm>
            <a:off x="548640" y="2103120"/>
            <a:ext cx="7955280" cy="3154680"/>
          </a:xfrm>
          <a:prstGeom prst="roundRect">
            <a:avLst>
              <a:gd name="adj" fmla="val 4000"/>
            </a:avLst>
          </a:prstGeom>
          <a:solidFill>
            <a:srgbClr val="F7F9FC"/>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09728" tIns="36576" bIns="18288" rtlCol="0" anchor="t">
            <a:noAutofit/>
          </a:bodyPr>
          <a:lstStyle/>
          <a:p>
            <a:pPr algn="l" rtl="0">
              <a:spcBef>
                <a:spcPts val="0"/>
              </a:spcBef>
              <a:spcAft>
                <a:spcPts val="0"/>
              </a:spcAft>
              <a:buNone/>
            </a:pPr>
            <a:r>
              <a:rPr lang="en-US" altLang="en-US" sz="1200" b="1" i="0" dirty="0">
                <a:solidFill>
                  <a:srgbClr val="595959"/>
                </a:solidFill>
                <a:latin typeface="Times New Roman"/>
                <a:ea typeface="Times New Roman"/>
                <a:cs typeface="Times New Roman"/>
              </a:rPr>
              <a:t>Application Tier — Django 4.2 Server</a:t>
            </a:r>
          </a:p>
        </p:txBody>
      </p:sp>
      <p:sp>
        <p:nvSpPr>
          <p:cNvPr id="20" name="Layer 1"/>
          <p:cNvSpPr/>
          <p:nvPr/>
        </p:nvSpPr>
        <p:spPr>
          <a:xfrm>
            <a:off x="2514600" y="2423160"/>
            <a:ext cx="5852160" cy="786384"/>
          </a:xfrm>
          <a:prstGeom prst="roundRect">
            <a:avLst>
              <a:gd name="adj" fmla="val 6000"/>
            </a:avLst>
          </a:prstGeom>
          <a:solidFill>
            <a:srgbClr val="EEF3FA"/>
          </a:solidFill>
          <a:ln w="12700">
            <a:solidFill>
              <a:srgbClr val="2F5496"/>
            </a:solidFill>
          </a:ln>
          <a:effectLst/>
        </p:spPr>
        <p:style>
          <a:lnRef idx="1">
            <a:schemeClr val="accent1"/>
          </a:lnRef>
          <a:fillRef idx="3">
            <a:schemeClr val="accent1"/>
          </a:fillRef>
          <a:effectRef idx="2">
            <a:schemeClr val="accent1"/>
          </a:effectRef>
          <a:fontRef idx="minor">
            <a:schemeClr val="lt1"/>
          </a:fontRef>
        </p:style>
        <p:txBody>
          <a:bodyPr wrap="square" tIns="27432" bIns="18288" rtlCol="0" anchor="t">
            <a:noAutofit/>
          </a:bodyPr>
          <a:lstStyle/>
          <a:p>
            <a:pPr algn="l" rtl="0">
              <a:spcBef>
                <a:spcPts val="0"/>
              </a:spcBef>
              <a:spcAft>
                <a:spcPts val="0"/>
              </a:spcAft>
              <a:buNone/>
            </a:pPr>
            <a:r>
              <a:rPr lang="en-US" altLang="en-US" sz="1300" b="1" i="0" dirty="0">
                <a:solidFill>
                  <a:srgbClr val="2F5496"/>
                </a:solidFill>
                <a:latin typeface="Times New Roman"/>
                <a:ea typeface="Times New Roman"/>
                <a:cs typeface="Times New Roman"/>
              </a:rPr>
              <a:t>Presentation Layer</a:t>
            </a:r>
          </a:p>
        </p:txBody>
      </p:sp>
      <p:sp>
        <p:nvSpPr>
          <p:cNvPr id="21" name="Comp 1-1"/>
          <p:cNvSpPr/>
          <p:nvPr/>
        </p:nvSpPr>
        <p:spPr>
          <a:xfrm>
            <a:off x="2651760" y="2734056"/>
            <a:ext cx="2720340" cy="384048"/>
          </a:xfrm>
          <a:prstGeom prst="roundRect">
            <a:avLst>
              <a:gd name="adj" fmla="val 15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DRF API Views + Serializers</a:t>
            </a:r>
          </a:p>
        </p:txBody>
      </p:sp>
      <p:sp>
        <p:nvSpPr>
          <p:cNvPr id="22" name="Comp 1-2"/>
          <p:cNvSpPr/>
          <p:nvPr/>
        </p:nvSpPr>
        <p:spPr>
          <a:xfrm>
            <a:off x="5509260" y="2734056"/>
            <a:ext cx="2720340" cy="384048"/>
          </a:xfrm>
          <a:prstGeom prst="roundRect">
            <a:avLst>
              <a:gd name="adj" fmla="val 15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Django Views + Templates (MVT)</a:t>
            </a:r>
          </a:p>
        </p:txBody>
      </p:sp>
      <p:cxnSp>
        <p:nvCxnSpPr>
          <p:cNvPr id="23" name="Layer arrow 1"/>
          <p:cNvCxnSpPr/>
          <p:nvPr/>
        </p:nvCxnSpPr>
        <p:spPr>
          <a:xfrm>
            <a:off x="5440680" y="3218688"/>
            <a:ext cx="0" cy="118872"/>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Layer 2"/>
          <p:cNvSpPr/>
          <p:nvPr/>
        </p:nvSpPr>
        <p:spPr>
          <a:xfrm>
            <a:off x="2514600" y="3337560"/>
            <a:ext cx="5852160" cy="786384"/>
          </a:xfrm>
          <a:prstGeom prst="roundRect">
            <a:avLst>
              <a:gd name="adj" fmla="val 6000"/>
            </a:avLst>
          </a:prstGeom>
          <a:solidFill>
            <a:srgbClr val="EEF3FA"/>
          </a:solidFill>
          <a:ln w="12700">
            <a:solidFill>
              <a:srgbClr val="2F5496"/>
            </a:solidFill>
          </a:ln>
          <a:effectLst/>
        </p:spPr>
        <p:style>
          <a:lnRef idx="1">
            <a:schemeClr val="accent1"/>
          </a:lnRef>
          <a:fillRef idx="3">
            <a:schemeClr val="accent1"/>
          </a:fillRef>
          <a:effectRef idx="2">
            <a:schemeClr val="accent1"/>
          </a:effectRef>
          <a:fontRef idx="minor">
            <a:schemeClr val="lt1"/>
          </a:fontRef>
        </p:style>
        <p:txBody>
          <a:bodyPr wrap="square" tIns="27432" bIns="18288" rtlCol="0" anchor="t">
            <a:noAutofit/>
          </a:bodyPr>
          <a:lstStyle/>
          <a:p>
            <a:pPr algn="l" rtl="0">
              <a:spcBef>
                <a:spcPts val="0"/>
              </a:spcBef>
              <a:spcAft>
                <a:spcPts val="0"/>
              </a:spcAft>
              <a:buNone/>
            </a:pPr>
            <a:r>
              <a:rPr lang="en-US" altLang="en-US" sz="1300" b="1" i="0" dirty="0">
                <a:solidFill>
                  <a:srgbClr val="2F5496"/>
                </a:solidFill>
                <a:latin typeface="Times New Roman"/>
                <a:ea typeface="Times New Roman"/>
                <a:cs typeface="Times New Roman"/>
              </a:rPr>
              <a:t>Business Layer</a:t>
            </a:r>
          </a:p>
        </p:txBody>
      </p:sp>
      <p:sp>
        <p:nvSpPr>
          <p:cNvPr id="25" name="Comp 2-1"/>
          <p:cNvSpPr/>
          <p:nvPr/>
        </p:nvSpPr>
        <p:spPr>
          <a:xfrm>
            <a:off x="2651760" y="3648456"/>
            <a:ext cx="5577840" cy="384048"/>
          </a:xfrm>
          <a:prstGeom prst="roundRect">
            <a:avLst>
              <a:gd name="adj" fmla="val 15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Services — Service Layer pattern</a:t>
            </a:r>
          </a:p>
        </p:txBody>
      </p:sp>
      <p:cxnSp>
        <p:nvCxnSpPr>
          <p:cNvPr id="26" name="Layer arrow 2"/>
          <p:cNvCxnSpPr/>
          <p:nvPr/>
        </p:nvCxnSpPr>
        <p:spPr>
          <a:xfrm>
            <a:off x="5440680" y="4133087"/>
            <a:ext cx="0" cy="118873"/>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Layer 3"/>
          <p:cNvSpPr/>
          <p:nvPr/>
        </p:nvSpPr>
        <p:spPr>
          <a:xfrm>
            <a:off x="2514600" y="4251960"/>
            <a:ext cx="5852160" cy="786384"/>
          </a:xfrm>
          <a:prstGeom prst="roundRect">
            <a:avLst>
              <a:gd name="adj" fmla="val 6000"/>
            </a:avLst>
          </a:prstGeom>
          <a:solidFill>
            <a:srgbClr val="EEF3FA"/>
          </a:solidFill>
          <a:ln w="12700">
            <a:solidFill>
              <a:srgbClr val="2F5496"/>
            </a:solidFill>
          </a:ln>
          <a:effectLst/>
        </p:spPr>
        <p:style>
          <a:lnRef idx="1">
            <a:schemeClr val="accent1"/>
          </a:lnRef>
          <a:fillRef idx="3">
            <a:schemeClr val="accent1"/>
          </a:fillRef>
          <a:effectRef idx="2">
            <a:schemeClr val="accent1"/>
          </a:effectRef>
          <a:fontRef idx="minor">
            <a:schemeClr val="lt1"/>
          </a:fontRef>
        </p:style>
        <p:txBody>
          <a:bodyPr wrap="square" tIns="27432" bIns="18288" rtlCol="0" anchor="t">
            <a:noAutofit/>
          </a:bodyPr>
          <a:lstStyle/>
          <a:p>
            <a:pPr algn="l" rtl="0">
              <a:spcBef>
                <a:spcPts val="0"/>
              </a:spcBef>
              <a:spcAft>
                <a:spcPts val="0"/>
              </a:spcAft>
              <a:buNone/>
            </a:pPr>
            <a:r>
              <a:rPr lang="en-US" altLang="en-US" sz="1300" b="1" i="0" dirty="0">
                <a:solidFill>
                  <a:srgbClr val="2F5496"/>
                </a:solidFill>
                <a:latin typeface="Times New Roman"/>
                <a:ea typeface="Times New Roman"/>
                <a:cs typeface="Times New Roman"/>
              </a:rPr>
              <a:t>Data Source Layer</a:t>
            </a:r>
          </a:p>
        </p:txBody>
      </p:sp>
      <p:sp>
        <p:nvSpPr>
          <p:cNvPr id="28" name="Comp 3-1"/>
          <p:cNvSpPr/>
          <p:nvPr/>
        </p:nvSpPr>
        <p:spPr>
          <a:xfrm>
            <a:off x="2651760" y="4562856"/>
            <a:ext cx="2720340" cy="384048"/>
          </a:xfrm>
          <a:prstGeom prst="roundRect">
            <a:avLst>
              <a:gd name="adj" fmla="val 15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Repositories — Repository pattern</a:t>
            </a:r>
          </a:p>
        </p:txBody>
      </p:sp>
      <p:sp>
        <p:nvSpPr>
          <p:cNvPr id="29" name="Comp 3-2"/>
          <p:cNvSpPr/>
          <p:nvPr/>
        </p:nvSpPr>
        <p:spPr>
          <a:xfrm>
            <a:off x="5509260" y="4562856"/>
            <a:ext cx="2720340" cy="384048"/>
          </a:xfrm>
          <a:prstGeom prst="roundRect">
            <a:avLst>
              <a:gd name="adj" fmla="val 15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HuggingFaceClient — Gateway pattern</a:t>
            </a:r>
          </a:p>
        </p:txBody>
      </p:sp>
      <p:sp>
        <p:nvSpPr>
          <p:cNvPr id="30" name="Domain model"/>
          <p:cNvSpPr/>
          <p:nvPr/>
        </p:nvSpPr>
        <p:spPr>
          <a:xfrm>
            <a:off x="713232" y="3337560"/>
            <a:ext cx="1600200" cy="1700784"/>
          </a:xfrm>
          <a:prstGeom prst="roundRect">
            <a:avLst>
              <a:gd name="adj" fmla="val 8000"/>
            </a:avLst>
          </a:prstGeom>
          <a:solidFill>
            <a:srgbClr val="FFFFFF"/>
          </a:solidFill>
          <a:ln w="15875">
            <a:solidFill>
              <a:srgbClr val="2F5496"/>
            </a:solidFill>
          </a:ln>
          <a:effectLst>
            <a:outerShdw blurRad="38100" dist="127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wrap="square" lIns="36576" tIns="365760" rIns="36576" bIns="36576" rtlCol="0" anchor="ctr">
            <a:noAutofit/>
          </a:bodyPr>
          <a:lstStyle/>
          <a:p>
            <a:pPr algn="ctr" rtl="0">
              <a:spcBef>
                <a:spcPts val="0"/>
              </a:spcBef>
              <a:spcAft>
                <a:spcPts val="0"/>
              </a:spcAft>
              <a:buNone/>
            </a:pPr>
            <a:r>
              <a:rPr lang="en-US" altLang="en-US" sz="1300" b="1" i="0" dirty="0">
                <a:solidFill>
                  <a:srgbClr val="2F5496"/>
                </a:solidFill>
                <a:latin typeface="Times New Roman"/>
                <a:ea typeface="Times New Roman"/>
                <a:cs typeface="Times New Roman"/>
              </a:rPr>
              <a:t>Domain Model</a:t>
            </a:r>
          </a:p>
          <a:p>
            <a:pPr algn="ctr" rtl="0">
              <a:spcBef>
                <a:spcPts val="0"/>
              </a:spcBef>
              <a:spcAft>
                <a:spcPts val="0"/>
              </a:spcAft>
              <a:buNone/>
            </a:pPr>
            <a:r>
              <a:rPr lang="en-US" altLang="en-US" sz="1200" b="0" i="0" dirty="0">
                <a:solidFill>
                  <a:srgbClr val="1A1A1A"/>
                </a:solidFill>
                <a:latin typeface="Times New Roman"/>
                <a:ea typeface="Times New Roman"/>
                <a:cs typeface="Times New Roman"/>
              </a:rPr>
              <a:t>Django Models</a:t>
            </a:r>
          </a:p>
          <a:p>
            <a:pPr algn="ctr" rtl="0">
              <a:spcBef>
                <a:spcPts val="0"/>
              </a:spcBef>
              <a:spcAft>
                <a:spcPts val="0"/>
              </a:spcAft>
              <a:buNone/>
            </a:pPr>
            <a:r>
              <a:rPr lang="en-US" altLang="en-US" sz="1100" b="0" i="0" dirty="0">
                <a:solidFill>
                  <a:srgbClr val="595959"/>
                </a:solidFill>
                <a:latin typeface="Times New Roman"/>
                <a:ea typeface="Times New Roman"/>
                <a:cs typeface="Times New Roman"/>
              </a:rPr>
              <a:t>(Active Record)</a:t>
            </a:r>
          </a:p>
        </p:txBody>
      </p:sp>
      <p:pic>
        <p:nvPicPr>
          <p:cNvPr id="31" name="Domain icon" descr="cube_blue.png"/>
          <p:cNvPicPr>
            <a:picLocks noChangeAspect="1"/>
          </p:cNvPicPr>
          <p:nvPr/>
        </p:nvPicPr>
        <p:blipFill>
          <a:blip r:embed="rId5"/>
          <a:stretch>
            <a:fillRect/>
          </a:stretch>
        </p:blipFill>
        <p:spPr>
          <a:xfrm>
            <a:off x="1353312" y="3401568"/>
            <a:ext cx="310896" cy="310896"/>
          </a:xfrm>
          <a:prstGeom prst="rect">
            <a:avLst/>
          </a:prstGeom>
        </p:spPr>
      </p:pic>
      <p:cxnSp>
        <p:nvCxnSpPr>
          <p:cNvPr id="32" name="Uses domain business"/>
          <p:cNvCxnSpPr/>
          <p:nvPr/>
        </p:nvCxnSpPr>
        <p:spPr>
          <a:xfrm flipH="1">
            <a:off x="2331720" y="3730752"/>
            <a:ext cx="182880" cy="0"/>
          </a:xfrm>
          <a:prstGeom prst="line">
            <a:avLst/>
          </a:prstGeom>
          <a:ln w="15875">
            <a:solidFill>
              <a:srgbClr val="2F5496"/>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Uses domain data"/>
          <p:cNvCxnSpPr/>
          <p:nvPr/>
        </p:nvCxnSpPr>
        <p:spPr>
          <a:xfrm flipH="1">
            <a:off x="2331720" y="4645152"/>
            <a:ext cx="182880" cy="0"/>
          </a:xfrm>
          <a:prstGeom prst="line">
            <a:avLst/>
          </a:prstGeom>
          <a:ln w="15875">
            <a:solidFill>
              <a:srgbClr val="2F549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Database"/>
          <p:cNvSpPr/>
          <p:nvPr/>
        </p:nvSpPr>
        <p:spPr>
          <a:xfrm>
            <a:off x="2686050" y="5432060"/>
            <a:ext cx="2651760" cy="713232"/>
          </a:xfrm>
          <a:prstGeom prst="can">
            <a:avLst/>
          </a:prstGeom>
          <a:solidFill>
            <a:srgbClr val="EEF3FA"/>
          </a:solidFill>
          <a:ln w="15875">
            <a:solidFill>
              <a:srgbClr val="2F5496"/>
            </a:solidFill>
          </a:ln>
          <a:effectLst/>
        </p:spPr>
        <p:style>
          <a:lnRef idx="1">
            <a:schemeClr val="accent1"/>
          </a:lnRef>
          <a:fillRef idx="3">
            <a:schemeClr val="accent1"/>
          </a:fillRef>
          <a:effectRef idx="2">
            <a:schemeClr val="accent1"/>
          </a:effectRef>
          <a:fontRef idx="minor">
            <a:schemeClr val="lt1"/>
          </a:fontRef>
        </p:style>
        <p:txBody>
          <a:bodyPr wrap="square" lIns="36576" tIns="109728" rIns="36576" bIns="18288" rtlCol="0" anchor="ctr">
            <a:noAutofit/>
          </a:bodyPr>
          <a:lstStyle/>
          <a:p>
            <a:pPr algn="ctr" rtl="0">
              <a:spcBef>
                <a:spcPts val="0"/>
              </a:spcBef>
              <a:spcAft>
                <a:spcPts val="0"/>
              </a:spcAft>
              <a:buNone/>
            </a:pPr>
            <a:r>
              <a:rPr lang="en-US" altLang="en-US" sz="1100" b="0" i="0" dirty="0">
                <a:solidFill>
                  <a:srgbClr val="595959"/>
                </a:solidFill>
                <a:latin typeface="Times New Roman"/>
                <a:ea typeface="Times New Roman"/>
                <a:cs typeface="Times New Roman"/>
              </a:rPr>
              <a:t>Data Tier</a:t>
            </a:r>
          </a:p>
          <a:p>
            <a:pPr algn="ctr" rtl="0">
              <a:spcBef>
                <a:spcPts val="0"/>
              </a:spcBef>
              <a:spcAft>
                <a:spcPts val="0"/>
              </a:spcAft>
              <a:buNone/>
            </a:pPr>
            <a:r>
              <a:rPr lang="en-US" altLang="en-US" sz="1300" b="1" i="0" dirty="0">
                <a:solidFill>
                  <a:srgbClr val="1A1A1A"/>
                </a:solidFill>
                <a:latin typeface="Times New Roman"/>
                <a:ea typeface="Times New Roman"/>
                <a:cs typeface="Times New Roman"/>
              </a:rPr>
              <a:t>PostgreSQL 15 (Docker)</a:t>
            </a:r>
          </a:p>
        </p:txBody>
      </p:sp>
      <p:cxnSp>
        <p:nvCxnSpPr>
          <p:cNvPr id="35" name="Arrow db"/>
          <p:cNvCxnSpPr/>
          <p:nvPr/>
        </p:nvCxnSpPr>
        <p:spPr>
          <a:xfrm>
            <a:off x="4041648" y="4956048"/>
            <a:ext cx="0" cy="621792"/>
          </a:xfrm>
          <a:prstGeom prst="line">
            <a:avLst/>
          </a:prstGeom>
          <a:ln w="22225">
            <a:solidFill>
              <a:srgbClr val="1F38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External AI"/>
          <p:cNvSpPr/>
          <p:nvPr/>
        </p:nvSpPr>
        <p:spPr>
          <a:xfrm>
            <a:off x="5852160" y="5468112"/>
            <a:ext cx="2651760" cy="713232"/>
          </a:xfrm>
          <a:prstGeom prst="roundRect">
            <a:avLst>
              <a:gd name="adj" fmla="val 8000"/>
            </a:avLst>
          </a:prstGeom>
          <a:solidFill>
            <a:srgbClr val="FFFFFF"/>
          </a:solidFill>
          <a:ln w="1587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0" tIns="18288" rIns="36576" bIns="18288" rtlCol="0" anchor="ctr">
            <a:noAutofit/>
          </a:bodyPr>
          <a:lstStyle/>
          <a:p>
            <a:pPr algn="ctr" rtl="0">
              <a:spcBef>
                <a:spcPts val="0"/>
              </a:spcBef>
              <a:spcAft>
                <a:spcPts val="0"/>
              </a:spcAft>
              <a:buNone/>
            </a:pPr>
            <a:r>
              <a:rPr lang="en-US" altLang="en-US" sz="1100" b="0" i="0" dirty="0">
                <a:solidFill>
                  <a:srgbClr val="595959"/>
                </a:solidFill>
                <a:latin typeface="Times New Roman"/>
                <a:ea typeface="Times New Roman"/>
                <a:cs typeface="Times New Roman"/>
              </a:rPr>
              <a:t>External System</a:t>
            </a:r>
          </a:p>
          <a:p>
            <a:pPr algn="ctr" rtl="0">
              <a:spcBef>
                <a:spcPts val="0"/>
              </a:spcBef>
              <a:spcAft>
                <a:spcPts val="0"/>
              </a:spcAft>
              <a:buNone/>
            </a:pPr>
            <a:r>
              <a:rPr lang="en-US" altLang="en-US" sz="1300" b="1" i="0" dirty="0">
                <a:solidFill>
                  <a:srgbClr val="1A1A1A"/>
                </a:solidFill>
                <a:latin typeface="Times New Roman"/>
                <a:ea typeface="Times New Roman"/>
                <a:cs typeface="Times New Roman"/>
              </a:rPr>
              <a:t>Sentiment Model API</a:t>
            </a:r>
          </a:p>
        </p:txBody>
      </p:sp>
      <p:pic>
        <p:nvPicPr>
          <p:cNvPr id="37" name="AI icon" descr="brain_blue.png"/>
          <p:cNvPicPr>
            <a:picLocks noChangeAspect="1"/>
          </p:cNvPicPr>
          <p:nvPr/>
        </p:nvPicPr>
        <p:blipFill>
          <a:blip r:embed="rId6"/>
          <a:stretch>
            <a:fillRect/>
          </a:stretch>
        </p:blipFill>
        <p:spPr>
          <a:xfrm>
            <a:off x="5961888" y="5650992"/>
            <a:ext cx="347472" cy="347472"/>
          </a:xfrm>
          <a:prstGeom prst="rect">
            <a:avLst/>
          </a:prstGeom>
        </p:spPr>
      </p:pic>
      <p:cxnSp>
        <p:nvCxnSpPr>
          <p:cNvPr id="38" name="Arrow ai"/>
          <p:cNvCxnSpPr/>
          <p:nvPr/>
        </p:nvCxnSpPr>
        <p:spPr>
          <a:xfrm>
            <a:off x="7178040" y="4956048"/>
            <a:ext cx="0" cy="512064"/>
          </a:xfrm>
          <a:prstGeom prst="line">
            <a:avLst/>
          </a:prstGeom>
          <a:ln w="15875">
            <a:solidFill>
              <a:srgbClr val="59595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9" name="Styles"/>
          <p:cNvSpPr/>
          <p:nvPr/>
        </p:nvSpPr>
        <p:spPr>
          <a:xfrm>
            <a:off x="8686800" y="932688"/>
            <a:ext cx="2953512" cy="1810512"/>
          </a:xfrm>
          <a:prstGeom prst="roundRect">
            <a:avLst>
              <a:gd name="adj" fmla="val 5000"/>
            </a:avLst>
          </a:prstGeom>
          <a:solidFill>
            <a:srgbClr val="EEF3FA"/>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09728" tIns="54864" bIns="36576" rtlCol="0" anchor="t">
            <a:noAutofit/>
          </a:bodyPr>
          <a:lstStyle/>
          <a:p>
            <a:pPr algn="l" rtl="0">
              <a:spcBef>
                <a:spcPts val="0"/>
              </a:spcBef>
              <a:spcAft>
                <a:spcPts val="200"/>
              </a:spcAft>
              <a:buNone/>
            </a:pPr>
            <a:r>
              <a:rPr lang="en-US" altLang="en-US" sz="1400" b="1" i="0" dirty="0">
                <a:solidFill>
                  <a:srgbClr val="2F5496"/>
                </a:solidFill>
                <a:latin typeface="Times New Roman"/>
                <a:ea typeface="Times New Roman"/>
                <a:cs typeface="Times New Roman"/>
              </a:rPr>
              <a:t>Architectural Styles</a:t>
            </a:r>
          </a:p>
          <a:p>
            <a:pPr marL="228600" indent="-228600" algn="l" rtl="0">
              <a:spcBef>
                <a:spcPts val="0"/>
              </a:spcBef>
              <a:spcAft>
                <a:spcPts val="0"/>
              </a:spcAft>
              <a:buClr>
                <a:srgbClr val="2F5496"/>
              </a:buClr>
              <a:buFont typeface="Arial"/>
              <a:buChar char="■"/>
            </a:pPr>
            <a:r>
              <a:rPr lang="en-US" altLang="en-US" sz="1200" b="0" i="0" dirty="0">
                <a:solidFill>
                  <a:srgbClr val="1A1A1A"/>
                </a:solidFill>
                <a:latin typeface="Times New Roman"/>
                <a:ea typeface="Times New Roman"/>
                <a:cs typeface="Times New Roman"/>
              </a:rPr>
              <a:t>Client–Server (3-Tier) </a:t>
            </a:r>
            <a:r>
              <a:rPr lang="en-US" altLang="en-US" sz="1050" b="0" i="0" dirty="0">
                <a:solidFill>
                  <a:srgbClr val="1A1A1A"/>
                </a:solidFill>
                <a:latin typeface="Times New Roman"/>
                <a:ea typeface="Times New Roman"/>
                <a:cs typeface="Times New Roman"/>
              </a:rPr>
              <a:t>[22]</a:t>
            </a:r>
          </a:p>
          <a:p>
            <a:pPr marL="228600" indent="-228600" algn="l" rtl="0">
              <a:spcBef>
                <a:spcPts val="0"/>
              </a:spcBef>
              <a:spcAft>
                <a:spcPts val="0"/>
              </a:spcAft>
              <a:buClr>
                <a:srgbClr val="2F5496"/>
              </a:buClr>
              <a:buFont typeface="Arial"/>
              <a:buChar char="■"/>
            </a:pPr>
            <a:r>
              <a:rPr lang="en-US" altLang="en-US" sz="1200" b="0" i="0" dirty="0">
                <a:solidFill>
                  <a:srgbClr val="1A1A1A"/>
                </a:solidFill>
                <a:latin typeface="Times New Roman"/>
                <a:ea typeface="Times New Roman"/>
                <a:cs typeface="Times New Roman"/>
              </a:rPr>
              <a:t>Layered </a:t>
            </a:r>
            <a:r>
              <a:rPr lang="en-US" altLang="en-US" sz="1100" b="0" i="0" dirty="0">
                <a:solidFill>
                  <a:srgbClr val="1A1A1A"/>
                </a:solidFill>
                <a:latin typeface="Times New Roman"/>
                <a:ea typeface="Times New Roman"/>
                <a:cs typeface="Times New Roman"/>
              </a:rPr>
              <a:t>[22][24]</a:t>
            </a:r>
          </a:p>
          <a:p>
            <a:pPr marL="228600" indent="-228600" algn="l" rtl="0">
              <a:spcBef>
                <a:spcPts val="0"/>
              </a:spcBef>
              <a:spcAft>
                <a:spcPts val="0"/>
              </a:spcAft>
              <a:buClr>
                <a:srgbClr val="2F5496"/>
              </a:buClr>
              <a:buFont typeface="Arial"/>
              <a:buChar char="■"/>
            </a:pPr>
            <a:r>
              <a:rPr lang="en-US" altLang="en-US" sz="1200" b="0" i="0" dirty="0">
                <a:solidFill>
                  <a:srgbClr val="1A1A1A"/>
                </a:solidFill>
                <a:latin typeface="Times New Roman"/>
                <a:ea typeface="Times New Roman"/>
                <a:cs typeface="Times New Roman"/>
              </a:rPr>
              <a:t>REST </a:t>
            </a:r>
            <a:r>
              <a:rPr lang="en-US" altLang="en-US" sz="1050" b="0" i="0" dirty="0">
                <a:solidFill>
                  <a:srgbClr val="1A1A1A"/>
                </a:solidFill>
                <a:latin typeface="Times New Roman"/>
                <a:ea typeface="Times New Roman"/>
                <a:cs typeface="Times New Roman"/>
              </a:rPr>
              <a:t>[25]</a:t>
            </a:r>
          </a:p>
          <a:p>
            <a:pPr marL="228600" indent="-228600" algn="l" rtl="0">
              <a:spcBef>
                <a:spcPts val="0"/>
              </a:spcBef>
              <a:spcAft>
                <a:spcPts val="400"/>
              </a:spcAft>
              <a:buClr>
                <a:srgbClr val="2F5496"/>
              </a:buClr>
              <a:buFont typeface="Arial"/>
              <a:buChar char="■"/>
            </a:pPr>
            <a:r>
              <a:rPr lang="en-US" altLang="en-US" sz="1200" b="0" i="0" dirty="0">
                <a:solidFill>
                  <a:srgbClr val="1A1A1A"/>
                </a:solidFill>
                <a:latin typeface="Times New Roman"/>
                <a:ea typeface="Times New Roman"/>
                <a:cs typeface="Times New Roman"/>
              </a:rPr>
              <a:t>MVT (Django</a:t>
            </a:r>
            <a:r>
              <a:rPr lang="en-US" altLang="en-US" sz="1050" b="0" i="0" dirty="0">
                <a:solidFill>
                  <a:srgbClr val="1A1A1A"/>
                </a:solidFill>
                <a:latin typeface="Times New Roman"/>
                <a:ea typeface="Times New Roman"/>
                <a:cs typeface="Times New Roman"/>
              </a:rPr>
              <a:t>) [26]</a:t>
            </a:r>
            <a:endParaRPr lang="en-US" altLang="en-US" sz="1200" b="0" i="0" dirty="0">
              <a:solidFill>
                <a:srgbClr val="1A1A1A"/>
              </a:solidFill>
              <a:latin typeface="Times New Roman"/>
              <a:ea typeface="Times New Roman"/>
              <a:cs typeface="Times New Roman"/>
            </a:endParaRPr>
          </a:p>
          <a:p>
            <a:pPr algn="l" rtl="0">
              <a:spcBef>
                <a:spcPts val="0"/>
              </a:spcBef>
              <a:spcAft>
                <a:spcPts val="200"/>
              </a:spcAft>
              <a:buNone/>
            </a:pPr>
            <a:r>
              <a:rPr lang="en-US" altLang="en-US" sz="1400" b="1" i="0" dirty="0">
                <a:solidFill>
                  <a:srgbClr val="2F5496"/>
                </a:solidFill>
                <a:latin typeface="Times New Roman"/>
                <a:ea typeface="Times New Roman"/>
                <a:cs typeface="Times New Roman"/>
              </a:rPr>
              <a:t>Design Patterns</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Service Layer · Repository · Active Record · Gateway </a:t>
            </a:r>
            <a:r>
              <a:rPr lang="en-US" altLang="en-US" sz="1050" b="0" i="0" dirty="0">
                <a:solidFill>
                  <a:srgbClr val="1A1A1A"/>
                </a:solidFill>
                <a:latin typeface="Times New Roman"/>
                <a:ea typeface="Times New Roman"/>
                <a:cs typeface="Times New Roman"/>
              </a:rPr>
              <a:t>[24]</a:t>
            </a:r>
            <a:endParaRPr lang="en-US" altLang="en-US" sz="1200" b="0" i="0" dirty="0">
              <a:solidFill>
                <a:srgbClr val="1A1A1A"/>
              </a:solidFill>
              <a:latin typeface="Times New Roman"/>
              <a:ea typeface="Times New Roman"/>
              <a:cs typeface="Times New Roman"/>
            </a:endParaRPr>
          </a:p>
        </p:txBody>
      </p:sp>
      <p:sp>
        <p:nvSpPr>
          <p:cNvPr id="40" name="Legend"/>
          <p:cNvSpPr/>
          <p:nvPr/>
        </p:nvSpPr>
        <p:spPr>
          <a:xfrm>
            <a:off x="8686800" y="2834640"/>
            <a:ext cx="2953512" cy="1737360"/>
          </a:xfrm>
          <a:prstGeom prst="roundRect">
            <a:avLst>
              <a:gd name="adj" fmla="val 5000"/>
            </a:avLst>
          </a:prstGeom>
          <a:solidFill>
            <a:srgbClr val="FFFFFF"/>
          </a:solidFill>
          <a:ln w="9525">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09728" tIns="54864" bIns="36576" rtlCol="0" anchor="t">
            <a:noAutofit/>
          </a:bodyPr>
          <a:lstStyle/>
          <a:p>
            <a:pPr algn="l" rtl="0">
              <a:spcBef>
                <a:spcPts val="0"/>
              </a:spcBef>
              <a:spcAft>
                <a:spcPts val="200"/>
              </a:spcAft>
              <a:buNone/>
            </a:pPr>
            <a:r>
              <a:rPr lang="en-US" altLang="en-US" sz="1400" b="1" i="0" dirty="0">
                <a:solidFill>
                  <a:srgbClr val="2F5496"/>
                </a:solidFill>
                <a:latin typeface="Times New Roman"/>
                <a:ea typeface="Times New Roman"/>
                <a:cs typeface="Times New Roman"/>
              </a:rPr>
              <a:t>Legend</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Grey frame = Tier (physical)</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Blue frame = Layer (logical)</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Dark-blue block = Component</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Cylinder = Database</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Solid arrow = request / call</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Dashed = external call or</a:t>
            </a:r>
          </a:p>
          <a:p>
            <a:pPr algn="l" rtl="0">
              <a:spcBef>
                <a:spcPts val="0"/>
              </a:spcBef>
              <a:spcAft>
                <a:spcPts val="0"/>
              </a:spcAft>
              <a:buNone/>
            </a:pPr>
            <a:r>
              <a:rPr lang="en-US" altLang="en-US" sz="1200" b="0" i="0" dirty="0">
                <a:solidFill>
                  <a:srgbClr val="1A1A1A"/>
                </a:solidFill>
                <a:latin typeface="Times New Roman"/>
                <a:ea typeface="Times New Roman"/>
                <a:cs typeface="Times New Roman"/>
              </a:rPr>
              <a:t>          uses the Domain Model</a:t>
            </a:r>
          </a:p>
        </p:txBody>
      </p:sp>
      <p:sp>
        <p:nvSpPr>
          <p:cNvPr id="41" name="Tools"/>
          <p:cNvSpPr/>
          <p:nvPr/>
        </p:nvSpPr>
        <p:spPr>
          <a:xfrm>
            <a:off x="8686800" y="4663439"/>
            <a:ext cx="2953512" cy="1867989"/>
          </a:xfrm>
          <a:prstGeom prst="roundRect">
            <a:avLst>
              <a:gd name="adj" fmla="val 5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54864" bIns="36576" rtlCol="0" anchor="t">
            <a:noAutofit/>
          </a:bodyPr>
          <a:lstStyle/>
          <a:p>
            <a:pPr algn="l" rtl="0">
              <a:spcBef>
                <a:spcPts val="0"/>
              </a:spcBef>
              <a:spcAft>
                <a:spcPts val="200"/>
              </a:spcAft>
              <a:buNone/>
            </a:pPr>
            <a:r>
              <a:rPr lang="en-US" altLang="en-US" sz="1400" b="1" i="0" dirty="0">
                <a:solidFill>
                  <a:srgbClr val="2F5496"/>
                </a:solidFill>
                <a:latin typeface="Times New Roman"/>
                <a:ea typeface="Times New Roman"/>
                <a:cs typeface="Times New Roman"/>
              </a:rPr>
              <a:t>Tools</a:t>
            </a:r>
          </a:p>
          <a:p>
            <a:pPr algn="l" rtl="0">
              <a:spcBef>
                <a:spcPts val="0"/>
              </a:spcBef>
              <a:spcAft>
                <a:spcPts val="0"/>
              </a:spcAft>
              <a:buNone/>
            </a:pPr>
            <a:r>
              <a:rPr lang="en-US" altLang="en-US" sz="1200" b="1" i="0" dirty="0">
                <a:solidFill>
                  <a:srgbClr val="1A1A1A"/>
                </a:solidFill>
                <a:latin typeface="Times New Roman"/>
                <a:ea typeface="Times New Roman"/>
                <a:cs typeface="Times New Roman"/>
              </a:rPr>
              <a:t>Backend: </a:t>
            </a:r>
            <a:r>
              <a:rPr lang="en-US" altLang="en-US" sz="1200" b="0" i="0" dirty="0">
                <a:solidFill>
                  <a:srgbClr val="1A1A1A"/>
                </a:solidFill>
                <a:latin typeface="Times New Roman"/>
                <a:ea typeface="Times New Roman"/>
                <a:cs typeface="Times New Roman"/>
              </a:rPr>
              <a:t>Python · Django · DRF · </a:t>
            </a:r>
            <a:r>
              <a:rPr lang="en-US" altLang="en-US" sz="1200" b="0" i="0" dirty="0" err="1">
                <a:solidFill>
                  <a:srgbClr val="1A1A1A"/>
                </a:solidFill>
                <a:latin typeface="Times New Roman"/>
                <a:ea typeface="Times New Roman"/>
                <a:cs typeface="Times New Roman"/>
              </a:rPr>
              <a:t>SimpleJWT</a:t>
            </a:r>
            <a:endParaRPr lang="en-US" altLang="en-US" sz="1200" b="0" i="0" dirty="0">
              <a:solidFill>
                <a:srgbClr val="1A1A1A"/>
              </a:solidFill>
              <a:latin typeface="Times New Roman"/>
              <a:ea typeface="Times New Roman"/>
              <a:cs typeface="Times New Roman"/>
            </a:endParaRPr>
          </a:p>
          <a:p>
            <a:pPr algn="l" rtl="0">
              <a:spcBef>
                <a:spcPts val="0"/>
              </a:spcBef>
              <a:spcAft>
                <a:spcPts val="0"/>
              </a:spcAft>
              <a:buNone/>
            </a:pPr>
            <a:r>
              <a:rPr lang="en-US" altLang="en-US" sz="1200" b="1" i="0" dirty="0">
                <a:solidFill>
                  <a:srgbClr val="1A1A1A"/>
                </a:solidFill>
                <a:latin typeface="Times New Roman"/>
                <a:ea typeface="Times New Roman"/>
                <a:cs typeface="Times New Roman"/>
              </a:rPr>
              <a:t>Data: </a:t>
            </a:r>
            <a:r>
              <a:rPr lang="en-US" altLang="en-US" sz="1200" b="0" i="0" dirty="0">
                <a:solidFill>
                  <a:srgbClr val="1A1A1A"/>
                </a:solidFill>
                <a:latin typeface="Times New Roman"/>
                <a:ea typeface="Times New Roman"/>
                <a:cs typeface="Times New Roman"/>
              </a:rPr>
              <a:t>PostgreSQL · Docker</a:t>
            </a:r>
          </a:p>
          <a:p>
            <a:pPr algn="l" rtl="0">
              <a:spcBef>
                <a:spcPts val="0"/>
              </a:spcBef>
              <a:spcAft>
                <a:spcPts val="0"/>
              </a:spcAft>
              <a:buNone/>
            </a:pPr>
            <a:r>
              <a:rPr lang="en-US" altLang="en-US" sz="1200" b="1" i="0" dirty="0">
                <a:solidFill>
                  <a:srgbClr val="1A1A1A"/>
                </a:solidFill>
                <a:latin typeface="Times New Roman"/>
                <a:ea typeface="Times New Roman"/>
                <a:cs typeface="Times New Roman"/>
              </a:rPr>
              <a:t>Mobile: </a:t>
            </a:r>
            <a:r>
              <a:rPr lang="en-US" altLang="en-US" sz="1200" b="0" i="0" dirty="0">
                <a:solidFill>
                  <a:srgbClr val="1A1A1A"/>
                </a:solidFill>
                <a:latin typeface="Times New Roman"/>
                <a:ea typeface="Times New Roman"/>
                <a:cs typeface="Times New Roman"/>
              </a:rPr>
              <a:t>Flutter · Dart</a:t>
            </a:r>
          </a:p>
          <a:p>
            <a:pPr algn="l" rtl="0">
              <a:spcBef>
                <a:spcPts val="0"/>
              </a:spcBef>
              <a:spcAft>
                <a:spcPts val="0"/>
              </a:spcAft>
              <a:buNone/>
            </a:pPr>
            <a:r>
              <a:rPr lang="en-US" altLang="en-US" sz="1200" b="1" i="0" dirty="0">
                <a:solidFill>
                  <a:srgbClr val="1A1A1A"/>
                </a:solidFill>
                <a:latin typeface="Times New Roman"/>
                <a:ea typeface="Times New Roman"/>
                <a:cs typeface="Times New Roman"/>
              </a:rPr>
              <a:t>DevOps: </a:t>
            </a:r>
            <a:r>
              <a:rPr lang="en-US" altLang="en-US" sz="1200" b="0" i="0" dirty="0">
                <a:solidFill>
                  <a:srgbClr val="1A1A1A"/>
                </a:solidFill>
                <a:latin typeface="Times New Roman"/>
                <a:ea typeface="Times New Roman"/>
                <a:cs typeface="Times New Roman"/>
              </a:rPr>
              <a:t>Git · GitHub · GitHub Actions</a:t>
            </a:r>
          </a:p>
          <a:p>
            <a:pPr algn="l" rtl="0">
              <a:spcBef>
                <a:spcPts val="0"/>
              </a:spcBef>
              <a:spcAft>
                <a:spcPts val="0"/>
              </a:spcAft>
              <a:buNone/>
            </a:pPr>
            <a:r>
              <a:rPr lang="en-US" altLang="en-US" sz="1200" b="1" i="0" dirty="0">
                <a:solidFill>
                  <a:srgbClr val="1A1A1A"/>
                </a:solidFill>
                <a:latin typeface="Times New Roman"/>
                <a:ea typeface="Times New Roman"/>
                <a:cs typeface="Times New Roman"/>
              </a:rPr>
              <a:t>Management</a:t>
            </a:r>
            <a:r>
              <a:rPr lang="en-US" altLang="en-US" sz="1200" b="0" i="0" dirty="0">
                <a:solidFill>
                  <a:srgbClr val="1A1A1A"/>
                </a:solidFill>
                <a:latin typeface="Times New Roman"/>
                <a:ea typeface="Times New Roman"/>
                <a:cs typeface="Times New Roman"/>
              </a:rPr>
              <a:t>: GitHub Projects (Kanban)</a:t>
            </a:r>
          </a:p>
          <a:p>
            <a:pPr algn="l" rtl="0">
              <a:spcBef>
                <a:spcPts val="0"/>
              </a:spcBef>
              <a:spcAft>
                <a:spcPts val="0"/>
              </a:spcAft>
              <a:buNone/>
            </a:pPr>
            <a:r>
              <a:rPr lang="en-US" altLang="en-US" sz="1200" b="1" i="0" dirty="0">
                <a:solidFill>
                  <a:srgbClr val="1A1A1A"/>
                </a:solidFill>
                <a:latin typeface="Times New Roman"/>
                <a:ea typeface="Times New Roman"/>
                <a:cs typeface="Times New Roman"/>
              </a:rPr>
              <a:t>Modeling: </a:t>
            </a:r>
            <a:r>
              <a:rPr lang="en-US" altLang="en-US" sz="1200" b="0" i="0" dirty="0">
                <a:solidFill>
                  <a:srgbClr val="1A1A1A"/>
                </a:solidFill>
                <a:latin typeface="Times New Roman"/>
                <a:ea typeface="Times New Roman"/>
                <a:cs typeface="Times New Roman"/>
              </a:rPr>
              <a:t>Mermaid · Canva</a:t>
            </a:r>
          </a:p>
        </p:txBody>
      </p:sp>
      <p:sp>
        <p:nvSpPr>
          <p:cNvPr id="42" name="Basis"/>
          <p:cNvSpPr txBox="1"/>
          <p:nvPr/>
        </p:nvSpPr>
        <p:spPr>
          <a:xfrm>
            <a:off x="548640" y="6199632"/>
            <a:ext cx="4572000" cy="182880"/>
          </a:xfrm>
          <a:prstGeom prst="rect">
            <a:avLst/>
          </a:prstGeom>
          <a:noFill/>
        </p:spPr>
        <p:txBody>
          <a:bodyPr wrap="square" lIns="45720" tIns="27432" rIns="45720" bIns="27432" rtlCol="0" anchor="t">
            <a:noAutofit/>
          </a:bodyPr>
          <a:lstStyle/>
          <a:p>
            <a:pPr algn="l" rtl="0">
              <a:spcBef>
                <a:spcPts val="0"/>
              </a:spcBef>
              <a:spcAft>
                <a:spcPts val="0"/>
              </a:spcAft>
              <a:buNone/>
            </a:pPr>
            <a:r>
              <a:rPr lang="en-US" altLang="en-US" sz="900" b="0" i="0" dirty="0">
                <a:solidFill>
                  <a:srgbClr val="595959"/>
                </a:solidFill>
                <a:latin typeface="Times New Roman"/>
                <a:ea typeface="Times New Roman"/>
                <a:cs typeface="Times New Roman"/>
              </a:rPr>
              <a:t>Basis: develop @ 0789e8b · Fowler PoEAA (Ch. 1, 3) · Sommerville Ch. 6</a:t>
            </a:r>
          </a:p>
        </p:txBody>
      </p:sp>
    </p:spTree>
    <p:extLst>
      <p:ext uri="{BB962C8B-B14F-4D97-AF65-F5344CB8AC3E}">
        <p14:creationId xmlns:p14="http://schemas.microsoft.com/office/powerpoint/2010/main" val="34737330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AFD386D7-737F-883F-4763-97835B7BADED}"/>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B5497AA4-2DE6-2DB1-C9EE-4F0AC41050E9}"/>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D848C7D9-B29E-EE99-58C1-F5694697115A}"/>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10</a:t>
            </a:fld>
            <a:endParaRPr lang="en-US"/>
          </a:p>
        </p:txBody>
      </p:sp>
      <p:sp>
        <p:nvSpPr>
          <p:cNvPr id="7" name="Title">
            <a:extLst>
              <a:ext uri="{FF2B5EF4-FFF2-40B4-BE49-F238E27FC236}">
                <a16:creationId xmlns:a16="http://schemas.microsoft.com/office/drawing/2014/main" id="{3184BE27-27D0-9F26-4991-C1922E4AD8DB}"/>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خطة تنفيذ المشروع</a:t>
            </a:r>
            <a:r>
              <a:rPr lang="en-US" altLang="en-US" sz="2800" b="1" i="0" dirty="0">
                <a:solidFill>
                  <a:srgbClr val="2F5496"/>
                </a:solidFill>
                <a:latin typeface="Times New Roman"/>
                <a:ea typeface="Times New Roman"/>
                <a:cs typeface="Times New Roman"/>
              </a:rPr>
              <a:t> (Gantt Chart)</a:t>
            </a:r>
            <a:endParaRPr lang="ar-SY" altLang="en-US" sz="2800" b="1" i="0" dirty="0">
              <a:solidFill>
                <a:srgbClr val="2F5496"/>
              </a:solidFill>
              <a:latin typeface="Times New Roman"/>
              <a:ea typeface="Times New Roman"/>
              <a:cs typeface="Times New Roman"/>
            </a:endParaRPr>
          </a:p>
        </p:txBody>
      </p:sp>
      <p:sp>
        <p:nvSpPr>
          <p:cNvPr id="8" name="Month 0"/>
          <p:cNvSpPr/>
          <p:nvPr/>
        </p:nvSpPr>
        <p:spPr>
          <a:xfrm>
            <a:off x="7603274" y="914400"/>
            <a:ext cx="845781"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ar-SY" altLang="en-US" sz="1200" b="1" i="0" dirty="0">
                <a:solidFill>
                  <a:srgbClr val="FFFFFF"/>
                </a:solidFill>
                <a:latin typeface="Times New Roman"/>
                <a:ea typeface="Times New Roman"/>
                <a:cs typeface="Times New Roman"/>
              </a:rPr>
              <a:t>أكتوبر</a:t>
            </a:r>
          </a:p>
        </p:txBody>
      </p:sp>
      <p:sp>
        <p:nvSpPr>
          <p:cNvPr id="9" name="Month 1"/>
          <p:cNvSpPr/>
          <p:nvPr/>
        </p:nvSpPr>
        <p:spPr>
          <a:xfrm>
            <a:off x="5609267" y="914400"/>
            <a:ext cx="1975718" cy="329184"/>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ar-SY" altLang="en-US" sz="1200" b="1" i="0" dirty="0">
                <a:solidFill>
                  <a:srgbClr val="FFFFFF"/>
                </a:solidFill>
                <a:latin typeface="Times New Roman"/>
                <a:ea typeface="Times New Roman"/>
                <a:cs typeface="Times New Roman"/>
              </a:rPr>
              <a:t>نوفمبر</a:t>
            </a:r>
            <a:r>
              <a:rPr lang="en-US" altLang="en-US" sz="1200" b="1" i="0" dirty="0">
                <a:solidFill>
                  <a:srgbClr val="FFFFFF"/>
                </a:solidFill>
                <a:latin typeface="Times New Roman"/>
                <a:ea typeface="Times New Roman"/>
                <a:cs typeface="Times New Roman"/>
              </a:rPr>
              <a:t> 2026</a:t>
            </a:r>
            <a:endParaRPr lang="ar-SY" altLang="en-US" sz="1200" b="1" i="0" dirty="0">
              <a:solidFill>
                <a:srgbClr val="FFFFFF"/>
              </a:solidFill>
              <a:latin typeface="Times New Roman"/>
              <a:ea typeface="Times New Roman"/>
              <a:cs typeface="Times New Roman"/>
            </a:endParaRPr>
          </a:p>
        </p:txBody>
      </p:sp>
      <p:sp>
        <p:nvSpPr>
          <p:cNvPr id="10" name="Month 2"/>
          <p:cNvSpPr/>
          <p:nvPr/>
        </p:nvSpPr>
        <p:spPr>
          <a:xfrm>
            <a:off x="3548794" y="914400"/>
            <a:ext cx="2042185"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ar-SY" altLang="en-US" sz="1200" b="1" i="0" dirty="0">
                <a:solidFill>
                  <a:srgbClr val="FFFFFF"/>
                </a:solidFill>
                <a:latin typeface="Times New Roman"/>
                <a:ea typeface="Times New Roman"/>
                <a:cs typeface="Times New Roman"/>
              </a:rPr>
              <a:t>ديسمبر</a:t>
            </a:r>
            <a:r>
              <a:rPr lang="en-US" altLang="en-US" sz="1200" b="1" i="0" dirty="0">
                <a:solidFill>
                  <a:srgbClr val="FFFFFF"/>
                </a:solidFill>
                <a:latin typeface="Times New Roman"/>
                <a:ea typeface="Times New Roman"/>
                <a:cs typeface="Times New Roman"/>
              </a:rPr>
              <a:t> 2026</a:t>
            </a:r>
            <a:endParaRPr lang="ar-SY" altLang="en-US" sz="1200" b="1" i="0" dirty="0">
              <a:solidFill>
                <a:srgbClr val="FFFFFF"/>
              </a:solidFill>
              <a:latin typeface="Times New Roman"/>
              <a:ea typeface="Times New Roman"/>
              <a:cs typeface="Times New Roman"/>
            </a:endParaRPr>
          </a:p>
        </p:txBody>
      </p:sp>
      <p:sp>
        <p:nvSpPr>
          <p:cNvPr id="11" name="Month 3"/>
          <p:cNvSpPr/>
          <p:nvPr/>
        </p:nvSpPr>
        <p:spPr>
          <a:xfrm>
            <a:off x="1488320" y="914400"/>
            <a:ext cx="2042185" cy="329184"/>
          </a:xfrm>
          <a:prstGeom prst="rect">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ar-SY" altLang="en-US" sz="1200" b="1" i="0" dirty="0">
                <a:solidFill>
                  <a:srgbClr val="FFFFFF"/>
                </a:solidFill>
                <a:latin typeface="Times New Roman"/>
                <a:ea typeface="Times New Roman"/>
                <a:cs typeface="Times New Roman"/>
              </a:rPr>
              <a:t>يناير</a:t>
            </a:r>
            <a:r>
              <a:rPr lang="en-US" altLang="en-US" sz="1200" b="1" i="0" dirty="0">
                <a:solidFill>
                  <a:srgbClr val="FFFFFF"/>
                </a:solidFill>
                <a:latin typeface="Times New Roman"/>
                <a:ea typeface="Times New Roman"/>
                <a:cs typeface="Times New Roman"/>
              </a:rPr>
              <a:t> 2027</a:t>
            </a:r>
            <a:endParaRPr lang="ar-SY" altLang="en-US" sz="1200" b="1" i="0" dirty="0">
              <a:solidFill>
                <a:srgbClr val="FFFFFF"/>
              </a:solidFill>
              <a:latin typeface="Times New Roman"/>
              <a:ea typeface="Times New Roman"/>
              <a:cs typeface="Times New Roman"/>
            </a:endParaRPr>
          </a:p>
        </p:txBody>
      </p:sp>
      <p:sp>
        <p:nvSpPr>
          <p:cNvPr id="12" name="Month 4"/>
          <p:cNvSpPr/>
          <p:nvPr/>
        </p:nvSpPr>
        <p:spPr>
          <a:xfrm>
            <a:off x="557783" y="914400"/>
            <a:ext cx="912248"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1">
              <a:spcBef>
                <a:spcPts val="0"/>
              </a:spcBef>
              <a:spcAft>
                <a:spcPts val="0"/>
              </a:spcAft>
              <a:buNone/>
            </a:pPr>
            <a:r>
              <a:rPr lang="ar-SY" altLang="en-US" sz="1200" b="1" i="0" dirty="0">
                <a:solidFill>
                  <a:srgbClr val="FFFFFF"/>
                </a:solidFill>
                <a:latin typeface="Times New Roman"/>
                <a:ea typeface="Times New Roman"/>
                <a:cs typeface="Times New Roman"/>
              </a:rPr>
              <a:t>فبراير</a:t>
            </a:r>
            <a:r>
              <a:rPr lang="en-US" altLang="en-US" sz="1200" b="1" i="0" dirty="0">
                <a:solidFill>
                  <a:srgbClr val="FFFFFF"/>
                </a:solidFill>
                <a:latin typeface="Times New Roman"/>
                <a:ea typeface="Times New Roman"/>
                <a:cs typeface="Times New Roman"/>
              </a:rPr>
              <a:t> 2027</a:t>
            </a:r>
            <a:endParaRPr lang="ar-SY" altLang="en-US" sz="1200" b="1" i="0" dirty="0">
              <a:solidFill>
                <a:srgbClr val="FFFFFF"/>
              </a:solidFill>
              <a:latin typeface="Times New Roman"/>
              <a:ea typeface="Times New Roman"/>
              <a:cs typeface="Times New Roman"/>
            </a:endParaRPr>
          </a:p>
        </p:txBody>
      </p:sp>
      <p:sp>
        <p:nvSpPr>
          <p:cNvPr id="13" name="Label head"/>
          <p:cNvSpPr/>
          <p:nvPr/>
        </p:nvSpPr>
        <p:spPr>
          <a:xfrm>
            <a:off x="8549640" y="914400"/>
            <a:ext cx="3090672"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200" b="1" i="0" dirty="0">
                <a:solidFill>
                  <a:srgbClr val="FFFFFF"/>
                </a:solidFill>
                <a:latin typeface="Times New Roman"/>
                <a:ea typeface="Times New Roman"/>
                <a:cs typeface="Times New Roman"/>
              </a:rPr>
              <a:t>Phase / Requirements</a:t>
            </a:r>
          </a:p>
        </p:txBody>
      </p:sp>
      <p:cxnSp>
        <p:nvCxnSpPr>
          <p:cNvPr id="14" name="Week 0"/>
          <p:cNvCxnSpPr/>
          <p:nvPr/>
        </p:nvCxnSpPr>
        <p:spPr>
          <a:xfrm>
            <a:off x="8458200"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15" name="Week 1"/>
          <p:cNvCxnSpPr/>
          <p:nvPr/>
        </p:nvCxnSpPr>
        <p:spPr>
          <a:xfrm>
            <a:off x="7992931"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16" name="Week 2"/>
          <p:cNvCxnSpPr/>
          <p:nvPr/>
        </p:nvCxnSpPr>
        <p:spPr>
          <a:xfrm>
            <a:off x="7527663"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17" name="Week 3"/>
          <p:cNvCxnSpPr/>
          <p:nvPr/>
        </p:nvCxnSpPr>
        <p:spPr>
          <a:xfrm>
            <a:off x="7062395"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18" name="Week 4"/>
          <p:cNvCxnSpPr/>
          <p:nvPr/>
        </p:nvCxnSpPr>
        <p:spPr>
          <a:xfrm>
            <a:off x="6597127"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19" name="Week 5"/>
          <p:cNvCxnSpPr/>
          <p:nvPr/>
        </p:nvCxnSpPr>
        <p:spPr>
          <a:xfrm>
            <a:off x="6131858"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0" name="Week 6"/>
          <p:cNvCxnSpPr/>
          <p:nvPr/>
        </p:nvCxnSpPr>
        <p:spPr>
          <a:xfrm>
            <a:off x="5666590"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1" name="Week 7"/>
          <p:cNvCxnSpPr/>
          <p:nvPr/>
        </p:nvCxnSpPr>
        <p:spPr>
          <a:xfrm>
            <a:off x="5201322"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2" name="Week 8"/>
          <p:cNvCxnSpPr/>
          <p:nvPr/>
        </p:nvCxnSpPr>
        <p:spPr>
          <a:xfrm>
            <a:off x="4736054"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3" name="Week 9"/>
          <p:cNvCxnSpPr/>
          <p:nvPr/>
        </p:nvCxnSpPr>
        <p:spPr>
          <a:xfrm>
            <a:off x="4270785"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4" name="Week 10"/>
          <p:cNvCxnSpPr/>
          <p:nvPr/>
        </p:nvCxnSpPr>
        <p:spPr>
          <a:xfrm>
            <a:off x="3805517"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5" name="Week 11"/>
          <p:cNvCxnSpPr/>
          <p:nvPr/>
        </p:nvCxnSpPr>
        <p:spPr>
          <a:xfrm>
            <a:off x="3340249"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6" name="Week 12"/>
          <p:cNvCxnSpPr/>
          <p:nvPr/>
        </p:nvCxnSpPr>
        <p:spPr>
          <a:xfrm>
            <a:off x="2874981"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7" name="Week 13"/>
          <p:cNvCxnSpPr/>
          <p:nvPr/>
        </p:nvCxnSpPr>
        <p:spPr>
          <a:xfrm>
            <a:off x="2409712"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8" name="Week 14"/>
          <p:cNvCxnSpPr/>
          <p:nvPr/>
        </p:nvCxnSpPr>
        <p:spPr>
          <a:xfrm>
            <a:off x="1944444"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29" name="Week 15"/>
          <p:cNvCxnSpPr/>
          <p:nvPr/>
        </p:nvCxnSpPr>
        <p:spPr>
          <a:xfrm>
            <a:off x="1479176"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30" name="Week 16"/>
          <p:cNvCxnSpPr/>
          <p:nvPr/>
        </p:nvCxnSpPr>
        <p:spPr>
          <a:xfrm>
            <a:off x="1013908"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cxnSp>
        <p:nvCxnSpPr>
          <p:cNvPr id="31" name="Week 17"/>
          <p:cNvCxnSpPr/>
          <p:nvPr/>
        </p:nvCxnSpPr>
        <p:spPr>
          <a:xfrm>
            <a:off x="548639" y="1316736"/>
            <a:ext cx="0" cy="4169664"/>
          </a:xfrm>
          <a:prstGeom prst="line">
            <a:avLst/>
          </a:prstGeom>
          <a:ln w="6350">
            <a:solidFill>
              <a:srgbClr val="E3E3E3"/>
            </a:solidFill>
          </a:ln>
        </p:spPr>
        <p:style>
          <a:lnRef idx="2">
            <a:schemeClr val="accent1"/>
          </a:lnRef>
          <a:fillRef idx="0">
            <a:schemeClr val="accent1"/>
          </a:fillRef>
          <a:effectRef idx="1">
            <a:schemeClr val="accent1"/>
          </a:effectRef>
          <a:fontRef idx="minor">
            <a:schemeClr val="tx1"/>
          </a:fontRef>
        </p:style>
      </p:cxnSp>
      <p:sp>
        <p:nvSpPr>
          <p:cNvPr id="32" name="Row label 0"/>
          <p:cNvSpPr/>
          <p:nvPr/>
        </p:nvSpPr>
        <p:spPr>
          <a:xfrm>
            <a:off x="8549640" y="1316736"/>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Iteration 0: Envisioning + Prototype</a:t>
            </a:r>
          </a:p>
        </p:txBody>
      </p:sp>
      <p:sp>
        <p:nvSpPr>
          <p:cNvPr id="33" name="Bar 0-0"/>
          <p:cNvSpPr/>
          <p:nvPr/>
        </p:nvSpPr>
        <p:spPr>
          <a:xfrm>
            <a:off x="7869141" y="1380744"/>
            <a:ext cx="380513" cy="219456"/>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34" name="Bar 0-1"/>
          <p:cNvSpPr/>
          <p:nvPr/>
        </p:nvSpPr>
        <p:spPr>
          <a:xfrm>
            <a:off x="7603274" y="1380744"/>
            <a:ext cx="247579" cy="219456"/>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000" b="1" i="0" dirty="0">
                <a:solidFill>
                  <a:srgbClr val="FFFFFF"/>
                </a:solidFill>
                <a:latin typeface="Times New Roman"/>
                <a:ea typeface="Times New Roman"/>
                <a:cs typeface="Times New Roman"/>
              </a:rPr>
              <a:t>I0</a:t>
            </a:r>
          </a:p>
        </p:txBody>
      </p:sp>
      <p:sp>
        <p:nvSpPr>
          <p:cNvPr id="35" name="Row label 1"/>
          <p:cNvSpPr/>
          <p:nvPr/>
        </p:nvSpPr>
        <p:spPr>
          <a:xfrm>
            <a:off x="8549640" y="1664207"/>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Increment 1: FR-01, FR-02, FR-06, FR-08, FR-16</a:t>
            </a:r>
          </a:p>
        </p:txBody>
      </p:sp>
      <p:sp>
        <p:nvSpPr>
          <p:cNvPr id="36" name="Bar 1-0"/>
          <p:cNvSpPr/>
          <p:nvPr/>
        </p:nvSpPr>
        <p:spPr>
          <a:xfrm>
            <a:off x="7337406" y="1728216"/>
            <a:ext cx="181112" cy="219456"/>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37" name="Bar 1-1"/>
          <p:cNvSpPr/>
          <p:nvPr/>
        </p:nvSpPr>
        <p:spPr>
          <a:xfrm>
            <a:off x="6805671" y="1728216"/>
            <a:ext cx="513447" cy="219456"/>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000" b="1" i="0" dirty="0">
                <a:solidFill>
                  <a:srgbClr val="FFFFFF"/>
                </a:solidFill>
                <a:latin typeface="Times New Roman"/>
                <a:ea typeface="Times New Roman"/>
                <a:cs typeface="Times New Roman"/>
              </a:rPr>
              <a:t>I1</a:t>
            </a:r>
          </a:p>
        </p:txBody>
      </p:sp>
      <p:sp>
        <p:nvSpPr>
          <p:cNvPr id="38" name="Bar 1-2"/>
          <p:cNvSpPr/>
          <p:nvPr/>
        </p:nvSpPr>
        <p:spPr>
          <a:xfrm>
            <a:off x="6606271" y="1728216"/>
            <a:ext cx="181112" cy="219456"/>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39" name="Row label 2"/>
          <p:cNvSpPr/>
          <p:nvPr/>
        </p:nvSpPr>
        <p:spPr>
          <a:xfrm>
            <a:off x="8549640" y="2011680"/>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Increment 2: FR-03, FR-04, FR-07, FR-09 + Eval</a:t>
            </a:r>
          </a:p>
        </p:txBody>
      </p:sp>
      <p:sp>
        <p:nvSpPr>
          <p:cNvPr id="40" name="Bar 2-0"/>
          <p:cNvSpPr/>
          <p:nvPr/>
        </p:nvSpPr>
        <p:spPr>
          <a:xfrm>
            <a:off x="6406870" y="2075688"/>
            <a:ext cx="181112" cy="219456"/>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41" name="Bar 2-1"/>
          <p:cNvSpPr/>
          <p:nvPr/>
        </p:nvSpPr>
        <p:spPr>
          <a:xfrm>
            <a:off x="5875135" y="2075688"/>
            <a:ext cx="513447" cy="219456"/>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000" b="1" i="0" dirty="0">
                <a:solidFill>
                  <a:srgbClr val="FFFFFF"/>
                </a:solidFill>
                <a:latin typeface="Times New Roman"/>
                <a:ea typeface="Times New Roman"/>
                <a:cs typeface="Times New Roman"/>
              </a:rPr>
              <a:t>I2</a:t>
            </a:r>
          </a:p>
        </p:txBody>
      </p:sp>
      <p:sp>
        <p:nvSpPr>
          <p:cNvPr id="42" name="Bar 2-2"/>
          <p:cNvSpPr/>
          <p:nvPr/>
        </p:nvSpPr>
        <p:spPr>
          <a:xfrm>
            <a:off x="5675734" y="2075688"/>
            <a:ext cx="181112" cy="219456"/>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43" name="Row label 3"/>
          <p:cNvSpPr/>
          <p:nvPr/>
        </p:nvSpPr>
        <p:spPr>
          <a:xfrm>
            <a:off x="8549640" y="2359152"/>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Increment 3: FR-05, FR-10, FR-11, FR-12</a:t>
            </a:r>
          </a:p>
        </p:txBody>
      </p:sp>
      <p:sp>
        <p:nvSpPr>
          <p:cNvPr id="44" name="Bar 3-0"/>
          <p:cNvSpPr/>
          <p:nvPr/>
        </p:nvSpPr>
        <p:spPr>
          <a:xfrm>
            <a:off x="5476333" y="2423160"/>
            <a:ext cx="181112" cy="219456"/>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45" name="Bar 3-1"/>
          <p:cNvSpPr/>
          <p:nvPr/>
        </p:nvSpPr>
        <p:spPr>
          <a:xfrm>
            <a:off x="4944598" y="2423160"/>
            <a:ext cx="513447" cy="219456"/>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000" b="1" i="0" dirty="0">
                <a:solidFill>
                  <a:srgbClr val="FFFFFF"/>
                </a:solidFill>
                <a:latin typeface="Times New Roman"/>
                <a:ea typeface="Times New Roman"/>
                <a:cs typeface="Times New Roman"/>
              </a:rPr>
              <a:t>I3</a:t>
            </a:r>
          </a:p>
        </p:txBody>
      </p:sp>
      <p:sp>
        <p:nvSpPr>
          <p:cNvPr id="46" name="Bar 3-2"/>
          <p:cNvSpPr/>
          <p:nvPr/>
        </p:nvSpPr>
        <p:spPr>
          <a:xfrm>
            <a:off x="4745198" y="2423160"/>
            <a:ext cx="181112" cy="219456"/>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47" name="Row label 4"/>
          <p:cNvSpPr/>
          <p:nvPr/>
        </p:nvSpPr>
        <p:spPr>
          <a:xfrm>
            <a:off x="8549640" y="2706624"/>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Increment 4: FR-13 – FR-15 + FR-17 – FR-20</a:t>
            </a:r>
          </a:p>
        </p:txBody>
      </p:sp>
      <p:sp>
        <p:nvSpPr>
          <p:cNvPr id="48" name="Bar 4-0"/>
          <p:cNvSpPr/>
          <p:nvPr/>
        </p:nvSpPr>
        <p:spPr>
          <a:xfrm>
            <a:off x="4545797" y="2770632"/>
            <a:ext cx="181112" cy="219456"/>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49" name="Bar 4-1"/>
          <p:cNvSpPr/>
          <p:nvPr/>
        </p:nvSpPr>
        <p:spPr>
          <a:xfrm>
            <a:off x="4014062" y="2770632"/>
            <a:ext cx="513447" cy="219456"/>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rtl="0">
              <a:spcBef>
                <a:spcPts val="0"/>
              </a:spcBef>
              <a:spcAft>
                <a:spcPts val="0"/>
              </a:spcAft>
              <a:buNone/>
            </a:pPr>
            <a:r>
              <a:rPr lang="en-US" altLang="en-US" sz="1000" b="1" i="0" dirty="0">
                <a:solidFill>
                  <a:srgbClr val="FFFFFF"/>
                </a:solidFill>
                <a:latin typeface="Times New Roman"/>
                <a:ea typeface="Times New Roman"/>
                <a:cs typeface="Times New Roman"/>
              </a:rPr>
              <a:t>I4</a:t>
            </a:r>
          </a:p>
        </p:txBody>
      </p:sp>
      <p:sp>
        <p:nvSpPr>
          <p:cNvPr id="50" name="Bar 4-2"/>
          <p:cNvSpPr/>
          <p:nvPr/>
        </p:nvSpPr>
        <p:spPr>
          <a:xfrm>
            <a:off x="3814661" y="2770632"/>
            <a:ext cx="181112" cy="219456"/>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51" name="Row label 5"/>
          <p:cNvSpPr/>
          <p:nvPr/>
        </p:nvSpPr>
        <p:spPr>
          <a:xfrm>
            <a:off x="8549640" y="3054096"/>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1A1A1A"/>
                </a:solidFill>
                <a:latin typeface="Times New Roman"/>
                <a:ea typeface="Times New Roman"/>
                <a:cs typeface="Times New Roman"/>
              </a:rPr>
              <a:t>Release: System &amp; Performance Tests</a:t>
            </a:r>
          </a:p>
        </p:txBody>
      </p:sp>
      <p:sp>
        <p:nvSpPr>
          <p:cNvPr id="52" name="Bar 5-0"/>
          <p:cNvSpPr/>
          <p:nvPr/>
        </p:nvSpPr>
        <p:spPr>
          <a:xfrm>
            <a:off x="2884125" y="3118103"/>
            <a:ext cx="912248" cy="219456"/>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53" name="Row label 6"/>
          <p:cNvSpPr/>
          <p:nvPr/>
        </p:nvSpPr>
        <p:spPr>
          <a:xfrm>
            <a:off x="8549640" y="3401568"/>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0" i="0" dirty="0">
                <a:solidFill>
                  <a:srgbClr val="1A1A1A"/>
                </a:solidFill>
                <a:latin typeface="Times New Roman"/>
                <a:ea typeface="Times New Roman"/>
                <a:cs typeface="Times New Roman"/>
              </a:rPr>
              <a:t>Report Writing (every Increment)</a:t>
            </a:r>
          </a:p>
        </p:txBody>
      </p:sp>
      <p:sp>
        <p:nvSpPr>
          <p:cNvPr id="54" name="Bar 6-0"/>
          <p:cNvSpPr/>
          <p:nvPr/>
        </p:nvSpPr>
        <p:spPr>
          <a:xfrm>
            <a:off x="2551790" y="3465576"/>
            <a:ext cx="4966728" cy="219456"/>
          </a:xfrm>
          <a:prstGeom prst="roundRect">
            <a:avLst>
              <a:gd name="adj" fmla="val 20000"/>
            </a:avLst>
          </a:prstGeom>
          <a:solidFill>
            <a:srgbClr val="9B59B6"/>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55" name="Row label 7"/>
          <p:cNvSpPr/>
          <p:nvPr/>
        </p:nvSpPr>
        <p:spPr>
          <a:xfrm>
            <a:off x="8549640" y="3749039"/>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C00000"/>
                </a:solidFill>
                <a:latin typeface="Times New Roman"/>
                <a:ea typeface="Times New Roman"/>
                <a:cs typeface="Times New Roman"/>
              </a:rPr>
              <a:t>◆ Seminar 1 — 1/11</a:t>
            </a:r>
          </a:p>
        </p:txBody>
      </p:sp>
      <p:sp>
        <p:nvSpPr>
          <p:cNvPr id="56" name="Milestone 7"/>
          <p:cNvSpPr/>
          <p:nvPr/>
        </p:nvSpPr>
        <p:spPr>
          <a:xfrm>
            <a:off x="7466114" y="3794759"/>
            <a:ext cx="256032" cy="25603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57" name="Row label 8"/>
          <p:cNvSpPr/>
          <p:nvPr/>
        </p:nvSpPr>
        <p:spPr>
          <a:xfrm>
            <a:off x="8549640" y="4096512"/>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C00000"/>
                </a:solidFill>
                <a:latin typeface="Times New Roman"/>
                <a:ea typeface="Times New Roman"/>
                <a:cs typeface="Times New Roman"/>
              </a:rPr>
              <a:t>◆ Seminar 2 — 2–5/1</a:t>
            </a:r>
          </a:p>
        </p:txBody>
      </p:sp>
      <p:sp>
        <p:nvSpPr>
          <p:cNvPr id="58" name="Bar 8-0"/>
          <p:cNvSpPr/>
          <p:nvPr/>
        </p:nvSpPr>
        <p:spPr>
          <a:xfrm>
            <a:off x="3216459" y="4160520"/>
            <a:ext cx="247579" cy="219456"/>
          </a:xfrm>
          <a:prstGeom prst="roundRect">
            <a:avLst>
              <a:gd name="adj" fmla="val 2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59" name="Row label 9"/>
          <p:cNvSpPr/>
          <p:nvPr/>
        </p:nvSpPr>
        <p:spPr>
          <a:xfrm>
            <a:off x="8549640" y="4443983"/>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C00000"/>
                </a:solidFill>
                <a:latin typeface="Times New Roman"/>
                <a:ea typeface="Times New Roman"/>
                <a:cs typeface="Times New Roman"/>
              </a:rPr>
              <a:t>◆ Report Submission — 16–19/1</a:t>
            </a:r>
          </a:p>
        </p:txBody>
      </p:sp>
      <p:sp>
        <p:nvSpPr>
          <p:cNvPr id="60" name="Bar 9-0"/>
          <p:cNvSpPr/>
          <p:nvPr/>
        </p:nvSpPr>
        <p:spPr>
          <a:xfrm>
            <a:off x="2285923" y="4507992"/>
            <a:ext cx="247579" cy="219456"/>
          </a:xfrm>
          <a:prstGeom prst="roundRect">
            <a:avLst>
              <a:gd name="adj" fmla="val 2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61" name="Row label 10"/>
          <p:cNvSpPr/>
          <p:nvPr/>
        </p:nvSpPr>
        <p:spPr>
          <a:xfrm>
            <a:off x="8549640" y="4791456"/>
            <a:ext cx="3090672" cy="347472"/>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C00000"/>
                </a:solidFill>
                <a:latin typeface="Times New Roman"/>
                <a:ea typeface="Times New Roman"/>
                <a:cs typeface="Times New Roman"/>
              </a:rPr>
              <a:t>◆ Code Audit Interview — 27/1–4/2</a:t>
            </a:r>
          </a:p>
        </p:txBody>
      </p:sp>
      <p:sp>
        <p:nvSpPr>
          <p:cNvPr id="62" name="Bar 10-0"/>
          <p:cNvSpPr/>
          <p:nvPr/>
        </p:nvSpPr>
        <p:spPr>
          <a:xfrm>
            <a:off x="1222452" y="4855464"/>
            <a:ext cx="579914" cy="219456"/>
          </a:xfrm>
          <a:prstGeom prst="roundRect">
            <a:avLst>
              <a:gd name="adj" fmla="val 2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63" name="Row label 11"/>
          <p:cNvSpPr/>
          <p:nvPr/>
        </p:nvSpPr>
        <p:spPr>
          <a:xfrm>
            <a:off x="8549640" y="5138927"/>
            <a:ext cx="3090672"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0" rIns="36576" bIns="0" rtlCol="0" anchor="ctr">
            <a:noAutofit/>
          </a:bodyPr>
          <a:lstStyle/>
          <a:p>
            <a:pPr algn="l" rtl="0">
              <a:spcBef>
                <a:spcPts val="0"/>
              </a:spcBef>
              <a:spcAft>
                <a:spcPts val="0"/>
              </a:spcAft>
              <a:buNone/>
            </a:pPr>
            <a:r>
              <a:rPr lang="en-US" altLang="en-US" sz="1100" b="1" i="0" dirty="0">
                <a:solidFill>
                  <a:srgbClr val="C00000"/>
                </a:solidFill>
                <a:latin typeface="Times New Roman"/>
                <a:ea typeface="Times New Roman"/>
                <a:cs typeface="Times New Roman"/>
              </a:rPr>
              <a:t>◆ Final Judging — 6–9/2</a:t>
            </a:r>
          </a:p>
        </p:txBody>
      </p:sp>
      <p:sp>
        <p:nvSpPr>
          <p:cNvPr id="64" name="Bar 11-0"/>
          <p:cNvSpPr/>
          <p:nvPr/>
        </p:nvSpPr>
        <p:spPr>
          <a:xfrm>
            <a:off x="890118" y="5202936"/>
            <a:ext cx="247579" cy="219456"/>
          </a:xfrm>
          <a:prstGeom prst="roundRect">
            <a:avLst>
              <a:gd name="adj" fmla="val 2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cxnSp>
        <p:nvCxnSpPr>
          <p:cNvPr id="65" name="Feature freeze"/>
          <p:cNvCxnSpPr/>
          <p:nvPr/>
        </p:nvCxnSpPr>
        <p:spPr>
          <a:xfrm>
            <a:off x="3805517" y="1271016"/>
            <a:ext cx="0" cy="2478023"/>
          </a:xfrm>
          <a:prstGeom prst="line">
            <a:avLst/>
          </a:prstGeom>
          <a:ln w="1587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66" name="Feature freeze label"/>
          <p:cNvSpPr txBox="1"/>
          <p:nvPr/>
        </p:nvSpPr>
        <p:spPr>
          <a:xfrm>
            <a:off x="2205317" y="1353312"/>
            <a:ext cx="1554480" cy="274320"/>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1" i="0" dirty="0">
                <a:solidFill>
                  <a:srgbClr val="C00000"/>
                </a:solidFill>
                <a:latin typeface="Times New Roman"/>
                <a:ea typeface="Times New Roman"/>
                <a:cs typeface="Times New Roman"/>
              </a:rPr>
              <a:t>Feature Freeze 27/12</a:t>
            </a:r>
          </a:p>
        </p:txBody>
      </p:sp>
      <p:sp>
        <p:nvSpPr>
          <p:cNvPr id="67" name="Legend chip Design"/>
          <p:cNvSpPr/>
          <p:nvPr/>
        </p:nvSpPr>
        <p:spPr>
          <a:xfrm>
            <a:off x="11347704" y="5632703"/>
            <a:ext cx="292608" cy="182880"/>
          </a:xfrm>
          <a:prstGeom prst="roundRect">
            <a:avLst>
              <a:gd name="adj" fmla="val 20000"/>
            </a:avLst>
          </a:prstGeom>
          <a:solidFill>
            <a:srgbClr val="6FA0DC"/>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68" name="Legend text Design"/>
          <p:cNvSpPr txBox="1"/>
          <p:nvPr/>
        </p:nvSpPr>
        <p:spPr>
          <a:xfrm>
            <a:off x="9491472" y="5577840"/>
            <a:ext cx="1810512" cy="292608"/>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0" i="0" dirty="0">
                <a:solidFill>
                  <a:srgbClr val="1A1A1A"/>
                </a:solidFill>
                <a:latin typeface="Times New Roman"/>
                <a:ea typeface="Times New Roman"/>
                <a:cs typeface="Times New Roman"/>
              </a:rPr>
              <a:t>Design</a:t>
            </a:r>
          </a:p>
        </p:txBody>
      </p:sp>
      <p:sp>
        <p:nvSpPr>
          <p:cNvPr id="69" name="Legend chip Implem"/>
          <p:cNvSpPr/>
          <p:nvPr/>
        </p:nvSpPr>
        <p:spPr>
          <a:xfrm>
            <a:off x="9107424" y="5632703"/>
            <a:ext cx="292608" cy="182880"/>
          </a:xfrm>
          <a:prstGeom prst="roundRect">
            <a:avLst>
              <a:gd name="adj" fmla="val 20000"/>
            </a:avLst>
          </a:prstGeom>
          <a:solidFill>
            <a:srgbClr val="2F549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70" name="Legend text Implem"/>
          <p:cNvSpPr txBox="1"/>
          <p:nvPr/>
        </p:nvSpPr>
        <p:spPr>
          <a:xfrm>
            <a:off x="7251192" y="5577840"/>
            <a:ext cx="1810512" cy="292608"/>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0" i="0" dirty="0">
                <a:solidFill>
                  <a:srgbClr val="1A1A1A"/>
                </a:solidFill>
                <a:latin typeface="Times New Roman"/>
                <a:ea typeface="Times New Roman"/>
                <a:cs typeface="Times New Roman"/>
              </a:rPr>
              <a:t>Implementation + Tests</a:t>
            </a:r>
          </a:p>
        </p:txBody>
      </p:sp>
      <p:sp>
        <p:nvSpPr>
          <p:cNvPr id="71" name="Legend chip Testin"/>
          <p:cNvSpPr/>
          <p:nvPr/>
        </p:nvSpPr>
        <p:spPr>
          <a:xfrm>
            <a:off x="6867144" y="5632703"/>
            <a:ext cx="292608" cy="182880"/>
          </a:xfrm>
          <a:prstGeom prst="roundRect">
            <a:avLst>
              <a:gd name="adj" fmla="val 20000"/>
            </a:avLst>
          </a:prstGeom>
          <a:solidFill>
            <a:srgbClr val="E07B28"/>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72" name="Legend text Testin"/>
          <p:cNvSpPr txBox="1"/>
          <p:nvPr/>
        </p:nvSpPr>
        <p:spPr>
          <a:xfrm>
            <a:off x="5010912" y="5577840"/>
            <a:ext cx="1810512" cy="292608"/>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0" i="0" dirty="0">
                <a:solidFill>
                  <a:srgbClr val="1A1A1A"/>
                </a:solidFill>
                <a:latin typeface="Times New Roman"/>
                <a:ea typeface="Times New Roman"/>
                <a:cs typeface="Times New Roman"/>
              </a:rPr>
              <a:t>Testing &amp; Review</a:t>
            </a:r>
          </a:p>
        </p:txBody>
      </p:sp>
      <p:sp>
        <p:nvSpPr>
          <p:cNvPr id="73" name="Legend chip Report"/>
          <p:cNvSpPr/>
          <p:nvPr/>
        </p:nvSpPr>
        <p:spPr>
          <a:xfrm>
            <a:off x="4626864" y="5632703"/>
            <a:ext cx="292608" cy="182880"/>
          </a:xfrm>
          <a:prstGeom prst="roundRect">
            <a:avLst>
              <a:gd name="adj" fmla="val 20000"/>
            </a:avLst>
          </a:prstGeom>
          <a:solidFill>
            <a:srgbClr val="9B59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74" name="Legend text Report"/>
          <p:cNvSpPr txBox="1"/>
          <p:nvPr/>
        </p:nvSpPr>
        <p:spPr>
          <a:xfrm>
            <a:off x="2770632" y="5577840"/>
            <a:ext cx="1810512" cy="292608"/>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0" i="0" dirty="0">
                <a:solidFill>
                  <a:srgbClr val="1A1A1A"/>
                </a:solidFill>
                <a:latin typeface="Times New Roman"/>
                <a:ea typeface="Times New Roman"/>
                <a:cs typeface="Times New Roman"/>
              </a:rPr>
              <a:t>Report</a:t>
            </a:r>
          </a:p>
        </p:txBody>
      </p:sp>
      <p:sp>
        <p:nvSpPr>
          <p:cNvPr id="75" name="Legend chip Univer"/>
          <p:cNvSpPr/>
          <p:nvPr/>
        </p:nvSpPr>
        <p:spPr>
          <a:xfrm>
            <a:off x="2386584" y="5632703"/>
            <a:ext cx="292608" cy="182880"/>
          </a:xfrm>
          <a:prstGeom prst="roundRect">
            <a:avLst>
              <a:gd name="adj" fmla="val 2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noAutofit/>
          </a:bodyPr>
          <a:lstStyle/>
          <a:p>
            <a:pPr algn="r" rtl="1">
              <a:spcBef>
                <a:spcPts val="0"/>
              </a:spcBef>
              <a:spcAft>
                <a:spcPts val="0"/>
              </a:spcAft>
              <a:buNone/>
            </a:pPr>
            <a:endParaRPr lang="ar-SY" altLang="en-US" sz="800" b="0" i="0" dirty="0">
              <a:solidFill>
                <a:srgbClr val="1A1A1A"/>
              </a:solidFill>
              <a:latin typeface="Times New Roman"/>
              <a:ea typeface="Times New Roman"/>
              <a:cs typeface="Times New Roman"/>
            </a:endParaRPr>
          </a:p>
        </p:txBody>
      </p:sp>
      <p:sp>
        <p:nvSpPr>
          <p:cNvPr id="76" name="Legend text Univer"/>
          <p:cNvSpPr txBox="1"/>
          <p:nvPr/>
        </p:nvSpPr>
        <p:spPr>
          <a:xfrm>
            <a:off x="530352" y="5577840"/>
            <a:ext cx="1810512" cy="292608"/>
          </a:xfrm>
          <a:prstGeom prst="rect">
            <a:avLst/>
          </a:prstGeom>
          <a:noFill/>
        </p:spPr>
        <p:txBody>
          <a:bodyPr wrap="square" lIns="45720" tIns="27432" rIns="45720" bIns="27432" rtlCol="0" anchor="t">
            <a:noAutofit/>
          </a:bodyPr>
          <a:lstStyle/>
          <a:p>
            <a:pPr algn="r" rtl="0">
              <a:spcBef>
                <a:spcPts val="0"/>
              </a:spcBef>
              <a:spcAft>
                <a:spcPts val="0"/>
              </a:spcAft>
              <a:buNone/>
            </a:pPr>
            <a:r>
              <a:rPr lang="en-US" altLang="en-US" sz="1100" b="0" i="0" dirty="0">
                <a:solidFill>
                  <a:srgbClr val="1A1A1A"/>
                </a:solidFill>
                <a:latin typeface="Times New Roman"/>
                <a:ea typeface="Times New Roman"/>
                <a:cs typeface="Times New Roman"/>
              </a:rPr>
              <a:t>University Milestone</a:t>
            </a:r>
          </a:p>
        </p:txBody>
      </p:sp>
      <p:sp>
        <p:nvSpPr>
          <p:cNvPr id="77" name="Gantt note"/>
          <p:cNvSpPr txBox="1"/>
          <p:nvPr/>
        </p:nvSpPr>
        <p:spPr>
          <a:xfrm>
            <a:off x="586022" y="6027762"/>
            <a:ext cx="11091672" cy="256032"/>
          </a:xfrm>
          <a:prstGeom prst="rect">
            <a:avLst/>
          </a:prstGeom>
          <a:noFill/>
        </p:spPr>
        <p:txBody>
          <a:bodyPr wrap="square" lIns="45720" tIns="27432" rIns="45720" bIns="27432" rtlCol="0" anchor="t">
            <a:noAutofit/>
          </a:bodyPr>
          <a:lstStyle/>
          <a:p>
            <a:pPr algn="r" rtl="1">
              <a:spcBef>
                <a:spcPts val="0"/>
              </a:spcBef>
              <a:spcAft>
                <a:spcPts val="0"/>
              </a:spcAft>
              <a:buNone/>
            </a:pPr>
            <a:r>
              <a:rPr lang="ar-SY" altLang="en-US" sz="1400" b="1" i="0" dirty="0">
                <a:solidFill>
                  <a:srgbClr val="595959"/>
                </a:solidFill>
                <a:latin typeface="Times New Roman"/>
                <a:ea typeface="Times New Roman"/>
                <a:cs typeface="Times New Roman"/>
              </a:rPr>
              <a:t>الزمن يتقدم من اليمين إلى اليسار، والخطوط الرمادية تفصل الأسابيع. كل </a:t>
            </a:r>
            <a:r>
              <a:rPr lang="en-US" altLang="en-US" sz="1400" b="1" i="0" dirty="0">
                <a:solidFill>
                  <a:srgbClr val="595959"/>
                </a:solidFill>
                <a:latin typeface="Times New Roman"/>
                <a:ea typeface="Times New Roman"/>
                <a:cs typeface="Times New Roman"/>
              </a:rPr>
              <a:t> Increment </a:t>
            </a:r>
            <a:r>
              <a:rPr lang="ar-SY" altLang="en-US" sz="1400" b="1" i="0" dirty="0">
                <a:solidFill>
                  <a:srgbClr val="595959"/>
                </a:solidFill>
                <a:latin typeface="Times New Roman"/>
                <a:ea typeface="Times New Roman"/>
                <a:cs typeface="Times New Roman"/>
              </a:rPr>
              <a:t>أسبوعان وينتهي بمراجعة مع المشرفين.</a:t>
            </a:r>
          </a:p>
        </p:txBody>
      </p:sp>
    </p:spTree>
    <p:extLst>
      <p:ext uri="{BB962C8B-B14F-4D97-AF65-F5344CB8AC3E}">
        <p14:creationId xmlns:p14="http://schemas.microsoft.com/office/powerpoint/2010/main" val="11843245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DB5F87B-DB91-279C-A082-B365333316FB}"/>
              </a:ext>
            </a:extLst>
          </p:cNvPr>
          <p:cNvSpPr>
            <a:spLocks noGrp="1"/>
          </p:cNvSpPr>
          <p:nvPr>
            <p:ph type="dt" sz="half" idx="10"/>
          </p:nvPr>
        </p:nvSpPr>
        <p:spPr/>
        <p:txBody>
          <a:bodyPr/>
          <a:lstStyle/>
          <a:p>
            <a:pPr algn="l" rtl="0">
              <a:spcBef>
                <a:spcPts val="0"/>
              </a:spcBef>
              <a:spcAft>
                <a:spcPts val="0"/>
              </a:spcAft>
              <a:buNone/>
            </a:pPr>
            <a:r>
              <a:rPr lang="en-US" altLang="en-US" sz="1200" b="0" i="0" dirty="0">
                <a:solidFill>
                  <a:srgbClr val="7F7F7F"/>
                </a:solidFill>
                <a:latin typeface="Times New Roman"/>
                <a:ea typeface="Times New Roman"/>
                <a:cs typeface="Times New Roman"/>
              </a:rPr>
              <a:t>01/11/2026</a:t>
            </a:r>
          </a:p>
        </p:txBody>
      </p:sp>
      <p:sp>
        <p:nvSpPr>
          <p:cNvPr id="5" name="Footer Placeholder 4">
            <a:extLst>
              <a:ext uri="{FF2B5EF4-FFF2-40B4-BE49-F238E27FC236}">
                <a16:creationId xmlns:a16="http://schemas.microsoft.com/office/drawing/2014/main" id="{32F2DDC9-5CB8-7BD5-C787-157F1291301F}"/>
              </a:ext>
            </a:extLst>
          </p:cNvPr>
          <p:cNvSpPr>
            <a:spLocks noGrp="1"/>
          </p:cNvSpPr>
          <p:nvPr>
            <p:ph type="ftr" sz="quarter" idx="11"/>
          </p:nvPr>
        </p:nvSpPr>
        <p:spPr/>
        <p:txBody>
          <a:bodyPr/>
          <a:lstStyle/>
          <a:p>
            <a:pPr algn="ctr" rtl="1">
              <a:spcBef>
                <a:spcPts val="0"/>
              </a:spcBef>
              <a:spcAft>
                <a:spcPts val="0"/>
              </a:spcAft>
              <a:buNone/>
            </a:pPr>
            <a:r>
              <a:rPr lang="ar-SY" altLang="en-US" sz="1200" b="0" i="0" dirty="0">
                <a:solidFill>
                  <a:srgbClr val="7F7F7F"/>
                </a:solidFill>
                <a:latin typeface="Times New Roman"/>
                <a:ea typeface="Times New Roman"/>
                <a:cs typeface="Times New Roman"/>
              </a:rPr>
              <a:t>مشروع تخرج</a:t>
            </a:r>
            <a:r>
              <a:rPr lang="en-US" altLang="en-US" sz="1200" b="0" i="0" dirty="0">
                <a:solidFill>
                  <a:srgbClr val="7F7F7F"/>
                </a:solidFill>
                <a:latin typeface="Times New Roman"/>
                <a:ea typeface="Times New Roman"/>
                <a:cs typeface="Times New Roman"/>
              </a:rPr>
              <a:t> 1</a:t>
            </a:r>
            <a:endParaRPr lang="ar-SY" altLang="en-US" sz="1200" b="0" i="0" dirty="0">
              <a:solidFill>
                <a:srgbClr val="7F7F7F"/>
              </a:solidFill>
              <a:latin typeface="Times New Roman"/>
              <a:ea typeface="Times New Roman"/>
              <a:cs typeface="Times New Roman"/>
            </a:endParaRPr>
          </a:p>
        </p:txBody>
      </p:sp>
      <p:sp>
        <p:nvSpPr>
          <p:cNvPr id="6" name="Slide Number Placeholder 5">
            <a:extLst>
              <a:ext uri="{FF2B5EF4-FFF2-40B4-BE49-F238E27FC236}">
                <a16:creationId xmlns:a16="http://schemas.microsoft.com/office/drawing/2014/main" id="{8BAB69BB-1E0D-E2FB-517B-56C9C8D1905C}"/>
              </a:ext>
            </a:extLst>
          </p:cNvPr>
          <p:cNvSpPr>
            <a:spLocks noGrp="1"/>
          </p:cNvSpPr>
          <p:nvPr>
            <p:ph type="sldNum" sz="quarter" idx="12"/>
          </p:nvPr>
        </p:nvSpPr>
        <p:spPr/>
        <p:txBody>
          <a:bodyPr/>
          <a:lstStyle/>
          <a:p>
            <a:fld id="{2C11977B-EEE1-4D56-A6CE-8035002D8A82}" type="slidenum">
              <a:rPr lang="en-US" smtClean="0">
                <a:latin typeface="Times New Roman"/>
                <a:cs typeface="Times New Roman"/>
              </a:rPr>
              <a:t>11</a:t>
            </a:fld>
            <a:endParaRPr lang="en-US"/>
          </a:p>
        </p:txBody>
      </p:sp>
      <p:sp>
        <p:nvSpPr>
          <p:cNvPr id="9" name="Title">
            <a:extLst>
              <a:ext uri="{FF2B5EF4-FFF2-40B4-BE49-F238E27FC236}">
                <a16:creationId xmlns:a16="http://schemas.microsoft.com/office/drawing/2014/main" id="{7F4D8816-9B85-AB6D-1909-13902986402F}"/>
              </a:ext>
            </a:extLst>
          </p:cNvPr>
          <p:cNvSpPr txBox="1"/>
          <p:nvPr/>
        </p:nvSpPr>
        <p:spPr>
          <a:xfrm>
            <a:off x="548640" y="228600"/>
            <a:ext cx="11091672" cy="603504"/>
          </a:xfrm>
          <a:prstGeom prst="rect">
            <a:avLst/>
          </a:prstGeom>
          <a:noFill/>
        </p:spPr>
        <p:txBody>
          <a:bodyPr wrap="square" lIns="18288" tIns="18288" rIns="18288" bIns="18288" rtlCol="0" anchor="ctr">
            <a:noAutofit/>
          </a:bodyPr>
          <a:lstStyle/>
          <a:p>
            <a:pPr algn="r" rtl="1">
              <a:spcBef>
                <a:spcPts val="0"/>
              </a:spcBef>
              <a:spcAft>
                <a:spcPts val="0"/>
              </a:spcAft>
              <a:buNone/>
            </a:pPr>
            <a:r>
              <a:rPr lang="ar-SY" altLang="en-US" sz="2800" b="1" i="0" dirty="0">
                <a:solidFill>
                  <a:srgbClr val="2F5496"/>
                </a:solidFill>
                <a:latin typeface="Times New Roman"/>
                <a:ea typeface="Times New Roman"/>
                <a:cs typeface="Times New Roman"/>
              </a:rPr>
              <a:t>المراجع</a:t>
            </a:r>
            <a:r>
              <a:rPr lang="en-US" altLang="en-US" sz="2800" b="1" i="0" dirty="0">
                <a:solidFill>
                  <a:srgbClr val="2F5496"/>
                </a:solidFill>
                <a:latin typeface="Times New Roman"/>
                <a:ea typeface="Times New Roman"/>
                <a:cs typeface="Times New Roman"/>
              </a:rPr>
              <a:t>   (References) </a:t>
            </a:r>
            <a:r>
              <a:rPr lang="ar-SA" altLang="en-US" sz="2800" b="1" i="0" dirty="0">
                <a:solidFill>
                  <a:srgbClr val="2F5496"/>
                </a:solidFill>
                <a:latin typeface="Times New Roman"/>
                <a:ea typeface="Times New Roman"/>
                <a:cs typeface="Times New Roman"/>
              </a:rPr>
              <a:t>  </a:t>
            </a:r>
            <a:endParaRPr lang="ar-SY" altLang="en-US" sz="2800" b="1" i="0" dirty="0">
              <a:solidFill>
                <a:srgbClr val="2F5496"/>
              </a:solidFill>
              <a:latin typeface="Times New Roman"/>
              <a:ea typeface="Times New Roman"/>
              <a:cs typeface="Times New Roman"/>
            </a:endParaRPr>
          </a:p>
        </p:txBody>
      </p:sp>
      <p:sp>
        <p:nvSpPr>
          <p:cNvPr id="10" name="References left"/>
          <p:cNvSpPr txBox="1"/>
          <p:nvPr/>
        </p:nvSpPr>
        <p:spPr>
          <a:xfrm>
            <a:off x="548640" y="914400"/>
            <a:ext cx="5486400" cy="5303520"/>
          </a:xfrm>
          <a:prstGeom prst="rect">
            <a:avLst/>
          </a:prstGeom>
          <a:noFill/>
        </p:spPr>
        <p:txBody>
          <a:bodyPr wrap="square" lIns="45720" tIns="27432" rIns="45720" bIns="27432" rtlCol="0" anchor="t">
            <a:noAutofit/>
          </a:bodyPr>
          <a:lstStyle/>
          <a:p>
            <a:pPr algn="l" rtl="0">
              <a:spcBef>
                <a:spcPts val="0"/>
              </a:spcBef>
              <a:spcAft>
                <a:spcPts val="300"/>
              </a:spcAft>
              <a:buNone/>
            </a:pPr>
            <a:r>
              <a:rPr lang="en-US" altLang="en-US" sz="1100" b="1" i="0" dirty="0">
                <a:solidFill>
                  <a:srgbClr val="2F5496"/>
                </a:solidFill>
                <a:latin typeface="Times New Roman"/>
                <a:ea typeface="Times New Roman"/>
                <a:cs typeface="Times New Roman"/>
              </a:rPr>
              <a:t>[1] </a:t>
            </a:r>
            <a:r>
              <a:rPr lang="en-US" altLang="en-US" sz="1100" b="0" i="0" dirty="0">
                <a:solidFill>
                  <a:srgbClr val="1A1A1A"/>
                </a:solidFill>
                <a:latin typeface="Times New Roman"/>
                <a:ea typeface="Times New Roman"/>
                <a:cs typeface="Times New Roman"/>
              </a:rPr>
              <a:t>SurveyMonkey, "SurveyMonkey Audience: supported countries," help.surveymonkey.com,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 </a:t>
            </a:r>
            <a:r>
              <a:rPr lang="en-US" altLang="en-US" sz="1100" b="0" i="0" dirty="0">
                <a:solidFill>
                  <a:srgbClr val="1A1A1A"/>
                </a:solidFill>
                <a:latin typeface="Times New Roman"/>
                <a:ea typeface="Times New Roman"/>
                <a:cs typeface="Times New Roman"/>
              </a:rPr>
              <a:t>Prolific, "Who are the participants on Prolific?," researcher-help.prolific.com,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[3] </a:t>
            </a:r>
            <a:r>
              <a:rPr lang="en-US" altLang="en-US" sz="1100" b="0" i="0" dirty="0">
                <a:solidFill>
                  <a:srgbClr val="1A1A1A"/>
                </a:solidFill>
                <a:latin typeface="Times New Roman"/>
                <a:ea typeface="Times New Roman"/>
                <a:cs typeface="Times New Roman"/>
              </a:rPr>
              <a:t>Pollfish, "Creating a survey in multiple languages," pollfish.com,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[4] </a:t>
            </a:r>
            <a:r>
              <a:rPr lang="en-US" altLang="en-US" sz="1100" b="0" i="0" dirty="0">
                <a:solidFill>
                  <a:srgbClr val="1A1A1A"/>
                </a:solidFill>
                <a:latin typeface="Times New Roman"/>
                <a:ea typeface="Times New Roman"/>
                <a:cs typeface="Times New Roman"/>
              </a:rPr>
              <a:t>R. Pozzar et al., "Threats of bots and other bad actors to data quality following research participant recruitment through social media," J. Med. Internet Res., vol. 22, no. 10, e23021, 2020.</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[5] </a:t>
            </a:r>
            <a:r>
              <a:rPr lang="en-US" altLang="en-US" sz="1100" b="0" i="0" dirty="0">
                <a:solidFill>
                  <a:srgbClr val="1A1A1A"/>
                </a:solidFill>
                <a:latin typeface="Times New Roman"/>
                <a:ea typeface="Times New Roman"/>
                <a:cs typeface="Times New Roman"/>
              </a:rPr>
              <a:t>Google, "Publish &amp; share your form with responders," support.google.com/docs/answer/2839588,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[6] </a:t>
            </a:r>
            <a:r>
              <a:rPr lang="en-US" altLang="en-US" sz="1100" b="0" i="0" dirty="0">
                <a:solidFill>
                  <a:srgbClr val="1A1A1A"/>
                </a:solidFill>
                <a:latin typeface="Times New Roman"/>
                <a:ea typeface="Times New Roman"/>
                <a:cs typeface="Times New Roman"/>
              </a:rPr>
              <a:t>Typeform, "Prevent duplicate responses," help.typeform.com,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[7] </a:t>
            </a:r>
            <a:r>
              <a:rPr lang="en-US" altLang="en-US" sz="1100" b="0" i="0" dirty="0">
                <a:solidFill>
                  <a:srgbClr val="1A1A1A"/>
                </a:solidFill>
                <a:latin typeface="Times New Roman"/>
                <a:ea typeface="Times New Roman"/>
                <a:cs typeface="Times New Roman"/>
              </a:rPr>
              <a:t>SurveyMonkey, "Sentiment analysis," help.surveymonkey.com/en/analyze/sentiment-analysis,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[8] </a:t>
            </a:r>
            <a:r>
              <a:rPr lang="en-US" altLang="en-US" sz="1100" b="0" i="0" dirty="0">
                <a:solidFill>
                  <a:srgbClr val="1A1A1A"/>
                </a:solidFill>
                <a:latin typeface="Times New Roman"/>
                <a:ea typeface="Times New Roman"/>
                <a:cs typeface="Times New Roman"/>
              </a:rPr>
              <a:t>Typeform, "Smart Insights: qualitative and quantitative analysis," help.typeform.com,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[9] </a:t>
            </a:r>
            <a:r>
              <a:rPr lang="en-US" altLang="en-US" sz="1100" b="0" i="0" dirty="0">
                <a:solidFill>
                  <a:srgbClr val="1A1A1A"/>
                </a:solidFill>
                <a:latin typeface="Times New Roman"/>
                <a:ea typeface="Times New Roman"/>
                <a:cs typeface="Times New Roman"/>
              </a:rPr>
              <a:t>Google, "Summarize &amp; analyze responses with Gemini in Google Forms," support.google.com/docs/answer/16231981,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[10] </a:t>
            </a:r>
            <a:r>
              <a:rPr lang="en-US" altLang="en-US" sz="1100" b="0" i="0" dirty="0">
                <a:solidFill>
                  <a:srgbClr val="1A1A1A"/>
                </a:solidFill>
                <a:latin typeface="Times New Roman"/>
                <a:ea typeface="Times New Roman"/>
                <a:cs typeface="Times New Roman"/>
              </a:rPr>
              <a:t>S. Westwood, "The potential existential threat of large language models to online survey research," Proc. Natl. Acad. Sci. U.S.A., 2025, doi: 10.1073/pnas.2518075122.</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[11] </a:t>
            </a:r>
            <a:r>
              <a:rPr lang="en-US" altLang="en-US" sz="1100" b="0" i="0" dirty="0">
                <a:solidFill>
                  <a:srgbClr val="1A1A1A"/>
                </a:solidFill>
                <a:latin typeface="Times New Roman"/>
                <a:ea typeface="Times New Roman"/>
                <a:cs typeface="Times New Roman"/>
              </a:rPr>
              <a:t>E. Peer et al., "Data quality of platforms and panels for online behavioral research," Behav. Res. Methods, vol. 54, no. 4, pp. 1643-1662, 2022.</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[12] </a:t>
            </a:r>
            <a:r>
              <a:rPr lang="en-US" altLang="en-US" sz="1100" b="0" i="0" dirty="0">
                <a:solidFill>
                  <a:srgbClr val="1A1A1A"/>
                </a:solidFill>
                <a:latin typeface="Times New Roman"/>
                <a:ea typeface="Times New Roman"/>
                <a:cs typeface="Times New Roman"/>
              </a:rPr>
              <a:t>M. T. I. Khondaker, A. Waheed, E. M. B. Nagoudi, and M. Abdul-Mageed, "GPTAraEval: A comprehensive evaluation of ChatGPT on Arabic NLP," in Proc. EMNLP, 2023, pp. 220–247.</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[13] </a:t>
            </a:r>
            <a:r>
              <a:rPr lang="en-US" altLang="en-US" sz="1100" b="0" i="0" dirty="0">
                <a:solidFill>
                  <a:srgbClr val="1A1A1A"/>
                </a:solidFill>
                <a:latin typeface="Times New Roman"/>
                <a:ea typeface="Times New Roman"/>
                <a:cs typeface="Times New Roman"/>
              </a:rPr>
              <a:t>I. Abu Farha and W. Magdy, "Benchmarking transformer-based language models for Arabic sentiment and sarcasm detection," in Proc. WANLP, 2021, pp. 21-31.</a:t>
            </a:r>
          </a:p>
        </p:txBody>
      </p:sp>
      <p:sp>
        <p:nvSpPr>
          <p:cNvPr id="11" name="References right"/>
          <p:cNvSpPr txBox="1"/>
          <p:nvPr/>
        </p:nvSpPr>
        <p:spPr>
          <a:xfrm>
            <a:off x="6153912" y="914400"/>
            <a:ext cx="5486400" cy="5303520"/>
          </a:xfrm>
          <a:prstGeom prst="rect">
            <a:avLst/>
          </a:prstGeom>
          <a:noFill/>
        </p:spPr>
        <p:txBody>
          <a:bodyPr wrap="square" lIns="45720" tIns="27432" rIns="45720" bIns="27432" rtlCol="0" anchor="t">
            <a:noAutofit/>
          </a:bodyPr>
          <a:lstStyle/>
          <a:p>
            <a:pPr algn="l" rtl="0">
              <a:spcBef>
                <a:spcPts val="0"/>
              </a:spcBef>
              <a:spcAft>
                <a:spcPts val="300"/>
              </a:spcAft>
              <a:buNone/>
            </a:pPr>
            <a:r>
              <a:rPr lang="en-US" altLang="en-US" sz="1100" b="1" i="0" dirty="0">
                <a:solidFill>
                  <a:srgbClr val="2F5496"/>
                </a:solidFill>
                <a:latin typeface="Times New Roman"/>
                <a:ea typeface="Times New Roman"/>
                <a:cs typeface="Times New Roman"/>
              </a:rPr>
              <a:t>[14] </a:t>
            </a:r>
            <a:r>
              <a:rPr lang="en-US" altLang="en-US" sz="1100" b="0" i="0" dirty="0">
                <a:solidFill>
                  <a:srgbClr val="1A1A1A"/>
                </a:solidFill>
                <a:latin typeface="Times New Roman"/>
                <a:ea typeface="Times New Roman"/>
                <a:cs typeface="Times New Roman"/>
              </a:rPr>
              <a:t>J. A. Lossio-Ventura et al., "A comparison of ChatGPT and fine-tuned OPT against widely used sentiment analysis tools," JMIR Ment. Health, vol. 11, e50150, 2024.</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[15] </a:t>
            </a:r>
            <a:r>
              <a:rPr lang="en-US" altLang="en-US" sz="1100" b="0" i="0" dirty="0">
                <a:solidFill>
                  <a:srgbClr val="1A1A1A"/>
                </a:solidFill>
                <a:latin typeface="Times New Roman"/>
                <a:ea typeface="Times New Roman"/>
                <a:cs typeface="Times New Roman"/>
              </a:rPr>
              <a:t>SurveyMonkey, "SurveyMonkey Audience" (analyze results), help.surveymonkey.com,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[16] </a:t>
            </a:r>
            <a:r>
              <a:rPr lang="en-US" altLang="en-US" sz="1100" b="0" i="0" dirty="0">
                <a:solidFill>
                  <a:srgbClr val="1A1A1A"/>
                </a:solidFill>
                <a:latin typeface="Times New Roman"/>
                <a:ea typeface="Times New Roman"/>
                <a:cs typeface="Times New Roman"/>
              </a:rPr>
              <a:t>Pollfish, "How the Pollfish methodology works," pollfish.com, accessed Oct. 23,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[17] </a:t>
            </a:r>
            <a:r>
              <a:rPr lang="en-US" altLang="en-US" sz="1100" b="0" i="0" dirty="0">
                <a:solidFill>
                  <a:srgbClr val="1A1A1A"/>
                </a:solidFill>
                <a:latin typeface="Times New Roman"/>
                <a:ea typeface="Times New Roman"/>
                <a:cs typeface="Times New Roman"/>
              </a:rPr>
              <a:t>Pollfish, "The Pollfish survey results dashboard," pollfish.com,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[18] </a:t>
            </a:r>
            <a:r>
              <a:rPr lang="en-US" altLang="en-US" sz="1100" b="0" i="0" dirty="0">
                <a:solidFill>
                  <a:srgbClr val="1A1A1A"/>
                </a:solidFill>
                <a:latin typeface="Times New Roman"/>
                <a:ea typeface="Times New Roman"/>
                <a:cs typeface="Times New Roman"/>
              </a:rPr>
              <a:t>ISO/IEC 25010:2023, Systems and software engineering — Product quality model. ISO, 2023.</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[19] </a:t>
            </a:r>
            <a:r>
              <a:rPr lang="en-US" altLang="en-US" sz="1100" b="0" i="0" dirty="0">
                <a:solidFill>
                  <a:srgbClr val="1A1A1A"/>
                </a:solidFill>
                <a:latin typeface="Times New Roman"/>
                <a:ea typeface="Times New Roman"/>
                <a:cs typeface="Times New Roman"/>
              </a:rPr>
              <a:t>Agile Business Consortium, "MoSCoW prioritisation," agilebusiness.org, accessed Oct. 26,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[20] </a:t>
            </a:r>
            <a:r>
              <a:rPr lang="en-US" altLang="en-US" sz="1100" b="0" i="0" dirty="0">
                <a:solidFill>
                  <a:srgbClr val="1A1A1A"/>
                </a:solidFill>
                <a:latin typeface="Times New Roman"/>
                <a:ea typeface="Times New Roman"/>
                <a:cs typeface="Times New Roman"/>
              </a:rPr>
              <a:t>J. Coleman and D. S. Vacanti, The Kanban Guide, May 2025. [Online]. Available: kanbanguides.org</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[21] </a:t>
            </a:r>
            <a:r>
              <a:rPr lang="en-US" altLang="en-US" sz="1100" b="0" i="0" dirty="0">
                <a:solidFill>
                  <a:srgbClr val="1A1A1A"/>
                </a:solidFill>
                <a:latin typeface="Times New Roman"/>
                <a:ea typeface="Times New Roman"/>
                <a:cs typeface="Times New Roman"/>
              </a:rPr>
              <a:t>S. W. Ambler, "Agile Model Driven Development (AMDD)," agilemodeling.com, accessed Oct. 27, 2026.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[22] </a:t>
            </a:r>
            <a:r>
              <a:rPr lang="en-US" altLang="en-US" sz="1100" b="0" i="0" dirty="0">
                <a:solidFill>
                  <a:srgbClr val="1A1A1A"/>
                </a:solidFill>
                <a:latin typeface="Times New Roman"/>
                <a:ea typeface="Times New Roman"/>
                <a:cs typeface="Times New Roman"/>
              </a:rPr>
              <a:t>I. Sommerville, Software Engineering, 10th ed. Pearson, 2016.</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[23] </a:t>
            </a:r>
            <a:r>
              <a:rPr lang="en-US" altLang="en-US" sz="1100" b="0" i="0" dirty="0">
                <a:solidFill>
                  <a:srgbClr val="1A1A1A"/>
                </a:solidFill>
                <a:latin typeface="Times New Roman"/>
                <a:ea typeface="Times New Roman"/>
                <a:cs typeface="Times New Roman"/>
              </a:rPr>
              <a:t>J. Saltz, R. Heckman, and I. Shamshurin, "Exploring how different project management methodologies impact data science students," in Proc. 25th Eur. Conf. Inf. Syst. (ECIS), 2017, pp. 2939–2948.</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[24] </a:t>
            </a:r>
            <a:r>
              <a:rPr lang="en-US" altLang="en-US" sz="1100" b="0" i="0" dirty="0">
                <a:solidFill>
                  <a:srgbClr val="1A1A1A"/>
                </a:solidFill>
                <a:latin typeface="Times New Roman"/>
                <a:ea typeface="Times New Roman"/>
                <a:cs typeface="Times New Roman"/>
              </a:rPr>
              <a:t>M. Fowler, Patterns of Enterprise Application Architecture. Addison-Wesley, 2002.</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[25] </a:t>
            </a:r>
            <a:r>
              <a:rPr lang="en-US" altLang="en-US" sz="1100" b="0" i="0" dirty="0">
                <a:solidFill>
                  <a:srgbClr val="1A1A1A"/>
                </a:solidFill>
                <a:latin typeface="Times New Roman"/>
                <a:ea typeface="Times New Roman"/>
                <a:cs typeface="Times New Roman"/>
              </a:rPr>
              <a:t>R. T. Fielding, "Architectural styles and the design of network-based software architectures," Ph.D. dissertation, Univ. of California, Irvine, 2000.</a:t>
            </a:r>
          </a:p>
          <a:p>
            <a:pPr algn="l" rtl="0">
              <a:spcBef>
                <a:spcPts val="0"/>
              </a:spcBef>
              <a:spcAft>
                <a:spcPts val="300"/>
              </a:spcAft>
              <a:buNone/>
            </a:pPr>
            <a:r>
              <a:rPr lang="en-US" altLang="en-US" sz="1100" b="1" i="0" dirty="0">
                <a:solidFill>
                  <a:srgbClr val="2F5496"/>
                </a:solidFill>
                <a:latin typeface="Times New Roman"/>
                <a:ea typeface="Times New Roman"/>
                <a:cs typeface="Times New Roman"/>
              </a:rPr>
              <a:t>[26] </a:t>
            </a:r>
            <a:r>
              <a:rPr lang="en-US" altLang="en-US" sz="1100" b="0" i="0" dirty="0">
                <a:solidFill>
                  <a:srgbClr val="1A1A1A"/>
                </a:solidFill>
                <a:latin typeface="Times New Roman"/>
                <a:ea typeface="Times New Roman"/>
                <a:cs typeface="Times New Roman"/>
              </a:rPr>
              <a:t>Django Software Foundation, "FAQ: General" (MTV pattern), docs.djangoproject.com, accessed Oct. 24, 2026.</a:t>
            </a:r>
          </a:p>
        </p:txBody>
      </p:sp>
    </p:spTree>
    <p:extLst>
      <p:ext uri="{BB962C8B-B14F-4D97-AF65-F5344CB8AC3E}">
        <p14:creationId xmlns:p14="http://schemas.microsoft.com/office/powerpoint/2010/main" val="34737330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301</TotalTime>
  <Words>3569</Words>
  <Application>Microsoft Office PowerPoint</Application>
  <PresentationFormat>شاشة عريضة</PresentationFormat>
  <Paragraphs>449</Paragraphs>
  <Slides>11</Slides>
  <Notes>11</Notes>
  <HiddenSlides>0</HiddenSlides>
  <MMClips>0</MMClips>
  <ScaleCrop>false</ScaleCrop>
  <HeadingPairs>
    <vt:vector size="6" baseType="variant">
      <vt:variant>
        <vt:lpstr>الخطوط المستخدمة</vt:lpstr>
      </vt:variant>
      <vt:variant>
        <vt:i4>4</vt:i4>
      </vt:variant>
      <vt:variant>
        <vt:lpstr>نسق</vt:lpstr>
      </vt:variant>
      <vt:variant>
        <vt:i4>1</vt:i4>
      </vt:variant>
      <vt:variant>
        <vt:lpstr>عناوين الشرائح</vt:lpstr>
      </vt:variant>
      <vt:variant>
        <vt:i4>11</vt:i4>
      </vt:variant>
    </vt:vector>
  </HeadingPairs>
  <TitlesOfParts>
    <vt:vector size="16" baseType="lpstr">
      <vt:lpstr>Arial</vt:lpstr>
      <vt:lpstr>Calibri</vt:lpstr>
      <vt:lpstr>Calibri Light</vt:lpstr>
      <vt:lpstr>Times New Roman</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عرض تقديمي في PowerPoint</dc:title>
  <dc:creator>akram massouh</dc:creator>
  <cp:lastModifiedBy>YAMAN BASAM</cp:lastModifiedBy>
  <cp:revision>16</cp:revision>
  <dcterms:created xsi:type="dcterms:W3CDTF">2026-10-17T18:22:22Z</dcterms:created>
  <dcterms:modified xsi:type="dcterms:W3CDTF">2026-10-29T12:18:18Z</dcterms:modified>
</cp:coreProperties>
</file>