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D380A-B25C-4554-9D12-6A864851EAA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53628-D422-490A-B670-D481D4DAF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تقديم الفريق والمشرفين وعنوان المشروع. (15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لماذا</a:t>
            </a:r>
            <a:r>
              <a:rPr dirty="0"/>
              <a:t> </a:t>
            </a:r>
            <a:r>
              <a:rPr dirty="0" err="1"/>
              <a:t>المشروع</a:t>
            </a:r>
            <a:r>
              <a:rPr dirty="0"/>
              <a:t>؟ </a:t>
            </a:r>
            <a:r>
              <a:rPr dirty="0" err="1"/>
              <a:t>ثلاث</a:t>
            </a:r>
            <a:r>
              <a:rPr dirty="0"/>
              <a:t> </a:t>
            </a:r>
            <a:r>
              <a:rPr dirty="0" err="1"/>
              <a:t>فجوات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الدراسة</a:t>
            </a:r>
            <a:r>
              <a:rPr dirty="0"/>
              <a:t> </a:t>
            </a:r>
            <a:r>
              <a:rPr dirty="0" err="1"/>
              <a:t>المرجعية</a:t>
            </a:r>
            <a:r>
              <a:rPr dirty="0"/>
              <a:t>. </a:t>
            </a:r>
            <a:r>
              <a:rPr dirty="0" err="1"/>
              <a:t>ثم</a:t>
            </a:r>
            <a:r>
              <a:rPr dirty="0"/>
              <a:t> </a:t>
            </a:r>
            <a:r>
              <a:rPr dirty="0" err="1"/>
              <a:t>الهدف</a:t>
            </a:r>
            <a:r>
              <a:rPr dirty="0"/>
              <a:t> </a:t>
            </a:r>
            <a:r>
              <a:rPr dirty="0" err="1"/>
              <a:t>الرئيسي</a:t>
            </a:r>
            <a:r>
              <a:rPr dirty="0"/>
              <a:t> </a:t>
            </a:r>
            <a:r>
              <a:rPr dirty="0" err="1"/>
              <a:t>وخمسة</a:t>
            </a:r>
            <a:r>
              <a:rPr dirty="0"/>
              <a:t> </a:t>
            </a:r>
            <a:r>
              <a:rPr dirty="0" err="1"/>
              <a:t>أهداف</a:t>
            </a:r>
            <a:r>
              <a:rPr dirty="0"/>
              <a:t> </a:t>
            </a:r>
            <a:r>
              <a:rPr dirty="0" err="1"/>
              <a:t>قابلة</a:t>
            </a:r>
            <a:r>
              <a:rPr dirty="0"/>
              <a:t> </a:t>
            </a:r>
            <a:r>
              <a:rPr dirty="0" err="1"/>
              <a:t>للقياس</a:t>
            </a:r>
            <a:r>
              <a:rPr dirty="0"/>
              <a:t>. </a:t>
            </a:r>
            <a:r>
              <a:rPr dirty="0" err="1"/>
              <a:t>لا</a:t>
            </a:r>
            <a:r>
              <a:rPr dirty="0"/>
              <a:t> </a:t>
            </a:r>
            <a:r>
              <a:rPr dirty="0" err="1"/>
              <a:t>نعد</a:t>
            </a:r>
            <a:r>
              <a:rPr dirty="0"/>
              <a:t> </a:t>
            </a:r>
            <a:r>
              <a:rPr dirty="0" err="1"/>
              <a:t>برقم</a:t>
            </a:r>
            <a:r>
              <a:rPr dirty="0"/>
              <a:t> </a:t>
            </a:r>
            <a:r>
              <a:rPr dirty="0" err="1"/>
              <a:t>دقة</a:t>
            </a:r>
            <a:r>
              <a:rPr dirty="0"/>
              <a:t> </a:t>
            </a:r>
            <a:r>
              <a:rPr dirty="0" err="1"/>
              <a:t>للنموذج</a:t>
            </a:r>
            <a:r>
              <a:rPr dirty="0"/>
              <a:t>: </a:t>
            </a:r>
            <a:r>
              <a:rPr dirty="0" err="1"/>
              <a:t>الرقم</a:t>
            </a:r>
            <a:r>
              <a:rPr dirty="0"/>
              <a:t> </a:t>
            </a:r>
            <a:r>
              <a:rPr dirty="0" err="1"/>
              <a:t>يُحدد</a:t>
            </a:r>
            <a:r>
              <a:rPr dirty="0"/>
              <a:t> </a:t>
            </a:r>
            <a:r>
              <a:rPr dirty="0" err="1"/>
              <a:t>بعد</a:t>
            </a:r>
            <a:r>
              <a:rPr dirty="0"/>
              <a:t> </a:t>
            </a:r>
            <a:r>
              <a:rPr dirty="0" err="1"/>
              <a:t>التقييم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السيمينار</a:t>
            </a:r>
            <a:r>
              <a:rPr dirty="0"/>
              <a:t> </a:t>
            </a:r>
            <a:r>
              <a:rPr dirty="0" err="1"/>
              <a:t>الثاني</a:t>
            </a:r>
            <a:r>
              <a:rPr dirty="0"/>
              <a:t>. (60 </a:t>
            </a:r>
            <a:r>
              <a:rPr dirty="0" err="1"/>
              <a:t>ثانية</a:t>
            </a:r>
            <a:r>
              <a:rPr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V1.0 هو أساس العمل. في Iteration 0 بنينا Prototype معمارياً لتقليل خطر Flutter. عدد اختبارات الخادم: ضعوا الرقم الدقيق من آخر تشغيل في CI. (60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ست دراسات من 2020 إلى 2024: ثلاث عن جودة الإجابات وثلاث عن تحليل المشاعر العربية. كل دراسة انتهت بقرار تصميمي في منصتنا. (60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ثلاث أدوات بناء (Builders) وثلاث لوحات مستجيبين (Panels). صف Smart Survey مخطط له وليس منجزاً. تحليل المشاعر موجود عند المنافسين لكنه مدفوع، و Typeform تحصره بالإنجليزية، والبقية لا تذكر العربية. (60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يميناً: ماذا يفعل النظام في V1.0 وتخرج 1 بست جمل. يساراً: سبع خصائص جودة من معيار ISO/IEC 25010:2023، كل منها قابل للقياس. (60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عشرون متطلباً وافق عليها المشرف، مرقمة حسب الأولوية. لا نقرأ الجدول: نذكر الخمسة الضرورية (Must)، والثلاثة التي تثبت الفكرة (★). متطلبات Could آخر ما يُنفذ، وأول ما يُعاد النقاش فيه مع المشرف إذا ضاق الوقت. (75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تكراري (Iterative): نعيد ونحسّن بعد ملاحظات المشرف. تزايدي (Incremental): كل Sprint يضيف جزءاً يعمل. المخططات (Sequence، Activity، Class، ERD، State Machine) تُرسم في مرحلة Design من كل Sprint وتُوثق في التقرير وعلى GitHub. (75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ثلاث Tiers فيزيائية (Client، Application، Data) وثلاث Layers منطقية داخل الخادم حسب Fowler: Presentation و Business و Data Access. Repository و Service Layer و Gateway أنماط تصميم داخل الطبقات، لا طبقات. نماذج Django تتبع Active Record فتستخدمها طبقتا Business و Data Access. تحقّقنا من الكود: الـ Views لا تستدعي Repositories ولا ORM مباشرة. Sentiment Analysis يجري بعد حفظ الإجابة (NFR-01). (75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خمسة Sprints بعد Iteration 0، كل منها يبدأ بـ Design وينتهي بمراجعة مع المشرف. متطلبات Must في Sprint 1 و Sprint 2 لأنها الأعلى خطراً. التقرير يُكتب مع كل Sprint لا في النهاية. (60 ثانية)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المراجع مرقمة بأسلوب IEEE حسب أول ظهور في الشرائح.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F2E77-788A-9C1E-A253-E519B641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4A005-A4AE-48B5-9B72-AC59F9D0C9F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8E3-ED2D-6826-7063-38EB889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61BF-6988-026C-DC94-2566B9B7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2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47E8-ECBE-386A-59D3-99FCD9C8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C658-EDE0-BA68-5E59-5A8AE19B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B6D6-EA20-5153-F9E6-69BE378D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1D80-E922-4C56-BACD-EEFC21DCFF81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8551-6A6D-0059-4C2D-C744DB80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FA687-E925-6CDC-8C7E-7C88CD08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9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5B58-257B-3360-2D4E-3A189798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B5218-484E-2B62-9425-B97EE0F44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02CB-4614-0299-EDD5-8B440101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454-2FB9-4C8F-B182-7B2E5743343C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11BC-DD39-8C40-2266-8449E8E2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50166-28D8-2DDD-636F-FD317779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6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72B2-850D-2F4C-6716-85D5B2D7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00FC-42E7-C5BA-C8AC-E0FEED1D1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F8609-C937-CBCC-AEB9-BF37DF681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492CB-5016-8804-EC3D-0E23BC9D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650C-01B7-4756-A73F-6F4EA1E5431E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2CA0-62A7-3F15-B164-0AEED10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D77B4-97C3-0109-492A-4CB1B065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0D8A-FA99-1027-FEC9-8FDFF36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42391-9774-2E4C-C170-3FE9774B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1A0E3-5607-927A-7181-9A807B9F4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8725F-934A-682D-D056-CDE6C388B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43AAD-ACFD-0BD4-4A71-BA3ECBF99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2CC47-F10F-8A91-81CA-F3A85726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1D95-9BF9-4CE1-A0EA-90FF297D19D0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C06B0-830C-FBEE-FECE-C6406EF9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B5166-40BA-5202-2D38-1BA48B8A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2DB-965F-D567-974C-4831D027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18B86-2CE2-5395-B958-F12A1003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0EBF-8A8A-40F0-86A7-7286F440E0F3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887C2-51F3-E8A5-28C0-2C405A4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BC180-A612-3483-A0E1-6AB31CA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2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F26E7-965A-6AC1-351E-3BF6ACBD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7337-48F7-4AF7-9A31-C231AA9DABEB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F3A08-7728-7EE4-12FE-99584A0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E605-1894-7F38-96D7-5711BA10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D52C-F553-7253-3DE6-B294241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EE6A-61D8-D2C7-AC2A-BAD820BA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4D0E1-40CD-A415-635E-7B576877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D09A8-16DE-895E-2FE5-490F44A7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0AB9-8616-4B55-B544-8181381708AB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1FF2-B792-3CF2-49A0-9DAB422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FA9E5-F4BF-CDB1-5103-4CD6FA63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2051-2331-215D-2FDD-370D7A88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0711D-48C9-0C54-AC74-04A3AAD45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EC347-4A26-72BD-E2FC-29DFEC1F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5EAAE-4733-3414-1943-04DD07D9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D518-531C-4414-B657-2CD37CCA6B63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3DCB-8125-80EF-6294-84DE2F5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398A8-CDCE-094C-42A2-3D874E3B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48C1-0408-D8AF-69A2-588425BC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A3F95-D448-1D26-F510-A0FB77EC6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9917-0033-D989-92E8-CE98F113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7074-5979-461C-BB0D-F24AD7AEA7D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0D59D-1B12-2463-BE4C-9D8702C2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DA28-4071-592C-92AE-FA0CA34D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84654F-0ECF-8954-9B9E-9F199056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3D16A-A760-D48C-1E66-0E3F9C8F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E059-1E45-81B2-2FD4-F090248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A7B2-F8F1-4C99-9A58-0619E9B4236C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B7F42-4E93-CA7A-A3D6-1E12EACC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4C34D-6493-F571-4B38-C06CB99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C9861-6315-7D19-1FC2-C18236A74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EFFF-1B3C-0223-E81F-FF7E22B49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9D6D-05BC-2BD6-8D4D-8631CA54E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F99F-ECCB-4E1D-B4DE-BB12197DD00B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9DBC-854C-A039-E3A7-5A146D3F6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LB"/>
              <a:t>مشروع فصلي....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5C828-C825-6DB3-1130-384DF2FB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1977B-EEE1-4D56-A6CE-8035002D8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8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7FEE-FA9B-4752-4823-C4FB293F8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86990-713E-6624-3539-F3498672D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66B69-87F5-E43F-D7AA-28CC8FE5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1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43F25-156B-0F51-78BE-D80EA42C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23306673" cy="78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" descr="SPU.png">
            <a:extLst>
              <a:ext uri="{FF2B5EF4-FFF2-40B4-BE49-F238E27FC236}">
                <a16:creationId xmlns:a16="http://schemas.microsoft.com/office/drawing/2014/main" id="{6838853A-A59D-CC41-A6E7-6C8A67561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92356"/>
            <a:ext cx="1878398" cy="99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0AFF7F-9518-8FB1-FD33-81E9381B82A4}"/>
              </a:ext>
            </a:extLst>
          </p:cNvPr>
          <p:cNvSpPr txBox="1"/>
          <p:nvPr/>
        </p:nvSpPr>
        <p:spPr>
          <a:xfrm>
            <a:off x="6807015" y="729510"/>
            <a:ext cx="4846320" cy="8229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0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كلية هندسة الذكاء الاصطناعي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0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قسم هندسة البرمجيات ونظم المعلومات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4D123-0AC8-2EF9-C2A1-57BE096CA81B}"/>
              </a:ext>
            </a:extLst>
          </p:cNvPr>
          <p:cNvSpPr txBox="1"/>
          <p:nvPr/>
        </p:nvSpPr>
        <p:spPr>
          <a:xfrm>
            <a:off x="1737360" y="1920240"/>
            <a:ext cx="8686800" cy="123444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40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منصة </a:t>
            </a:r>
            <a:r>
              <a:rPr lang="ar-SA" altLang="en-US" sz="40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استبيانات الآراء</a:t>
            </a:r>
            <a:r>
              <a:rPr lang="ar-SY" altLang="en-US" sz="40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الذكية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0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Smart Survey 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88F4C9-AB38-D55C-DB49-C51BEA5307B8}"/>
              </a:ext>
            </a:extLst>
          </p:cNvPr>
          <p:cNvSpPr txBox="1"/>
          <p:nvPr/>
        </p:nvSpPr>
        <p:spPr>
          <a:xfrm>
            <a:off x="1737360" y="3291840"/>
            <a:ext cx="8686800" cy="28346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ar-SY" altLang="en-US" sz="20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إعداد الطلاب</a:t>
            </a:r>
          </a:p>
          <a:p>
            <a:pPr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ar-SY" altLang="en-US" sz="20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يمان المطر          يوسف الزعبي          حسن يحيى</a:t>
            </a:r>
          </a:p>
          <a:p>
            <a:pPr algn="ct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ar-SY" altLang="en-US" sz="20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إشـراف</a:t>
            </a:r>
          </a:p>
          <a:p>
            <a:pPr algn="ctr" rtl="1">
              <a:spcBef>
                <a:spcPts val="0"/>
              </a:spcBef>
              <a:spcAft>
                <a:spcPts val="1600"/>
              </a:spcAft>
              <a:buNone/>
            </a:pPr>
            <a:r>
              <a:rPr lang="ar-SY" altLang="en-US" sz="20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م. شادي بليدي          م. محمد عامر خورشيد</a:t>
            </a:r>
          </a:p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— </a:t>
            </a:r>
            <a:r>
              <a:rPr lang="ar-SY" altLang="en-US" sz="1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السيمينار الأول — نوفمبر</a:t>
            </a:r>
            <a:r>
              <a:rPr lang="en-US" altLang="en-US" sz="1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2026 </a:t>
            </a:r>
            <a:endParaRPr lang="ar-SY" altLang="en-US" sz="1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486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E7FC2-E2D6-AA88-BA76-78269905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C0DA9-B68A-02B5-F06B-4E1F163F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E9A2F-3005-24AC-8E5D-EB352139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2</a:t>
            </a:fld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4C4FC31A-9169-D8D3-0832-75487FE0E92E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أهمية المشروع وأهدافه</a:t>
            </a:r>
          </a:p>
        </p:txBody>
      </p:sp>
      <p:sp>
        <p:nvSpPr>
          <p:cNvPr id="9" name="Importance heading"/>
          <p:cNvSpPr txBox="1"/>
          <p:nvPr/>
        </p:nvSpPr>
        <p:spPr>
          <a:xfrm>
            <a:off x="6355080" y="960120"/>
            <a:ext cx="5285232" cy="4114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0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أهمية المشروع</a:t>
            </a:r>
          </a:p>
        </p:txBody>
      </p:sp>
      <p:sp>
        <p:nvSpPr>
          <p:cNvPr id="10" name="Importance card 1"/>
          <p:cNvSpPr/>
          <p:nvPr/>
        </p:nvSpPr>
        <p:spPr>
          <a:xfrm>
            <a:off x="6355080" y="1463040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777240" bIns="54864" rtlCol="0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لا توجد لوحة مستجيبين تخدم سوريا: 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SurveyMonkey Audience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Prolific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لا تُدرجانها، 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Pollfish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لا تدعم العربية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[1][2][3]</a:t>
            </a:r>
            <a:endParaRPr lang="ar-SY" altLang="en-US" sz="16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Importance number 1"/>
          <p:cNvSpPr/>
          <p:nvPr/>
        </p:nvSpPr>
        <p:spPr>
          <a:xfrm>
            <a:off x="11000232" y="1920240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ar-SY" altLang="en-US" sz="20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Importance card 2"/>
          <p:cNvSpPr/>
          <p:nvPr/>
        </p:nvSpPr>
        <p:spPr>
          <a:xfrm>
            <a:off x="6355080" y="3017520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777240" bIns="54864" rtlCol="0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أدوات البناء لا تستهدف المستجيبين، وفحص الجودة فيها طبقة واحدة: 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‎94.5%‎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من إجابات رابط مفتوح كانت احتيالية رغم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CAPTCHA</a:t>
            </a:r>
            <a:r>
              <a:rPr lang="ar-SA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[6][5][4]</a:t>
            </a:r>
            <a:endParaRPr lang="ar-SY" altLang="en-US" sz="12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Importance number 2"/>
          <p:cNvSpPr/>
          <p:nvPr/>
        </p:nvSpPr>
        <p:spPr>
          <a:xfrm>
            <a:off x="11000232" y="3474720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ar-SY" altLang="en-US" sz="20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Importance card 3"/>
          <p:cNvSpPr/>
          <p:nvPr/>
        </p:nvSpPr>
        <p:spPr>
          <a:xfrm>
            <a:off x="6355080" y="4572000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777240" bIns="54864" rtlCol="0" anchor="ctr">
            <a:no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تحليل المشاعر مدفوع وبالإنجليزية غالباً: 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600" b="0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Typeform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للإنجليزية فقط، 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SurveyMonkey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Google Forms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في خطط مدفوعة دون ذكر العربية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</a:t>
            </a:r>
            <a:r>
              <a:rPr lang="en-US" alt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][8][7] </a:t>
            </a:r>
            <a:endParaRPr lang="ar-SY" altLang="en-US" sz="16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Importance number 3"/>
          <p:cNvSpPr/>
          <p:nvPr/>
        </p:nvSpPr>
        <p:spPr>
          <a:xfrm>
            <a:off x="11000232" y="5029200"/>
            <a:ext cx="502920" cy="502920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ar-SY" altLang="en-US" sz="20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Goals heading"/>
          <p:cNvSpPr txBox="1"/>
          <p:nvPr/>
        </p:nvSpPr>
        <p:spPr>
          <a:xfrm>
            <a:off x="548640" y="960120"/>
            <a:ext cx="5532120" cy="4114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0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الأهداف</a:t>
            </a:r>
          </a:p>
        </p:txBody>
      </p:sp>
      <p:sp>
        <p:nvSpPr>
          <p:cNvPr id="17" name="Main goal"/>
          <p:cNvSpPr/>
          <p:nvPr/>
        </p:nvSpPr>
        <p:spPr>
          <a:xfrm>
            <a:off x="548640" y="146304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73152" rIns="164592" bIns="73152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300"/>
              </a:spcAft>
              <a:buNone/>
            </a:pPr>
            <a:r>
              <a:rPr lang="ar-SY" altLang="en-US" sz="16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الهدف الرئيسي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بناء منصة استبيانات توصل كل استبيان إلى المستجيبين المناسبين، وتكشف الإجابات منخفضة الجودة، وتحلل مشاعر الإجابات المفتوحة — بنهاية تخرج</a:t>
            </a:r>
            <a:r>
              <a:rPr lang="en-US" altLang="en-US"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1 )</a:t>
            </a:r>
            <a:r>
              <a:rPr lang="ar-SY" altLang="en-US"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يناير</a:t>
            </a:r>
            <a:r>
              <a:rPr lang="en-US" altLang="en-US"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2027 </a:t>
            </a:r>
            <a:r>
              <a:rPr lang="en-US" altLang="en-US" sz="16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(</a:t>
            </a:r>
            <a:endParaRPr lang="ar-SY" altLang="en-US" sz="1600" b="0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Sub goals"/>
          <p:cNvSpPr/>
          <p:nvPr/>
        </p:nvSpPr>
        <p:spPr>
          <a:xfrm>
            <a:off x="548640" y="3017520"/>
            <a:ext cx="55321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54864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الأهداف الفرعية</a:t>
            </a:r>
          </a:p>
          <a:p>
            <a:pPr marL="228600" indent="-228600" algn="r" rtl="1">
              <a:spcBef>
                <a:spcPts val="0"/>
              </a:spcBef>
              <a:spcAft>
                <a:spcPts val="5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تطبيق جوال للمستجيب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(Flutter) </a:t>
            </a: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يغطي التسجيل والملف الديموغرافي والإجابة</a:t>
            </a:r>
          </a:p>
          <a:p>
            <a:pPr marL="228600" indent="-228600" algn="r" rtl="1">
              <a:spcBef>
                <a:spcPts val="0"/>
              </a:spcBef>
              <a:spcAft>
                <a:spcPts val="5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استهداف بالملف الموسّع مع عرض عدد المؤهلين قبل النشر</a:t>
            </a:r>
          </a:p>
          <a:p>
            <a:pPr marL="228600" indent="-228600" algn="r" rtl="1">
              <a:spcBef>
                <a:spcPts val="0"/>
              </a:spcBef>
              <a:spcAft>
                <a:spcPts val="5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محرك جودة يسِم الإجابات المشبوهة ولا يحذفها</a:t>
            </a:r>
          </a:p>
          <a:p>
            <a:pPr marL="228600" indent="-228600" algn="r" rtl="1">
              <a:spcBef>
                <a:spcPts val="0"/>
              </a:spcBef>
              <a:spcAft>
                <a:spcPts val="5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اختيار نموذج تحليل المشاعر بمقياس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macro‑F1 </a:t>
            </a: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بعد مقارنة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4 </a:t>
            </a: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نماذج على الأقل</a:t>
            </a:r>
          </a:p>
          <a:p>
            <a:pPr marL="228600" indent="-228600" algn="r" rtl="1">
              <a:spcBef>
                <a:spcPts val="0"/>
              </a:spcBef>
              <a:spcAft>
                <a:spcPts val="5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استجابة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‎95%‎ </a:t>
            </a: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 طلبات الـ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API </a:t>
            </a:r>
            <a:r>
              <a:rPr lang="ar-SY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في أقل من ثانيتين</a:t>
            </a:r>
            <a:r>
              <a:rPr lang="ar-SA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5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(NFR-01)</a:t>
            </a:r>
            <a:endParaRPr lang="ar-SY" altLang="en-US" sz="15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356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68343A48-9918-5396-9D36-75CC176E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46" name="Footer Placeholder 4">
            <a:extLst>
              <a:ext uri="{FF2B5EF4-FFF2-40B4-BE49-F238E27FC236}">
                <a16:creationId xmlns:a16="http://schemas.microsoft.com/office/drawing/2014/main" id="{3E825D1B-E64B-FFA8-9DB9-ABB55D25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C96E1AB9-B9B1-F1C3-6379-716EDAE1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3</a:t>
            </a:fld>
            <a:endParaRPr lang="en-US"/>
          </a:p>
        </p:txBody>
      </p:sp>
      <p:sp>
        <p:nvSpPr>
          <p:cNvPr id="48" name="Title">
            <a:extLst>
              <a:ext uri="{FF2B5EF4-FFF2-40B4-BE49-F238E27FC236}">
                <a16:creationId xmlns:a16="http://schemas.microsoft.com/office/drawing/2014/main" id="{889AB346-5256-0E50-32AC-C2D853342130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المراحل المنفذة سابقاً — المشروع الفصلي</a:t>
            </a:r>
            <a:r>
              <a:rPr lang="ar-SA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(V1.0)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Subtitle">
            <a:extLst>
              <a:ext uri="{FF2B5EF4-FFF2-40B4-BE49-F238E27FC236}">
                <a16:creationId xmlns:a16="http://schemas.microsoft.com/office/drawing/2014/main" id="{535E1CE0-6B38-F493-3766-AFD2F44C9F32}"/>
              </a:ext>
            </a:extLst>
          </p:cNvPr>
          <p:cNvSpPr txBox="1"/>
          <p:nvPr/>
        </p:nvSpPr>
        <p:spPr>
          <a:xfrm>
            <a:off x="548640" y="822960"/>
            <a:ext cx="11091672" cy="3291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Smart Opinion Survey Platform</a:t>
            </a:r>
            <a:r>
              <a:rPr lang="en-US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من</a:t>
            </a:r>
            <a:r>
              <a:rPr lang="en-US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lang="ar-SY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مارس إلى</a:t>
            </a:r>
            <a:r>
              <a:rPr lang="en-US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11 </a:t>
            </a:r>
            <a:r>
              <a:rPr lang="ar-SY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مايو</a:t>
            </a:r>
            <a:r>
              <a:rPr lang="en-US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2026  —  </a:t>
            </a:r>
            <a:r>
              <a:rPr lang="ar-SY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منهجية</a:t>
            </a:r>
            <a:r>
              <a:rPr lang="en-US" altLang="en-US" sz="14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Agile Iterative &amp; Incremental </a:t>
            </a:r>
            <a:endParaRPr lang="ar-SY" altLang="en-US" sz="14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Sprint head 0">
            <a:extLst>
              <a:ext uri="{FF2B5EF4-FFF2-40B4-BE49-F238E27FC236}">
                <a16:creationId xmlns:a16="http://schemas.microsoft.com/office/drawing/2014/main" id="{7250BB2C-D69C-BC08-E664-18D61DBF1BE9}"/>
              </a:ext>
            </a:extLst>
          </p:cNvPr>
          <p:cNvSpPr/>
          <p:nvPr/>
        </p:nvSpPr>
        <p:spPr>
          <a:xfrm>
            <a:off x="9528048" y="1261872"/>
            <a:ext cx="2112264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Sprint 0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DCE6F5"/>
                </a:solidFill>
                <a:latin typeface="Times New Roman"/>
                <a:ea typeface="Times New Roman"/>
                <a:cs typeface="Times New Roman"/>
              </a:rPr>
              <a:t>1/3 – 10/3 2026</a:t>
            </a:r>
          </a:p>
        </p:txBody>
      </p:sp>
      <p:sp>
        <p:nvSpPr>
          <p:cNvPr id="51" name="Sprint body 0">
            <a:extLst>
              <a:ext uri="{FF2B5EF4-FFF2-40B4-BE49-F238E27FC236}">
                <a16:creationId xmlns:a16="http://schemas.microsoft.com/office/drawing/2014/main" id="{1F054096-B738-78E8-8D6B-0FF1628DEF24}"/>
              </a:ext>
            </a:extLst>
          </p:cNvPr>
          <p:cNvSpPr/>
          <p:nvPr/>
        </p:nvSpPr>
        <p:spPr>
          <a:xfrm>
            <a:off x="9528048" y="1828800"/>
            <a:ext cx="2112264" cy="1261872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Requirements &amp; Design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MVP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Product Backlog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SRS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أولي و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Use Cases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Architecture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ERD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Sprint arrow 0">
            <a:extLst>
              <a:ext uri="{FF2B5EF4-FFF2-40B4-BE49-F238E27FC236}">
                <a16:creationId xmlns:a16="http://schemas.microsoft.com/office/drawing/2014/main" id="{FD1A67F2-FEB8-4626-FD23-0EFF4ABF2B1C}"/>
              </a:ext>
            </a:extLst>
          </p:cNvPr>
          <p:cNvCxnSpPr/>
          <p:nvPr/>
        </p:nvCxnSpPr>
        <p:spPr>
          <a:xfrm flipH="1">
            <a:off x="9400032" y="1545336"/>
            <a:ext cx="123444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print head 1">
            <a:extLst>
              <a:ext uri="{FF2B5EF4-FFF2-40B4-BE49-F238E27FC236}">
                <a16:creationId xmlns:a16="http://schemas.microsoft.com/office/drawing/2014/main" id="{3628A1FE-2E5A-2912-4057-E4EA903328A5}"/>
              </a:ext>
            </a:extLst>
          </p:cNvPr>
          <p:cNvSpPr/>
          <p:nvPr/>
        </p:nvSpPr>
        <p:spPr>
          <a:xfrm>
            <a:off x="7283196" y="1261872"/>
            <a:ext cx="2112264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Sprint 1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DCE6F5"/>
                </a:solidFill>
                <a:latin typeface="Times New Roman"/>
                <a:ea typeface="Times New Roman"/>
                <a:cs typeface="Times New Roman"/>
              </a:rPr>
              <a:t>11/3 – 24/3 2026</a:t>
            </a:r>
          </a:p>
        </p:txBody>
      </p:sp>
      <p:sp>
        <p:nvSpPr>
          <p:cNvPr id="54" name="Sprint body 1">
            <a:extLst>
              <a:ext uri="{FF2B5EF4-FFF2-40B4-BE49-F238E27FC236}">
                <a16:creationId xmlns:a16="http://schemas.microsoft.com/office/drawing/2014/main" id="{FB3DE4A8-C9D0-AF9B-A6FD-9141E5FC1DA8}"/>
              </a:ext>
            </a:extLst>
          </p:cNvPr>
          <p:cNvSpPr/>
          <p:nvPr/>
        </p:nvSpPr>
        <p:spPr>
          <a:xfrm>
            <a:off x="7283196" y="1828800"/>
            <a:ext cx="2112264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Identity &amp; Profile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Registration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Login 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Role-based Access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الملف الديموغرافي وقاعدة البيانات</a:t>
            </a:r>
          </a:p>
        </p:txBody>
      </p:sp>
      <p:cxnSp>
        <p:nvCxnSpPr>
          <p:cNvPr id="55" name="Sprint arrow 1">
            <a:extLst>
              <a:ext uri="{FF2B5EF4-FFF2-40B4-BE49-F238E27FC236}">
                <a16:creationId xmlns:a16="http://schemas.microsoft.com/office/drawing/2014/main" id="{57EE2177-670D-6553-2117-356C5C4E7057}"/>
              </a:ext>
            </a:extLst>
          </p:cNvPr>
          <p:cNvCxnSpPr/>
          <p:nvPr/>
        </p:nvCxnSpPr>
        <p:spPr>
          <a:xfrm flipH="1">
            <a:off x="7155180" y="1545336"/>
            <a:ext cx="123444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print head 2">
            <a:extLst>
              <a:ext uri="{FF2B5EF4-FFF2-40B4-BE49-F238E27FC236}">
                <a16:creationId xmlns:a16="http://schemas.microsoft.com/office/drawing/2014/main" id="{459760E7-1180-EC01-FD34-FF3DCC78DAE6}"/>
              </a:ext>
            </a:extLst>
          </p:cNvPr>
          <p:cNvSpPr/>
          <p:nvPr/>
        </p:nvSpPr>
        <p:spPr>
          <a:xfrm>
            <a:off x="5038344" y="1261872"/>
            <a:ext cx="2112264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Sprint 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DCE6F5"/>
                </a:solidFill>
                <a:latin typeface="Times New Roman"/>
                <a:ea typeface="Times New Roman"/>
                <a:cs typeface="Times New Roman"/>
              </a:rPr>
              <a:t>25/3 – 10/4 2026</a:t>
            </a:r>
          </a:p>
        </p:txBody>
      </p:sp>
      <p:sp>
        <p:nvSpPr>
          <p:cNvPr id="57" name="Sprint body 2">
            <a:extLst>
              <a:ext uri="{FF2B5EF4-FFF2-40B4-BE49-F238E27FC236}">
                <a16:creationId xmlns:a16="http://schemas.microsoft.com/office/drawing/2014/main" id="{1F81E377-6BF4-C239-753F-25F1635B4FB4}"/>
              </a:ext>
            </a:extLst>
          </p:cNvPr>
          <p:cNvSpPr/>
          <p:nvPr/>
        </p:nvSpPr>
        <p:spPr>
          <a:xfrm>
            <a:off x="5038344" y="1828800"/>
            <a:ext cx="2112264" cy="1261872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Survey Builder &amp; Targeting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إدارة الاستبيانات والأسئلة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معايير الاستهداف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منطق مطابقة المستجيبين</a:t>
            </a:r>
          </a:p>
        </p:txBody>
      </p:sp>
      <p:cxnSp>
        <p:nvCxnSpPr>
          <p:cNvPr id="58" name="Sprint arrow 2">
            <a:extLst>
              <a:ext uri="{FF2B5EF4-FFF2-40B4-BE49-F238E27FC236}">
                <a16:creationId xmlns:a16="http://schemas.microsoft.com/office/drawing/2014/main" id="{53776C29-02D3-F084-B335-235B2FB7E372}"/>
              </a:ext>
            </a:extLst>
          </p:cNvPr>
          <p:cNvCxnSpPr/>
          <p:nvPr/>
        </p:nvCxnSpPr>
        <p:spPr>
          <a:xfrm flipH="1">
            <a:off x="4910328" y="1545336"/>
            <a:ext cx="123444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print head 3">
            <a:extLst>
              <a:ext uri="{FF2B5EF4-FFF2-40B4-BE49-F238E27FC236}">
                <a16:creationId xmlns:a16="http://schemas.microsoft.com/office/drawing/2014/main" id="{BAB2A092-EB0E-43F8-D4D4-4517682BF289}"/>
              </a:ext>
            </a:extLst>
          </p:cNvPr>
          <p:cNvSpPr/>
          <p:nvPr/>
        </p:nvSpPr>
        <p:spPr>
          <a:xfrm>
            <a:off x="2793491" y="1261872"/>
            <a:ext cx="2112264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Sprint 3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DCE6F5"/>
                </a:solidFill>
                <a:latin typeface="Times New Roman"/>
                <a:ea typeface="Times New Roman"/>
                <a:cs typeface="Times New Roman"/>
              </a:rPr>
              <a:t>11/4 – 23/4 2026</a:t>
            </a:r>
          </a:p>
        </p:txBody>
      </p:sp>
      <p:sp>
        <p:nvSpPr>
          <p:cNvPr id="60" name="Sprint body 3">
            <a:extLst>
              <a:ext uri="{FF2B5EF4-FFF2-40B4-BE49-F238E27FC236}">
                <a16:creationId xmlns:a16="http://schemas.microsoft.com/office/drawing/2014/main" id="{9EE0AC52-C11D-090B-662B-596225A6B3E1}"/>
              </a:ext>
            </a:extLst>
          </p:cNvPr>
          <p:cNvSpPr/>
          <p:nvPr/>
        </p:nvSpPr>
        <p:spPr>
          <a:xfrm>
            <a:off x="2793491" y="1828800"/>
            <a:ext cx="2112264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Participation &amp; AI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الاستبيانات المؤهلة والإجابة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منع الإجابة المكررة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Sentiment Analysis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عبر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Hugging Face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Sprint arrow 3">
            <a:extLst>
              <a:ext uri="{FF2B5EF4-FFF2-40B4-BE49-F238E27FC236}">
                <a16:creationId xmlns:a16="http://schemas.microsoft.com/office/drawing/2014/main" id="{2F7462F3-54C3-41F0-9F33-A1495DE7F617}"/>
              </a:ext>
            </a:extLst>
          </p:cNvPr>
          <p:cNvCxnSpPr/>
          <p:nvPr/>
        </p:nvCxnSpPr>
        <p:spPr>
          <a:xfrm flipH="1">
            <a:off x="2665475" y="1545336"/>
            <a:ext cx="123445" cy="0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Sprint head 4">
            <a:extLst>
              <a:ext uri="{FF2B5EF4-FFF2-40B4-BE49-F238E27FC236}">
                <a16:creationId xmlns:a16="http://schemas.microsoft.com/office/drawing/2014/main" id="{EF8542FE-917D-6BD7-3D87-BF12CA80D47F}"/>
              </a:ext>
            </a:extLst>
          </p:cNvPr>
          <p:cNvSpPr/>
          <p:nvPr/>
        </p:nvSpPr>
        <p:spPr>
          <a:xfrm>
            <a:off x="548639" y="1261872"/>
            <a:ext cx="2112264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Sprint 4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DCE6F5"/>
                </a:solidFill>
                <a:latin typeface="Times New Roman"/>
                <a:ea typeface="Times New Roman"/>
                <a:cs typeface="Times New Roman"/>
              </a:rPr>
              <a:t>24/4 – 11/5 2026</a:t>
            </a:r>
          </a:p>
        </p:txBody>
      </p:sp>
      <p:sp>
        <p:nvSpPr>
          <p:cNvPr id="63" name="Sprint body 4">
            <a:extLst>
              <a:ext uri="{FF2B5EF4-FFF2-40B4-BE49-F238E27FC236}">
                <a16:creationId xmlns:a16="http://schemas.microsoft.com/office/drawing/2014/main" id="{6DA627A8-4F41-6CAB-305D-0711BE6B5BEF}"/>
              </a:ext>
            </a:extLst>
          </p:cNvPr>
          <p:cNvSpPr/>
          <p:nvPr/>
        </p:nvSpPr>
        <p:spPr>
          <a:xfrm>
            <a:off x="548639" y="1828800"/>
            <a:ext cx="2112264" cy="1261872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Results &amp; Delivery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Analytics Dashboard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وتقارير المدير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التكامل والاختبار النهائي</a:t>
            </a:r>
          </a:p>
          <a:p>
            <a:pPr marL="228600" indent="-228600" algn="r" rtl="1">
              <a:spcBef>
                <a:spcPts val="0"/>
              </a:spcBef>
              <a:spcAft>
                <a:spcPts val="2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التقرير والعرض النهائي</a:t>
            </a:r>
          </a:p>
        </p:txBody>
      </p:sp>
      <p:sp>
        <p:nvSpPr>
          <p:cNvPr id="64" name="Outputs heading">
            <a:extLst>
              <a:ext uri="{FF2B5EF4-FFF2-40B4-BE49-F238E27FC236}">
                <a16:creationId xmlns:a16="http://schemas.microsoft.com/office/drawing/2014/main" id="{E556E0C0-2AE1-C5FC-DA5D-E2C43C794819}"/>
              </a:ext>
            </a:extLst>
          </p:cNvPr>
          <p:cNvSpPr txBox="1"/>
          <p:nvPr/>
        </p:nvSpPr>
        <p:spPr>
          <a:xfrm>
            <a:off x="548640" y="3236976"/>
            <a:ext cx="11091672" cy="310896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5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مخرجات المشروع الفصلي</a:t>
            </a:r>
            <a:r>
              <a:rPr lang="en-US" altLang="en-US" sz="12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 (</a:t>
            </a:r>
            <a:r>
              <a:rPr lang="ar-SY" altLang="en-US" sz="12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من تقرير المشروع المسلَّم والكود على الوسم </a:t>
            </a:r>
            <a:r>
              <a:rPr lang="en-US" altLang="en-US" sz="12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(v1.0-junior-final)</a:t>
            </a:r>
            <a:endParaRPr lang="ar-SY" altLang="en-US" sz="12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Tile 0">
            <a:extLst>
              <a:ext uri="{FF2B5EF4-FFF2-40B4-BE49-F238E27FC236}">
                <a16:creationId xmlns:a16="http://schemas.microsoft.com/office/drawing/2014/main" id="{1372DF40-A79D-F8D2-94E5-D60C4B48AC61}"/>
              </a:ext>
            </a:extLst>
          </p:cNvPr>
          <p:cNvSpPr/>
          <p:nvPr/>
        </p:nvSpPr>
        <p:spPr>
          <a:xfrm>
            <a:off x="9902952" y="3566160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Functional Req. (FR)</a:t>
            </a:r>
          </a:p>
        </p:txBody>
      </p:sp>
      <p:sp>
        <p:nvSpPr>
          <p:cNvPr id="66" name="Tile 2">
            <a:extLst>
              <a:ext uri="{FF2B5EF4-FFF2-40B4-BE49-F238E27FC236}">
                <a16:creationId xmlns:a16="http://schemas.microsoft.com/office/drawing/2014/main" id="{AA231435-2CF9-00E0-C4C2-080EE9896DC7}"/>
              </a:ext>
            </a:extLst>
          </p:cNvPr>
          <p:cNvSpPr/>
          <p:nvPr/>
        </p:nvSpPr>
        <p:spPr>
          <a:xfrm>
            <a:off x="7520812" y="3566160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UML Diagrams</a:t>
            </a:r>
          </a:p>
        </p:txBody>
      </p:sp>
      <p:sp>
        <p:nvSpPr>
          <p:cNvPr id="67" name="Tile 3">
            <a:extLst>
              <a:ext uri="{FF2B5EF4-FFF2-40B4-BE49-F238E27FC236}">
                <a16:creationId xmlns:a16="http://schemas.microsoft.com/office/drawing/2014/main" id="{71DB48ED-9731-E9CB-E3C4-B8BB2849BCAD}"/>
              </a:ext>
            </a:extLst>
          </p:cNvPr>
          <p:cNvSpPr/>
          <p:nvPr/>
        </p:nvSpPr>
        <p:spPr>
          <a:xfrm>
            <a:off x="5225796" y="3547872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Database Entities (ERD)</a:t>
            </a:r>
          </a:p>
        </p:txBody>
      </p:sp>
      <p:sp>
        <p:nvSpPr>
          <p:cNvPr id="68" name="Tile 4">
            <a:extLst>
              <a:ext uri="{FF2B5EF4-FFF2-40B4-BE49-F238E27FC236}">
                <a16:creationId xmlns:a16="http://schemas.microsoft.com/office/drawing/2014/main" id="{F077424B-761E-272B-932B-33EEF8EB3024}"/>
              </a:ext>
            </a:extLst>
          </p:cNvPr>
          <p:cNvSpPr/>
          <p:nvPr/>
        </p:nvSpPr>
        <p:spPr>
          <a:xfrm>
            <a:off x="2933828" y="3547872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Web Pages (3 roles)</a:t>
            </a:r>
          </a:p>
        </p:txBody>
      </p:sp>
      <p:sp>
        <p:nvSpPr>
          <p:cNvPr id="69" name="Tile 5">
            <a:extLst>
              <a:ext uri="{FF2B5EF4-FFF2-40B4-BE49-F238E27FC236}">
                <a16:creationId xmlns:a16="http://schemas.microsoft.com/office/drawing/2014/main" id="{4365B4D9-85A6-DB86-D42C-E7D0FB767616}"/>
              </a:ext>
            </a:extLst>
          </p:cNvPr>
          <p:cNvSpPr/>
          <p:nvPr/>
        </p:nvSpPr>
        <p:spPr>
          <a:xfrm>
            <a:off x="552273" y="3520439"/>
            <a:ext cx="17373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163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Tests Passed · 0 Failed</a:t>
            </a:r>
          </a:p>
        </p:txBody>
      </p:sp>
      <p:sp>
        <p:nvSpPr>
          <p:cNvPr id="70" name="Engineering work">
            <a:extLst>
              <a:ext uri="{FF2B5EF4-FFF2-40B4-BE49-F238E27FC236}">
                <a16:creationId xmlns:a16="http://schemas.microsoft.com/office/drawing/2014/main" id="{FB0D7B92-6AAE-E893-0A7B-3431E390CED2}"/>
              </a:ext>
            </a:extLst>
          </p:cNvPr>
          <p:cNvSpPr/>
          <p:nvPr/>
        </p:nvSpPr>
        <p:spPr>
          <a:xfrm>
            <a:off x="5074920" y="4553712"/>
            <a:ext cx="6565392" cy="1627632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36576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  <a:buNone/>
            </a:pPr>
            <a:r>
              <a:rPr lang="ar-SY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ما طبّقناه هندسياً</a:t>
            </a: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UML  Use Case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Activity (3)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Sequence (3)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، 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ERD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Relational Schema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User Stories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0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MoSCoW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Traceability Matrix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Risk Register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طبقات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 Views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ثم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Services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ثم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Repositories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ثم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ORM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تحليل المشاعر عبر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Hugging Face Inference API 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Django 4.2 · PostgreSQL 15 · Bootstrap · Chart.js · pytest · GitHub Actions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1" name="V1.0 limits">
            <a:extLst>
              <a:ext uri="{FF2B5EF4-FFF2-40B4-BE49-F238E27FC236}">
                <a16:creationId xmlns:a16="http://schemas.microsoft.com/office/drawing/2014/main" id="{3B852EA6-60CF-C72E-41B0-559F18DCB976}"/>
              </a:ext>
            </a:extLst>
          </p:cNvPr>
          <p:cNvSpPr/>
          <p:nvPr/>
        </p:nvSpPr>
        <p:spPr>
          <a:xfrm>
            <a:off x="548640" y="4553712"/>
            <a:ext cx="4389120" cy="1627632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9525">
            <a:solidFill>
              <a:srgbClr val="E07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36576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  <a:buNone/>
            </a:pPr>
            <a:r>
              <a:rPr lang="ar-SY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حدود</a:t>
            </a: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V1.0 </a:t>
            </a:r>
            <a:r>
              <a:rPr lang="ar-SY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من التقرير وملاحظات المشرف</a:t>
            </a: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E07B28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واجهة المستجيب صفحات ويب ثابتة، ولا يوجد تطبيق جوال</a:t>
            </a: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E07B28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استهداف بالجنس والعمر ومنطقة نصية حرة فقط</a:t>
            </a:r>
          </a:p>
          <a:p>
            <a:pPr marL="228600" indent="-228600" algn="r" rtl="1">
              <a:spcBef>
                <a:spcPts val="0"/>
              </a:spcBef>
              <a:spcAft>
                <a:spcPts val="100"/>
              </a:spcAft>
              <a:buClr>
                <a:srgbClr val="E07B28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دقة نموذج المشاعر غير مقاسة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 algn="r" rtl="1">
              <a:spcBef>
                <a:spcPts val="0"/>
              </a:spcBef>
              <a:spcAft>
                <a:spcPts val="0"/>
              </a:spcAft>
              <a:buClr>
                <a:srgbClr val="E07B28"/>
              </a:buClr>
              <a:buFont typeface="Arial"/>
              <a:buChar char="■"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لا فحص لجودة الإجابات سوى منع الإجابة المكررة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E7ED3-C13B-D163-23FA-3ACDDB15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2C3-8337-C2D2-EA88-9E4BC9F9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1E66-EBB7-BF9F-40E8-B58F9CB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4</a:t>
            </a:fld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CD7444CC-9A95-8B29-7BB5-90CFC2E2D96D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الدراسات المرجعية والأعمال السابقة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 (Literature Review) 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udy 1"/>
          <p:cNvSpPr/>
          <p:nvPr/>
        </p:nvSpPr>
        <p:spPr>
          <a:xfrm>
            <a:off x="548640" y="1005840"/>
            <a:ext cx="11091672" cy="768096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الأولى — 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US" altLang="en-US" sz="1600" b="1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Pozzar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et al. (2020)</a:t>
            </a:r>
            <a:r>
              <a:rPr lang="ar-SY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271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إجابة عبر رابط مفتوح على وسائل التواصل،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‎94.5%‎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احتيالية وكلها تجاوزت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CAPTCHA ←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نحتاج دفاعاً متعدد الطبقات </a:t>
            </a:r>
            <a:r>
              <a:rPr lang="en-US" altLang="en-US" sz="12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[4]</a:t>
            </a:r>
            <a:endParaRPr lang="ar-SY" altLang="en-US" sz="16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udy 2"/>
          <p:cNvSpPr/>
          <p:nvPr/>
        </p:nvSpPr>
        <p:spPr>
          <a:xfrm>
            <a:off x="548640" y="1847088"/>
            <a:ext cx="110916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الثانية</a:t>
            </a: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— </a:t>
            </a:r>
            <a:r>
              <a:rPr lang="en-US" altLang="en-US" sz="16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Westwood (2025) </a:t>
            </a:r>
            <a:r>
              <a:rPr lang="ar-SA" altLang="en-US" sz="16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ar-SY" altLang="en-US" sz="16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وكيل ذكاء اصطناعي اجتاز 99.8% من أسئلة الانتباه في 43,000 اختبار ولم تكشفه أدوات الكشف المجرّبة ← سؤال الانتباه وحده لا يكفي </a:t>
            </a:r>
            <a:r>
              <a:rPr lang="ar-SY" altLang="en-US" sz="105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[10]</a:t>
            </a:r>
            <a:endParaRPr lang="ar-SY" altLang="en-US" sz="1600" i="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Study 3"/>
          <p:cNvSpPr/>
          <p:nvPr/>
        </p:nvSpPr>
        <p:spPr>
          <a:xfrm>
            <a:off x="548640" y="2688336"/>
            <a:ext cx="11091672" cy="768096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الثالثة — </a:t>
            </a: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:Peer et al. (2022)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نسبة من اجتازوا فحصَي الانتباه تراوحت بين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‎68.7%‎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‎ 22.1%‎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بحسب المنصة ← الجودة تُقاس ولا تُفترض 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[11]</a:t>
            </a:r>
            <a:endParaRPr lang="ar-SY" altLang="en-US" sz="16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Study 4"/>
          <p:cNvSpPr/>
          <p:nvPr/>
        </p:nvSpPr>
        <p:spPr>
          <a:xfrm>
            <a:off x="548640" y="3529584"/>
            <a:ext cx="110916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الرابعة — </a:t>
            </a:r>
            <a:r>
              <a:rPr lang="en-US" altLang="en-US" sz="16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Khondaker et al. (2023) </a:t>
            </a:r>
            <a:r>
              <a:rPr lang="ar-SA" altLang="en-US" sz="1600" b="1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ar-SY" altLang="en-US" sz="16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في 44 مهمة عربية تفوقت نماذج عربية صغيرة مضبوطة على </a:t>
            </a:r>
            <a:r>
              <a:rPr lang="en-US" altLang="en-US" sz="16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ChatGPT، </a:t>
            </a:r>
            <a:r>
              <a:rPr lang="ar-SY" altLang="en-US" sz="16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وكان أضعف في اللهجات منه في الفصحى ← نختار النموذج بالقياس </a:t>
            </a:r>
            <a:r>
              <a:rPr lang="ar-SY" altLang="en-US" sz="12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[12]</a:t>
            </a:r>
            <a:endParaRPr lang="ar-SY" altLang="en-US" sz="1600" i="0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Study 5"/>
          <p:cNvSpPr/>
          <p:nvPr/>
        </p:nvSpPr>
        <p:spPr>
          <a:xfrm>
            <a:off x="548640" y="4370832"/>
            <a:ext cx="11091672" cy="768096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الخامسة — </a:t>
            </a: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:Abu Farha &amp; Magdy (2021)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مقارنة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24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نموذجاً لتحليل المشاعر العربية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 MARBERT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AraBERT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الأفضل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(0.724)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مقابل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lang="ar-SA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0.625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لـ 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600" b="0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mBERT</a:t>
            </a:r>
            <a:r>
              <a:rPr lang="ar-SA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20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[13]</a:t>
            </a:r>
            <a:endParaRPr lang="ar-SY" altLang="en-US" sz="120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ar-SA" altLang="en-US" sz="16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Study 6"/>
          <p:cNvSpPr/>
          <p:nvPr/>
        </p:nvSpPr>
        <p:spPr>
          <a:xfrm>
            <a:off x="548640" y="5212080"/>
            <a:ext cx="11091672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الدراسة السادسة — 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lang="en-US" altLang="en-US" sz="1600" b="1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Lossio</a:t>
            </a:r>
            <a:r>
              <a:rPr lang="en-US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-Ventura et al. (2024)</a:t>
            </a:r>
            <a:r>
              <a:rPr lang="ar-SY" altLang="en-US" sz="16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على إجابات استبيان مفتوحة حقيقية: أدوات المعاجم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0.43–0.66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دقة، 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ChatGPT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بين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0.86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و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0.87 ← </a:t>
            </a:r>
            <a:r>
              <a:rPr lang="ar-SY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نقارن النماذج بتصنيف بشري </a:t>
            </a:r>
            <a:r>
              <a:rPr lang="en-US" altLang="en-US" sz="12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[14]</a:t>
            </a:r>
            <a:endParaRPr lang="ar-SY" altLang="en-US" sz="16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334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07DD-A187-47D0-F7D0-D8EFECD8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85F1-EC29-F285-CD6F-1FC6E3D18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7830-AE76-FA38-8FDC-9C99C8C6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5</a:t>
            </a:fld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336949F-FA28-8B4A-2632-3CC4A0938BD9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مقارنة الأنظمة الحالية والفجوة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(Gap Analysis) 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08393"/>
              </p:ext>
            </p:extLst>
          </p:nvPr>
        </p:nvGraphicFramePr>
        <p:xfrm>
          <a:off x="548640" y="960120"/>
          <a:ext cx="11091672" cy="4425696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المنصة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النوع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الاستهداف</a:t>
                      </a: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(Targeting)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فحص الجودة</a:t>
                      </a: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(Quality)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تحليل المشاعر</a:t>
                      </a: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(Sentiment)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نقطة القوة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نقطة الضعف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Google Forms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Builder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لا يوجد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إجابة واحدة لكل حساب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altLang="en-US" sz="105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[5]  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Google 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ملخصات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Gemini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في خطط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Workspace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المدفوعة؛ لا تصنيف لكل إجابة</a:t>
                      </a:r>
                      <a:r>
                        <a:rPr lang="en-US" altLang="en-US" sz="10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[9] 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مجانية وسهلة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لا استهداف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Typeform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Builder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لا يوجد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reCAPTCHA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؛ منع التكرار بالكوكيز في الخطط العليا </a:t>
                      </a:r>
                      <a:r>
                        <a:rPr lang="en-US" altLang="en-US" sz="105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[6]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Smart Insights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في الخطط العليا؛ للإنجليزية فقط 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[8]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سؤال واحد في الشاشة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منع التكرار يُتجاوز بمسح الكوكيز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SurveyMonkey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Builder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عبر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Audience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المدفوع فقط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إجابة واحدة، حظر عناوين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IP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في خطط مدفوعة؛ اللغات غير مذكورة 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[7]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أنواع أسئلة ومنطق غني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الاستهداف منتج منفصل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SurveyMonkey Audience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أكثر من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200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خيار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Machine Learning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يستبدل الإجابات الضعيفة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غير مذكور (سحابة كلمات ووسوم)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[15] 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وصول سريع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سوريا غير مدرجة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[1]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Prolific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أكثر من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300 </a:t>
                      </a: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فلتر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تحقق هوية، وسم السرعة،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Quality Scores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غير مذكور (الاستبيان يُستضاف خارجها)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جودة للأبحاث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سوريا غير مدرجة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[2] 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Pollfish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ديموغرافي وجغرافي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كشف احتيال آلي، يستبعد حتى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‎30%‎ [16]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غير مذكور في لوحة النتائج 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[17]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توزيع داخل التطبيقات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العربية غير مدعومة </a:t>
                      </a:r>
                      <a:r>
                        <a:rPr lang="en-US" altLang="en-US" sz="12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[3]</a:t>
                      </a:r>
                      <a:endParaRPr lang="ar-SY" altLang="en-US" sz="12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Smart Survey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(مخطط له)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Platform/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ملف موسّع ومحافظات سورية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متعدد الطبقات: انتباه، سرعة، نمط، تكرار، درجة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مدمج لكل إجابة: عربي فصحى وإنجليزي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يجمع الثلاثة لسوريا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قيد التنفيذ حتى</a:t>
                      </a: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1/2027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Gap statement"/>
          <p:cNvSpPr/>
          <p:nvPr/>
        </p:nvSpPr>
        <p:spPr>
          <a:xfrm>
            <a:off x="548640" y="54406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6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الفجوة: </a:t>
            </a:r>
            <a:r>
              <a:rPr lang="ar-SY" altLang="en-US"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لا تجمع أي منصة من الست بين الاستهداف بالملف لسوريا، وفحص الجودة متعدد الطبقات، وتحليل المشاعر المدمج بالعربية.</a:t>
            </a:r>
          </a:p>
        </p:txBody>
      </p:sp>
      <p:sp>
        <p:nvSpPr>
          <p:cNvPr id="10" name="Comparison source"/>
          <p:cNvSpPr txBox="1"/>
          <p:nvPr/>
        </p:nvSpPr>
        <p:spPr>
          <a:xfrm>
            <a:off x="548640" y="5916168"/>
            <a:ext cx="11091672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المصدر: صفحات المساعدة الرسمية للمنصات،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23–27/10/2026. «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غير مذكور» = لم تذكره الصفحات المقروءة، ولا يعني بالضرورة أن الميزة غير موجودة.</a:t>
            </a:r>
          </a:p>
        </p:txBody>
      </p:sp>
    </p:spTree>
    <p:extLst>
      <p:ext uri="{BB962C8B-B14F-4D97-AF65-F5344CB8AC3E}">
        <p14:creationId xmlns:p14="http://schemas.microsoft.com/office/powerpoint/2010/main" val="220127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627-07FD-457B-3E38-682993769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E5E1-8F32-7A75-D549-1B986529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B202-87AB-2A68-ACDD-C0D1E321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6</a:t>
            </a:fld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238F884-D39F-11EE-4D51-5280663BEB05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المتطلبات الوظيفية العامة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(General FR) </a:t>
            </a: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وغير الوظيفية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 (NFR) 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FR-G heading"/>
          <p:cNvSpPr txBox="1"/>
          <p:nvPr/>
        </p:nvSpPr>
        <p:spPr>
          <a:xfrm>
            <a:off x="6355080" y="914400"/>
            <a:ext cx="5285232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General Functional Requirements</a:t>
            </a:r>
            <a:endParaRPr lang="ar-SY" altLang="en-US" sz="16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9" name="FR-G table"/>
          <p:cNvGraphicFramePr>
            <a:graphicFrameLocks noGrp="1"/>
          </p:cNvGraphicFramePr>
          <p:nvPr/>
        </p:nvGraphicFramePr>
        <p:xfrm>
          <a:off x="6355080" y="1344168"/>
          <a:ext cx="5285232" cy="4517136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المتطلب الوظيفي العام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FR-G01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يتيح النظام للمستجيب التسجيل والإجابة عن الاستبيانات عبر الويب ثم عبر تطبيق جوال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FR-G02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يطابق النظام الاستبيانات مع المستجيبين حسب ملفهم الديموغرافي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FR-G03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يتيح النظام للمزوّد إنشاء الاستبيانات وإدارة دورة حياتها، ولمدير النظام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(Admin) </a:t>
                      </a: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مراجعتها قبل النشر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FR-G04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يكشف النظام الإجابات منخفضة الجودة ويسِمها دون حذفها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FR-G05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يحلل النظام النتائج ومشاعر الإجابات المفتوحة ويتيح تصديرها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FR-G06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يجب أن يحمي النظام الحسابات وخصوصية المستجيب، ويتيح إدارة المستخدمين وإشعارات المستجيب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NFR heading"/>
          <p:cNvSpPr txBox="1"/>
          <p:nvPr/>
        </p:nvSpPr>
        <p:spPr>
          <a:xfrm>
            <a:off x="548640" y="914400"/>
            <a:ext cx="5623560" cy="38404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Non-Functional Requirements — </a:t>
            </a:r>
            <a:r>
              <a:rPr lang="en-US" altLang="en-US" sz="12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ISO/IEC 25010:2023 [18]</a:t>
            </a:r>
            <a:endParaRPr lang="ar-SY" altLang="en-US" sz="16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1" name="NF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145622"/>
              </p:ext>
            </p:extLst>
          </p:nvPr>
        </p:nvGraphicFramePr>
        <p:xfrm>
          <a:off x="548640" y="1344168"/>
          <a:ext cx="5623560" cy="470611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Quality Characteristic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المتطلب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NFR-01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Efficiency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‎ 95%‎ 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من طلبات الـ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API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في أقل من ثانيتين؛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Sentiment Analysis  </a:t>
                      </a:r>
                      <a:r>
                        <a:rPr lang="ar-SA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ي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جري بعد حفظ الإجابة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NFR-02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Security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JWT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، فحص الدور والملكية في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Business Layer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،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Password Hashing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،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Login Throttling</a:t>
                      </a:r>
                      <a:endParaRPr lang="ar-SY" altLang="en-US" sz="13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NFR-03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Reliability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حفظ ذرّي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(Atomic)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، وإجابة واحدة لكل مستجيب بقيد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Unique (409) </a:t>
                      </a:r>
                      <a:r>
                        <a:rPr lang="ar-SA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عند التكرار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NFR-04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Maintainability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Layered Architecture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، واختبارات آلية تعمل في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CI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قبل كل</a:t>
                      </a:r>
                      <a:r>
                        <a:rPr lang="ar-SA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Merge</a:t>
                      </a:r>
                      <a:endParaRPr lang="ar-SY" altLang="en-US" sz="13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NFR-05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Interaction Capability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حالات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Loading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Error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Empty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في كل شاشة من التطبيق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NFR-06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Flexibility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Codebase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واحد لـ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Flutter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على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Android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والويب؛ الإعدادات عبر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Environment Variables</a:t>
                      </a:r>
                      <a:endParaRPr lang="ar-SY" altLang="en-US" sz="13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NFR-07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2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Functional Correctness</a:t>
                      </a:r>
                      <a:endParaRPr lang="ar-SY" altLang="en-US" sz="12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اختيار نموذج المشاعر بمقياس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macro‑F1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على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300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إجابة موسومة (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150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فصحى،</a:t>
                      </a:r>
                      <a:r>
                        <a:rPr lang="en-US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150 </a:t>
                      </a:r>
                      <a:r>
                        <a:rPr lang="ar-SY" altLang="en-US" sz="13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إنجليزية)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FR note"/>
          <p:cNvSpPr txBox="1"/>
          <p:nvPr/>
        </p:nvSpPr>
        <p:spPr>
          <a:xfrm>
            <a:off x="6355080" y="5916168"/>
            <a:ext cx="5285232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تغطي المتطلبات العامة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V1.0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وتخرج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فقط؛ تفاصيل هذا الفصل في الشريحة التالية.</a:t>
            </a:r>
          </a:p>
        </p:txBody>
      </p:sp>
    </p:spTree>
    <p:extLst>
      <p:ext uri="{BB962C8B-B14F-4D97-AF65-F5344CB8AC3E}">
        <p14:creationId xmlns:p14="http://schemas.microsoft.com/office/powerpoint/2010/main" val="168162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7413-4A80-7A0A-CB0B-B1C55BC2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6BA6-32B1-D3CE-5D0F-8B0F7DCC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5B69-20DE-8D7B-2FF6-B020A9BD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7</a:t>
            </a:fld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6036810-8581-F1F0-2198-A22F32810AD5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المتطلبات الوظيفية لمشروع تخرج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(FR-01 – FR-20) 1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8" name="Requirements 1-10"/>
          <p:cNvGraphicFramePr>
            <a:graphicFrameLocks noGrp="1"/>
          </p:cNvGraphicFramePr>
          <p:nvPr/>
        </p:nvGraphicFramePr>
        <p:xfrm>
          <a:off x="6355080" y="932688"/>
          <a:ext cx="5285232" cy="457657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Priority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المتطلب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Must 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FR-01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تطبيق جوال للمستجيب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(Flutter) </a:t>
                      </a: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مع دخول آمن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Must 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FR-02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ملف ديموغرافي موسّع مع نسبة اكتماله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Must 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FR-03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استهداف متقدم وعرض عدد المؤهلين قبل النشر ★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Must 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FR-04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محرك جودة: انتباه، سرعة، نمط، تكرار، درجة ★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FFFFFF"/>
                          </a:solidFill>
                          <a:highlight>
                            <a:srgbClr val="FF00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Must </a:t>
                      </a:r>
                      <a:endParaRPr lang="ar-SY" altLang="en-US" sz="1300" b="1" i="0" dirty="0">
                        <a:solidFill>
                          <a:srgbClr val="FFFFFF"/>
                        </a:solidFill>
                        <a:highlight>
                          <a:srgbClr val="FF00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FR-05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تحليل مشاعر الإجابات المفتوحة (فصحى، إنجليزي) ★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FR-06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تجربة إجابة: تقدم، تحقق، تخطي الاختياري، مسودة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FR-07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عرض كل إجابة مع علاماتها وإدراجها أو استبعادها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FR-08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قائمة استبيانات مرتبة حسب التطابق مع بحث وفلاتر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FR-09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إجابات مستعارة وإخفاء المجموعات الأصغر من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5</a:t>
                      </a:r>
                      <a:endParaRPr lang="ar-SY" altLang="en-US" sz="14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FR-10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رابط دعوة فريد مع نسخ سريع ورمز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QR</a:t>
                      </a:r>
                      <a:endParaRPr lang="ar-SY" altLang="en-US" sz="14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Requirements 11-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715295"/>
              </p:ext>
            </p:extLst>
          </p:nvPr>
        </p:nvGraphicFramePr>
        <p:xfrm>
          <a:off x="548640" y="932688"/>
          <a:ext cx="5285232" cy="4576572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Priority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</a:t>
                      </a:r>
                      <a:endParaRPr lang="ar-SY" altLang="en-US" sz="1400" b="1" i="0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1" i="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المتطلب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2F5496"/>
                      </a:solidFill>
                      <a:prstDash val="solid"/>
                    </a:lnL>
                    <a:lnR w="9525" cap="flat" cmpd="sng" algn="ctr">
                      <a:solidFill>
                        <a:srgbClr val="2F549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</a:lnT>
                    <a:lnB w="9525" cap="flat" cmpd="sng" algn="ctr">
                      <a:solidFill>
                        <a:srgbClr val="2F5496"/>
                      </a:solidFill>
                      <a:prstDash val="soli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FR-11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دورة حياة الاستبيان: جدولة، إغلاق تلقائي، إيقاف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2F54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FR-12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مراجعة الاستبيان من مدير النظام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(Admin) </a:t>
                      </a: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قبل النشر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FR-13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تحليلات متقدمة: فلاتر، جداول تقاطعية، عبر الزمن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FR-14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تصدير النتائج وعلامات الجودة إلى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Excel </a:t>
                      </a: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CSV</a:t>
                      </a:r>
                      <a:endParaRPr lang="ar-SY" altLang="en-US" sz="14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FR-15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أمان الحساب: تحقق البريد واستعادة كلمة المرور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00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Should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00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FR-16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ترتيب عشوائي للأسئلة والخيارات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Could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FR-17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منشئ متقدم: أنواع أسئلة، ترتيب، معاينة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Could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FR-18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معدل الإكمال والانسحاب</a:t>
                      </a:r>
                      <a:r>
                        <a:rPr lang="en-US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(Completion / Drop-off)</a:t>
                      </a:r>
                      <a:endParaRPr lang="ar-SY" altLang="en-US" sz="1400" b="0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Could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FR-19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مكتبة قوالب ونسخ استبيان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</a:rPr>
                        <a:t> Could 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300" b="1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FR-20</a:t>
                      </a:r>
                      <a:endParaRPr lang="ar-SY" altLang="en-US" sz="1300" b="1" i="0" dirty="0">
                        <a:solidFill>
                          <a:srgbClr val="1A1A1A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-SY" altLang="en-US" sz="1400" b="0" i="0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مركز إشعارات داخل التطبيق</a:t>
                      </a: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C9D3E6"/>
                      </a:solidFill>
                      <a:prstDash val="solid"/>
                    </a:lnL>
                    <a:lnR w="9525" cap="flat" cmpd="sng" algn="ctr">
                      <a:solidFill>
                        <a:srgbClr val="C9D3E6"/>
                      </a:solidFill>
                      <a:prstDash val="solid"/>
                    </a:lnR>
                    <a:lnT w="9525" cap="flat" cmpd="sng" algn="ctr">
                      <a:solidFill>
                        <a:srgbClr val="C9D3E6"/>
                      </a:solidFill>
                      <a:prstDash val="solid"/>
                    </a:lnT>
                    <a:lnB w="9525" cap="flat" cmpd="sng" algn="ctr">
                      <a:solidFill>
                        <a:srgbClr val="C9D3E6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Priority legend"/>
          <p:cNvSpPr/>
          <p:nvPr/>
        </p:nvSpPr>
        <p:spPr>
          <a:xfrm>
            <a:off x="548640" y="5643118"/>
            <a:ext cx="11091672" cy="71323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>
            <a:noAutofit/>
          </a:bodyPr>
          <a:lstStyle/>
          <a:p>
            <a:pPr algn="r" rtl="1">
              <a:spcAft>
                <a:spcPts val="300"/>
              </a:spcAft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ضروري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(5) </a:t>
            </a:r>
            <a:r>
              <a:rPr lang="en-US" altLang="en-US" sz="1300" b="1" dirty="0">
                <a:solidFill>
                  <a:srgbClr val="FFFFFF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Must</a:t>
            </a:r>
            <a:r>
              <a:rPr lang="en-US" altLang="en-US" sz="13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مهم</a:t>
            </a:r>
            <a:r>
              <a:rPr lang="ar-SA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1" dirty="0">
                <a:solidFill>
                  <a:srgbClr val="1A1A1A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</a:rPr>
              <a:t> Should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lang="en-US" altLang="en-US" sz="13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(11)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مرغوب</a:t>
            </a:r>
            <a:r>
              <a:rPr lang="ar-SA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      (4) </a:t>
            </a:r>
            <a:r>
              <a:rPr lang="en-US" altLang="en-US" sz="1300" b="1" dirty="0">
                <a:solidFill>
                  <a:srgbClr val="1A1A1A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Could</a:t>
            </a:r>
            <a:r>
              <a:rPr lang="en-US" altLang="en-US" sz="1300" dirty="0">
                <a:solidFill>
                  <a:srgbClr val="1A1A1A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يثبت فكرة المشروع  </a:t>
            </a:r>
            <a:r>
              <a:rPr lang="ar-SY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★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lang="ar-SA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      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lang="ar-SY" altLang="en-US" sz="13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ترتيب الرقم = ترتيب الأولوية </a:t>
            </a:r>
            <a:r>
              <a:rPr lang="en-US" altLang="en-US" sz="1300" b="0" i="0" dirty="0" err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MoSCoW</a:t>
            </a:r>
            <a:r>
              <a:rPr lang="en-US" altLang="en-US" sz="13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[19] </a:t>
            </a:r>
            <a:endParaRPr lang="ar-SA" altLang="en-US" sz="1300" b="0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  <a:p>
            <a:pPr algn="r" rtl="1">
              <a:spcBef>
                <a:spcPts val="0"/>
              </a:spcBef>
              <a:spcAft>
                <a:spcPts val="300"/>
              </a:spcAft>
              <a:buNone/>
            </a:pPr>
            <a:r>
              <a:rPr lang="ar-SA" altLang="en-US" sz="16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تخرج</a:t>
            </a:r>
            <a:r>
              <a:rPr lang="en-US" altLang="en-US" sz="16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lang="ar-SA" altLang="en-US" sz="16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AE" altLang="en-US" sz="16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won`t</a:t>
            </a:r>
            <a:r>
              <a:rPr lang="ar-SY" altLang="en-US" sz="1600" b="1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):</a:t>
            </a:r>
            <a:endParaRPr lang="ar-SY" altLang="en-US" sz="1600" b="1" i="0" dirty="0">
              <a:solidFill>
                <a:srgbClr val="595959"/>
              </a:solidFill>
              <a:latin typeface="Times New Roman"/>
              <a:ea typeface="Times New Roman"/>
              <a:cs typeface="Times New Roman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FR-21 </a:t>
            </a:r>
            <a:r>
              <a:rPr lang="en-US" altLang="en-US" sz="13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المكافآت،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FR-22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منطق التخطي الشرطي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(Skip Logic)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،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FR-23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لوحة الإدارة،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FR-24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ثقة المستجيب،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FR-25 </a:t>
            </a: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إشعارات المزوّد</a:t>
            </a:r>
          </a:p>
        </p:txBody>
      </p:sp>
    </p:spTree>
    <p:extLst>
      <p:ext uri="{BB962C8B-B14F-4D97-AF65-F5344CB8AC3E}">
        <p14:creationId xmlns:p14="http://schemas.microsoft.com/office/powerpoint/2010/main" val="155307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43481-1474-F6FB-E26F-234BCCE3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C852-467C-BAA7-9AA2-ED3CA59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59B6-EF1D-127F-DE97-C8FB9F0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8</a:t>
            </a:fld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01D2A0AE-4E08-201B-39E7-C0595AAEF0C8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منهجية التطوير ومراحل التنفيذ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(Scrum + Agile Modeling)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Method summary"/>
          <p:cNvSpPr/>
          <p:nvPr/>
        </p:nvSpPr>
        <p:spPr>
          <a:xfrm>
            <a:off x="548640" y="91440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Scrum </a:t>
            </a: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بـ</a:t>
            </a: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Sprints </a:t>
            </a: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مدة كل منها أسبوعان + ممارسات</a:t>
            </a:r>
            <a:r>
              <a:rPr lang="en-US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Agile Modeling </a:t>
            </a:r>
            <a:r>
              <a:rPr lang="ar-SY" altLang="en-US" sz="16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للتصميم: </a:t>
            </a:r>
            <a:r>
              <a:rPr lang="en-US" altLang="en-US" sz="16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Iterative &amp; Incremental Development [20][21][22]</a:t>
            </a:r>
            <a:endParaRPr lang="ar-SY" altLang="en-US" sz="16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4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لماذا؟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المتطلبات تغيّرت ثلاث مرات بملاحظات المشرف</a:t>
            </a:r>
            <a:r>
              <a:rPr lang="en-US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Flutter)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، اللغات، المنصات)، والمواعيد الجامعية ثابتة، فنسلّم</a:t>
            </a:r>
            <a:r>
              <a:rPr lang="en-US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Increment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يعمل كل أسبوعين ونراجعه مع المشرف.</a:t>
            </a:r>
          </a:p>
        </p:txBody>
      </p:sp>
      <p:sp>
        <p:nvSpPr>
          <p:cNvPr id="11" name="Iter0 head"/>
          <p:cNvSpPr/>
          <p:nvPr/>
        </p:nvSpPr>
        <p:spPr>
          <a:xfrm>
            <a:off x="9674352" y="1874519"/>
            <a:ext cx="196596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Iteration 0 (S0)</a:t>
            </a:r>
            <a:endParaRPr lang="ar-SY" altLang="en-US" sz="15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Iter0 body"/>
          <p:cNvSpPr/>
          <p:nvPr/>
        </p:nvSpPr>
        <p:spPr>
          <a:xfrm>
            <a:off x="9674352" y="2441448"/>
            <a:ext cx="1965960" cy="2331720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22/10 – 1/11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FR / NFR + MoSCoW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Use Case Diagrams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Architecture + Initial Class Diagram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Prototype: REST API + Flutter Login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Product Backlog: 23 Issues on GitHub Projects</a:t>
            </a:r>
          </a:p>
        </p:txBody>
      </p:sp>
      <p:sp>
        <p:nvSpPr>
          <p:cNvPr id="13" name="Step head 1"/>
          <p:cNvSpPr/>
          <p:nvPr/>
        </p:nvSpPr>
        <p:spPr>
          <a:xfrm>
            <a:off x="7726679" y="1874519"/>
            <a:ext cx="1673352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 Sprint Planning</a:t>
            </a:r>
          </a:p>
        </p:txBody>
      </p:sp>
      <p:sp>
        <p:nvSpPr>
          <p:cNvPr id="14" name="Step body 1"/>
          <p:cNvSpPr/>
          <p:nvPr/>
        </p:nvSpPr>
        <p:spPr>
          <a:xfrm>
            <a:off x="7726679" y="2441448"/>
            <a:ext cx="16733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54864" bIns="36576" rtlCol="0" anchor="t">
            <a:noAutofit/>
          </a:bodyPr>
          <a:lstStyle/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User Stories + Acceptance Criteria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Backlog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Initial Test Cases</a:t>
            </a:r>
          </a:p>
        </p:txBody>
      </p:sp>
      <p:pic>
        <p:nvPicPr>
          <p:cNvPr id="15" name="Step icon 1" descr="task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1" y="2496312"/>
            <a:ext cx="274320" cy="274320"/>
          </a:xfrm>
          <a:prstGeom prst="rect">
            <a:avLst/>
          </a:prstGeom>
        </p:spPr>
      </p:pic>
      <p:cxnSp>
        <p:nvCxnSpPr>
          <p:cNvPr id="16" name="Step arrow 1"/>
          <p:cNvCxnSpPr/>
          <p:nvPr/>
        </p:nvCxnSpPr>
        <p:spPr>
          <a:xfrm flipH="1">
            <a:off x="7607807" y="2157984"/>
            <a:ext cx="109729" cy="0"/>
          </a:xfrm>
          <a:prstGeom prst="line">
            <a:avLst/>
          </a:prstGeom>
          <a:ln w="25400">
            <a:solidFill>
              <a:srgbClr val="2F54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ep head 2"/>
          <p:cNvSpPr/>
          <p:nvPr/>
        </p:nvSpPr>
        <p:spPr>
          <a:xfrm>
            <a:off x="5925311" y="1874519"/>
            <a:ext cx="1673352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 Design</a:t>
            </a:r>
          </a:p>
        </p:txBody>
      </p:sp>
      <p:sp>
        <p:nvSpPr>
          <p:cNvPr id="18" name="Step body 2"/>
          <p:cNvSpPr/>
          <p:nvPr/>
        </p:nvSpPr>
        <p:spPr>
          <a:xfrm>
            <a:off x="5925311" y="2441448"/>
            <a:ext cx="16733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54864" bIns="36576" rtlCol="0" anchor="t">
            <a:noAutofit/>
          </a:bodyPr>
          <a:lstStyle/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Sequence &amp; Activity Diagrams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Class Diagram + ERD update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UI Screen Design</a:t>
            </a:r>
          </a:p>
        </p:txBody>
      </p:sp>
      <p:pic>
        <p:nvPicPr>
          <p:cNvPr id="19" name="Step icon 2" descr="pencil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3" y="2496312"/>
            <a:ext cx="274320" cy="274320"/>
          </a:xfrm>
          <a:prstGeom prst="rect">
            <a:avLst/>
          </a:prstGeom>
        </p:spPr>
      </p:pic>
      <p:cxnSp>
        <p:nvCxnSpPr>
          <p:cNvPr id="20" name="Step arrow 2"/>
          <p:cNvCxnSpPr/>
          <p:nvPr/>
        </p:nvCxnSpPr>
        <p:spPr>
          <a:xfrm flipH="1">
            <a:off x="5806439" y="2157984"/>
            <a:ext cx="109728" cy="0"/>
          </a:xfrm>
          <a:prstGeom prst="line">
            <a:avLst/>
          </a:prstGeom>
          <a:ln w="25400">
            <a:solidFill>
              <a:srgbClr val="2F54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 head 3"/>
          <p:cNvSpPr/>
          <p:nvPr/>
        </p:nvSpPr>
        <p:spPr>
          <a:xfrm>
            <a:off x="4123943" y="1874519"/>
            <a:ext cx="1673352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 Implementation</a:t>
            </a:r>
          </a:p>
        </p:txBody>
      </p:sp>
      <p:sp>
        <p:nvSpPr>
          <p:cNvPr id="22" name="Step body 3"/>
          <p:cNvSpPr/>
          <p:nvPr/>
        </p:nvSpPr>
        <p:spPr>
          <a:xfrm>
            <a:off x="4123943" y="2441448"/>
            <a:ext cx="16733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54864" bIns="36576" rtlCol="0" anchor="t">
            <a:noAutofit/>
          </a:bodyPr>
          <a:lstStyle/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Feature branch per User Story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Unit tests with the code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Pull Request + CI</a:t>
            </a:r>
          </a:p>
        </p:txBody>
      </p:sp>
      <p:pic>
        <p:nvPicPr>
          <p:cNvPr id="23" name="Step icon 3" descr="cod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5" y="2496312"/>
            <a:ext cx="274320" cy="274320"/>
          </a:xfrm>
          <a:prstGeom prst="rect">
            <a:avLst/>
          </a:prstGeom>
        </p:spPr>
      </p:pic>
      <p:cxnSp>
        <p:nvCxnSpPr>
          <p:cNvPr id="24" name="Step arrow 3"/>
          <p:cNvCxnSpPr/>
          <p:nvPr/>
        </p:nvCxnSpPr>
        <p:spPr>
          <a:xfrm flipH="1">
            <a:off x="4005071" y="2157984"/>
            <a:ext cx="109728" cy="0"/>
          </a:xfrm>
          <a:prstGeom prst="line">
            <a:avLst/>
          </a:prstGeom>
          <a:ln w="25400">
            <a:solidFill>
              <a:srgbClr val="2F54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ep head 4"/>
          <p:cNvSpPr/>
          <p:nvPr/>
        </p:nvSpPr>
        <p:spPr>
          <a:xfrm>
            <a:off x="2322575" y="1874519"/>
            <a:ext cx="1673352" cy="566928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 Testing &amp; Review</a:t>
            </a:r>
          </a:p>
        </p:txBody>
      </p:sp>
      <p:sp>
        <p:nvSpPr>
          <p:cNvPr id="26" name="Step body 4"/>
          <p:cNvSpPr/>
          <p:nvPr/>
        </p:nvSpPr>
        <p:spPr>
          <a:xfrm>
            <a:off x="2322575" y="2441448"/>
            <a:ext cx="167335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84048" rIns="54864" bIns="36576" rtlCol="0" anchor="t">
            <a:noAutofit/>
          </a:bodyPr>
          <a:lstStyle/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Integration &amp; System Tests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Review with supervisors</a:t>
            </a:r>
          </a:p>
          <a:p>
            <a:pPr marL="228600" indent="-228600" algn="l" rtl="0">
              <a:spcBef>
                <a:spcPts val="0"/>
              </a:spcBef>
              <a:spcAft>
                <a:spcPts val="3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Retrospective + Release Tag</a:t>
            </a:r>
          </a:p>
        </p:txBody>
      </p:sp>
      <p:pic>
        <p:nvPicPr>
          <p:cNvPr id="27" name="Step icon 4" descr="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947" y="2496312"/>
            <a:ext cx="274320" cy="274320"/>
          </a:xfrm>
          <a:prstGeom prst="rect">
            <a:avLst/>
          </a:prstGeom>
        </p:spPr>
      </p:pic>
      <p:cxnSp>
        <p:nvCxnSpPr>
          <p:cNvPr id="28" name="Iter0 arrow"/>
          <p:cNvCxnSpPr/>
          <p:nvPr/>
        </p:nvCxnSpPr>
        <p:spPr>
          <a:xfrm flipH="1">
            <a:off x="9418319" y="2157984"/>
            <a:ext cx="237745" cy="0"/>
          </a:xfrm>
          <a:prstGeom prst="line">
            <a:avLst/>
          </a:prstGeom>
          <a:ln w="31750">
            <a:solidFill>
              <a:srgbClr val="2F54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Loop band"/>
          <p:cNvSpPr/>
          <p:nvPr/>
        </p:nvSpPr>
        <p:spPr>
          <a:xfrm>
            <a:off x="2322575" y="4224528"/>
            <a:ext cx="7077456" cy="438912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 w="9525">
            <a:solidFill>
              <a:srgbClr val="E07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↻ </a:t>
            </a:r>
            <a:r>
              <a:rPr lang="ar-SA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تتكرر هذه الدورة في أربعة</a:t>
            </a: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Sprints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من</a:t>
            </a: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2/11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حتى</a:t>
            </a: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27/12 </a:t>
            </a:r>
            <a:r>
              <a:rPr lang="ar-SY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، ثم يبدأ </a:t>
            </a: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Feature Freeze</a:t>
            </a:r>
            <a:endParaRPr lang="ar-SY" altLang="en-US" sz="1300" b="1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Release head"/>
          <p:cNvSpPr/>
          <p:nvPr/>
        </p:nvSpPr>
        <p:spPr>
          <a:xfrm>
            <a:off x="548640" y="1874519"/>
            <a:ext cx="164592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Release (S5)</a:t>
            </a:r>
            <a:endParaRPr lang="ar-SY" altLang="en-US" sz="15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Release body"/>
          <p:cNvSpPr/>
          <p:nvPr/>
        </p:nvSpPr>
        <p:spPr>
          <a:xfrm>
            <a:off x="548640" y="2441448"/>
            <a:ext cx="1645920" cy="2331720"/>
          </a:xfrm>
          <a:prstGeom prst="rect">
            <a:avLst/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bIns="36576" rtlCol="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200" b="1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28/12 – 10/1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System Testing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Performance Test (NFR-01)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Seminar 2</a:t>
            </a:r>
          </a:p>
          <a:p>
            <a:pPr marL="228600" indent="-228600" algn="l" rtl="0">
              <a:spcBef>
                <a:spcPts val="0"/>
              </a:spcBef>
              <a:spcAft>
                <a:spcPts val="1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Final Report</a:t>
            </a:r>
          </a:p>
        </p:txBody>
      </p:sp>
      <p:cxnSp>
        <p:nvCxnSpPr>
          <p:cNvPr id="32" name="Release arrow"/>
          <p:cNvCxnSpPr/>
          <p:nvPr/>
        </p:nvCxnSpPr>
        <p:spPr>
          <a:xfrm flipH="1">
            <a:off x="2212848" y="2157984"/>
            <a:ext cx="91439" cy="0"/>
          </a:xfrm>
          <a:prstGeom prst="line">
            <a:avLst/>
          </a:prstGeom>
          <a:ln w="31750">
            <a:solidFill>
              <a:srgbClr val="2F54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le 1"/>
          <p:cNvSpPr/>
          <p:nvPr/>
        </p:nvSpPr>
        <p:spPr>
          <a:xfrm>
            <a:off x="8970264" y="4956048"/>
            <a:ext cx="2670048" cy="548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altLang="en-US" sz="13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يمان المطر</a:t>
            </a:r>
            <a:r>
              <a:rPr lang="en-US" altLang="en-US" sz="13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Product Owner:</a:t>
            </a:r>
            <a:r>
              <a:rPr lang="en-US" altLang="en-US" sz="13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Role 2"/>
          <p:cNvSpPr/>
          <p:nvPr/>
        </p:nvSpPr>
        <p:spPr>
          <a:xfrm>
            <a:off x="6163056" y="4956048"/>
            <a:ext cx="2670048" cy="548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A" altLang="en-US" sz="13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يوسف الزعبي</a:t>
            </a: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Scrum Master: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Role 3"/>
          <p:cNvSpPr/>
          <p:nvPr/>
        </p:nvSpPr>
        <p:spPr>
          <a:xfrm>
            <a:off x="3355848" y="4956048"/>
            <a:ext cx="2670048" cy="548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ar-SY" altLang="en-US" sz="1300" i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الطلاب الثلاثة </a:t>
            </a: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Developers: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Role 4"/>
          <p:cNvSpPr/>
          <p:nvPr/>
        </p:nvSpPr>
        <p:spPr>
          <a:xfrm>
            <a:off x="548639" y="4956048"/>
            <a:ext cx="2670048" cy="548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Stakeholders: </a:t>
            </a:r>
            <a:endParaRPr lang="ar-SY" altLang="en-US" sz="13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المشرفان في كل</a:t>
            </a:r>
            <a:r>
              <a:rPr lang="en-US" altLang="en-US" sz="13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Sprint Review </a:t>
            </a:r>
            <a:endParaRPr lang="ar-SY" altLang="en-US" sz="13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Definition of Done"/>
          <p:cNvSpPr/>
          <p:nvPr/>
        </p:nvSpPr>
        <p:spPr>
          <a:xfrm>
            <a:off x="548640" y="5596128"/>
            <a:ext cx="1109167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:Definition of Done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الاختبارات ناجحة في</a:t>
            </a:r>
            <a:r>
              <a:rPr lang="en-US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CI +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المخططات محدّثة + قسم التقرير الخاص بالـ</a:t>
            </a:r>
            <a:r>
              <a:rPr lang="en-US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Sprint </a:t>
            </a:r>
            <a:r>
              <a:rPr lang="ar-SY" altLang="en-US" sz="14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مكتوب</a:t>
            </a:r>
          </a:p>
        </p:txBody>
      </p:sp>
    </p:spTree>
    <p:extLst>
      <p:ext uri="{BB962C8B-B14F-4D97-AF65-F5344CB8AC3E}">
        <p14:creationId xmlns:p14="http://schemas.microsoft.com/office/powerpoint/2010/main" val="2917219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9</a:t>
            </a:fld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معمارية النظام والأدوات المستخدمة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(System Architecture) 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ier client"/>
          <p:cNvSpPr/>
          <p:nvPr/>
        </p:nvSpPr>
        <p:spPr>
          <a:xfrm>
            <a:off x="548640" y="932688"/>
            <a:ext cx="7955280" cy="914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bIns="18288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Client Tier</a:t>
            </a:r>
          </a:p>
        </p:txBody>
      </p:sp>
      <p:sp>
        <p:nvSpPr>
          <p:cNvPr id="11" name="Client app"/>
          <p:cNvSpPr/>
          <p:nvPr/>
        </p:nvSpPr>
        <p:spPr>
          <a:xfrm>
            <a:off x="4526280" y="1188720"/>
            <a:ext cx="2971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B28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Respondent Mobile App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Flutter (Android / Web)</a:t>
            </a:r>
          </a:p>
        </p:txBody>
      </p:sp>
      <p:pic>
        <p:nvPicPr>
          <p:cNvPr id="12" name="Client app icon" descr="mobil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98448"/>
            <a:ext cx="347472" cy="347472"/>
          </a:xfrm>
          <a:prstGeom prst="rect">
            <a:avLst/>
          </a:prstGeom>
        </p:spPr>
      </p:pic>
      <p:sp>
        <p:nvSpPr>
          <p:cNvPr id="13" name="Client web"/>
          <p:cNvSpPr/>
          <p:nvPr/>
        </p:nvSpPr>
        <p:spPr>
          <a:xfrm>
            <a:off x="1463040" y="1188720"/>
            <a:ext cx="29718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7B28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Provider &amp; Admin Web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Browser — Django Templates</a:t>
            </a:r>
          </a:p>
        </p:txBody>
      </p:sp>
      <p:pic>
        <p:nvPicPr>
          <p:cNvPr id="14" name="Client web icon" descr="brows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298448"/>
            <a:ext cx="347472" cy="347472"/>
          </a:xfrm>
          <a:prstGeom prst="rect">
            <a:avLst/>
          </a:prstGeom>
        </p:spPr>
      </p:pic>
      <p:cxnSp>
        <p:nvCxnSpPr>
          <p:cNvPr id="15" name="Arrow app"/>
          <p:cNvCxnSpPr/>
          <p:nvPr/>
        </p:nvCxnSpPr>
        <p:spPr>
          <a:xfrm>
            <a:off x="6007608" y="1773936"/>
            <a:ext cx="0" cy="62179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 web"/>
          <p:cNvCxnSpPr/>
          <p:nvPr/>
        </p:nvCxnSpPr>
        <p:spPr>
          <a:xfrm>
            <a:off x="2944368" y="1773936"/>
            <a:ext cx="0" cy="621792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 REST"/>
          <p:cNvSpPr txBox="1"/>
          <p:nvPr/>
        </p:nvSpPr>
        <p:spPr>
          <a:xfrm>
            <a:off x="6080760" y="1847088"/>
            <a:ext cx="237744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HTTPS · REST / JSON · JWT</a:t>
            </a:r>
          </a:p>
        </p:txBody>
      </p:sp>
      <p:sp>
        <p:nvSpPr>
          <p:cNvPr id="18" name="Label HTML"/>
          <p:cNvSpPr txBox="1"/>
          <p:nvPr/>
        </p:nvSpPr>
        <p:spPr>
          <a:xfrm>
            <a:off x="3017520" y="1847088"/>
            <a:ext cx="146304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HTTPS · HTML</a:t>
            </a:r>
          </a:p>
        </p:txBody>
      </p:sp>
      <p:sp>
        <p:nvSpPr>
          <p:cNvPr id="19" name="Tier app"/>
          <p:cNvSpPr/>
          <p:nvPr/>
        </p:nvSpPr>
        <p:spPr>
          <a:xfrm>
            <a:off x="548640" y="2103120"/>
            <a:ext cx="7955280" cy="3154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bIns="18288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Application Tier — Django 4.2 Server</a:t>
            </a:r>
          </a:p>
        </p:txBody>
      </p:sp>
      <p:sp>
        <p:nvSpPr>
          <p:cNvPr id="20" name="Layer 1"/>
          <p:cNvSpPr/>
          <p:nvPr/>
        </p:nvSpPr>
        <p:spPr>
          <a:xfrm>
            <a:off x="2514600" y="2423160"/>
            <a:ext cx="5852160" cy="78638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18288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Presentation Layer</a:t>
            </a:r>
          </a:p>
        </p:txBody>
      </p:sp>
      <p:sp>
        <p:nvSpPr>
          <p:cNvPr id="21" name="Comp 1-1"/>
          <p:cNvSpPr/>
          <p:nvPr/>
        </p:nvSpPr>
        <p:spPr>
          <a:xfrm>
            <a:off x="2651760" y="2734056"/>
            <a:ext cx="2720340" cy="384048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DRF API Views + Serializers</a:t>
            </a:r>
          </a:p>
        </p:txBody>
      </p:sp>
      <p:sp>
        <p:nvSpPr>
          <p:cNvPr id="22" name="Comp 1-2"/>
          <p:cNvSpPr/>
          <p:nvPr/>
        </p:nvSpPr>
        <p:spPr>
          <a:xfrm>
            <a:off x="5509260" y="2734056"/>
            <a:ext cx="2720340" cy="384048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Django Views + Templates (MVT)</a:t>
            </a:r>
          </a:p>
        </p:txBody>
      </p:sp>
      <p:cxnSp>
        <p:nvCxnSpPr>
          <p:cNvPr id="23" name="Layer arrow 1"/>
          <p:cNvCxnSpPr/>
          <p:nvPr/>
        </p:nvCxnSpPr>
        <p:spPr>
          <a:xfrm>
            <a:off x="5440680" y="3218688"/>
            <a:ext cx="0" cy="118872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ayer 2"/>
          <p:cNvSpPr/>
          <p:nvPr/>
        </p:nvSpPr>
        <p:spPr>
          <a:xfrm>
            <a:off x="2514600" y="3337560"/>
            <a:ext cx="5852160" cy="78638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18288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Business Layer</a:t>
            </a:r>
          </a:p>
        </p:txBody>
      </p:sp>
      <p:sp>
        <p:nvSpPr>
          <p:cNvPr id="25" name="Comp 2-1"/>
          <p:cNvSpPr/>
          <p:nvPr/>
        </p:nvSpPr>
        <p:spPr>
          <a:xfrm>
            <a:off x="2651760" y="3648456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Services — Service Layer pattern</a:t>
            </a:r>
          </a:p>
        </p:txBody>
      </p:sp>
      <p:cxnSp>
        <p:nvCxnSpPr>
          <p:cNvPr id="26" name="Layer arrow 2"/>
          <p:cNvCxnSpPr/>
          <p:nvPr/>
        </p:nvCxnSpPr>
        <p:spPr>
          <a:xfrm>
            <a:off x="5440680" y="4133087"/>
            <a:ext cx="0" cy="118873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yer 3"/>
          <p:cNvSpPr/>
          <p:nvPr/>
        </p:nvSpPr>
        <p:spPr>
          <a:xfrm>
            <a:off x="2514600" y="4251960"/>
            <a:ext cx="5852160" cy="786384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18288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Data Source Layer</a:t>
            </a:r>
          </a:p>
        </p:txBody>
      </p:sp>
      <p:sp>
        <p:nvSpPr>
          <p:cNvPr id="28" name="Comp 3-1"/>
          <p:cNvSpPr/>
          <p:nvPr/>
        </p:nvSpPr>
        <p:spPr>
          <a:xfrm>
            <a:off x="2651760" y="4562856"/>
            <a:ext cx="2720340" cy="384048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Repositories — Repository pattern</a:t>
            </a:r>
          </a:p>
        </p:txBody>
      </p:sp>
      <p:sp>
        <p:nvSpPr>
          <p:cNvPr id="29" name="Comp 3-2"/>
          <p:cNvSpPr/>
          <p:nvPr/>
        </p:nvSpPr>
        <p:spPr>
          <a:xfrm>
            <a:off x="5509260" y="4562856"/>
            <a:ext cx="2720340" cy="384048"/>
          </a:xfrm>
          <a:prstGeom prst="roundRect">
            <a:avLst>
              <a:gd name="adj" fmla="val 1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HuggingFaceClient — Gateway pattern</a:t>
            </a:r>
          </a:p>
        </p:txBody>
      </p:sp>
      <p:sp>
        <p:nvSpPr>
          <p:cNvPr id="30" name="Domain model"/>
          <p:cNvSpPr/>
          <p:nvPr/>
        </p:nvSpPr>
        <p:spPr>
          <a:xfrm>
            <a:off x="713232" y="3337560"/>
            <a:ext cx="160020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F5496"/>
            </a:solidFill>
          </a:ln>
          <a:effectLst>
            <a:outerShdw blurRad="38100" dist="127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0" rIns="36576" bIns="36576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Domain Model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Django Models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(Active Record)</a:t>
            </a:r>
          </a:p>
        </p:txBody>
      </p:sp>
      <p:pic>
        <p:nvPicPr>
          <p:cNvPr id="31" name="Domain icon" descr="cub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3401568"/>
            <a:ext cx="310896" cy="310896"/>
          </a:xfrm>
          <a:prstGeom prst="rect">
            <a:avLst/>
          </a:prstGeom>
        </p:spPr>
      </p:pic>
      <p:cxnSp>
        <p:nvCxnSpPr>
          <p:cNvPr id="32" name="Uses domain business"/>
          <p:cNvCxnSpPr/>
          <p:nvPr/>
        </p:nvCxnSpPr>
        <p:spPr>
          <a:xfrm flipH="1">
            <a:off x="2331720" y="3730752"/>
            <a:ext cx="182880" cy="0"/>
          </a:xfrm>
          <a:prstGeom prst="line">
            <a:avLst/>
          </a:prstGeom>
          <a:ln w="15875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Uses domain data"/>
          <p:cNvCxnSpPr/>
          <p:nvPr/>
        </p:nvCxnSpPr>
        <p:spPr>
          <a:xfrm flipH="1">
            <a:off x="2331720" y="4645152"/>
            <a:ext cx="182880" cy="0"/>
          </a:xfrm>
          <a:prstGeom prst="line">
            <a:avLst/>
          </a:prstGeom>
          <a:ln w="15875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atabase"/>
          <p:cNvSpPr/>
          <p:nvPr/>
        </p:nvSpPr>
        <p:spPr>
          <a:xfrm>
            <a:off x="2686050" y="5432060"/>
            <a:ext cx="2651760" cy="713232"/>
          </a:xfrm>
          <a:prstGeom prst="can">
            <a:avLst/>
          </a:prstGeom>
          <a:solidFill>
            <a:srgbClr val="EEF3FA"/>
          </a:solidFill>
          <a:ln w="15875">
            <a:solidFill>
              <a:srgbClr val="2F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0972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Data Tier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15 (Docker)</a:t>
            </a:r>
          </a:p>
        </p:txBody>
      </p:sp>
      <p:cxnSp>
        <p:nvCxnSpPr>
          <p:cNvPr id="35" name="Arrow db"/>
          <p:cNvCxnSpPr/>
          <p:nvPr/>
        </p:nvCxnSpPr>
        <p:spPr>
          <a:xfrm>
            <a:off x="4041648" y="4956048"/>
            <a:ext cx="0" cy="621792"/>
          </a:xfrm>
          <a:prstGeom prst="line">
            <a:avLst/>
          </a:prstGeom>
          <a:ln w="22225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xternal AI"/>
          <p:cNvSpPr/>
          <p:nvPr/>
        </p:nvSpPr>
        <p:spPr>
          <a:xfrm>
            <a:off x="5852160" y="5468112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36576" bIns="18288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External System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Sentiment Model API</a:t>
            </a:r>
          </a:p>
        </p:txBody>
      </p:sp>
      <p:pic>
        <p:nvPicPr>
          <p:cNvPr id="37" name="AI icon" descr="brain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5650992"/>
            <a:ext cx="347472" cy="347472"/>
          </a:xfrm>
          <a:prstGeom prst="rect">
            <a:avLst/>
          </a:prstGeom>
        </p:spPr>
      </p:pic>
      <p:cxnSp>
        <p:nvCxnSpPr>
          <p:cNvPr id="38" name="Arrow ai"/>
          <p:cNvCxnSpPr/>
          <p:nvPr/>
        </p:nvCxnSpPr>
        <p:spPr>
          <a:xfrm>
            <a:off x="7178040" y="4956048"/>
            <a:ext cx="0" cy="512064"/>
          </a:xfrm>
          <a:prstGeom prst="line">
            <a:avLst/>
          </a:prstGeom>
          <a:ln w="1587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tyles"/>
          <p:cNvSpPr/>
          <p:nvPr/>
        </p:nvSpPr>
        <p:spPr>
          <a:xfrm>
            <a:off x="8686800" y="932688"/>
            <a:ext cx="2953512" cy="1810512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Architectural Styles</a:t>
            </a:r>
          </a:p>
          <a:p>
            <a:pPr marL="228600" indent="-22860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Client–Server (3-Tier) </a:t>
            </a:r>
            <a:r>
              <a:rPr lang="en-US" altLang="en-US" sz="105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[22]</a:t>
            </a:r>
          </a:p>
          <a:p>
            <a:pPr marL="228600" indent="-22860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Layered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[22][23]</a:t>
            </a:r>
          </a:p>
          <a:p>
            <a:pPr marL="228600" indent="-22860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REST </a:t>
            </a:r>
            <a:r>
              <a:rPr lang="en-US" altLang="en-US" sz="105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[24]</a:t>
            </a:r>
          </a:p>
          <a:p>
            <a:pPr marL="228600" indent="-228600" algn="l" rtl="0">
              <a:spcBef>
                <a:spcPts val="0"/>
              </a:spcBef>
              <a:spcAft>
                <a:spcPts val="400"/>
              </a:spcAft>
              <a:buClr>
                <a:srgbClr val="2F5496"/>
              </a:buClr>
              <a:buFont typeface="Arial"/>
              <a:buChar char="■"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MVT (Django</a:t>
            </a:r>
            <a:r>
              <a:rPr lang="en-US" altLang="en-US" sz="105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) [25]</a:t>
            </a:r>
            <a:endParaRPr lang="en-US" altLang="en-US" sz="12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Design Patterns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Service Layer · Repository · Active Record · Gateway </a:t>
            </a:r>
            <a:r>
              <a:rPr lang="en-US" altLang="en-US" sz="105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[23]</a:t>
            </a:r>
            <a:endParaRPr lang="en-US" altLang="en-US" sz="12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Legend"/>
          <p:cNvSpPr/>
          <p:nvPr/>
        </p:nvSpPr>
        <p:spPr>
          <a:xfrm>
            <a:off x="8686800" y="2834640"/>
            <a:ext cx="295351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Legend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Grey frame = Tier (physical)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Blue frame = Layer (logical)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Dark-blue block = Component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Cylinder = Database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Solid arrow = request / call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Dashed = external call or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         uses the Domain Model</a:t>
            </a:r>
          </a:p>
        </p:txBody>
      </p:sp>
      <p:sp>
        <p:nvSpPr>
          <p:cNvPr id="41" name="Tools"/>
          <p:cNvSpPr/>
          <p:nvPr/>
        </p:nvSpPr>
        <p:spPr>
          <a:xfrm>
            <a:off x="8686800" y="4663439"/>
            <a:ext cx="2953512" cy="1867989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altLang="en-US" sz="14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Backend: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Python · Django · DRF · </a:t>
            </a:r>
            <a:r>
              <a:rPr lang="en-US" altLang="en-US" sz="1200" b="0" i="0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SimpleJWT</a:t>
            </a:r>
            <a:endParaRPr lang="en-US" altLang="en-US" sz="12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Data: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· Docker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Mobile: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Flutter · Dart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DevOps: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Git · GitHub · GitHub Actions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Management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: GitHub Projects (Product Backlog + Sprint Board)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Modeling: </a:t>
            </a:r>
            <a:r>
              <a:rPr lang="en-US" altLang="en-US" sz="12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Mermaid · Canva</a:t>
            </a:r>
          </a:p>
        </p:txBody>
      </p:sp>
      <p:sp>
        <p:nvSpPr>
          <p:cNvPr id="42" name="Basis"/>
          <p:cNvSpPr txBox="1"/>
          <p:nvPr/>
        </p:nvSpPr>
        <p:spPr>
          <a:xfrm>
            <a:off x="548640" y="6199632"/>
            <a:ext cx="4572000" cy="1828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Basis: develop @ 0789e8b · Fowler PoEAA (Ch. 1, 3) · Sommerville Ch. 6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86D7-737F-883F-4763-97835B7B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7AA4-2DE6-2DB1-C9EE-4F0AC41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8C7D9-B29E-EE99-58C1-F5694697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10</a:t>
            </a:fld>
            <a:endParaRPr lang="en-US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3184BE27-27D0-9F26-4991-C1922E4AD8DB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خطة تنفيذ المشروع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(Gantt Chart)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Month 0"/>
          <p:cNvSpPr/>
          <p:nvPr/>
        </p:nvSpPr>
        <p:spPr>
          <a:xfrm>
            <a:off x="7603274" y="914400"/>
            <a:ext cx="845781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أكتوبر</a:t>
            </a:r>
          </a:p>
        </p:txBody>
      </p:sp>
      <p:sp>
        <p:nvSpPr>
          <p:cNvPr id="9" name="Month 1"/>
          <p:cNvSpPr/>
          <p:nvPr/>
        </p:nvSpPr>
        <p:spPr>
          <a:xfrm>
            <a:off x="5609267" y="914400"/>
            <a:ext cx="1975718" cy="329184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نوفمبر</a:t>
            </a: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2026</a:t>
            </a:r>
            <a:endParaRPr lang="ar-SY" altLang="en-US" sz="12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Month 2"/>
          <p:cNvSpPr/>
          <p:nvPr/>
        </p:nvSpPr>
        <p:spPr>
          <a:xfrm>
            <a:off x="3548794" y="914400"/>
            <a:ext cx="2042185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ديسمبر</a:t>
            </a: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2026</a:t>
            </a:r>
            <a:endParaRPr lang="ar-SY" altLang="en-US" sz="12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Month 3"/>
          <p:cNvSpPr/>
          <p:nvPr/>
        </p:nvSpPr>
        <p:spPr>
          <a:xfrm>
            <a:off x="1488320" y="914400"/>
            <a:ext cx="2042185" cy="329184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يناير</a:t>
            </a: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2027</a:t>
            </a:r>
            <a:endParaRPr lang="ar-SY" altLang="en-US" sz="12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Month 4"/>
          <p:cNvSpPr/>
          <p:nvPr/>
        </p:nvSpPr>
        <p:spPr>
          <a:xfrm>
            <a:off x="557783" y="914400"/>
            <a:ext cx="912248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فبراير</a:t>
            </a: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2027</a:t>
            </a:r>
            <a:endParaRPr lang="ar-SY" altLang="en-US" sz="1200" b="1" i="0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Label head"/>
          <p:cNvSpPr/>
          <p:nvPr/>
        </p:nvSpPr>
        <p:spPr>
          <a:xfrm>
            <a:off x="8549640" y="914400"/>
            <a:ext cx="3090672" cy="32918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Phase / Requirements</a:t>
            </a:r>
          </a:p>
        </p:txBody>
      </p:sp>
      <p:cxnSp>
        <p:nvCxnSpPr>
          <p:cNvPr id="14" name="Week 0"/>
          <p:cNvCxnSpPr/>
          <p:nvPr/>
        </p:nvCxnSpPr>
        <p:spPr>
          <a:xfrm>
            <a:off x="8458200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Week 1"/>
          <p:cNvCxnSpPr/>
          <p:nvPr/>
        </p:nvCxnSpPr>
        <p:spPr>
          <a:xfrm>
            <a:off x="7992931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Week 2"/>
          <p:cNvCxnSpPr/>
          <p:nvPr/>
        </p:nvCxnSpPr>
        <p:spPr>
          <a:xfrm>
            <a:off x="7527663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Week 3"/>
          <p:cNvCxnSpPr/>
          <p:nvPr/>
        </p:nvCxnSpPr>
        <p:spPr>
          <a:xfrm>
            <a:off x="7062395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Week 4"/>
          <p:cNvCxnSpPr/>
          <p:nvPr/>
        </p:nvCxnSpPr>
        <p:spPr>
          <a:xfrm>
            <a:off x="6597127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Week 5"/>
          <p:cNvCxnSpPr/>
          <p:nvPr/>
        </p:nvCxnSpPr>
        <p:spPr>
          <a:xfrm>
            <a:off x="6131858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Week 6"/>
          <p:cNvCxnSpPr/>
          <p:nvPr/>
        </p:nvCxnSpPr>
        <p:spPr>
          <a:xfrm>
            <a:off x="5666590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Week 7"/>
          <p:cNvCxnSpPr/>
          <p:nvPr/>
        </p:nvCxnSpPr>
        <p:spPr>
          <a:xfrm>
            <a:off x="5201322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Week 8"/>
          <p:cNvCxnSpPr/>
          <p:nvPr/>
        </p:nvCxnSpPr>
        <p:spPr>
          <a:xfrm>
            <a:off x="4736054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Week 9"/>
          <p:cNvCxnSpPr/>
          <p:nvPr/>
        </p:nvCxnSpPr>
        <p:spPr>
          <a:xfrm>
            <a:off x="4270785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Week 10"/>
          <p:cNvCxnSpPr/>
          <p:nvPr/>
        </p:nvCxnSpPr>
        <p:spPr>
          <a:xfrm>
            <a:off x="3805517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Week 11"/>
          <p:cNvCxnSpPr/>
          <p:nvPr/>
        </p:nvCxnSpPr>
        <p:spPr>
          <a:xfrm>
            <a:off x="3340249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Week 12"/>
          <p:cNvCxnSpPr/>
          <p:nvPr/>
        </p:nvCxnSpPr>
        <p:spPr>
          <a:xfrm>
            <a:off x="2874981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Week 13"/>
          <p:cNvCxnSpPr/>
          <p:nvPr/>
        </p:nvCxnSpPr>
        <p:spPr>
          <a:xfrm>
            <a:off x="2409712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Week 14"/>
          <p:cNvCxnSpPr/>
          <p:nvPr/>
        </p:nvCxnSpPr>
        <p:spPr>
          <a:xfrm>
            <a:off x="1944444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Week 15"/>
          <p:cNvCxnSpPr/>
          <p:nvPr/>
        </p:nvCxnSpPr>
        <p:spPr>
          <a:xfrm>
            <a:off x="1479176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Week 16"/>
          <p:cNvCxnSpPr/>
          <p:nvPr/>
        </p:nvCxnSpPr>
        <p:spPr>
          <a:xfrm>
            <a:off x="1013908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Week 17"/>
          <p:cNvCxnSpPr/>
          <p:nvPr/>
        </p:nvCxnSpPr>
        <p:spPr>
          <a:xfrm>
            <a:off x="548639" y="1316736"/>
            <a:ext cx="0" cy="4169664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w label 0"/>
          <p:cNvSpPr/>
          <p:nvPr/>
        </p:nvSpPr>
        <p:spPr>
          <a:xfrm>
            <a:off x="8549640" y="1316736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Iteration 0: Envisioning + Prototype</a:t>
            </a:r>
          </a:p>
        </p:txBody>
      </p:sp>
      <p:sp>
        <p:nvSpPr>
          <p:cNvPr id="33" name="Bar 0-0"/>
          <p:cNvSpPr/>
          <p:nvPr/>
        </p:nvSpPr>
        <p:spPr>
          <a:xfrm>
            <a:off x="7869141" y="1380744"/>
            <a:ext cx="380513" cy="219456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Bar 0-1"/>
          <p:cNvSpPr/>
          <p:nvPr/>
        </p:nvSpPr>
        <p:spPr>
          <a:xfrm>
            <a:off x="7603274" y="1380744"/>
            <a:ext cx="247579" cy="219456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S0</a:t>
            </a:r>
          </a:p>
        </p:txBody>
      </p:sp>
      <p:sp>
        <p:nvSpPr>
          <p:cNvPr id="35" name="Row label 1"/>
          <p:cNvSpPr/>
          <p:nvPr/>
        </p:nvSpPr>
        <p:spPr>
          <a:xfrm>
            <a:off x="8549640" y="1664207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1: FR-01, FR-02, FR-06, FR-08, FR-16</a:t>
            </a:r>
          </a:p>
        </p:txBody>
      </p:sp>
      <p:sp>
        <p:nvSpPr>
          <p:cNvPr id="36" name="Bar 1-0"/>
          <p:cNvSpPr/>
          <p:nvPr/>
        </p:nvSpPr>
        <p:spPr>
          <a:xfrm>
            <a:off x="7337406" y="1728216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Bar 1-1"/>
          <p:cNvSpPr/>
          <p:nvPr/>
        </p:nvSpPr>
        <p:spPr>
          <a:xfrm>
            <a:off x="6805671" y="1728216"/>
            <a:ext cx="513447" cy="219456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S1</a:t>
            </a:r>
          </a:p>
        </p:txBody>
      </p:sp>
      <p:sp>
        <p:nvSpPr>
          <p:cNvPr id="38" name="Bar 1-2"/>
          <p:cNvSpPr/>
          <p:nvPr/>
        </p:nvSpPr>
        <p:spPr>
          <a:xfrm>
            <a:off x="6606271" y="1728216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Row label 2"/>
          <p:cNvSpPr/>
          <p:nvPr/>
        </p:nvSpPr>
        <p:spPr>
          <a:xfrm>
            <a:off x="8549640" y="2011680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2: FR-03, FR-04, FR-07, FR-09 + Eval</a:t>
            </a:r>
          </a:p>
        </p:txBody>
      </p:sp>
      <p:sp>
        <p:nvSpPr>
          <p:cNvPr id="40" name="Bar 2-0"/>
          <p:cNvSpPr/>
          <p:nvPr/>
        </p:nvSpPr>
        <p:spPr>
          <a:xfrm>
            <a:off x="6406870" y="2075688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1" name="Bar 2-1"/>
          <p:cNvSpPr/>
          <p:nvPr/>
        </p:nvSpPr>
        <p:spPr>
          <a:xfrm>
            <a:off x="5875135" y="2075688"/>
            <a:ext cx="513447" cy="219456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S2</a:t>
            </a:r>
          </a:p>
        </p:txBody>
      </p:sp>
      <p:sp>
        <p:nvSpPr>
          <p:cNvPr id="42" name="Bar 2-2"/>
          <p:cNvSpPr/>
          <p:nvPr/>
        </p:nvSpPr>
        <p:spPr>
          <a:xfrm>
            <a:off x="5675734" y="2075688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Row label 3"/>
          <p:cNvSpPr/>
          <p:nvPr/>
        </p:nvSpPr>
        <p:spPr>
          <a:xfrm>
            <a:off x="8549640" y="2359152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3: FR-05, FR-10, FR-11, FR-12</a:t>
            </a:r>
          </a:p>
        </p:txBody>
      </p:sp>
      <p:sp>
        <p:nvSpPr>
          <p:cNvPr id="44" name="Bar 3-0"/>
          <p:cNvSpPr/>
          <p:nvPr/>
        </p:nvSpPr>
        <p:spPr>
          <a:xfrm>
            <a:off x="5476333" y="2423160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Bar 3-1"/>
          <p:cNvSpPr/>
          <p:nvPr/>
        </p:nvSpPr>
        <p:spPr>
          <a:xfrm>
            <a:off x="4944598" y="2423160"/>
            <a:ext cx="513447" cy="219456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S3</a:t>
            </a:r>
          </a:p>
        </p:txBody>
      </p:sp>
      <p:sp>
        <p:nvSpPr>
          <p:cNvPr id="46" name="Bar 3-2"/>
          <p:cNvSpPr/>
          <p:nvPr/>
        </p:nvSpPr>
        <p:spPr>
          <a:xfrm>
            <a:off x="4745198" y="2423160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Row label 4"/>
          <p:cNvSpPr/>
          <p:nvPr/>
        </p:nvSpPr>
        <p:spPr>
          <a:xfrm>
            <a:off x="8549640" y="2706624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Sprint 4: FR-13 – FR-15 + FR-17 – FR-20</a:t>
            </a:r>
          </a:p>
        </p:txBody>
      </p:sp>
      <p:sp>
        <p:nvSpPr>
          <p:cNvPr id="48" name="Bar 4-0"/>
          <p:cNvSpPr/>
          <p:nvPr/>
        </p:nvSpPr>
        <p:spPr>
          <a:xfrm>
            <a:off x="4545797" y="2770632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Bar 4-1"/>
          <p:cNvSpPr/>
          <p:nvPr/>
        </p:nvSpPr>
        <p:spPr>
          <a:xfrm>
            <a:off x="4014062" y="2770632"/>
            <a:ext cx="513447" cy="219456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S4</a:t>
            </a:r>
          </a:p>
        </p:txBody>
      </p:sp>
      <p:sp>
        <p:nvSpPr>
          <p:cNvPr id="50" name="Bar 4-2"/>
          <p:cNvSpPr/>
          <p:nvPr/>
        </p:nvSpPr>
        <p:spPr>
          <a:xfrm>
            <a:off x="3814661" y="2770632"/>
            <a:ext cx="181112" cy="219456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Row label 5"/>
          <p:cNvSpPr/>
          <p:nvPr/>
        </p:nvSpPr>
        <p:spPr>
          <a:xfrm>
            <a:off x="8549640" y="3054096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Release (S5): System &amp; Performance Tests</a:t>
            </a:r>
          </a:p>
        </p:txBody>
      </p:sp>
      <p:sp>
        <p:nvSpPr>
          <p:cNvPr id="52" name="Bar 5-0"/>
          <p:cNvSpPr/>
          <p:nvPr/>
        </p:nvSpPr>
        <p:spPr>
          <a:xfrm>
            <a:off x="2884125" y="3118103"/>
            <a:ext cx="912248" cy="219456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Row label 6"/>
          <p:cNvSpPr/>
          <p:nvPr/>
        </p:nvSpPr>
        <p:spPr>
          <a:xfrm>
            <a:off x="8549640" y="3401568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Report Writing (every Sprint)</a:t>
            </a:r>
          </a:p>
        </p:txBody>
      </p:sp>
      <p:sp>
        <p:nvSpPr>
          <p:cNvPr id="54" name="Bar 6-0"/>
          <p:cNvSpPr/>
          <p:nvPr/>
        </p:nvSpPr>
        <p:spPr>
          <a:xfrm>
            <a:off x="2551790" y="3465576"/>
            <a:ext cx="4966728" cy="219456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" name="Row label 7"/>
          <p:cNvSpPr/>
          <p:nvPr/>
        </p:nvSpPr>
        <p:spPr>
          <a:xfrm>
            <a:off x="8549640" y="3749039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◆ Seminar 1 — 1/11</a:t>
            </a:r>
          </a:p>
        </p:txBody>
      </p:sp>
      <p:sp>
        <p:nvSpPr>
          <p:cNvPr id="56" name="Milestone 7"/>
          <p:cNvSpPr/>
          <p:nvPr/>
        </p:nvSpPr>
        <p:spPr>
          <a:xfrm>
            <a:off x="7466114" y="3794759"/>
            <a:ext cx="256032" cy="25603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Row label 8"/>
          <p:cNvSpPr/>
          <p:nvPr/>
        </p:nvSpPr>
        <p:spPr>
          <a:xfrm>
            <a:off x="8549640" y="4096512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◆ Seminar 2 — 2–5/1</a:t>
            </a:r>
          </a:p>
        </p:txBody>
      </p:sp>
      <p:sp>
        <p:nvSpPr>
          <p:cNvPr id="58" name="Bar 8-0"/>
          <p:cNvSpPr/>
          <p:nvPr/>
        </p:nvSpPr>
        <p:spPr>
          <a:xfrm>
            <a:off x="3216459" y="4160520"/>
            <a:ext cx="247579" cy="21945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Row label 9"/>
          <p:cNvSpPr/>
          <p:nvPr/>
        </p:nvSpPr>
        <p:spPr>
          <a:xfrm>
            <a:off x="8549640" y="4443983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◆ Report Submission — 16–19/1</a:t>
            </a:r>
          </a:p>
        </p:txBody>
      </p:sp>
      <p:sp>
        <p:nvSpPr>
          <p:cNvPr id="60" name="Bar 9-0"/>
          <p:cNvSpPr/>
          <p:nvPr/>
        </p:nvSpPr>
        <p:spPr>
          <a:xfrm>
            <a:off x="2285923" y="4507992"/>
            <a:ext cx="247579" cy="21945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Row label 10"/>
          <p:cNvSpPr/>
          <p:nvPr/>
        </p:nvSpPr>
        <p:spPr>
          <a:xfrm>
            <a:off x="8549640" y="4791456"/>
            <a:ext cx="3090672" cy="3474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◆ Code Audit Interview — 27/1–4/2</a:t>
            </a:r>
          </a:p>
        </p:txBody>
      </p:sp>
      <p:sp>
        <p:nvSpPr>
          <p:cNvPr id="62" name="Bar 10-0"/>
          <p:cNvSpPr/>
          <p:nvPr/>
        </p:nvSpPr>
        <p:spPr>
          <a:xfrm>
            <a:off x="1222452" y="4855464"/>
            <a:ext cx="579914" cy="21945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3" name="Row label 11"/>
          <p:cNvSpPr/>
          <p:nvPr/>
        </p:nvSpPr>
        <p:spPr>
          <a:xfrm>
            <a:off x="8549640" y="5138927"/>
            <a:ext cx="3090672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36576" bIns="0" rtlCol="0" anchor="ctr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◆ Final Judging — 6–9/2</a:t>
            </a:r>
          </a:p>
        </p:txBody>
      </p:sp>
      <p:sp>
        <p:nvSpPr>
          <p:cNvPr id="64" name="Bar 11-0"/>
          <p:cNvSpPr/>
          <p:nvPr/>
        </p:nvSpPr>
        <p:spPr>
          <a:xfrm>
            <a:off x="890118" y="5202936"/>
            <a:ext cx="247579" cy="219456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5" name="Feature freeze"/>
          <p:cNvCxnSpPr/>
          <p:nvPr/>
        </p:nvCxnSpPr>
        <p:spPr>
          <a:xfrm>
            <a:off x="3805517" y="1271016"/>
            <a:ext cx="0" cy="2478023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eature freeze label"/>
          <p:cNvSpPr txBox="1"/>
          <p:nvPr/>
        </p:nvSpPr>
        <p:spPr>
          <a:xfrm>
            <a:off x="2205317" y="1353312"/>
            <a:ext cx="155448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 i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Feature Freeze 27/12</a:t>
            </a:r>
          </a:p>
        </p:txBody>
      </p:sp>
      <p:sp>
        <p:nvSpPr>
          <p:cNvPr id="67" name="Legend chip Design"/>
          <p:cNvSpPr/>
          <p:nvPr/>
        </p:nvSpPr>
        <p:spPr>
          <a:xfrm>
            <a:off x="11347704" y="5632703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FA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Legend text Design"/>
          <p:cNvSpPr txBox="1"/>
          <p:nvPr/>
        </p:nvSpPr>
        <p:spPr>
          <a:xfrm>
            <a:off x="9491472" y="5577840"/>
            <a:ext cx="1810512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69" name="Legend chip Implem"/>
          <p:cNvSpPr/>
          <p:nvPr/>
        </p:nvSpPr>
        <p:spPr>
          <a:xfrm>
            <a:off x="9107424" y="5632703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0" name="Legend text Implem"/>
          <p:cNvSpPr txBox="1"/>
          <p:nvPr/>
        </p:nvSpPr>
        <p:spPr>
          <a:xfrm>
            <a:off x="7251192" y="5577840"/>
            <a:ext cx="1810512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Implementation + Tests</a:t>
            </a:r>
          </a:p>
        </p:txBody>
      </p:sp>
      <p:sp>
        <p:nvSpPr>
          <p:cNvPr id="71" name="Legend chip Testin"/>
          <p:cNvSpPr/>
          <p:nvPr/>
        </p:nvSpPr>
        <p:spPr>
          <a:xfrm>
            <a:off x="6867144" y="5632703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E07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2" name="Legend text Testin"/>
          <p:cNvSpPr txBox="1"/>
          <p:nvPr/>
        </p:nvSpPr>
        <p:spPr>
          <a:xfrm>
            <a:off x="5010912" y="5577840"/>
            <a:ext cx="1810512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Testing &amp; Review</a:t>
            </a:r>
          </a:p>
        </p:txBody>
      </p:sp>
      <p:sp>
        <p:nvSpPr>
          <p:cNvPr id="73" name="Legend chip Report"/>
          <p:cNvSpPr/>
          <p:nvPr/>
        </p:nvSpPr>
        <p:spPr>
          <a:xfrm>
            <a:off x="4626864" y="5632703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Legend text Report"/>
          <p:cNvSpPr txBox="1"/>
          <p:nvPr/>
        </p:nvSpPr>
        <p:spPr>
          <a:xfrm>
            <a:off x="2770632" y="5577840"/>
            <a:ext cx="1810512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Report</a:t>
            </a:r>
          </a:p>
        </p:txBody>
      </p:sp>
      <p:sp>
        <p:nvSpPr>
          <p:cNvPr id="75" name="Legend chip Univer"/>
          <p:cNvSpPr/>
          <p:nvPr/>
        </p:nvSpPr>
        <p:spPr>
          <a:xfrm>
            <a:off x="2386584" y="5632703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endParaRPr lang="ar-SY" altLang="en-US" sz="800" b="0" i="0" dirty="0">
              <a:solidFill>
                <a:srgbClr val="1A1A1A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6" name="Legend text Univer"/>
          <p:cNvSpPr txBox="1"/>
          <p:nvPr/>
        </p:nvSpPr>
        <p:spPr>
          <a:xfrm>
            <a:off x="530352" y="5577840"/>
            <a:ext cx="1810512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University Milestone</a:t>
            </a:r>
          </a:p>
        </p:txBody>
      </p:sp>
      <p:sp>
        <p:nvSpPr>
          <p:cNvPr id="77" name="Gantt note"/>
          <p:cNvSpPr txBox="1"/>
          <p:nvPr/>
        </p:nvSpPr>
        <p:spPr>
          <a:xfrm>
            <a:off x="548640" y="5879592"/>
            <a:ext cx="11091672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الزمن يتقدم من اليمين إلى اليسار، والخطوط الرمادية تفصل الأسابيع. كل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Sprint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أسبوعان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: Design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ثم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Implementation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ثم</a:t>
            </a:r>
            <a:r>
              <a:rPr lang="en-US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 Testing &amp; Review </a:t>
            </a:r>
            <a:r>
              <a:rPr lang="ar-SY" altLang="en-US" sz="1100" b="0" i="0" dirty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مع المشرف.</a:t>
            </a:r>
          </a:p>
        </p:txBody>
      </p:sp>
    </p:spTree>
    <p:extLst>
      <p:ext uri="{BB962C8B-B14F-4D97-AF65-F5344CB8AC3E}">
        <p14:creationId xmlns:p14="http://schemas.microsoft.com/office/powerpoint/2010/main" val="1184324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F87B-DB91-279C-A082-B365333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01/11/2026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2DDC9-5CB8-7BD5-C787-157F1291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مشروع تخرج</a:t>
            </a:r>
            <a:r>
              <a:rPr lang="en-US" altLang="en-US" sz="1200" b="0" i="0" dirty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1</a:t>
            </a:r>
            <a:endParaRPr lang="ar-SY" altLang="en-US" sz="1200" b="0" i="0" dirty="0">
              <a:solidFill>
                <a:srgbClr val="7F7F7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69BB-1E0D-E2FB-517B-56C9C8D1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1977B-EEE1-4D56-A6CE-8035002D8A82}" type="slidenum">
              <a:rPr lang="en-US" smtClean="0">
                <a:latin typeface="Times New Roman"/>
                <a:cs typeface="Times New Roman"/>
              </a:rPr>
              <a:t>11</a:t>
            </a:fld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F4D8816-9B85-AB6D-1909-13902986402F}"/>
              </a:ext>
            </a:extLst>
          </p:cNvPr>
          <p:cNvSpPr txBox="1"/>
          <p:nvPr/>
        </p:nvSpPr>
        <p:spPr>
          <a:xfrm>
            <a:off x="548640" y="228600"/>
            <a:ext cx="11091672" cy="603504"/>
          </a:xfrm>
          <a:prstGeom prst="rect">
            <a:avLst/>
          </a:prstGeom>
          <a:noFill/>
        </p:spPr>
        <p:txBody>
          <a:bodyPr wrap="square" lIns="18288" tIns="18288" rIns="18288" bIns="18288" rtlCol="0" anchor="ctr">
            <a:no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Y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المراجع</a:t>
            </a:r>
            <a:r>
              <a:rPr lang="en-US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  (References) </a:t>
            </a:r>
            <a:r>
              <a:rPr lang="ar-SA" altLang="en-US" sz="28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lang="ar-SY" altLang="en-US" sz="2800" b="1" i="0" dirty="0">
              <a:solidFill>
                <a:srgbClr val="2F5496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References left"/>
          <p:cNvSpPr txBox="1"/>
          <p:nvPr/>
        </p:nvSpPr>
        <p:spPr>
          <a:xfrm>
            <a:off x="548640" y="914400"/>
            <a:ext cx="5486400" cy="53035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SurveyMonkey, "SurveyMonkey Audience: supported countries," help.surveymonkey.com,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Prolific, "Who are the participants on Prolific?," researcher-help.prolific.com,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[3]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Pollfish, "Creating a survey in multiple languages," pollfish.com,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[4]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R. Pozzar et al., "Threats of bots and other bad actors to data quality following research participant recruitment through social media," J. Med. Internet Res., vol. 22, no. 10, e23021, 2020.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[5]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Google, "Publish &amp; share your form with responders," support.google.com/docs/answer/2839588,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[6]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Typeform, "Prevent duplicate responses," help.typeform.com,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[7]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SurveyMonkey, "Sentiment analysis," help.surveymonkey.com/en/analyze/sentiment-analysis,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[8]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Typeform, "Smart Insights: qualitative and quantitative analysis," help.typeform.com,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[9]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Google, "Summarize &amp; analyze responses with Gemini in Google Forms," support.google.com/docs/answer/16231981,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[10]</a:t>
            </a:r>
            <a:r>
              <a:rPr lang="en-US" sz="1100" dirty="0"/>
              <a:t> S. Westwood, "The potential existential threat of large language models to online survey research," Proc. Natl. Acad. Sci. U.S.A., 2025, </a:t>
            </a:r>
            <a:r>
              <a:rPr lang="en-US" sz="1100" dirty="0" err="1"/>
              <a:t>doi</a:t>
            </a:r>
            <a:r>
              <a:rPr lang="en-US" sz="1100" dirty="0"/>
              <a:t>: 10.1073/pnas.2518075122.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[11]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E. Peer et al., "Data quality of platforms and panels for online behavioral research," Behav. Res. Methods, vol. 54, no. 4, pp. 1643-1662, 2022.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[12] </a:t>
            </a:r>
            <a:r>
              <a:rPr lang="en-US" sz="1100" dirty="0"/>
              <a:t>M. T. I. Khondaker, A. Waheed, E. M. B. Nagoudi, and M. Abdul-</a:t>
            </a:r>
            <a:r>
              <a:rPr lang="en-US" sz="1100" dirty="0" err="1"/>
              <a:t>Mageed</a:t>
            </a:r>
            <a:r>
              <a:rPr lang="en-US" sz="1100" dirty="0"/>
              <a:t>, "GPTAraEval: A comprehensive evaluation of ChatGPT on Arabic NLP," in Proc. EMNLP, 2023, pp. 220–247.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[13]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I. Abu Farha and W. Magdy, "Benchmarking transformer-based language models for Arabic sentiment and sarcasm detection," in Proc. WANLP, 2021, pp. 21-31.</a:t>
            </a:r>
          </a:p>
        </p:txBody>
      </p:sp>
      <p:sp>
        <p:nvSpPr>
          <p:cNvPr id="11" name="References right"/>
          <p:cNvSpPr txBox="1"/>
          <p:nvPr/>
        </p:nvSpPr>
        <p:spPr>
          <a:xfrm>
            <a:off x="6153912" y="914400"/>
            <a:ext cx="5486400" cy="53035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[14]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J. A. Lossio-Ventura et al., "A comparison of ChatGPT and fine-tuned OPT against widely used sentiment analysis tools," JMIR Ment. Health, vol. 11, e50150, 2024.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[15]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SurveyMonkey, "SurveyMonkey Audience" (analyze results), help.surveymonkey.com,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[16]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Pollfish, "How the Pollfish methodology works," pollfish.com, accessed Oct. 23,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[17]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Pollfish, "The Pollfish survey results dashboard," pollfish.com,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[18]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ISO/IEC 25010:2023, Systems and software engineering — Product quality model. ISO, 2023.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[19]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Agile Business Consortium, "MoSCoW prioritisation," agilebusiness.org, accessed Oct. 26,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[20]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K. Schwaber and J. Sutherland, The Scrum Guide, 2020. [Online]. Available: scrumguides.org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[21]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S. W. Ambler, "Agile Model Driven Development (AMDD)," agilemodeling.com, accessed Oct. 27, 2026.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[22]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I. Sommerville, Software Engineering, 10th ed. Pearson, 2016.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[23]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M. Fowler, Patterns of Enterprise Application Architecture. Addison-Wesley, 2002.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[24]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R. T. Fielding, "Architectural styles and the design of network-based software architectures," Ph.D. dissertation, Univ. of California, Irvine, 2000.</a:t>
            </a:r>
          </a:p>
          <a:p>
            <a:pPr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en-US" sz="1100" b="1" i="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[25] </a:t>
            </a:r>
            <a:r>
              <a:rPr lang="en-US" altLang="en-US" sz="1100" b="0" i="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Django Software Foundation, "FAQ: General" (MTV pattern), docs.djangoproject.com, accessed Oct. 24, 2026.</a:t>
            </a:r>
          </a:p>
        </p:txBody>
      </p:sp>
    </p:spTree>
    <p:extLst>
      <p:ext uri="{BB962C8B-B14F-4D97-AF65-F5344CB8AC3E}">
        <p14:creationId xmlns:p14="http://schemas.microsoft.com/office/powerpoint/2010/main" val="347373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3412</Words>
  <Application>Microsoft Office PowerPoint</Application>
  <PresentationFormat>شاشة عريضة</PresentationFormat>
  <Paragraphs>448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akram massouh</dc:creator>
  <cp:lastModifiedBy>YAMAN BASAM</cp:lastModifiedBy>
  <cp:revision>15</cp:revision>
  <dcterms:created xsi:type="dcterms:W3CDTF">2026-10-17T18:22:22Z</dcterms:created>
  <dcterms:modified xsi:type="dcterms:W3CDTF">2026-10-28T15:56:03Z</dcterms:modified>
</cp:coreProperties>
</file>