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bookmarkIdSeed="2">
  <p:sldMasterIdLst>
    <p:sldMasterId id="2147483648" r:id="rId1"/>
  </p:sldMasterIdLst>
  <p:sldIdLst>
    <p:sldId id="269" r:id="rId2"/>
    <p:sldId id="257" r:id="rId3"/>
    <p:sldId id="258" r:id="rId4"/>
    <p:sldId id="259" r:id="rId5"/>
    <p:sldId id="260" r:id="rId6"/>
    <p:sldId id="261" r:id="rId7"/>
    <p:sldId id="276" r:id="rId8"/>
    <p:sldId id="263" r:id="rId9"/>
    <p:sldId id="262" r:id="rId10"/>
    <p:sldId id="265" r:id="rId11"/>
    <p:sldId id="268" r:id="rId12"/>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النمط المتوسط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102" autoAdjust="0"/>
    <p:restoredTop sz="94660"/>
  </p:normalViewPr>
  <p:slideViewPr>
    <p:cSldViewPr snapToGrid="0">
      <p:cViewPr varScale="1">
        <p:scale>
          <a:sx n="82" d="100"/>
          <a:sy n="82" d="100"/>
        </p:scale>
        <p:origin x="768"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4F3E957-1C76-BB63-C202-BCF2E388878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5336A8E6-1093-E487-E0BF-3CC0FBF14C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C03E4D22-04D9-0E5E-5C63-D129AD27F3D3}"/>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5" name="عنصر نائب للتذييل 4">
            <a:extLst>
              <a:ext uri="{FF2B5EF4-FFF2-40B4-BE49-F238E27FC236}">
                <a16:creationId xmlns:a16="http://schemas.microsoft.com/office/drawing/2014/main" id="{FB88D1B4-9E5D-6395-5549-BE2D7FCAB5FA}"/>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543EE8A5-13E4-F03F-A228-3E8CB26532FA}"/>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580459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FA433B2-A226-F119-DAC1-8CD454226DFF}"/>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94068328-1686-6FE4-6032-D4A56D6E4338}"/>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8A077FAF-1589-8E4D-9F12-8FDD9B0FEF70}"/>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5" name="عنصر نائب للتذييل 4">
            <a:extLst>
              <a:ext uri="{FF2B5EF4-FFF2-40B4-BE49-F238E27FC236}">
                <a16:creationId xmlns:a16="http://schemas.microsoft.com/office/drawing/2014/main" id="{9C583B27-95F5-2B58-FF3C-75D66DF0119F}"/>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15BE3BBC-A668-A53E-9591-E9A3FF98157F}"/>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122146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B28B023-0246-D85F-7258-50A88E6FE964}"/>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9E55503F-B3F9-3BD3-2595-1F140CFE10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C2695CBD-DFC8-35CA-4D77-284D80986686}"/>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5" name="عنصر نائب للتذييل 4">
            <a:extLst>
              <a:ext uri="{FF2B5EF4-FFF2-40B4-BE49-F238E27FC236}">
                <a16:creationId xmlns:a16="http://schemas.microsoft.com/office/drawing/2014/main" id="{A1900813-C161-D8F2-1719-F0C065ABAB40}"/>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FFC24FEE-16B9-23D5-5634-188678AC2694}"/>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1238023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A0A96E1-4883-00EC-56A5-D2AE57131BB5}"/>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B5034E36-CFED-19CC-9762-1440B4E2682A}"/>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16AABB04-9765-FB2E-E935-97185CF7C51A}"/>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F248EA6C-D421-1EB5-0D95-915EC64E8FFA}"/>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6" name="عنصر نائب للتذييل 5">
            <a:extLst>
              <a:ext uri="{FF2B5EF4-FFF2-40B4-BE49-F238E27FC236}">
                <a16:creationId xmlns:a16="http://schemas.microsoft.com/office/drawing/2014/main" id="{F06F8FB0-31E8-62BA-E96F-D949DD124D42}"/>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A9139043-CA3C-1A2D-051B-DC5BD9EF8D1B}"/>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178079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0C295EF-27F3-DCEF-32E0-4C5F0EED2F53}"/>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A20999BE-2B88-26DD-664D-468C356CF5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43D51DFA-EF3F-A3A3-23BE-93F4D3CABF88}"/>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38C5B6A6-D4C2-5160-0A1A-EF13FF1EFC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C8A85D16-E389-D0B8-991D-7DAAF6B1CB79}"/>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A1CF1148-3766-B0F2-B7D4-59079AF3788F}"/>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8" name="عنصر نائب للتذييل 7">
            <a:extLst>
              <a:ext uri="{FF2B5EF4-FFF2-40B4-BE49-F238E27FC236}">
                <a16:creationId xmlns:a16="http://schemas.microsoft.com/office/drawing/2014/main" id="{9BFFADB6-4F56-625B-C7C9-F0886D5240F0}"/>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50F17430-22F1-0700-525D-1C8B3EF8EC03}"/>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827386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37901A0-D1FB-5222-FF68-96CE63242C37}"/>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265C04BC-6BC6-A2C8-95E7-61008A7D0C82}"/>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4" name="عنصر نائب للتذييل 3">
            <a:extLst>
              <a:ext uri="{FF2B5EF4-FFF2-40B4-BE49-F238E27FC236}">
                <a16:creationId xmlns:a16="http://schemas.microsoft.com/office/drawing/2014/main" id="{4E5F52C9-E04B-F2A4-3FB4-D030F5F54C5E}"/>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79832D75-9CAF-1A4A-A573-97F4FDEC7B1C}"/>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564228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7B05531B-0D51-4845-D04C-230DFA54E760}"/>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3" name="عنصر نائب للتذييل 2">
            <a:extLst>
              <a:ext uri="{FF2B5EF4-FFF2-40B4-BE49-F238E27FC236}">
                <a16:creationId xmlns:a16="http://schemas.microsoft.com/office/drawing/2014/main" id="{934A2299-E4CE-0556-6BCA-ECE551E62A8B}"/>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1A1791E1-3A9D-5BF4-50E6-737DF5B7D366}"/>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253436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DA2A992-CF3F-FAA7-11DD-11D1DD3EB015}"/>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70AE71DE-143A-BC45-FE76-5F54D9234FE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C5D85B43-175E-750C-A36C-01A6074CE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21EC6905-39BD-5FAC-A929-B2E6EFF86266}"/>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6" name="عنصر نائب للتذييل 5">
            <a:extLst>
              <a:ext uri="{FF2B5EF4-FFF2-40B4-BE49-F238E27FC236}">
                <a16:creationId xmlns:a16="http://schemas.microsoft.com/office/drawing/2014/main" id="{164BA39F-8C75-0D80-7DD8-AABE70216FDE}"/>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568381F1-B263-8D8C-C71F-044DA7A605CE}"/>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1877631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B1E241A-E4B1-0F4D-6F76-18AA4028CA0E}"/>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903AC795-CEA2-CF65-9A4C-40100CD769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8CF58445-FE9F-F88D-196B-31BC6B2BC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945B29FB-AA65-BC3A-B124-055165D9BD67}"/>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6" name="عنصر نائب للتذييل 5">
            <a:extLst>
              <a:ext uri="{FF2B5EF4-FFF2-40B4-BE49-F238E27FC236}">
                <a16:creationId xmlns:a16="http://schemas.microsoft.com/office/drawing/2014/main" id="{E8A1D51D-23F6-C834-AAD1-979A463EB2EB}"/>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CFE52BFD-B399-8A00-DA33-F9737A804A23}"/>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530131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BE52FAC-85A4-CEE8-0E1C-613CA1E2C6E7}"/>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FBECCA8A-7CF2-CFA9-8108-F6162AE51D42}"/>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754E377-9D39-7AB5-8BCE-A64763D9E786}"/>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5" name="عنصر نائب للتذييل 4">
            <a:extLst>
              <a:ext uri="{FF2B5EF4-FFF2-40B4-BE49-F238E27FC236}">
                <a16:creationId xmlns:a16="http://schemas.microsoft.com/office/drawing/2014/main" id="{27B8A41B-E122-ACDA-DE8C-C578F06D39C8}"/>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4E121FCF-4F3E-8F41-80C1-92ED0EA092C6}"/>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2186133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904E7B3E-F722-785E-6FD0-CE66C9E74190}"/>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E0539051-7380-9AFA-823E-0ECC676F7427}"/>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8E21C35B-8792-2B4C-4872-71274B0D1304}"/>
              </a:ext>
            </a:extLst>
          </p:cNvPr>
          <p:cNvSpPr>
            <a:spLocks noGrp="1"/>
          </p:cNvSpPr>
          <p:nvPr>
            <p:ph type="dt" sz="half" idx="10"/>
          </p:nvPr>
        </p:nvSpPr>
        <p:spPr/>
        <p:txBody>
          <a:bodyPr/>
          <a:lstStyle/>
          <a:p>
            <a:fld id="{096A8431-2457-4B17-8EAD-CB7DD7790385}" type="datetimeFigureOut">
              <a:rPr lang="ar-SA" smtClean="0"/>
              <a:t>11/11/47</a:t>
            </a:fld>
            <a:endParaRPr lang="ar-SA"/>
          </a:p>
        </p:txBody>
      </p:sp>
      <p:sp>
        <p:nvSpPr>
          <p:cNvPr id="5" name="عنصر نائب للتذييل 4">
            <a:extLst>
              <a:ext uri="{FF2B5EF4-FFF2-40B4-BE49-F238E27FC236}">
                <a16:creationId xmlns:a16="http://schemas.microsoft.com/office/drawing/2014/main" id="{55F5DEBF-653E-4A08-47AE-87B5802B3729}"/>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4E22D891-CE28-DADD-9024-FE2F38506C56}"/>
              </a:ext>
            </a:extLst>
          </p:cNvPr>
          <p:cNvSpPr>
            <a:spLocks noGrp="1"/>
          </p:cNvSpPr>
          <p:nvPr>
            <p:ph type="sldNum" sz="quarter" idx="12"/>
          </p:nvPr>
        </p:nvSpPr>
        <p:spPr/>
        <p:txBody>
          <a:bodyPr/>
          <a:lstStyle/>
          <a:p>
            <a:fld id="{686C7275-70AE-4EAC-9F52-438E3B9A04EE}" type="slidenum">
              <a:rPr lang="ar-SA" smtClean="0"/>
              <a:t>‹#›</a:t>
            </a:fld>
            <a:endParaRPr lang="ar-SA"/>
          </a:p>
        </p:txBody>
      </p:sp>
    </p:spTree>
    <p:extLst>
      <p:ext uri="{BB962C8B-B14F-4D97-AF65-F5344CB8AC3E}">
        <p14:creationId xmlns:p14="http://schemas.microsoft.com/office/powerpoint/2010/main" val="3968522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B0F9F872-F359-F40A-96AC-DEC7C4E55316}"/>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71C26D8-F5C6-BD67-5341-D680DDBC803D}"/>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84ED1FE4-675E-44BC-13BA-FA6FA2B1C1D0}"/>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096A8431-2457-4B17-8EAD-CB7DD7790385}" type="datetimeFigureOut">
              <a:rPr lang="ar-SA" smtClean="0"/>
              <a:t>11/11/47</a:t>
            </a:fld>
            <a:endParaRPr lang="ar-SA"/>
          </a:p>
        </p:txBody>
      </p:sp>
      <p:sp>
        <p:nvSpPr>
          <p:cNvPr id="5" name="عنصر نائب للتذييل 4">
            <a:extLst>
              <a:ext uri="{FF2B5EF4-FFF2-40B4-BE49-F238E27FC236}">
                <a16:creationId xmlns:a16="http://schemas.microsoft.com/office/drawing/2014/main" id="{052149F8-4E2D-4499-DF13-6D295FD7A9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A5C5E447-E496-DCB7-0786-DA22081D782A}"/>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686C7275-70AE-4EAC-9F52-438E3B9A04EE}" type="slidenum">
              <a:rPr lang="ar-SA" smtClean="0"/>
              <a:t>‹#›</a:t>
            </a:fld>
            <a:endParaRPr lang="ar-SA"/>
          </a:p>
        </p:txBody>
      </p:sp>
    </p:spTree>
    <p:extLst>
      <p:ext uri="{BB962C8B-B14F-4D97-AF65-F5344CB8AC3E}">
        <p14:creationId xmlns:p14="http://schemas.microsoft.com/office/powerpoint/2010/main" val="3083183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797CECF-7ADF-2D94-EFCE-B952490096F2}"/>
              </a:ext>
            </a:extLst>
          </p:cNvPr>
          <p:cNvSpPr>
            <a:spLocks noGrp="1"/>
          </p:cNvSpPr>
          <p:nvPr>
            <p:ph type="ctrTitle"/>
          </p:nvPr>
        </p:nvSpPr>
        <p:spPr>
          <a:xfrm>
            <a:off x="1524000" y="1316029"/>
            <a:ext cx="9144000" cy="2809925"/>
          </a:xfrm>
        </p:spPr>
        <p:txBody>
          <a:bodyPr>
            <a:normAutofit/>
          </a:bodyPr>
          <a:lstStyle/>
          <a:p>
            <a:pPr rtl="1">
              <a:lnSpc>
                <a:spcPct val="150000"/>
              </a:lnSpc>
              <a:spcAft>
                <a:spcPts val="800"/>
              </a:spcAft>
            </a:pPr>
            <a:r>
              <a:rPr lang="en-US" sz="3200" b="1" dirty="0">
                <a:solidFill>
                  <a:srgbClr val="222A35"/>
                </a:solidFill>
                <a:effectLst/>
                <a:latin typeface="Times New Roman" panose="02020603050405020304" pitchFamily="18" charset="0"/>
                <a:ea typeface="Times New Roman" panose="02020603050405020304" pitchFamily="18" charset="0"/>
                <a:cs typeface="Arial" panose="020B0604020202020204" pitchFamily="34" charset="0"/>
              </a:rPr>
              <a:t>Smart Opinion Survey Platform</a:t>
            </a:r>
            <a:br>
              <a:rPr lang="en-US" sz="3200" b="1" dirty="0">
                <a:effectLst/>
                <a:latin typeface="Calibri" panose="020F0502020204030204" pitchFamily="34" charset="0"/>
                <a:ea typeface="Times New Roman" panose="02020603050405020304" pitchFamily="18" charset="0"/>
                <a:cs typeface="Arial" panose="020B0604020202020204" pitchFamily="34" charset="0"/>
              </a:rPr>
            </a:br>
            <a:r>
              <a:rPr lang="ar-SA" sz="3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t>منصة استبيانات الآراء الذكية </a:t>
            </a:r>
            <a:br>
              <a:rPr lang="ar-SA" sz="3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br>
            <a:r>
              <a:rPr lang="ar-SA" sz="2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t>المشروع الفصلي - </a:t>
            </a:r>
            <a:r>
              <a:rPr lang="ar-SA" sz="22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سيمنار </a:t>
            </a:r>
            <a:r>
              <a:rPr lang="en-US" sz="22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1</a:t>
            </a:r>
            <a:br>
              <a:rPr lang="en-US" sz="3200" b="1" dirty="0">
                <a:effectLst/>
                <a:latin typeface="Calibri" panose="020F0502020204030204" pitchFamily="34" charset="0"/>
                <a:ea typeface="Times New Roman" panose="02020603050405020304" pitchFamily="18" charset="0"/>
                <a:cs typeface="Arial" panose="020B0604020202020204" pitchFamily="34" charset="0"/>
              </a:rPr>
            </a:br>
            <a:r>
              <a:rPr lang="en-US" sz="3200" b="1" dirty="0">
                <a:solidFill>
                  <a:srgbClr val="222A35"/>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ar-SA" sz="8800" b="1" dirty="0"/>
          </a:p>
        </p:txBody>
      </p:sp>
      <p:sp>
        <p:nvSpPr>
          <p:cNvPr id="4" name="Text Box 2">
            <a:extLst>
              <a:ext uri="{FF2B5EF4-FFF2-40B4-BE49-F238E27FC236}">
                <a16:creationId xmlns:a16="http://schemas.microsoft.com/office/drawing/2014/main" id="{460B78EE-156F-C89C-4518-9C9BB60A84BC}"/>
              </a:ext>
            </a:extLst>
          </p:cNvPr>
          <p:cNvSpPr>
            <a:spLocks/>
          </p:cNvSpPr>
          <p:nvPr/>
        </p:nvSpPr>
        <p:spPr>
          <a:xfrm>
            <a:off x="1523999" y="3584024"/>
            <a:ext cx="9144001" cy="1303953"/>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rtl="1">
              <a:lnSpc>
                <a:spcPct val="150000"/>
              </a:lnSpc>
              <a:spcAft>
                <a:spcPts val="800"/>
              </a:spcAft>
            </a:pPr>
            <a:r>
              <a:rPr lang="ar-SA" sz="2800" b="1" dirty="0">
                <a:solidFill>
                  <a:srgbClr val="222A35"/>
                </a:solidFill>
                <a:effectLst/>
                <a:ea typeface="Times New Roman" panose="02020603050405020304" pitchFamily="18" charset="0"/>
                <a:cs typeface="Times New Roman" panose="02020603050405020304" pitchFamily="18" charset="0"/>
              </a:rPr>
              <a:t>إعداد الطلاب:</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يمان بسام المطر   |  حسن عبد الرحمن يحيى  |   يوسف احمد الزعبي</a:t>
            </a:r>
            <a:endParaRPr lang="en-US" sz="1400" dirty="0">
              <a:effectLst/>
              <a:ea typeface="Times New Roman" panose="02020603050405020304" pitchFamily="18" charset="0"/>
              <a:cs typeface="Arial" panose="020B0604020202020204" pitchFamily="34" charset="0"/>
            </a:endParaRPr>
          </a:p>
        </p:txBody>
      </p:sp>
      <p:sp>
        <p:nvSpPr>
          <p:cNvPr id="5" name="Text Box 2">
            <a:extLst>
              <a:ext uri="{FF2B5EF4-FFF2-40B4-BE49-F238E27FC236}">
                <a16:creationId xmlns:a16="http://schemas.microsoft.com/office/drawing/2014/main" id="{F0AFB1FE-9D71-6A78-F94B-288E66A4F5B6}"/>
              </a:ext>
            </a:extLst>
          </p:cNvPr>
          <p:cNvSpPr>
            <a:spLocks/>
          </p:cNvSpPr>
          <p:nvPr/>
        </p:nvSpPr>
        <p:spPr>
          <a:xfrm>
            <a:off x="2325498" y="4887977"/>
            <a:ext cx="7541002" cy="2033918"/>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rtl="1">
              <a:lnSpc>
                <a:spcPct val="150000"/>
              </a:lnSpc>
              <a:spcAft>
                <a:spcPts val="800"/>
              </a:spcAft>
            </a:pPr>
            <a:r>
              <a:rPr lang="ar-SA" sz="2800" b="1" dirty="0">
                <a:solidFill>
                  <a:srgbClr val="222A35"/>
                </a:solidFill>
                <a:effectLst/>
                <a:ea typeface="Times New Roman" panose="02020603050405020304" pitchFamily="18" charset="0"/>
                <a:cs typeface="Times New Roman" panose="02020603050405020304" pitchFamily="18" charset="0"/>
              </a:rPr>
              <a:t>إشراف:</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م. شادي بليدي</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م. مايا الأحمد</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endParaRPr lang="en-US" sz="1400" dirty="0">
              <a:effectLst/>
              <a:ea typeface="Times New Roman" panose="02020603050405020304" pitchFamily="18" charset="0"/>
              <a:cs typeface="Arial" panose="020B0604020202020204" pitchFamily="34" charset="0"/>
            </a:endParaRPr>
          </a:p>
        </p:txBody>
      </p:sp>
      <p:pic>
        <p:nvPicPr>
          <p:cNvPr id="6" name="Picture 50">
            <a:extLst>
              <a:ext uri="{FF2B5EF4-FFF2-40B4-BE49-F238E27FC236}">
                <a16:creationId xmlns:a16="http://schemas.microsoft.com/office/drawing/2014/main" id="{1221C0D0-4679-D5A3-CF19-712E805FEB20}"/>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Lst>
          </a:blip>
          <a:srcRect l="7096" t="14058" r="7395" b="12127"/>
          <a:stretch/>
        </p:blipFill>
        <p:spPr bwMode="auto">
          <a:xfrm>
            <a:off x="0" y="0"/>
            <a:ext cx="2489187" cy="1857958"/>
          </a:xfrm>
          <a:prstGeom prst="rect">
            <a:avLst/>
          </a:prstGeom>
          <a:ln>
            <a:noFill/>
          </a:ln>
          <a:effectLst/>
          <a:extLst>
            <a:ext uri="{53640926-AAD7-44D8-BBD7-CCE9431645EC}">
              <a14:shadowObscured xmlns:a14="http://schemas.microsoft.com/office/drawing/2010/main"/>
            </a:ext>
          </a:extLst>
        </p:spPr>
      </p:pic>
      <p:pic>
        <p:nvPicPr>
          <p:cNvPr id="7" name="Image 16">
            <a:extLst>
              <a:ext uri="{FF2B5EF4-FFF2-40B4-BE49-F238E27FC236}">
                <a16:creationId xmlns:a16="http://schemas.microsoft.com/office/drawing/2014/main" id="{76CE22C2-6123-D1A8-2E06-140C3C095A66}"/>
              </a:ext>
            </a:extLst>
          </p:cNvPr>
          <p:cNvPicPr>
            <a:picLocks/>
          </p:cNvPicPr>
          <p:nvPr/>
        </p:nvPicPr>
        <p:blipFill>
          <a:blip r:embed="rId4" cstate="print"/>
          <a:stretch>
            <a:fillRect/>
          </a:stretch>
        </p:blipFill>
        <p:spPr>
          <a:xfrm>
            <a:off x="9702813" y="0"/>
            <a:ext cx="2489187" cy="1716834"/>
          </a:xfrm>
          <a:prstGeom prst="rect">
            <a:avLst/>
          </a:prstGeom>
        </p:spPr>
      </p:pic>
    </p:spTree>
    <p:extLst>
      <p:ext uri="{BB962C8B-B14F-4D97-AF65-F5344CB8AC3E}">
        <p14:creationId xmlns:p14="http://schemas.microsoft.com/office/powerpoint/2010/main" val="72860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مربع نص 3">
            <a:extLst>
              <a:ext uri="{FF2B5EF4-FFF2-40B4-BE49-F238E27FC236}">
                <a16:creationId xmlns:a16="http://schemas.microsoft.com/office/drawing/2014/main" id="{2C805033-01BB-B597-EB43-512C596003EC}"/>
              </a:ext>
            </a:extLst>
          </p:cNvPr>
          <p:cNvSpPr txBox="1"/>
          <p:nvPr/>
        </p:nvSpPr>
        <p:spPr>
          <a:xfrm>
            <a:off x="352229" y="552186"/>
            <a:ext cx="10921480" cy="1313180"/>
          </a:xfrm>
          <a:prstGeom prst="rect">
            <a:avLst/>
          </a:prstGeom>
          <a:noFill/>
        </p:spPr>
        <p:txBody>
          <a:bodyPr wrap="square" rtlCol="1">
            <a:spAutoFit/>
          </a:bodyPr>
          <a:lstStyle/>
          <a:p>
            <a:pPr algn="r" rtl="1">
              <a:lnSpc>
                <a:spcPct val="150000"/>
              </a:lnSpc>
              <a:spcBef>
                <a:spcPts val="800"/>
              </a:spcBef>
              <a:spcAft>
                <a:spcPts val="400"/>
              </a:spcAft>
            </a:pPr>
            <a:r>
              <a:rPr lang="ar-SA" sz="2400" b="1" dirty="0">
                <a:solidFill>
                  <a:srgbClr val="2F5496"/>
                </a:solidFill>
                <a:effectLst/>
                <a:latin typeface="Simplified Arabic" panose="02020603050405020304" pitchFamily="18" charset="-78"/>
                <a:ea typeface="Times New Roman" panose="02020603050405020304" pitchFamily="18" charset="0"/>
              </a:rPr>
              <a:t>مقدمة عن المشروع</a:t>
            </a:r>
            <a:endParaRPr lang="en-US" sz="2400" b="1" dirty="0">
              <a:solidFill>
                <a:srgbClr val="2F5496"/>
              </a:solidFill>
              <a:effectLst/>
              <a:latin typeface="Simplified Arabic" panose="02020603050405020304" pitchFamily="18" charset="-78"/>
              <a:ea typeface="Times New Roman" panose="02020603050405020304" pitchFamily="18" charset="0"/>
            </a:endParaRPr>
          </a:p>
          <a:p>
            <a:pPr>
              <a:buFont typeface="Arial" panose="020B0604020202020204" pitchFamily="34" charset="0"/>
              <a:buChar char="•"/>
            </a:pPr>
            <a:r>
              <a:rPr lang="ar-SA" sz="2000" b="1" dirty="0"/>
              <a:t> يهدف المشروع إلى تطوير منصة ذكية لجمع وتحليل التغذية الراجعة من المستخدمين الفعليين، بالاعتماد على تقنيات الويب والذكاء الاصطناعي، بهدف دعم اتخاذ القرار بناءً على بيانات دقيقة وموثوقة.</a:t>
            </a:r>
            <a:endParaRPr lang="ar-SA" sz="2000" dirty="0"/>
          </a:p>
        </p:txBody>
      </p:sp>
      <p:sp>
        <p:nvSpPr>
          <p:cNvPr id="5" name="مربع نص 4">
            <a:extLst>
              <a:ext uri="{FF2B5EF4-FFF2-40B4-BE49-F238E27FC236}">
                <a16:creationId xmlns:a16="http://schemas.microsoft.com/office/drawing/2014/main" id="{BBC53761-F6DE-9BD3-BC04-4637616D78F7}"/>
              </a:ext>
            </a:extLst>
          </p:cNvPr>
          <p:cNvSpPr txBox="1"/>
          <p:nvPr/>
        </p:nvSpPr>
        <p:spPr>
          <a:xfrm>
            <a:off x="475861" y="2804345"/>
            <a:ext cx="10797848" cy="1261884"/>
          </a:xfrm>
          <a:prstGeom prst="rect">
            <a:avLst/>
          </a:prstGeom>
          <a:noFill/>
        </p:spPr>
        <p:txBody>
          <a:bodyPr wrap="square" rtlCol="1">
            <a:spAutoFit/>
          </a:bodyPr>
          <a:lstStyle/>
          <a:p>
            <a:pPr>
              <a:lnSpc>
                <a:spcPct val="150000"/>
              </a:lnSpc>
            </a:pPr>
            <a:r>
              <a:rPr lang="ar-SA" sz="2400" b="1" dirty="0">
                <a:solidFill>
                  <a:schemeClr val="accent1"/>
                </a:solidFill>
              </a:rPr>
              <a:t>مشكلة البحث</a:t>
            </a:r>
            <a:endParaRPr lang="ar-SA" sz="2400" dirty="0">
              <a:solidFill>
                <a:schemeClr val="accent1"/>
              </a:solidFill>
            </a:endParaRPr>
          </a:p>
          <a:p>
            <a:pPr>
              <a:buFont typeface="Arial" panose="020B0604020202020204" pitchFamily="34" charset="0"/>
              <a:buChar char="•"/>
            </a:pPr>
            <a:r>
              <a:rPr lang="ar-SA" sz="2000" b="1" dirty="0"/>
              <a:t> تعاني الاستبيانات التقليدية من عشوائية العينة وعدم ضمان وصولها إلى الفئة المستهدفة، مما يؤدي إلى بيانات غير دقيقة وقرارات خاطئة. كما أن تحليل الإجابات النصية يدوياً يستغرق وقتاً طويلاً ويكون عرضة للتحيز البشري.</a:t>
            </a:r>
            <a:endParaRPr lang="ar-SA" sz="2000" dirty="0"/>
          </a:p>
        </p:txBody>
      </p:sp>
      <p:sp>
        <p:nvSpPr>
          <p:cNvPr id="7" name="مربع نص 6">
            <a:extLst>
              <a:ext uri="{FF2B5EF4-FFF2-40B4-BE49-F238E27FC236}">
                <a16:creationId xmlns:a16="http://schemas.microsoft.com/office/drawing/2014/main" id="{74BBCADA-6067-E778-BE2F-0922FF31AD4B}"/>
              </a:ext>
            </a:extLst>
          </p:cNvPr>
          <p:cNvSpPr txBox="1"/>
          <p:nvPr/>
        </p:nvSpPr>
        <p:spPr>
          <a:xfrm>
            <a:off x="1467236" y="5005207"/>
            <a:ext cx="9806473" cy="1477328"/>
          </a:xfrm>
          <a:prstGeom prst="rect">
            <a:avLst/>
          </a:prstGeom>
          <a:noFill/>
        </p:spPr>
        <p:txBody>
          <a:bodyPr wrap="square">
            <a:spAutoFit/>
          </a:bodyPr>
          <a:lstStyle/>
          <a:p>
            <a:pPr>
              <a:lnSpc>
                <a:spcPct val="150000"/>
              </a:lnSpc>
            </a:pPr>
            <a:r>
              <a:rPr lang="ar-SA" sz="2000" b="1" dirty="0">
                <a:solidFill>
                  <a:schemeClr val="accent1"/>
                </a:solidFill>
              </a:rPr>
              <a:t>فكرة المشروع</a:t>
            </a:r>
          </a:p>
          <a:p>
            <a:pPr>
              <a:buFont typeface="Arial" panose="020B0604020202020204" pitchFamily="34" charset="0"/>
              <a:buChar char="•"/>
            </a:pPr>
            <a:r>
              <a:rPr lang="ar-SA" sz="2000" b="1" dirty="0"/>
              <a:t>تتمثل فكرة المشروع في بناء منصة استبيانات ذكية تعرض الاستبيانات فقط للمستخدمين المطابقين لشروط الاستهداف، مع تحليل الإجابات النصية آلياً باستخدام تقنيات تحليل المشاعر، ثم عرض النتائج عبر لوحات تحكم تفاعلية.</a:t>
            </a:r>
            <a:endParaRPr lang="ar-SA" sz="2000" dirty="0"/>
          </a:p>
        </p:txBody>
      </p:sp>
    </p:spTree>
    <p:extLst>
      <p:ext uri="{BB962C8B-B14F-4D97-AF65-F5344CB8AC3E}">
        <p14:creationId xmlns:p14="http://schemas.microsoft.com/office/powerpoint/2010/main" val="138851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BE6D38B9-69CF-A5A8-89D6-C7C802977493}"/>
              </a:ext>
            </a:extLst>
          </p:cNvPr>
          <p:cNvSpPr txBox="1"/>
          <p:nvPr/>
        </p:nvSpPr>
        <p:spPr>
          <a:xfrm>
            <a:off x="1588957" y="149290"/>
            <a:ext cx="9563260" cy="1393843"/>
          </a:xfrm>
          <a:prstGeom prst="rect">
            <a:avLst/>
          </a:prstGeom>
          <a:noFill/>
        </p:spPr>
        <p:txBody>
          <a:bodyPr wrap="square">
            <a:spAutoFit/>
          </a:bodyPr>
          <a:lstStyle/>
          <a:p>
            <a:pPr algn="r" rtl="1">
              <a:lnSpc>
                <a:spcPct val="150000"/>
              </a:lnSpc>
              <a:spcBef>
                <a:spcPts val="800"/>
              </a:spcBef>
              <a:spcAft>
                <a:spcPts val="400"/>
              </a:spcAft>
            </a:pPr>
            <a:r>
              <a:rPr lang="ar-SA"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أهداف المشروع </a:t>
            </a:r>
            <a:endParaRPr lang="en-US" sz="2000"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ar-SA" b="1" dirty="0"/>
              <a:t> يهدف المشروع إلى بناء منصة ثنائية الأطراف، وتقليل عشوائية العينات، وأتمتة تحليل الإجابات النصية باستخدام الذكاء الاصطناعي، وتوفير </a:t>
            </a:r>
            <a:r>
              <a:rPr lang="en-US" b="1" dirty="0"/>
              <a:t> Dashboards </a:t>
            </a:r>
            <a:r>
              <a:rPr lang="ar-SA" b="1" dirty="0"/>
              <a:t>تساعد المؤسسات على اتخاذ قرارات دقيقة مبنية على البيانات.</a:t>
            </a:r>
          </a:p>
        </p:txBody>
      </p:sp>
      <p:sp>
        <p:nvSpPr>
          <p:cNvPr id="2" name="مربع نص 1">
            <a:extLst>
              <a:ext uri="{FF2B5EF4-FFF2-40B4-BE49-F238E27FC236}">
                <a16:creationId xmlns:a16="http://schemas.microsoft.com/office/drawing/2014/main" id="{F7F6FF3F-29D5-9A78-3217-E0B14D6F14C4}"/>
              </a:ext>
            </a:extLst>
          </p:cNvPr>
          <p:cNvSpPr txBox="1"/>
          <p:nvPr/>
        </p:nvSpPr>
        <p:spPr>
          <a:xfrm>
            <a:off x="1899043" y="4773959"/>
            <a:ext cx="9253174" cy="1477328"/>
          </a:xfrm>
          <a:prstGeom prst="rect">
            <a:avLst/>
          </a:prstGeom>
          <a:noFill/>
        </p:spPr>
        <p:txBody>
          <a:bodyPr wrap="square">
            <a:spAutoFit/>
          </a:bodyPr>
          <a:lstStyle/>
          <a:p>
            <a:pPr>
              <a:lnSpc>
                <a:spcPct val="150000"/>
              </a:lnSpc>
            </a:pPr>
            <a:r>
              <a:rPr lang="ar-SA" sz="2400" b="1" dirty="0">
                <a:solidFill>
                  <a:schemeClr val="accent1"/>
                </a:solidFill>
              </a:rPr>
              <a:t>نطاق المشروع</a:t>
            </a:r>
            <a:endParaRPr lang="en-US" sz="2400" dirty="0">
              <a:solidFill>
                <a:schemeClr val="accent1"/>
              </a:solidFill>
            </a:endParaRPr>
          </a:p>
          <a:p>
            <a:r>
              <a:rPr lang="ar-SA" b="1" dirty="0"/>
              <a:t>يشمل المشروع إدارة الحسابات، بناء الاستبيانات، محرك الاستهداف، تحليل المشاعر، ولوحات التحكم. وسيتم تطويره كتطبيق ويب متجاوب، مع الاعتماد على نماذج ذكاء اصطناعي جاهزة، دون بناء تطبيق موبايل أو تدريب نموذج لغوي من الصفر في هذه المرحلة.</a:t>
            </a:r>
          </a:p>
        </p:txBody>
      </p:sp>
      <p:sp>
        <p:nvSpPr>
          <p:cNvPr id="4" name="مربع نص 3">
            <a:extLst>
              <a:ext uri="{FF2B5EF4-FFF2-40B4-BE49-F238E27FC236}">
                <a16:creationId xmlns:a16="http://schemas.microsoft.com/office/drawing/2014/main" id="{BB69BDC5-440E-97CE-FDDC-A2DD8FB1EBC1}"/>
              </a:ext>
            </a:extLst>
          </p:cNvPr>
          <p:cNvSpPr txBox="1"/>
          <p:nvPr/>
        </p:nvSpPr>
        <p:spPr>
          <a:xfrm>
            <a:off x="1826441" y="2606434"/>
            <a:ext cx="9325776" cy="1785104"/>
          </a:xfrm>
          <a:prstGeom prst="rect">
            <a:avLst/>
          </a:prstGeom>
          <a:noFill/>
        </p:spPr>
        <p:txBody>
          <a:bodyPr wrap="square">
            <a:spAutoFit/>
          </a:bodyPr>
          <a:lstStyle/>
          <a:p>
            <a:pPr>
              <a:lnSpc>
                <a:spcPct val="150000"/>
              </a:lnSpc>
            </a:pPr>
            <a:r>
              <a:rPr lang="ar-SA" sz="2000" b="1" dirty="0">
                <a:solidFill>
                  <a:schemeClr val="accent1"/>
                </a:solidFill>
              </a:rPr>
              <a:t>المفاهيم الأساسية </a:t>
            </a:r>
            <a:endParaRPr lang="en-US" sz="2000" b="1" dirty="0">
              <a:solidFill>
                <a:schemeClr val="accent1"/>
              </a:solidFill>
            </a:endParaRPr>
          </a:p>
          <a:p>
            <a:pPr marL="342900" indent="-342900">
              <a:buFont typeface="Arial" panose="020B0604020202020204" pitchFamily="34" charset="0"/>
              <a:buChar char="•"/>
            </a:pPr>
            <a:r>
              <a:rPr lang="ar-SA" sz="2000" b="1" dirty="0"/>
              <a:t>منصة ثنائية الأطراف:</a:t>
            </a:r>
            <a:r>
              <a:rPr lang="ar-SA" sz="2000" dirty="0"/>
              <a:t> ربط مباشر يعتمد على تأثير الشبكة.</a:t>
            </a:r>
          </a:p>
          <a:p>
            <a:pPr marL="342900" indent="-342900">
              <a:buFont typeface="Arial" panose="020B0604020202020204" pitchFamily="34" charset="0"/>
              <a:buChar char="•"/>
            </a:pPr>
            <a:r>
              <a:rPr lang="ar-SA" sz="2000" b="1" dirty="0"/>
              <a:t>الاستهداف الآلي:</a:t>
            </a:r>
            <a:r>
              <a:rPr lang="ar-SA" sz="2000" dirty="0"/>
              <a:t> خوارزميات لمنع "تحيز العينة" (</a:t>
            </a:r>
            <a:r>
              <a:rPr lang="en-US" sz="2000" dirty="0"/>
              <a:t>.(Sample Bias</a:t>
            </a:r>
          </a:p>
          <a:p>
            <a:pPr marL="342900" indent="-342900">
              <a:buFont typeface="Arial" panose="020B0604020202020204" pitchFamily="34" charset="0"/>
              <a:buChar char="•"/>
            </a:pPr>
            <a:r>
              <a:rPr lang="ar-SA" sz="2000" b="1" dirty="0"/>
              <a:t>معالجة اللغات</a:t>
            </a:r>
            <a:r>
              <a:rPr lang="en-US" sz="2000" b="1" dirty="0"/>
              <a:t>NLP)</a:t>
            </a:r>
            <a:r>
              <a:rPr lang="ar-SA" sz="2000" b="1" dirty="0"/>
              <a:t>): </a:t>
            </a:r>
            <a:r>
              <a:rPr lang="ar-SA" sz="2000" dirty="0"/>
              <a:t>تحويل النصوص غير المهيكلة إلى بيانات قابلة للقياس.</a:t>
            </a:r>
          </a:p>
          <a:p>
            <a:pPr marL="342900" indent="-342900">
              <a:buFont typeface="Arial" panose="020B0604020202020204" pitchFamily="34" charset="0"/>
              <a:buChar char="•"/>
            </a:pPr>
            <a:r>
              <a:rPr lang="ar-SA" sz="2000" b="1" dirty="0"/>
              <a:t>تحليل المشاعر:</a:t>
            </a:r>
            <a:r>
              <a:rPr lang="ar-SA" sz="2000" dirty="0"/>
              <a:t> تصنيف الردود عاطفياً (إيجابي، سلبي، محايد).</a:t>
            </a:r>
          </a:p>
        </p:txBody>
      </p:sp>
    </p:spTree>
    <p:extLst>
      <p:ext uri="{BB962C8B-B14F-4D97-AF65-F5344CB8AC3E}">
        <p14:creationId xmlns:p14="http://schemas.microsoft.com/office/powerpoint/2010/main" val="2445566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مربع نص 5">
            <a:extLst>
              <a:ext uri="{FF2B5EF4-FFF2-40B4-BE49-F238E27FC236}">
                <a16:creationId xmlns:a16="http://schemas.microsoft.com/office/drawing/2014/main" id="{4FBF6A0A-C59A-595C-077B-309D8FBEDF45}"/>
              </a:ext>
            </a:extLst>
          </p:cNvPr>
          <p:cNvSpPr txBox="1"/>
          <p:nvPr/>
        </p:nvSpPr>
        <p:spPr>
          <a:xfrm>
            <a:off x="-758891" y="162521"/>
            <a:ext cx="12192000" cy="1749197"/>
          </a:xfrm>
          <a:prstGeom prst="rect">
            <a:avLst/>
          </a:prstGeom>
          <a:noFill/>
        </p:spPr>
        <p:txBody>
          <a:bodyPr wrap="square">
            <a:spAutoFit/>
          </a:bodyPr>
          <a:lstStyle/>
          <a:p>
            <a:pPr>
              <a:lnSpc>
                <a:spcPct val="150000"/>
              </a:lnSpc>
            </a:pPr>
            <a:r>
              <a:rPr lang="ar-SA" sz="2000" b="1" dirty="0">
                <a:solidFill>
                  <a:schemeClr val="accent1"/>
                </a:solidFill>
              </a:rPr>
              <a:t>الدراسة المرجعية </a:t>
            </a:r>
            <a:endParaRPr lang="en-US" sz="2000" dirty="0">
              <a:solidFill>
                <a:schemeClr val="accent1"/>
              </a:solidFill>
            </a:endParaRPr>
          </a:p>
          <a:p>
            <a:pPr>
              <a:lnSpc>
                <a:spcPct val="150000"/>
              </a:lnSpc>
              <a:buFont typeface="Arial" panose="020B0604020202020204" pitchFamily="34" charset="0"/>
              <a:buChar char="•"/>
            </a:pPr>
            <a:r>
              <a:rPr lang="ar-SA" b="1" dirty="0"/>
              <a:t>الأنظمة التقليدية:</a:t>
            </a:r>
            <a:r>
              <a:rPr lang="ar-SA" dirty="0"/>
              <a:t> تعاني من تحيز العينة بسبب النشر العشوائي.</a:t>
            </a:r>
          </a:p>
          <a:p>
            <a:pPr>
              <a:lnSpc>
                <a:spcPct val="150000"/>
              </a:lnSpc>
              <a:buFont typeface="Arial" panose="020B0604020202020204" pitchFamily="34" charset="0"/>
              <a:buChar char="•"/>
            </a:pPr>
            <a:r>
              <a:rPr lang="ar-SA" b="1" dirty="0"/>
              <a:t>أنظمة الـ </a:t>
            </a:r>
            <a:r>
              <a:rPr lang="en-US" b="1" dirty="0"/>
              <a:t>AI </a:t>
            </a:r>
            <a:r>
              <a:rPr lang="ar-SA" b="1" dirty="0"/>
              <a:t>الحالية:</a:t>
            </a:r>
            <a:r>
              <a:rPr lang="ar-SA" dirty="0"/>
              <a:t> تفصل بين مرحلتي جمع البيانات وتحليلها.</a:t>
            </a:r>
          </a:p>
          <a:p>
            <a:pPr>
              <a:lnSpc>
                <a:spcPct val="150000"/>
              </a:lnSpc>
              <a:buFont typeface="Arial" panose="020B0604020202020204" pitchFamily="34" charset="0"/>
              <a:buChar char="•"/>
            </a:pPr>
            <a:r>
              <a:rPr lang="ar-SA" b="1" dirty="0"/>
              <a:t>مساهمة مشروعنا:</a:t>
            </a:r>
            <a:r>
              <a:rPr lang="ar-SA" dirty="0"/>
              <a:t> تقديم حل هندسي يدمج محرك الاستهداف الذكي مع نماذج الذكاء الاصطناعي في منصة واحدة متكاملة.</a:t>
            </a:r>
          </a:p>
        </p:txBody>
      </p:sp>
      <p:graphicFrame>
        <p:nvGraphicFramePr>
          <p:cNvPr id="3" name="جدول 2">
            <a:extLst>
              <a:ext uri="{FF2B5EF4-FFF2-40B4-BE49-F238E27FC236}">
                <a16:creationId xmlns:a16="http://schemas.microsoft.com/office/drawing/2014/main" id="{F41C8213-FFEC-4A5E-3240-A95F4B57A9D9}"/>
              </a:ext>
            </a:extLst>
          </p:cNvPr>
          <p:cNvGraphicFramePr>
            <a:graphicFrameLocks noGrp="1"/>
          </p:cNvGraphicFramePr>
          <p:nvPr>
            <p:extLst>
              <p:ext uri="{D42A27DB-BD31-4B8C-83A1-F6EECF244321}">
                <p14:modId xmlns:p14="http://schemas.microsoft.com/office/powerpoint/2010/main" val="4194633664"/>
              </p:ext>
            </p:extLst>
          </p:nvPr>
        </p:nvGraphicFramePr>
        <p:xfrm>
          <a:off x="758888" y="2565918"/>
          <a:ext cx="10674221" cy="3651919"/>
        </p:xfrm>
        <a:graphic>
          <a:graphicData uri="http://schemas.openxmlformats.org/drawingml/2006/table">
            <a:tbl>
              <a:tblPr rtl="1" firstRow="1" firstCol="1" bandRow="1">
                <a:tableStyleId>{5C22544A-7EE6-4342-B048-85BDC9FD1C3A}</a:tableStyleId>
              </a:tblPr>
              <a:tblGrid>
                <a:gridCol w="2236854">
                  <a:extLst>
                    <a:ext uri="{9D8B030D-6E8A-4147-A177-3AD203B41FA5}">
                      <a16:colId xmlns:a16="http://schemas.microsoft.com/office/drawing/2014/main" val="1950653663"/>
                    </a:ext>
                  </a:extLst>
                </a:gridCol>
                <a:gridCol w="2220604">
                  <a:extLst>
                    <a:ext uri="{9D8B030D-6E8A-4147-A177-3AD203B41FA5}">
                      <a16:colId xmlns:a16="http://schemas.microsoft.com/office/drawing/2014/main" val="3310257874"/>
                    </a:ext>
                  </a:extLst>
                </a:gridCol>
                <a:gridCol w="2501616">
                  <a:extLst>
                    <a:ext uri="{9D8B030D-6E8A-4147-A177-3AD203B41FA5}">
                      <a16:colId xmlns:a16="http://schemas.microsoft.com/office/drawing/2014/main" val="1449973089"/>
                    </a:ext>
                  </a:extLst>
                </a:gridCol>
                <a:gridCol w="3715147">
                  <a:extLst>
                    <a:ext uri="{9D8B030D-6E8A-4147-A177-3AD203B41FA5}">
                      <a16:colId xmlns:a16="http://schemas.microsoft.com/office/drawing/2014/main" val="3274840695"/>
                    </a:ext>
                  </a:extLst>
                </a:gridCol>
              </a:tblGrid>
              <a:tr h="589712">
                <a:tc>
                  <a:txBody>
                    <a:bodyPr/>
                    <a:lstStyle/>
                    <a:p>
                      <a:pPr algn="r" rtl="1">
                        <a:lnSpc>
                          <a:spcPct val="107000"/>
                        </a:lnSpc>
                        <a:spcAft>
                          <a:spcPts val="800"/>
                        </a:spcAft>
                      </a:pPr>
                      <a:r>
                        <a:rPr lang="ar-SA" sz="1400" kern="100" dirty="0">
                          <a:effectLst/>
                        </a:rPr>
                        <a:t>معيار المقارنة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نماذج جوجل</a:t>
                      </a:r>
                      <a:r>
                        <a:rPr lang="en-US" sz="1400" kern="100">
                          <a:effectLst/>
                        </a:rPr>
                        <a:t> (Google Forms)</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منصة </a:t>
                      </a:r>
                      <a:r>
                        <a:rPr lang="ar-SA" sz="1400" kern="100" dirty="0" err="1">
                          <a:effectLst/>
                        </a:rPr>
                        <a:t>سيرفي</a:t>
                      </a:r>
                      <a:r>
                        <a:rPr lang="ar-SA" sz="1400" kern="100" dirty="0">
                          <a:effectLst/>
                        </a:rPr>
                        <a:t> </a:t>
                      </a:r>
                      <a:r>
                        <a:rPr lang="ar-SA" sz="1400" kern="100" dirty="0" err="1">
                          <a:effectLst/>
                        </a:rPr>
                        <a:t>مونكي</a:t>
                      </a:r>
                      <a:r>
                        <a:rPr lang="en-US" sz="1400" kern="100" dirty="0">
                          <a:effectLst/>
                        </a:rPr>
                        <a:t> (SurveyMonkey)</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المنصة المقترحة (منصة استبيانات الآراء الذكية)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151723467"/>
                  </a:ext>
                </a:extLst>
              </a:tr>
              <a:tr h="604167">
                <a:tc>
                  <a:txBody>
                    <a:bodyPr/>
                    <a:lstStyle/>
                    <a:p>
                      <a:pPr algn="r" rtl="1">
                        <a:lnSpc>
                          <a:spcPct val="107000"/>
                        </a:lnSpc>
                        <a:spcAft>
                          <a:spcPts val="800"/>
                        </a:spcAft>
                      </a:pPr>
                      <a:r>
                        <a:rPr lang="ar-SA" sz="1400" kern="100" dirty="0">
                          <a:effectLst/>
                        </a:rPr>
                        <a:t>آلية الوصول للجمهور</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نشر يدوي للرابط (عينة عشوائية)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مدفوعة الثمن</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استهداف ذكي ومجاني بناءً على ملفات المستخدمين</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177327789"/>
                  </a:ext>
                </a:extLst>
              </a:tr>
              <a:tr h="651074">
                <a:tc>
                  <a:txBody>
                    <a:bodyPr/>
                    <a:lstStyle/>
                    <a:p>
                      <a:pPr algn="r" rtl="1">
                        <a:lnSpc>
                          <a:spcPct val="107000"/>
                        </a:lnSpc>
                        <a:spcAft>
                          <a:spcPts val="800"/>
                        </a:spcAft>
                      </a:pPr>
                      <a:r>
                        <a:rPr lang="ar-SA" sz="1400" kern="100">
                          <a:effectLst/>
                        </a:rPr>
                        <a:t>أتمتة تحليل النصوص</a:t>
                      </a:r>
                      <a:r>
                        <a:rPr lang="en-US" sz="1400" kern="100">
                          <a:effectLst/>
                        </a:rPr>
                        <a:t> (AI)</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غير متوفرة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متوفرة في الخطط المدفوعة المتقدمة فقط</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مدمجة أساسياً لتحليل المشاعر واستخراج الكلمات</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4126195494"/>
                  </a:ext>
                </a:extLst>
              </a:tr>
              <a:tr h="602322">
                <a:tc>
                  <a:txBody>
                    <a:bodyPr/>
                    <a:lstStyle/>
                    <a:p>
                      <a:pPr indent="457200" algn="l" rtl="0">
                        <a:lnSpc>
                          <a:spcPct val="107000"/>
                        </a:lnSpc>
                        <a:spcAft>
                          <a:spcPts val="800"/>
                        </a:spcAft>
                      </a:pPr>
                      <a:r>
                        <a:rPr lang="ar-SA" sz="1400" kern="100" dirty="0">
                          <a:effectLst/>
                        </a:rPr>
                        <a:t>بيئة ثنائية الأطراف</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لا (منصة من طرف واحد)</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لا (منصة من طرف واحد)</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نعم (تجمع مقدم الخدمة والمجيب في نفس البيئة)</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413788431"/>
                  </a:ext>
                </a:extLst>
              </a:tr>
              <a:tr h="602322">
                <a:tc>
                  <a:txBody>
                    <a:bodyPr/>
                    <a:lstStyle/>
                    <a:p>
                      <a:pPr algn="r" rtl="1">
                        <a:lnSpc>
                          <a:spcPct val="107000"/>
                        </a:lnSpc>
                        <a:spcAft>
                          <a:spcPts val="800"/>
                        </a:spcAft>
                      </a:pPr>
                      <a:r>
                        <a:rPr lang="ar-SA" sz="1400" kern="100">
                          <a:effectLst/>
                        </a:rPr>
                        <a:t>التحقق من ديموغرافية المجيب</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معدوم (إلا إذا سُأل يدوياً)</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متوفر بشروط مسبقة</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دقيق وآلي عبر بيانات الملف الشخصي</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981537844"/>
                  </a:ext>
                </a:extLst>
              </a:tr>
              <a:tr h="602322">
                <a:tc>
                  <a:txBody>
                    <a:bodyPr/>
                    <a:lstStyle/>
                    <a:p>
                      <a:pPr algn="r" rtl="1">
                        <a:lnSpc>
                          <a:spcPct val="107000"/>
                        </a:lnSpc>
                        <a:spcAft>
                          <a:spcPts val="800"/>
                        </a:spcAft>
                      </a:pPr>
                      <a:r>
                        <a:rPr lang="ar-SA" sz="1400" kern="100">
                          <a:effectLst/>
                        </a:rPr>
                        <a:t>لوحات التحكم</a:t>
                      </a:r>
                      <a:r>
                        <a:rPr lang="en-US" sz="1400" kern="100">
                          <a:effectLst/>
                        </a:rPr>
                        <a:t> (Dashboards)</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أساسية جداً للأسئلة المغلقة</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a:effectLst/>
                        </a:rPr>
                        <a:t>متقدمة واحترافية</a:t>
                      </a:r>
                      <a:endParaRPr lang="en-US" sz="1100" kern="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r" rtl="1">
                        <a:lnSpc>
                          <a:spcPct val="107000"/>
                        </a:lnSpc>
                        <a:spcAft>
                          <a:spcPts val="800"/>
                        </a:spcAft>
                      </a:pPr>
                      <a:r>
                        <a:rPr lang="ar-SA" sz="1400" kern="100" dirty="0">
                          <a:effectLst/>
                        </a:rPr>
                        <a:t>دقيق وآلي عبر بيانات الملف الشخصي</a:t>
                      </a:r>
                      <a:endParaRPr lang="en-US" sz="1100" kern="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921866674"/>
                  </a:ext>
                </a:extLst>
              </a:tr>
            </a:tbl>
          </a:graphicData>
        </a:graphic>
      </p:graphicFrame>
      <p:sp>
        <p:nvSpPr>
          <p:cNvPr id="5" name="Rectangle 1">
            <a:extLst>
              <a:ext uri="{FF2B5EF4-FFF2-40B4-BE49-F238E27FC236}">
                <a16:creationId xmlns:a16="http://schemas.microsoft.com/office/drawing/2014/main" id="{DD41E96A-93C9-D995-438A-F66E1DB2CD6A}"/>
              </a:ext>
            </a:extLst>
          </p:cNvPr>
          <p:cNvSpPr>
            <a:spLocks noChangeArrowheads="1"/>
          </p:cNvSpPr>
          <p:nvPr/>
        </p:nvSpPr>
        <p:spPr bwMode="auto">
          <a:xfrm>
            <a:off x="3517642" y="6295418"/>
            <a:ext cx="4563274" cy="400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01568" rIns="91440" bIns="50784" numCol="1" anchor="ctr" anchorCtr="0" compatLnSpc="1">
            <a:prstTxWarp prst="textNoShape">
              <a:avLst/>
            </a:prstTxWarp>
            <a:spAutoFit/>
          </a:bodyPr>
          <a:lstStyle>
            <a:lvl1pPr indent="457200" algn="l" rtl="0" eaLnBrk="0" fontAlgn="base" hangingPunct="0">
              <a:spcBef>
                <a:spcPct val="0"/>
              </a:spcBef>
              <a:spcAft>
                <a:spcPct val="0"/>
              </a:spcAft>
              <a:defRPr>
                <a:solidFill>
                  <a:schemeClr val="tx1"/>
                </a:solidFill>
                <a:latin typeface="Arial" panose="020B0604020202020204" pitchFamily="34" charset="0"/>
              </a:defRPr>
            </a:lvl1pPr>
            <a:lvl2pPr algn="l" rtl="0" eaLnBrk="0" fontAlgn="base" hangingPunct="0">
              <a:spcBef>
                <a:spcPct val="0"/>
              </a:spcBef>
              <a:spcAft>
                <a:spcPct val="0"/>
              </a:spcAft>
              <a:defRPr>
                <a:solidFill>
                  <a:schemeClr val="tx1"/>
                </a:solidFill>
                <a:latin typeface="Arial" panose="020B0604020202020204" pitchFamily="34" charset="0"/>
              </a:defRPr>
            </a:lvl2pPr>
            <a:lvl3pPr algn="l" rtl="0" eaLnBrk="0" fontAlgn="base" hangingPunct="0">
              <a:spcBef>
                <a:spcPct val="0"/>
              </a:spcBef>
              <a:spcAft>
                <a:spcPct val="0"/>
              </a:spcAft>
              <a:defRPr>
                <a:solidFill>
                  <a:schemeClr val="tx1"/>
                </a:solidFill>
                <a:latin typeface="Arial" panose="020B0604020202020204" pitchFamily="34" charset="0"/>
              </a:defRPr>
            </a:lvl3pPr>
            <a:lvl4pPr algn="l" rtl="0" eaLnBrk="0" fontAlgn="base" hangingPunct="0">
              <a:spcBef>
                <a:spcPct val="0"/>
              </a:spcBef>
              <a:spcAft>
                <a:spcPct val="0"/>
              </a:spcAft>
              <a:defRPr>
                <a:solidFill>
                  <a:schemeClr val="tx1"/>
                </a:solidFill>
                <a:latin typeface="Arial" panose="020B0604020202020204" pitchFamily="34" charset="0"/>
              </a:defRPr>
            </a:lvl4pPr>
            <a:lvl5pPr algn="l" rtl="0" eaLnBrk="0" fontAlgn="base" hangingPunct="0">
              <a:spcBef>
                <a:spcPct val="0"/>
              </a:spcBef>
              <a:spcAft>
                <a:spcPct val="0"/>
              </a:spcAft>
              <a:defRPr>
                <a:solidFill>
                  <a:schemeClr val="tx1"/>
                </a:solidFill>
                <a:latin typeface="Arial" panose="020B0604020202020204" pitchFamily="34" charset="0"/>
              </a:defRPr>
            </a:lvl5pPr>
            <a:lvl6pPr algn="l" rtl="0" eaLnBrk="0" fontAlgn="base" hangingPunct="0">
              <a:spcBef>
                <a:spcPct val="0"/>
              </a:spcBef>
              <a:spcAft>
                <a:spcPct val="0"/>
              </a:spcAft>
              <a:defRPr>
                <a:solidFill>
                  <a:schemeClr val="tx1"/>
                </a:solidFill>
                <a:latin typeface="Arial" panose="020B0604020202020204" pitchFamily="34" charset="0"/>
              </a:defRPr>
            </a:lvl6pPr>
            <a:lvl7pPr algn="l" rtl="0" eaLnBrk="0" fontAlgn="base" hangingPunct="0">
              <a:spcBef>
                <a:spcPct val="0"/>
              </a:spcBef>
              <a:spcAft>
                <a:spcPct val="0"/>
              </a:spcAft>
              <a:defRPr>
                <a:solidFill>
                  <a:schemeClr val="tx1"/>
                </a:solidFill>
                <a:latin typeface="Arial" panose="020B0604020202020204" pitchFamily="34" charset="0"/>
              </a:defRPr>
            </a:lvl7pPr>
            <a:lvl8pPr algn="l" rtl="0" eaLnBrk="0" fontAlgn="base" hangingPunct="0">
              <a:spcBef>
                <a:spcPct val="0"/>
              </a:spcBef>
              <a:spcAft>
                <a:spcPct val="0"/>
              </a:spcAft>
              <a:defRPr>
                <a:solidFill>
                  <a:schemeClr val="tx1"/>
                </a:solidFill>
                <a:latin typeface="Arial" panose="020B0604020202020204" pitchFamily="34" charset="0"/>
              </a:defRPr>
            </a:lvl8pPr>
            <a:lvl9pPr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457200" algn="l" defTabSz="914400" eaLnBrk="0" fontAlgn="base" latinLnBrk="0" hangingPunct="0">
              <a:lnSpc>
                <a:spcPct val="100000"/>
              </a:lnSpc>
              <a:spcBef>
                <a:spcPct val="0"/>
              </a:spcBef>
              <a:spcAft>
                <a:spcPct val="0"/>
              </a:spcAft>
              <a:buClrTx/>
              <a:buSzTx/>
              <a:buFontTx/>
              <a:buNone/>
              <a:tabLst/>
            </a:pPr>
            <a:r>
              <a:rPr kumimoji="0" lang="ar-SA" altLang="ar-SA" sz="1600" b="1" i="0" u="none" strike="noStrike" cap="none" normalizeH="0" baseline="0" dirty="0" bmk="">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جدول: مقارنة بين المنصة المقترحة والأنظمة الحالية</a:t>
            </a:r>
            <a:endParaRPr kumimoji="0" lang="en-US" altLang="ar-SA" sz="1600" b="1" i="0" u="none" strike="noStrike" cap="none" normalizeH="0" baseline="0" dirty="0">
              <a:ln>
                <a:noFill/>
              </a:ln>
              <a:solidFill>
                <a:srgbClr val="2F5496"/>
              </a:solidFill>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8134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16497CAC-B470-A997-F27B-A3823B1E2F4B}"/>
              </a:ext>
            </a:extLst>
          </p:cNvPr>
          <p:cNvSpPr>
            <a:spLocks noChangeArrowheads="1"/>
          </p:cNvSpPr>
          <p:nvPr/>
        </p:nvSpPr>
        <p:spPr bwMode="auto">
          <a:xfrm>
            <a:off x="1163044" y="1946164"/>
            <a:ext cx="10907658" cy="4754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eaLnBrk="0" fontAlgn="base" latinLnBrk="0" hangingPunct="0">
              <a:lnSpc>
                <a:spcPct val="150000"/>
              </a:lnSpc>
              <a:spcBef>
                <a:spcPct val="0"/>
              </a:spcBef>
              <a:spcAft>
                <a:spcPct val="0"/>
              </a:spcAft>
              <a:buClrTx/>
              <a:buSzTx/>
              <a:tabLst/>
            </a:pPr>
            <a:r>
              <a:rPr kumimoji="0" lang="ar-SA" altLang="ar-SA" sz="2400" b="1" i="0" u="none" strike="noStrike" cap="none" normalizeH="0" baseline="0" dirty="0">
                <a:ln>
                  <a:noFill/>
                </a:ln>
                <a:solidFill>
                  <a:schemeClr val="accent1"/>
                </a:solidFill>
                <a:effectLst/>
                <a:latin typeface="Arial" panose="020B0604020202020204" pitchFamily="34" charset="0"/>
                <a:cs typeface="Arial" panose="020B0604020202020204" pitchFamily="34" charset="0"/>
              </a:rPr>
              <a:t>المنهجية المتبعة:</a:t>
            </a:r>
            <a:r>
              <a:rPr kumimoji="0" lang="ar-SA" altLang="ar-SA" sz="2400" b="0" i="0" u="none" strike="noStrike" cap="none" normalizeH="0" baseline="0" dirty="0">
                <a:ln>
                  <a:noFill/>
                </a:ln>
                <a:solidFill>
                  <a:schemeClr val="accent1"/>
                </a:solidFill>
                <a:effectLst/>
                <a:latin typeface="Arial" panose="020B0604020202020204" pitchFamily="34" charset="0"/>
              </a:rPr>
              <a:t> </a:t>
            </a:r>
            <a:r>
              <a:rPr kumimoji="0" lang="ar-SA" altLang="ar-SA" sz="2400" b="0" i="0" u="none" strike="noStrike" cap="none" normalizeH="0" baseline="0" dirty="0">
                <a:ln>
                  <a:noFill/>
                </a:ln>
                <a:solidFill>
                  <a:schemeClr val="accent1"/>
                </a:solidFill>
                <a:effectLst/>
                <a:latin typeface="Arial" panose="020B0604020202020204" pitchFamily="34" charset="0"/>
                <a:cs typeface="Arial" panose="020B0604020202020204" pitchFamily="34" charset="0"/>
              </a:rPr>
              <a:t>إطار العمل الرشيق</a:t>
            </a:r>
            <a:r>
              <a:rPr kumimoji="0" lang="ar-SA" altLang="ar-SA" sz="2400" b="0" i="0" u="none" strike="noStrike" cap="none" normalizeH="0" baseline="0" dirty="0">
                <a:ln>
                  <a:noFill/>
                </a:ln>
                <a:solidFill>
                  <a:schemeClr val="accent1"/>
                </a:solidFill>
                <a:effectLst/>
                <a:latin typeface="Arial" panose="020B0604020202020204" pitchFamily="34" charset="0"/>
              </a:rPr>
              <a:t> (Agile)</a:t>
            </a:r>
          </a:p>
          <a:p>
            <a:pPr marL="0" marR="0" lvl="0" indent="0" algn="r" defTabSz="914400" eaLnBrk="0" fontAlgn="base" latinLnBrk="0" hangingPunct="0">
              <a:lnSpc>
                <a:spcPct val="150000"/>
              </a:lnSpc>
              <a:spcBef>
                <a:spcPct val="0"/>
              </a:spcBef>
              <a:spcAft>
                <a:spcPct val="0"/>
              </a:spcAft>
              <a:buClrTx/>
              <a:buSzTx/>
              <a:tabLst/>
            </a:pPr>
            <a:r>
              <a:rPr kumimoji="0" lang="ar-SA" altLang="ar-SA"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أسباب الاختيار:</a:t>
            </a:r>
            <a:endParaRPr kumimoji="0" lang="ar-SA" altLang="ar-SA" sz="2000" b="0" i="0" u="none" strike="noStrike" cap="none" normalizeH="0" baseline="0" dirty="0">
              <a:ln>
                <a:noFill/>
              </a:ln>
              <a:solidFill>
                <a:schemeClr val="tx1"/>
              </a:solidFill>
              <a:effectLst/>
              <a:latin typeface="Arial" panose="020B0604020202020204" pitchFamily="34" charset="0"/>
            </a:endParaRPr>
          </a:p>
          <a:p>
            <a:pPr>
              <a:lnSpc>
                <a:spcPct val="150000"/>
              </a:lnSpc>
            </a:pPr>
            <a:r>
              <a:rPr lang="ar-SA" sz="2000" b="1" dirty="0"/>
              <a:t>التطوير المرحلي:</a:t>
            </a:r>
            <a:br>
              <a:rPr lang="ar-SA" sz="2000" dirty="0"/>
            </a:br>
            <a:r>
              <a:rPr lang="ar-SA" sz="2000" dirty="0"/>
              <a:t>يسمح </a:t>
            </a:r>
            <a:r>
              <a:rPr lang="en-US" sz="2000" dirty="0"/>
              <a:t> Agile </a:t>
            </a:r>
            <a:r>
              <a:rPr lang="ar-SA" sz="2000" dirty="0"/>
              <a:t>بتقسيم المشروع إلى مراحل واضحة مثل الحسابات، الاستبيانات، الاستهداف، والتحليل.</a:t>
            </a:r>
          </a:p>
          <a:p>
            <a:pPr>
              <a:lnSpc>
                <a:spcPct val="150000"/>
              </a:lnSpc>
            </a:pPr>
            <a:r>
              <a:rPr lang="ar-SA" sz="2000" b="1" dirty="0"/>
              <a:t>مرونة التعديل:</a:t>
            </a:r>
            <a:br>
              <a:rPr lang="ar-SA" sz="2000" dirty="0"/>
            </a:br>
            <a:r>
              <a:rPr lang="ar-SA" sz="2000" dirty="0"/>
              <a:t>يسهّل تعديل المتطلبات بناءً على ملاحظات المشرف دون التأثير على كامل النظام.</a:t>
            </a:r>
          </a:p>
          <a:p>
            <a:pPr>
              <a:lnSpc>
                <a:spcPct val="150000"/>
              </a:lnSpc>
            </a:pPr>
            <a:r>
              <a:rPr lang="ar-SA" sz="2000" b="1" dirty="0"/>
              <a:t>الاختبار المستمر:</a:t>
            </a:r>
            <a:br>
              <a:rPr lang="ar-SA" sz="2000" dirty="0"/>
            </a:br>
            <a:r>
              <a:rPr lang="ar-SA" sz="2000" dirty="0"/>
              <a:t>يتيح اختبار كل جزء بعد إنجازه، مما يقلل الأخطاء المتراكمة في نهاية المشروع.</a:t>
            </a:r>
          </a:p>
          <a:p>
            <a:pPr>
              <a:lnSpc>
                <a:spcPct val="150000"/>
              </a:lnSpc>
            </a:pPr>
            <a:r>
              <a:rPr lang="ar-SA" sz="2000" b="1" dirty="0"/>
              <a:t>تنظيم العمل الجماعي:</a:t>
            </a:r>
            <a:br>
              <a:rPr lang="ar-SA" sz="2000" dirty="0"/>
            </a:br>
            <a:r>
              <a:rPr lang="ar-SA" sz="2000" dirty="0"/>
              <a:t>يساعد على توزيع المهام بين أعضاء الفريق ومتابعة التقدم خلال كل </a:t>
            </a:r>
            <a:r>
              <a:rPr lang="en-US" sz="2000" dirty="0"/>
              <a:t>Sprint</a:t>
            </a:r>
            <a:r>
              <a:rPr lang="ar-SA" sz="2000" dirty="0"/>
              <a:t>.</a:t>
            </a:r>
            <a:endParaRPr lang="en-US" sz="2000" dirty="0"/>
          </a:p>
        </p:txBody>
      </p:sp>
      <p:pic>
        <p:nvPicPr>
          <p:cNvPr id="1026" name="Picture 2" descr="The Agile Development Process for Mobile Apps | Krasamo">
            <a:extLst>
              <a:ext uri="{FF2B5EF4-FFF2-40B4-BE49-F238E27FC236}">
                <a16:creationId xmlns:a16="http://schemas.microsoft.com/office/drawing/2014/main" id="{C3DC4E78-3F17-269D-98C3-FB69DA8AC4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298" y="157714"/>
            <a:ext cx="6279502" cy="2977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1805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0676D18-D5E8-BC30-F6F6-C2E4196021E0}"/>
              </a:ext>
            </a:extLst>
          </p:cNvPr>
          <p:cNvSpPr>
            <a:spLocks noChangeArrowheads="1"/>
          </p:cNvSpPr>
          <p:nvPr/>
        </p:nvSpPr>
        <p:spPr bwMode="auto">
          <a:xfrm>
            <a:off x="4435930" y="0"/>
            <a:ext cx="33201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eaLnBrk="0" fontAlgn="base" latinLnBrk="0" hangingPunct="0">
              <a:lnSpc>
                <a:spcPct val="100000"/>
              </a:lnSpc>
              <a:spcBef>
                <a:spcPct val="0"/>
              </a:spcBef>
              <a:spcAft>
                <a:spcPct val="0"/>
              </a:spcAft>
              <a:buClrTx/>
              <a:buSzTx/>
              <a:buFontTx/>
              <a:buNone/>
              <a:tabLst/>
            </a:pPr>
            <a:r>
              <a:rPr kumimoji="0" lang="ar-SA" altLang="ar-SA" sz="2400" b="1" i="0" u="none" strike="noStrike" cap="none" normalizeH="0" baseline="0">
                <a:ln>
                  <a:noFill/>
                </a:ln>
                <a:solidFill>
                  <a:schemeClr val="accent1"/>
                </a:solidFill>
                <a:effectLst/>
                <a:latin typeface="Arial" panose="020B0604020202020204" pitchFamily="34" charset="0"/>
              </a:rPr>
              <a:t>مخطط غانت - </a:t>
            </a:r>
            <a:r>
              <a:rPr kumimoji="0" lang="en-US" altLang="ar-SA" sz="2400" b="1" i="0" u="none" strike="noStrike" cap="none" normalizeH="0" baseline="0">
                <a:ln>
                  <a:noFill/>
                </a:ln>
                <a:solidFill>
                  <a:schemeClr val="accent1"/>
                </a:solidFill>
                <a:effectLst/>
                <a:latin typeface="Arial" panose="020B0604020202020204" pitchFamily="34" charset="0"/>
              </a:rPr>
              <a:t>Gantt chart</a:t>
            </a:r>
            <a:endParaRPr kumimoji="0" lang="ar-SA" altLang="ar-SA" sz="2400" b="1" i="0" u="none" strike="noStrike" cap="none" normalizeH="0" baseline="0" dirty="0">
              <a:ln>
                <a:noFill/>
              </a:ln>
              <a:solidFill>
                <a:schemeClr val="accent1"/>
              </a:solidFill>
              <a:effectLst/>
              <a:latin typeface="Arial" panose="020B0604020202020204" pitchFamily="34" charset="0"/>
            </a:endParaRPr>
          </a:p>
        </p:txBody>
      </p:sp>
      <p:pic>
        <p:nvPicPr>
          <p:cNvPr id="6" name="صورة 5" descr="صورة تحتوي على نص, لقطة شاشة, برمجيات, رقم&#10;&#10;قد يكون المحتوى المعد بواسطة الذكاء الاصطناعي غير صحيح.">
            <a:extLst>
              <a:ext uri="{FF2B5EF4-FFF2-40B4-BE49-F238E27FC236}">
                <a16:creationId xmlns:a16="http://schemas.microsoft.com/office/drawing/2014/main" id="{94225B10-528B-4718-389C-89C05488E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3076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a:extLst>
              <a:ext uri="{FF2B5EF4-FFF2-40B4-BE49-F238E27FC236}">
                <a16:creationId xmlns:a16="http://schemas.microsoft.com/office/drawing/2014/main" id="{83EDA5AB-551D-E763-BB28-AA8BA93661BC}"/>
              </a:ext>
            </a:extLst>
          </p:cNvPr>
          <p:cNvSpPr>
            <a:spLocks noGrp="1"/>
          </p:cNvSpPr>
          <p:nvPr>
            <p:ph idx="1"/>
          </p:nvPr>
        </p:nvSpPr>
        <p:spPr/>
        <p:txBody>
          <a:bodyPr/>
          <a:lstStyle/>
          <a:p>
            <a:endParaRPr lang="ar-SA"/>
          </a:p>
        </p:txBody>
      </p:sp>
      <p:pic>
        <p:nvPicPr>
          <p:cNvPr id="5" name="صورة 4">
            <a:extLst>
              <a:ext uri="{FF2B5EF4-FFF2-40B4-BE49-F238E27FC236}">
                <a16:creationId xmlns:a16="http://schemas.microsoft.com/office/drawing/2014/main" id="{0A35F8BF-B35B-7547-41E8-E4352DEE0910}"/>
              </a:ext>
            </a:extLst>
          </p:cNvPr>
          <p:cNvPicPr>
            <a:picLocks noChangeAspect="1"/>
          </p:cNvPicPr>
          <p:nvPr/>
        </p:nvPicPr>
        <p:blipFill>
          <a:blip r:embed="rId2"/>
          <a:stretch>
            <a:fillRect/>
          </a:stretch>
        </p:blipFill>
        <p:spPr>
          <a:xfrm>
            <a:off x="0" y="498792"/>
            <a:ext cx="12192000" cy="5994083"/>
          </a:xfrm>
          <a:prstGeom prst="rect">
            <a:avLst/>
          </a:prstGeom>
        </p:spPr>
      </p:pic>
    </p:spTree>
    <p:extLst>
      <p:ext uri="{BB962C8B-B14F-4D97-AF65-F5344CB8AC3E}">
        <p14:creationId xmlns:p14="http://schemas.microsoft.com/office/powerpoint/2010/main" val="700585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صورة 2">
            <a:extLst>
              <a:ext uri="{FF2B5EF4-FFF2-40B4-BE49-F238E27FC236}">
                <a16:creationId xmlns:a16="http://schemas.microsoft.com/office/drawing/2014/main" id="{3B0A00A2-17F7-D02F-BFD0-BD138CF48BC9}"/>
              </a:ext>
            </a:extLst>
          </p:cNvPr>
          <p:cNvPicPr>
            <a:picLocks noChangeAspect="1"/>
          </p:cNvPicPr>
          <p:nvPr/>
        </p:nvPicPr>
        <p:blipFill>
          <a:blip r:embed="rId2"/>
          <a:stretch>
            <a:fillRect/>
          </a:stretch>
        </p:blipFill>
        <p:spPr>
          <a:xfrm>
            <a:off x="979714" y="0"/>
            <a:ext cx="10291666" cy="6858000"/>
          </a:xfrm>
          <a:prstGeom prst="rect">
            <a:avLst/>
          </a:prstGeom>
        </p:spPr>
      </p:pic>
    </p:spTree>
    <p:extLst>
      <p:ext uri="{BB962C8B-B14F-4D97-AF65-F5344CB8AC3E}">
        <p14:creationId xmlns:p14="http://schemas.microsoft.com/office/powerpoint/2010/main" val="2484457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7396CD-93E4-6723-EC5E-95EAED088D56}"/>
              </a:ext>
            </a:extLst>
          </p:cNvPr>
          <p:cNvSpPr>
            <a:spLocks noChangeArrowheads="1"/>
          </p:cNvSpPr>
          <p:nvPr/>
        </p:nvSpPr>
        <p:spPr bwMode="auto">
          <a:xfrm>
            <a:off x="2105220" y="761522"/>
            <a:ext cx="9213973"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 مقدم الخدمة / الباحث (Survey Creator):</a:t>
            </a:r>
            <a:r>
              <a:rPr lang="ar-SA" altLang="ar-SA" dirty="0">
                <a:latin typeface="Arial" panose="020B0604020202020204" pitchFamily="34" charset="0"/>
              </a:rPr>
              <a:t> </a:t>
            </a:r>
            <a:r>
              <a:rPr kumimoji="0" lang="ar-SA" altLang="ar-SA"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الجهة المستفيدة من المنصة لجمع البيانات.</a:t>
            </a:r>
            <a:endParaRPr kumimoji="0" lang="ar-SA" altLang="ar-SA" sz="1600"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 المستخدم المُجيب (Respondent): </a:t>
            </a:r>
            <a:r>
              <a:rPr kumimoji="0" lang="ar-SA" altLang="ar-SA"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الفرد المستهدف للإجابة على الاستبيانات.</a:t>
            </a:r>
            <a:endParaRPr kumimoji="0" lang="ar-SA" altLang="ar-SA" sz="1600"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 مدير النظام (System Administrator):</a:t>
            </a:r>
            <a:r>
              <a:rPr lang="ar-SA" altLang="ar-SA" sz="1600" dirty="0">
                <a:latin typeface="Arial" panose="020B0604020202020204" pitchFamily="34" charset="0"/>
                <a:cs typeface="Arial" panose="020B0604020202020204" pitchFamily="34" charset="0"/>
              </a:rPr>
              <a:t> </a:t>
            </a:r>
            <a:r>
              <a:rPr kumimoji="0" lang="ar-SA" altLang="ar-SA"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المشرف التقني على المنصة.</a:t>
            </a:r>
            <a:endParaRPr kumimoji="0" lang="ar-SA" altLang="ar-SA" sz="1600" b="0" i="0" u="none" strike="noStrike" cap="none" normalizeH="0" baseline="0" dirty="0">
              <a:ln>
                <a:noFill/>
              </a:ln>
              <a:solidFill>
                <a:schemeClr val="tx1"/>
              </a:solidFill>
              <a:effectLst/>
              <a:latin typeface="Arial" panose="020B0604020202020204" pitchFamily="34" charset="0"/>
            </a:endParaRPr>
          </a:p>
        </p:txBody>
      </p:sp>
      <p:sp>
        <p:nvSpPr>
          <p:cNvPr id="3" name="مربع نص 2">
            <a:extLst>
              <a:ext uri="{FF2B5EF4-FFF2-40B4-BE49-F238E27FC236}">
                <a16:creationId xmlns:a16="http://schemas.microsoft.com/office/drawing/2014/main" id="{2015423A-1BA5-AA35-708F-4B3914C45213}"/>
              </a:ext>
            </a:extLst>
          </p:cNvPr>
          <p:cNvSpPr txBox="1"/>
          <p:nvPr/>
        </p:nvSpPr>
        <p:spPr>
          <a:xfrm>
            <a:off x="9038252" y="156517"/>
            <a:ext cx="3013788" cy="584775"/>
          </a:xfrm>
          <a:prstGeom prst="rect">
            <a:avLst/>
          </a:prstGeom>
          <a:noFill/>
        </p:spPr>
        <p:txBody>
          <a:bodyPr wrap="square" rtlCol="1">
            <a:spAutoFit/>
          </a:bodyPr>
          <a:lstStyle/>
          <a:p>
            <a:pPr algn="ctr"/>
            <a:r>
              <a:rPr lang="en-US" sz="3200" b="1" dirty="0">
                <a:solidFill>
                  <a:schemeClr val="accent1"/>
                </a:solidFill>
              </a:rPr>
              <a:t>Actors</a:t>
            </a:r>
            <a:endParaRPr lang="ar-SA" b="1" dirty="0">
              <a:solidFill>
                <a:schemeClr val="accent1"/>
              </a:solidFill>
            </a:endParaRPr>
          </a:p>
        </p:txBody>
      </p:sp>
      <p:sp>
        <p:nvSpPr>
          <p:cNvPr id="7" name="مربع نص 6">
            <a:extLst>
              <a:ext uri="{FF2B5EF4-FFF2-40B4-BE49-F238E27FC236}">
                <a16:creationId xmlns:a16="http://schemas.microsoft.com/office/drawing/2014/main" id="{73906974-904E-BDCD-A93D-E3B9C0E1FF56}"/>
              </a:ext>
            </a:extLst>
          </p:cNvPr>
          <p:cNvSpPr txBox="1"/>
          <p:nvPr/>
        </p:nvSpPr>
        <p:spPr>
          <a:xfrm>
            <a:off x="7785619" y="3255526"/>
            <a:ext cx="3533574" cy="2949525"/>
          </a:xfrm>
          <a:prstGeom prst="rect">
            <a:avLst/>
          </a:prstGeom>
          <a:noFill/>
        </p:spPr>
        <p:txBody>
          <a:bodyPr wrap="square">
            <a:spAutoFit/>
          </a:bodyPr>
          <a:lstStyle/>
          <a:p>
            <a:pPr>
              <a:lnSpc>
                <a:spcPct val="150000"/>
              </a:lnSpc>
            </a:pPr>
            <a:r>
              <a:rPr lang="ar-SA" b="1" dirty="0"/>
              <a:t>مقدم الخدمة (الشركة / الباحث):</a:t>
            </a:r>
            <a:endParaRPr lang="ar-SA" dirty="0"/>
          </a:p>
          <a:p>
            <a:pPr>
              <a:lnSpc>
                <a:spcPct val="150000"/>
              </a:lnSpc>
              <a:buFont typeface="Arial" panose="020B0604020202020204" pitchFamily="34" charset="0"/>
              <a:buChar char="•"/>
            </a:pPr>
            <a:r>
              <a:rPr lang="ar-SA" dirty="0"/>
              <a:t>إنشاء حساب</a:t>
            </a:r>
          </a:p>
          <a:p>
            <a:pPr>
              <a:lnSpc>
                <a:spcPct val="150000"/>
              </a:lnSpc>
              <a:buFont typeface="Arial" panose="020B0604020202020204" pitchFamily="34" charset="0"/>
              <a:buChar char="•"/>
            </a:pPr>
            <a:r>
              <a:rPr lang="ar-SA" dirty="0"/>
              <a:t>إدارة الاستبيانات (تشمل الإنشاء والتعديل)</a:t>
            </a:r>
          </a:p>
          <a:p>
            <a:pPr>
              <a:lnSpc>
                <a:spcPct val="150000"/>
              </a:lnSpc>
              <a:buFont typeface="Arial" panose="020B0604020202020204" pitchFamily="34" charset="0"/>
              <a:buChar char="•"/>
            </a:pPr>
            <a:r>
              <a:rPr lang="ar-SA" dirty="0"/>
              <a:t>استعراض نتائج التحليل</a:t>
            </a:r>
          </a:p>
          <a:p>
            <a:pPr>
              <a:lnSpc>
                <a:spcPct val="150000"/>
              </a:lnSpc>
              <a:buFont typeface="Arial" panose="020B0604020202020204" pitchFamily="34" charset="0"/>
              <a:buChar char="•"/>
            </a:pPr>
            <a:r>
              <a:rPr lang="ar-SA" dirty="0"/>
              <a:t>تسجيل الدخول</a:t>
            </a:r>
          </a:p>
          <a:p>
            <a:pPr>
              <a:lnSpc>
                <a:spcPct val="150000"/>
              </a:lnSpc>
              <a:buFont typeface="Arial" panose="020B0604020202020204" pitchFamily="34" charset="0"/>
              <a:buChar char="•"/>
            </a:pPr>
            <a:r>
              <a:rPr lang="ar-SA" dirty="0"/>
              <a:t> تسجيل الخروج</a:t>
            </a:r>
          </a:p>
          <a:p>
            <a:pPr>
              <a:lnSpc>
                <a:spcPct val="150000"/>
              </a:lnSpc>
            </a:pPr>
            <a:endParaRPr lang="ar-SA" dirty="0"/>
          </a:p>
        </p:txBody>
      </p:sp>
      <p:sp>
        <p:nvSpPr>
          <p:cNvPr id="9" name="مربع نص 8">
            <a:extLst>
              <a:ext uri="{FF2B5EF4-FFF2-40B4-BE49-F238E27FC236}">
                <a16:creationId xmlns:a16="http://schemas.microsoft.com/office/drawing/2014/main" id="{EFCD7154-06EF-7EF3-D731-6FB4A357D155}"/>
              </a:ext>
            </a:extLst>
          </p:cNvPr>
          <p:cNvSpPr txBox="1"/>
          <p:nvPr/>
        </p:nvSpPr>
        <p:spPr>
          <a:xfrm>
            <a:off x="3890865" y="2606335"/>
            <a:ext cx="7428328" cy="461665"/>
          </a:xfrm>
          <a:prstGeom prst="rect">
            <a:avLst/>
          </a:prstGeom>
          <a:noFill/>
        </p:spPr>
        <p:txBody>
          <a:bodyPr wrap="square">
            <a:spAutoFit/>
          </a:bodyPr>
          <a:lstStyle/>
          <a:p>
            <a:r>
              <a:rPr lang="ar-SA" sz="2400" b="1" dirty="0">
                <a:solidFill>
                  <a:schemeClr val="accent1"/>
                </a:solidFill>
              </a:rPr>
              <a:t>حالات الاستخدام حسب الفاعلين (</a:t>
            </a:r>
            <a:r>
              <a:rPr lang="en-US" sz="2400" b="1" dirty="0">
                <a:solidFill>
                  <a:schemeClr val="accent1"/>
                </a:solidFill>
              </a:rPr>
              <a:t>(Use Cases by Actors</a:t>
            </a:r>
            <a:endParaRPr lang="ar-SA" sz="2400" b="1" dirty="0">
              <a:solidFill>
                <a:schemeClr val="accent1"/>
              </a:solidFill>
            </a:endParaRPr>
          </a:p>
        </p:txBody>
      </p:sp>
      <p:sp>
        <p:nvSpPr>
          <p:cNvPr id="11" name="مربع نص 10">
            <a:extLst>
              <a:ext uri="{FF2B5EF4-FFF2-40B4-BE49-F238E27FC236}">
                <a16:creationId xmlns:a16="http://schemas.microsoft.com/office/drawing/2014/main" id="{CE8152E0-698A-86B7-7B47-C9999DE2B867}"/>
              </a:ext>
            </a:extLst>
          </p:cNvPr>
          <p:cNvSpPr txBox="1"/>
          <p:nvPr/>
        </p:nvSpPr>
        <p:spPr>
          <a:xfrm>
            <a:off x="831009" y="3260620"/>
            <a:ext cx="3725246" cy="2805320"/>
          </a:xfrm>
          <a:prstGeom prst="rect">
            <a:avLst/>
          </a:prstGeom>
          <a:noFill/>
        </p:spPr>
        <p:txBody>
          <a:bodyPr wrap="square">
            <a:spAutoFit/>
          </a:bodyPr>
          <a:lstStyle/>
          <a:p>
            <a:pPr>
              <a:lnSpc>
                <a:spcPct val="150000"/>
              </a:lnSpc>
            </a:pPr>
            <a:r>
              <a:rPr lang="ar-SA" sz="2000" b="1" dirty="0"/>
              <a:t>المُجيب (المستخدم):</a:t>
            </a:r>
            <a:endParaRPr lang="ar-SA" sz="2000" dirty="0"/>
          </a:p>
          <a:p>
            <a:pPr>
              <a:lnSpc>
                <a:spcPct val="150000"/>
              </a:lnSpc>
              <a:buFont typeface="Arial" panose="020B0604020202020204" pitchFamily="34" charset="0"/>
              <a:buChar char="•"/>
            </a:pPr>
            <a:r>
              <a:rPr lang="ar-SA" sz="2000" dirty="0"/>
              <a:t>إنشاء حساب</a:t>
            </a:r>
          </a:p>
          <a:p>
            <a:pPr>
              <a:lnSpc>
                <a:spcPct val="150000"/>
              </a:lnSpc>
              <a:buFont typeface="Arial" panose="020B0604020202020204" pitchFamily="34" charset="0"/>
              <a:buChar char="•"/>
            </a:pPr>
            <a:r>
              <a:rPr lang="ar-SA" sz="2000" dirty="0"/>
              <a:t>إدارة الملف الديموغرافي</a:t>
            </a:r>
          </a:p>
          <a:p>
            <a:pPr>
              <a:lnSpc>
                <a:spcPct val="150000"/>
              </a:lnSpc>
              <a:buFont typeface="Arial" panose="020B0604020202020204" pitchFamily="34" charset="0"/>
              <a:buChar char="•"/>
            </a:pPr>
            <a:r>
              <a:rPr lang="ar-SA" sz="2000" dirty="0"/>
              <a:t>الإجابة على الاستبيانات المطابقة</a:t>
            </a:r>
          </a:p>
          <a:p>
            <a:pPr>
              <a:lnSpc>
                <a:spcPct val="150000"/>
              </a:lnSpc>
              <a:buFont typeface="Arial" panose="020B0604020202020204" pitchFamily="34" charset="0"/>
              <a:buChar char="•"/>
            </a:pPr>
            <a:r>
              <a:rPr lang="ar-SA" sz="2000" dirty="0"/>
              <a:t>تسجيل الدخول</a:t>
            </a:r>
          </a:p>
          <a:p>
            <a:pPr>
              <a:lnSpc>
                <a:spcPct val="150000"/>
              </a:lnSpc>
              <a:buFont typeface="Arial" panose="020B0604020202020204" pitchFamily="34" charset="0"/>
              <a:buChar char="•"/>
            </a:pPr>
            <a:r>
              <a:rPr lang="ar-SA" sz="2000" dirty="0"/>
              <a:t> تسجيل الخروج</a:t>
            </a:r>
          </a:p>
        </p:txBody>
      </p:sp>
      <p:sp>
        <p:nvSpPr>
          <p:cNvPr id="14" name="مربع نص 13">
            <a:extLst>
              <a:ext uri="{FF2B5EF4-FFF2-40B4-BE49-F238E27FC236}">
                <a16:creationId xmlns:a16="http://schemas.microsoft.com/office/drawing/2014/main" id="{0DB0DE35-0EE9-AC75-31FC-364187A3F4C7}"/>
              </a:ext>
            </a:extLst>
          </p:cNvPr>
          <p:cNvSpPr txBox="1"/>
          <p:nvPr/>
        </p:nvSpPr>
        <p:spPr>
          <a:xfrm>
            <a:off x="5221639" y="3260620"/>
            <a:ext cx="2514215" cy="2343655"/>
          </a:xfrm>
          <a:prstGeom prst="rect">
            <a:avLst/>
          </a:prstGeom>
          <a:noFill/>
        </p:spPr>
        <p:txBody>
          <a:bodyPr wrap="square">
            <a:spAutoFit/>
          </a:bodyPr>
          <a:lstStyle/>
          <a:p>
            <a:pPr>
              <a:lnSpc>
                <a:spcPct val="150000"/>
              </a:lnSpc>
            </a:pPr>
            <a:r>
              <a:rPr lang="ar-SA" sz="2000" b="1" dirty="0"/>
              <a:t>مدير النظام (</a:t>
            </a:r>
            <a:r>
              <a:rPr lang="en-US" sz="2000" b="1" dirty="0"/>
              <a:t>(Admin</a:t>
            </a:r>
            <a:endParaRPr lang="en-US" sz="2000" dirty="0"/>
          </a:p>
          <a:p>
            <a:pPr>
              <a:lnSpc>
                <a:spcPct val="150000"/>
              </a:lnSpc>
              <a:buFont typeface="Arial" panose="020B0604020202020204" pitchFamily="34" charset="0"/>
              <a:buChar char="•"/>
            </a:pPr>
            <a:r>
              <a:rPr lang="ar-SA" sz="2000" dirty="0"/>
              <a:t>إدارة الحسابات </a:t>
            </a:r>
          </a:p>
          <a:p>
            <a:pPr>
              <a:lnSpc>
                <a:spcPct val="150000"/>
              </a:lnSpc>
              <a:buFont typeface="Arial" panose="020B0604020202020204" pitchFamily="34" charset="0"/>
              <a:buChar char="•"/>
            </a:pPr>
            <a:r>
              <a:rPr lang="ar-SA" sz="2000" dirty="0"/>
              <a:t>استخراج تقارير النظام</a:t>
            </a:r>
          </a:p>
          <a:p>
            <a:pPr>
              <a:lnSpc>
                <a:spcPct val="150000"/>
              </a:lnSpc>
              <a:buFont typeface="Arial" panose="020B0604020202020204" pitchFamily="34" charset="0"/>
              <a:buChar char="•"/>
            </a:pPr>
            <a:r>
              <a:rPr lang="ar-SA" sz="2000" dirty="0"/>
              <a:t>تسجيل الدخول</a:t>
            </a:r>
          </a:p>
          <a:p>
            <a:pPr>
              <a:lnSpc>
                <a:spcPct val="150000"/>
              </a:lnSpc>
              <a:buFont typeface="Arial" panose="020B0604020202020204" pitchFamily="34" charset="0"/>
              <a:buChar char="•"/>
            </a:pPr>
            <a:r>
              <a:rPr lang="ar-SA" sz="2000" dirty="0"/>
              <a:t> تسجيل الخروج</a:t>
            </a:r>
          </a:p>
        </p:txBody>
      </p:sp>
    </p:spTree>
    <p:extLst>
      <p:ext uri="{BB962C8B-B14F-4D97-AF65-F5344CB8AC3E}">
        <p14:creationId xmlns:p14="http://schemas.microsoft.com/office/powerpoint/2010/main" val="24417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C93F022-40C7-6C57-2D9A-725462CA6B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6453" y="276225"/>
            <a:ext cx="7679094" cy="630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8364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0CE5F3-9BF6-0139-3D36-E258C0CB383C}"/>
              </a:ext>
            </a:extLst>
          </p:cNvPr>
          <p:cNvSpPr>
            <a:spLocks noChangeArrowheads="1"/>
          </p:cNvSpPr>
          <p:nvPr/>
        </p:nvSpPr>
        <p:spPr bwMode="auto">
          <a:xfrm>
            <a:off x="653142" y="1730708"/>
            <a:ext cx="11308703" cy="29956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eaLnBrk="0" fontAlgn="base" latinLnBrk="0" hangingPunct="0">
              <a:lnSpc>
                <a:spcPct val="150000"/>
              </a:lnSpc>
              <a:spcBef>
                <a:spcPct val="0"/>
              </a:spcBef>
              <a:spcAft>
                <a:spcPct val="0"/>
              </a:spcAft>
              <a:buClrTx/>
              <a:buSzTx/>
              <a:buFontTx/>
              <a:buNone/>
              <a:tabLst/>
            </a:pPr>
            <a:r>
              <a:rPr kumimoji="0" lang="ar-SA" altLang="ar-SA"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المراجع الرئيسية (Key References)</a:t>
            </a:r>
            <a:endParaRPr kumimoji="0" lang="ar-SA" altLang="ar-SA" sz="2000" b="1"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في منهجية الاستبيانات ومشاكل العينة (Survey Methodology):</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None/>
              <a:tabLst/>
            </a:pPr>
            <a:r>
              <a:rPr kumimoji="0" lang="en-US" altLang="ar-SA" b="0" i="0" u="none" strike="noStrike" cap="none" normalizeH="0" baseline="0" dirty="0">
                <a:ln>
                  <a:noFill/>
                </a:ln>
                <a:solidFill>
                  <a:schemeClr val="tx1"/>
                </a:solidFill>
                <a:effectLst/>
                <a:latin typeface="Arial" panose="020B0604020202020204" pitchFamily="34" charset="0"/>
              </a:rPr>
              <a:t>Groves, R. M., et al. (2011). Survey Methodology. John Wiley &amp; Sons.</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في الذكاء الاصطناعي وتحليل المشاعر (AI &amp; Sentiment Analysis):</a:t>
            </a:r>
          </a:p>
          <a:p>
            <a:pPr marL="0" marR="0" lvl="0" indent="0" defTabSz="914400" eaLnBrk="0" fontAlgn="base" latinLnBrk="0" hangingPunct="0">
              <a:lnSpc>
                <a:spcPct val="150000"/>
              </a:lnSpc>
              <a:spcBef>
                <a:spcPct val="0"/>
              </a:spcBef>
              <a:spcAft>
                <a:spcPct val="0"/>
              </a:spcAft>
              <a:buClrTx/>
              <a:buSzTx/>
              <a:buFontTx/>
              <a:buChar char="•"/>
              <a:tabLst/>
            </a:pPr>
            <a:r>
              <a:rPr lang="en-US" dirty="0"/>
              <a:t>Liu, B. (2020). </a:t>
            </a:r>
            <a:r>
              <a:rPr lang="en-US" i="1" dirty="0"/>
              <a:t>Sentiment Analysis: Mining Opinions, Sentiments, and Emotions</a:t>
            </a:r>
            <a:r>
              <a:rPr lang="en-US" dirty="0"/>
              <a:t>. Cambridge University Press.</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Char char="•"/>
              <a:tabLst/>
            </a:pPr>
            <a:r>
              <a:rPr kumimoji="0" lang="ar-SA" altLang="ar-SA" b="1" i="0" u="none" strike="noStrike" cap="none" normalizeH="0" baseline="0" dirty="0">
                <a:ln>
                  <a:noFill/>
                </a:ln>
                <a:solidFill>
                  <a:schemeClr val="tx1"/>
                </a:solidFill>
                <a:effectLst/>
                <a:latin typeface="Arial" panose="020B0604020202020204" pitchFamily="34" charset="0"/>
                <a:cs typeface="Arial" panose="020B0604020202020204" pitchFamily="34" charset="0"/>
              </a:rPr>
              <a:t>في هندسة البرمجيات ومنهجية Agile (Software Engineering):</a:t>
            </a:r>
            <a:endParaRPr kumimoji="0" lang="ar-SA" altLang="ar-SA" b="0" i="0" u="none" strike="noStrike" cap="none" normalizeH="0" baseline="0" dirty="0">
              <a:ln>
                <a:noFill/>
              </a:ln>
              <a:solidFill>
                <a:schemeClr val="tx1"/>
              </a:solidFill>
              <a:effectLst/>
              <a:latin typeface="Arial" panose="020B0604020202020204" pitchFamily="34" charset="0"/>
            </a:endParaRPr>
          </a:p>
          <a:p>
            <a:pPr marL="0" marR="0" lvl="0" indent="0" defTabSz="914400" eaLnBrk="0" fontAlgn="base" latinLnBrk="0" hangingPunct="0">
              <a:lnSpc>
                <a:spcPct val="150000"/>
              </a:lnSpc>
              <a:spcBef>
                <a:spcPct val="0"/>
              </a:spcBef>
              <a:spcAft>
                <a:spcPct val="0"/>
              </a:spcAft>
              <a:buClrTx/>
              <a:buSzTx/>
              <a:buFontTx/>
              <a:buNone/>
              <a:tabLst/>
            </a:pPr>
            <a:r>
              <a:rPr kumimoji="0" lang="en-US" altLang="ar-SA" b="0" i="0" u="none" strike="noStrike" cap="none" normalizeH="0" baseline="0" dirty="0">
                <a:ln>
                  <a:noFill/>
                </a:ln>
                <a:solidFill>
                  <a:schemeClr val="tx1"/>
                </a:solidFill>
                <a:effectLst/>
                <a:latin typeface="Arial" panose="020B0604020202020204" pitchFamily="34" charset="0"/>
              </a:rPr>
              <a:t>Sommerville, I. (2015). Software Engineering (10th ed.). Pearson.</a:t>
            </a:r>
            <a:endParaRPr kumimoji="0" lang="ar-SA" altLang="ar-SA"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0861852"/>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1882</TotalTime>
  <Words>755</Words>
  <Application>Microsoft Office PowerPoint</Application>
  <PresentationFormat>شاشة عريضة</PresentationFormat>
  <Paragraphs>86</Paragraphs>
  <Slides>11</Slides>
  <Notes>0</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11</vt:i4>
      </vt:variant>
    </vt:vector>
  </HeadingPairs>
  <TitlesOfParts>
    <vt:vector size="19" baseType="lpstr">
      <vt:lpstr>Aptos</vt:lpstr>
      <vt:lpstr>Aptos Display</vt:lpstr>
      <vt:lpstr>Arial</vt:lpstr>
      <vt:lpstr>Calibri</vt:lpstr>
      <vt:lpstr>Calibri Light</vt:lpstr>
      <vt:lpstr>Simplified Arabic</vt:lpstr>
      <vt:lpstr>Times New Roman</vt:lpstr>
      <vt:lpstr>نسق Office</vt:lpstr>
      <vt:lpstr>Smart Opinion Survey Platform منصة استبيانات الآراء الذكية  المشروع الفصلي - سيمنار 1  </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YAMAN BASAM</dc:creator>
  <cp:lastModifiedBy>YAMAN BASAM</cp:lastModifiedBy>
  <cp:revision>15</cp:revision>
  <dcterms:created xsi:type="dcterms:W3CDTF">2026-03-06T14:39:01Z</dcterms:created>
  <dcterms:modified xsi:type="dcterms:W3CDTF">2026-04-27T06:40:17Z</dcterms:modified>
</cp:coreProperties>
</file>